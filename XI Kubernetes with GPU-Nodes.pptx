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4" r:id="rId1"/>
  </p:sldMasterIdLst>
  <p:notesMasterIdLst>
    <p:notesMasterId r:id="rId23"/>
  </p:notesMasterIdLst>
  <p:handoutMasterIdLst>
    <p:handoutMasterId r:id="rId24"/>
  </p:handoutMasterIdLst>
  <p:sldIdLst>
    <p:sldId id="1334" r:id="rId2"/>
    <p:sldId id="1382" r:id="rId3"/>
    <p:sldId id="1365" r:id="rId4"/>
    <p:sldId id="1335" r:id="rId5"/>
    <p:sldId id="1368" r:id="rId6"/>
    <p:sldId id="1367" r:id="rId7"/>
    <p:sldId id="1369" r:id="rId8"/>
    <p:sldId id="1370" r:id="rId9"/>
    <p:sldId id="1371" r:id="rId10"/>
    <p:sldId id="1372" r:id="rId11"/>
    <p:sldId id="1383" r:id="rId12"/>
    <p:sldId id="1373" r:id="rId13"/>
    <p:sldId id="1375" r:id="rId14"/>
    <p:sldId id="1376" r:id="rId15"/>
    <p:sldId id="1377" r:id="rId16"/>
    <p:sldId id="1378" r:id="rId17"/>
    <p:sldId id="1379" r:id="rId18"/>
    <p:sldId id="1380" r:id="rId19"/>
    <p:sldId id="1381" r:id="rId20"/>
    <p:sldId id="1366" r:id="rId21"/>
    <p:sldId id="1364" r:id="rId22"/>
  </p:sldIdLst>
  <p:sldSz cx="12192000" cy="6858000"/>
  <p:notesSz cx="9601200" cy="7315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7360"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as Haeberlen"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9900"/>
    <a:srgbClr val="33CC33"/>
    <a:srgbClr val="66FFFF"/>
    <a:srgbClr val="00CC00"/>
    <a:srgbClr val="FF3399"/>
    <a:srgbClr val="66FF33"/>
    <a:srgbClr val="FFCC99"/>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65" autoAdjust="0"/>
    <p:restoredTop sz="87424" autoAdjust="0"/>
  </p:normalViewPr>
  <p:slideViewPr>
    <p:cSldViewPr snapToGrid="0">
      <p:cViewPr varScale="1">
        <p:scale>
          <a:sx n="85" d="100"/>
          <a:sy n="85" d="100"/>
        </p:scale>
        <p:origin x="216" y="66"/>
      </p:cViewPr>
      <p:guideLst>
        <p:guide orient="horz" pos="3888"/>
        <p:guide pos="73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2" d="100"/>
          <a:sy n="122" d="100"/>
        </p:scale>
        <p:origin x="-1344" y="-9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3124208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2362200" y="549275"/>
            <a:ext cx="4876800" cy="274320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1279256" y="3475660"/>
            <a:ext cx="7042689" cy="32901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23768116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google.com/url?sa=i&amp;url=https://translate.google.com/translate?u%3Dhttps://cloud.google.com/blog/products/containers-kubernetes/monitoring-gpu-workloads-on-gke-with-nvidia-data-center-gpu-manager%26hl%3Did%26sl%3Den%26tl%3Did%26client%3Dimgs&amp;psig=AOvVaw2cEDIRYrmgjN8zsrqs1ID2&amp;ust=1760075773498000&amp;source=images&amp;cd=vfe&amp;opi=89978449&amp;ved=2ahUKEwjJ6Kmrt5aQAxWwgWMGHb2yNPYQjhx6BAgAEB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https://roadmap.sh/aws</a:t>
            </a:r>
          </a:p>
          <a:p>
            <a:endParaRPr lang="en-US" dirty="0" smtClean="0"/>
          </a:p>
          <a:p>
            <a:pPr marL="228600" indent="-228600">
              <a:buAutoNum type="arabicPeriod"/>
            </a:pPr>
            <a:r>
              <a:rPr lang="en-US" dirty="0" smtClean="0"/>
              <a:t>https://roadmap.sh/aws</a:t>
            </a:r>
          </a:p>
          <a:p>
            <a:pPr marL="228600" indent="-228600">
              <a:buAutoNum type="arabicPeriod"/>
            </a:pPr>
            <a:r>
              <a:rPr lang="en-US" dirty="0" smtClean="0"/>
              <a:t>https://aws.amazon.com/what-is-cloud-computing/</a:t>
            </a:r>
          </a:p>
          <a:p>
            <a:pPr marL="0" indent="0">
              <a:buNone/>
            </a:pPr>
            <a:endParaRPr lang="en-US" dirty="0" smtClean="0"/>
          </a:p>
          <a:p>
            <a:pPr marL="0" indent="0">
              <a:buNone/>
            </a:pPr>
            <a:r>
              <a:rPr lang="en-US" dirty="0" smtClean="0"/>
              <a:t>https://www.ibm.com/think/topics/cloud-computing</a:t>
            </a:r>
          </a:p>
          <a:p>
            <a:pPr marL="0" indent="0">
              <a:buNone/>
            </a:pPr>
            <a:endParaRPr lang="en-US" dirty="0" smtClean="0"/>
          </a:p>
          <a:p>
            <a:pPr marL="0" indent="0">
              <a:buNone/>
            </a:pPr>
            <a:endParaRPr lang="en-US" dirty="0" smtClean="0"/>
          </a:p>
          <a:p>
            <a:pPr marL="0" indent="0">
              <a:buNone/>
            </a:pPr>
            <a:r>
              <a:rPr lang="en-US" dirty="0" smtClean="0"/>
              <a:t>3. https://www.ibm.com/topics/cloud-computing</a:t>
            </a:r>
          </a:p>
          <a:p>
            <a:pPr marL="0" indent="0">
              <a:buNone/>
            </a:pPr>
            <a:r>
              <a:rPr lang="en-US" dirty="0" smtClean="0"/>
              <a:t>4. https://csrc.nist.gov/pubs/sp/800/145/final</a:t>
            </a:r>
          </a:p>
          <a:p>
            <a:r>
              <a:rPr lang="en-US" dirty="0" smtClean="0"/>
              <a:t>https://csrc.nist.gov/pubs/sp/800/145/final</a:t>
            </a:r>
          </a:p>
          <a:p>
            <a:endParaRPr lang="en-US" dirty="0" smtClean="0"/>
          </a:p>
          <a:p>
            <a:endParaRPr lang="en-US" dirty="0" smtClean="0"/>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2725816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https://hsf-training.github.io/hsf-training-docker/</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2</a:t>
            </a:fld>
            <a:endParaRPr lang="en-US"/>
          </a:p>
        </p:txBody>
      </p:sp>
    </p:spTree>
    <p:extLst>
      <p:ext uri="{BB962C8B-B14F-4D97-AF65-F5344CB8AC3E}">
        <p14:creationId xmlns:p14="http://schemas.microsoft.com/office/powerpoint/2010/main" val="440240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https://docs.aws.amazon.com/id_id/eks/latest/userguide/kubernetes-concepts.html</a:t>
            </a:r>
          </a:p>
          <a:p>
            <a:r>
              <a:rPr lang="en-US" dirty="0" smtClean="0"/>
              <a:t>https://docs.aws.amazon.com/id_id/eks/latest/userguide/kubernetes-concepts.html</a:t>
            </a: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a:t>
            </a:fld>
            <a:endParaRPr lang="en-US"/>
          </a:p>
        </p:txBody>
      </p:sp>
    </p:spTree>
    <p:extLst>
      <p:ext uri="{BB962C8B-B14F-4D97-AF65-F5344CB8AC3E}">
        <p14:creationId xmlns:p14="http://schemas.microsoft.com/office/powerpoint/2010/main" val="1371222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https://www.vcluster.com/blog/bare-metal-kubernetes-with-gpu-challenges-and-multi-tenancy-solutions</a:t>
            </a:r>
          </a:p>
          <a:p>
            <a:r>
              <a:rPr lang="en-US" dirty="0" smtClean="0"/>
              <a:t>https://www.vcluster.com/blog/bare-metal-kubernetes-with-gpu-challenges-and-multi-tenancy-solutions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5</a:t>
            </a:fld>
            <a:endParaRPr lang="en-US"/>
          </a:p>
        </p:txBody>
      </p:sp>
    </p:spTree>
    <p:extLst>
      <p:ext uri="{BB962C8B-B14F-4D97-AF65-F5344CB8AC3E}">
        <p14:creationId xmlns:p14="http://schemas.microsoft.com/office/powerpoint/2010/main" val="4205376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https://www.vcluster.com/blog/bare-metal-kubernetes-with-gpu-challenges-and-multi-tenancy-solutions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6</a:t>
            </a:fld>
            <a:endParaRPr lang="en-US"/>
          </a:p>
        </p:txBody>
      </p:sp>
    </p:spTree>
    <p:extLst>
      <p:ext uri="{BB962C8B-B14F-4D97-AF65-F5344CB8AC3E}">
        <p14:creationId xmlns:p14="http://schemas.microsoft.com/office/powerpoint/2010/main" val="3165134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https://www.vcluster.com/blog/bare-metal-kubernetes-with-gpu-challenges-and-multi-tenancy-solutions</a:t>
            </a:r>
          </a:p>
          <a:p>
            <a:r>
              <a:rPr lang="en-US" dirty="0" smtClean="0"/>
              <a:t>https://www.vcluster.com/blog/bare-metal-kubernetes-with-gpu-challenges-and-multi-tenancy-solutions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7</a:t>
            </a:fld>
            <a:endParaRPr lang="en-US"/>
          </a:p>
        </p:txBody>
      </p:sp>
    </p:spTree>
    <p:extLst>
      <p:ext uri="{BB962C8B-B14F-4D97-AF65-F5344CB8AC3E}">
        <p14:creationId xmlns:p14="http://schemas.microsoft.com/office/powerpoint/2010/main" val="3557823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https://www.vcluster.com/blog/bare-metal-kubernetes-with-gpu-challenges-and-multi-tenancy-solutions</a:t>
            </a:r>
          </a:p>
          <a:p>
            <a:r>
              <a:rPr lang="en-US" dirty="0" smtClean="0"/>
              <a:t>https://www.vcluster.com/blog/bare-metal-kubernetes-with-gpu-challenges-and-multi-tenancy-solutions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8</a:t>
            </a:fld>
            <a:endParaRPr lang="en-US"/>
          </a:p>
        </p:txBody>
      </p:sp>
    </p:spTree>
    <p:extLst>
      <p:ext uri="{BB962C8B-B14F-4D97-AF65-F5344CB8AC3E}">
        <p14:creationId xmlns:p14="http://schemas.microsoft.com/office/powerpoint/2010/main" val="3100484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https://www.vcluster.com/blog/bare-metal-kubernetes-with-gpu-challenges-and-multi-tenancy-solutions</a:t>
            </a:r>
          </a:p>
          <a:p>
            <a:r>
              <a:rPr lang="en-US" dirty="0" smtClean="0"/>
              <a:t>https://www.vcluster.com/blog/bare-metal-kubernetes-with-gpu-challenges-and-multi-tenancy-solutions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9</a:t>
            </a:fld>
            <a:endParaRPr lang="en-US"/>
          </a:p>
        </p:txBody>
      </p:sp>
    </p:spTree>
    <p:extLst>
      <p:ext uri="{BB962C8B-B14F-4D97-AF65-F5344CB8AC3E}">
        <p14:creationId xmlns:p14="http://schemas.microsoft.com/office/powerpoint/2010/main" val="1955244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https://www.vcluster.com/blog/bare-metal-kubernetes-with-gpu-challenges-and-multi-tenancy-solutions</a:t>
            </a:r>
          </a:p>
          <a:p>
            <a:r>
              <a:rPr lang="en-US" dirty="0" smtClean="0"/>
              <a:t>https://www.vcl</a:t>
            </a:r>
          </a:p>
          <a:p>
            <a:endParaRPr lang="en-US"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err="1" smtClean="0">
                <a:solidFill>
                  <a:schemeClr val="tx1"/>
                </a:solidFill>
                <a:effectLst/>
                <a:latin typeface="Times New Roman" pitchFamily="18" charset="0"/>
                <a:ea typeface="+mn-ea"/>
                <a:cs typeface="+mn-cs"/>
                <a:hlinkClick r:id="rId3"/>
              </a:rPr>
              <a:t>Memantau</a:t>
            </a:r>
            <a:r>
              <a:rPr lang="en-US" sz="1200" b="0" i="0" u="none" strike="noStrike" kern="1200" dirty="0" smtClean="0">
                <a:solidFill>
                  <a:schemeClr val="tx1"/>
                </a:solidFill>
                <a:effectLst/>
                <a:latin typeface="Times New Roman" pitchFamily="18" charset="0"/>
                <a:ea typeface="+mn-ea"/>
                <a:cs typeface="+mn-cs"/>
                <a:hlinkClick r:id="rId3"/>
              </a:rPr>
              <a:t> </a:t>
            </a:r>
            <a:r>
              <a:rPr lang="en-US" sz="1200" b="0" i="0" u="none" strike="noStrike" kern="1200" dirty="0" err="1" smtClean="0">
                <a:solidFill>
                  <a:schemeClr val="tx1"/>
                </a:solidFill>
                <a:effectLst/>
                <a:latin typeface="Times New Roman" pitchFamily="18" charset="0"/>
                <a:ea typeface="+mn-ea"/>
                <a:cs typeface="+mn-cs"/>
                <a:hlinkClick r:id="rId3"/>
              </a:rPr>
              <a:t>beban</a:t>
            </a:r>
            <a:r>
              <a:rPr lang="en-US" sz="1200" b="0" i="0" u="none" strike="noStrike" kern="1200" dirty="0" smtClean="0">
                <a:solidFill>
                  <a:schemeClr val="tx1"/>
                </a:solidFill>
                <a:effectLst/>
                <a:latin typeface="Times New Roman" pitchFamily="18" charset="0"/>
                <a:ea typeface="+mn-ea"/>
                <a:cs typeface="+mn-cs"/>
                <a:hlinkClick r:id="rId3"/>
              </a:rPr>
              <a:t> </a:t>
            </a:r>
            <a:r>
              <a:rPr lang="en-US" sz="1200" b="0" i="0" u="none" strike="noStrike" kern="1200" dirty="0" err="1" smtClean="0">
                <a:solidFill>
                  <a:schemeClr val="tx1"/>
                </a:solidFill>
                <a:effectLst/>
                <a:latin typeface="Times New Roman" pitchFamily="18" charset="0"/>
                <a:ea typeface="+mn-ea"/>
                <a:cs typeface="+mn-cs"/>
                <a:hlinkClick r:id="rId3"/>
              </a:rPr>
              <a:t>kerja</a:t>
            </a:r>
            <a:r>
              <a:rPr lang="en-US" sz="1200" b="0" i="0" u="none" strike="noStrike" kern="1200" dirty="0" smtClean="0">
                <a:solidFill>
                  <a:schemeClr val="tx1"/>
                </a:solidFill>
                <a:effectLst/>
                <a:latin typeface="Times New Roman" pitchFamily="18" charset="0"/>
                <a:ea typeface="+mn-ea"/>
                <a:cs typeface="+mn-cs"/>
                <a:hlinkClick r:id="rId3"/>
              </a:rPr>
              <a:t> GPU di GKE </a:t>
            </a:r>
            <a:r>
              <a:rPr lang="en-US" sz="1200" b="0" i="0" u="none" strike="noStrike" kern="1200" dirty="0" err="1" smtClean="0">
                <a:solidFill>
                  <a:schemeClr val="tx1"/>
                </a:solidFill>
                <a:effectLst/>
                <a:latin typeface="Times New Roman" pitchFamily="18" charset="0"/>
                <a:ea typeface="+mn-ea"/>
                <a:cs typeface="+mn-cs"/>
                <a:hlinkClick r:id="rId3"/>
              </a:rPr>
              <a:t>dengan</a:t>
            </a:r>
            <a:r>
              <a:rPr lang="en-US" sz="1200" b="0" i="0" u="none" strike="noStrike" kern="1200" dirty="0" smtClean="0">
                <a:solidFill>
                  <a:schemeClr val="tx1"/>
                </a:solidFill>
                <a:effectLst/>
                <a:latin typeface="Times New Roman" pitchFamily="18" charset="0"/>
                <a:ea typeface="+mn-ea"/>
                <a:cs typeface="+mn-cs"/>
                <a:hlinkClick r:id="rId3"/>
              </a:rPr>
              <a:t> NVIDIA Data Center GPU</a:t>
            </a:r>
          </a:p>
          <a:p>
            <a:r>
              <a:rPr lang="en-US" dirty="0" smtClean="0"/>
              <a:t>uster.com/blog/bare-metal-kubernetes-with-gpu-challenges-and-multi-tenancy-solutions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10</a:t>
            </a:fld>
            <a:endParaRPr lang="en-US"/>
          </a:p>
        </p:txBody>
      </p:sp>
    </p:spTree>
    <p:extLst>
      <p:ext uri="{BB962C8B-B14F-4D97-AF65-F5344CB8AC3E}">
        <p14:creationId xmlns:p14="http://schemas.microsoft.com/office/powerpoint/2010/main" val="41151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smtClean="0">
                <a:solidFill>
                  <a:schemeClr val="tx1"/>
                </a:solidFill>
                <a:effectLst/>
                <a:latin typeface="+mn-lt"/>
                <a:ea typeface="+mn-ea"/>
                <a:cs typeface="+mn-cs"/>
              </a:rPr>
              <a:t>https://www.kubeflow.org/docs/started/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smtClean="0">
                <a:solidFill>
                  <a:schemeClr val="tx1"/>
                </a:solidFill>
                <a:effectLst/>
                <a:latin typeface="+mn-lt"/>
                <a:ea typeface="+mn-ea"/>
                <a:cs typeface="+mn-cs"/>
              </a:rPr>
              <a:t>https://www.kubeflow.org/docs/components/trainer/legacy-v1/reference/distributed-training/#:~:text=You%20are%20responsible%20for%20writing,the%20distributed%20PyTorch%20training%20job.</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11</a:t>
            </a:fld>
            <a:endParaRPr lang="en-US"/>
          </a:p>
        </p:txBody>
      </p:sp>
    </p:spTree>
    <p:extLst>
      <p:ext uri="{BB962C8B-B14F-4D97-AF65-F5344CB8AC3E}">
        <p14:creationId xmlns:p14="http://schemas.microsoft.com/office/powerpoint/2010/main" val="2634216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https://cloud-google-com.translate.goog/blog/products/containers-kubernetes/monitoring-gpu-workloads-on-gke-with-nvidia-data-center-gpu-manager?_x_tr_sl=en&amp;_x_tr_tl=id&amp;_x_tr_hl=id&amp;_x_tr_pto=imgs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12</a:t>
            </a:fld>
            <a:endParaRPr lang="en-US"/>
          </a:p>
        </p:txBody>
      </p:sp>
    </p:spTree>
    <p:extLst>
      <p:ext uri="{BB962C8B-B14F-4D97-AF65-F5344CB8AC3E}">
        <p14:creationId xmlns:p14="http://schemas.microsoft.com/office/powerpoint/2010/main" val="462524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https://cloud.google.com/kubernetes-engine/docs/concepts/timesharing-gpus?hl=id</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13</a:t>
            </a:fld>
            <a:endParaRPr lang="en-US"/>
          </a:p>
        </p:txBody>
      </p:sp>
    </p:spTree>
    <p:extLst>
      <p:ext uri="{BB962C8B-B14F-4D97-AF65-F5344CB8AC3E}">
        <p14:creationId xmlns:p14="http://schemas.microsoft.com/office/powerpoint/2010/main" val="2608428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smtClean="0">
                <a:solidFill>
                  <a:schemeClr val="tx1"/>
                </a:solidFill>
                <a:effectLst/>
                <a:latin typeface="Times New Roman" pitchFamily="18" charset="0"/>
                <a:ea typeface="+mn-ea"/>
                <a:cs typeface="+mn-cs"/>
              </a:rPr>
              <a:t>https://cloud.google.com/kubernetes-engine/docs/concepts/timesharing-gpus?hl=id</a:t>
            </a:r>
            <a:endParaRPr lang="en-US" i="1" dirty="0"/>
          </a:p>
        </p:txBody>
      </p:sp>
      <p:sp>
        <p:nvSpPr>
          <p:cNvPr id="4" name="Slide Number Placeholder 3"/>
          <p:cNvSpPr>
            <a:spLocks noGrp="1"/>
          </p:cNvSpPr>
          <p:nvPr>
            <p:ph type="sldNum" sz="quarter" idx="10"/>
          </p:nvPr>
        </p:nvSpPr>
        <p:spPr/>
        <p:txBody>
          <a:bodyPr/>
          <a:lstStyle/>
          <a:p>
            <a:fld id="{D1B6B7D4-3417-4BA5-80BD-57E2AD391CAC}" type="slidenum">
              <a:rPr lang="en-US" smtClean="0"/>
              <a:t>14</a:t>
            </a:fld>
            <a:endParaRPr lang="en-US"/>
          </a:p>
        </p:txBody>
      </p:sp>
    </p:spTree>
    <p:extLst>
      <p:ext uri="{BB962C8B-B14F-4D97-AF65-F5344CB8AC3E}">
        <p14:creationId xmlns:p14="http://schemas.microsoft.com/office/powerpoint/2010/main" val="1606098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Times New Roman" pitchFamily="18" charset="0"/>
                <a:ea typeface="+mn-ea"/>
                <a:cs typeface="+mn-cs"/>
              </a:rPr>
              <a:t>https://cloud.google.com/kubernetes-engine/docs/concepts/timesharing-gpus?hl=id</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15</a:t>
            </a:fld>
            <a:endParaRPr lang="en-US"/>
          </a:p>
        </p:txBody>
      </p:sp>
    </p:spTree>
    <p:extLst>
      <p:ext uri="{BB962C8B-B14F-4D97-AF65-F5344CB8AC3E}">
        <p14:creationId xmlns:p14="http://schemas.microsoft.com/office/powerpoint/2010/main" val="4244322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Times New Roman" pitchFamily="18" charset="0"/>
                <a:ea typeface="+mn-ea"/>
                <a:cs typeface="+mn-cs"/>
              </a:rPr>
              <a:t>https://cloud.google.com/kubernetes-engine/docs/concepts/timesharing-gpus?hl=id</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16</a:t>
            </a:fld>
            <a:endParaRPr lang="en-US"/>
          </a:p>
        </p:txBody>
      </p:sp>
    </p:spTree>
    <p:extLst>
      <p:ext uri="{BB962C8B-B14F-4D97-AF65-F5344CB8AC3E}">
        <p14:creationId xmlns:p14="http://schemas.microsoft.com/office/powerpoint/2010/main" val="488713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Times New Roman" pitchFamily="18" charset="0"/>
                <a:ea typeface="+mn-ea"/>
                <a:cs typeface="+mn-cs"/>
              </a:rPr>
              <a:t>https://cloud.google.com/kubernetes-engine/docs/concepts/timesharing-gpus?hl=id</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17</a:t>
            </a:fld>
            <a:endParaRPr lang="en-US"/>
          </a:p>
        </p:txBody>
      </p:sp>
    </p:spTree>
    <p:extLst>
      <p:ext uri="{BB962C8B-B14F-4D97-AF65-F5344CB8AC3E}">
        <p14:creationId xmlns:p14="http://schemas.microsoft.com/office/powerpoint/2010/main" val="3784688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Times New Roman" pitchFamily="18" charset="0"/>
                <a:ea typeface="+mn-ea"/>
                <a:cs typeface="+mn-cs"/>
              </a:rPr>
              <a:t>https://cloud.google.com/kubernetes-engine/docs/concepts/timesharing-gpus?hl=id</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18</a:t>
            </a:fld>
            <a:endParaRPr lang="en-US"/>
          </a:p>
        </p:txBody>
      </p:sp>
    </p:spTree>
    <p:extLst>
      <p:ext uri="{BB962C8B-B14F-4D97-AF65-F5344CB8AC3E}">
        <p14:creationId xmlns:p14="http://schemas.microsoft.com/office/powerpoint/2010/main" val="34010867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https://www.vcluster.com/blog/bare-metal-kubernetes-with-gpu-challenges-and-multi-tenancy-solutions</a:t>
            </a:r>
          </a:p>
          <a:p>
            <a:r>
              <a:rPr lang="en-US" dirty="0" smtClean="0"/>
              <a:t>https://www.vcluster.com/blog/bare-metal-kubernetes-with-gpu-challenges-and-multi-tenancy-solutions</a:t>
            </a:r>
            <a:endParaRPr lang="en-US" dirty="0"/>
          </a:p>
        </p:txBody>
      </p:sp>
      <p:sp>
        <p:nvSpPr>
          <p:cNvPr id="4" name="Slide Number Placeholder 3"/>
          <p:cNvSpPr>
            <a:spLocks noGrp="1"/>
          </p:cNvSpPr>
          <p:nvPr>
            <p:ph type="sldNum" sz="quarter" idx="10"/>
          </p:nvPr>
        </p:nvSpPr>
        <p:spPr/>
        <p:txBody>
          <a:bodyPr/>
          <a:lstStyle/>
          <a:p>
            <a:fld id="{D1B6B7D4-3417-4BA5-80BD-57E2AD391CAC}" type="slidenum">
              <a:rPr lang="en-US" smtClean="0"/>
              <a:t>19</a:t>
            </a:fld>
            <a:endParaRPr lang="en-US"/>
          </a:p>
        </p:txBody>
      </p:sp>
    </p:spTree>
    <p:extLst>
      <p:ext uri="{BB962C8B-B14F-4D97-AF65-F5344CB8AC3E}">
        <p14:creationId xmlns:p14="http://schemas.microsoft.com/office/powerpoint/2010/main" val="1434874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https://docs.aws.amazon.com/id_id/eks/latest/userguide/kubernetes-concepts.html</a:t>
            </a:r>
          </a:p>
          <a:p>
            <a:r>
              <a:rPr lang="en-US" dirty="0" smtClean="0"/>
              <a:t>https://docs.aws.amazon.com/id_id/eks/latest/userguide/kubernetes-concepts.html</a:t>
            </a: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20</a:t>
            </a:fld>
            <a:endParaRPr lang="en-US"/>
          </a:p>
        </p:txBody>
      </p:sp>
    </p:spTree>
    <p:extLst>
      <p:ext uri="{BB962C8B-B14F-4D97-AF65-F5344CB8AC3E}">
        <p14:creationId xmlns:p14="http://schemas.microsoft.com/office/powerpoint/2010/main" val="2444869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FC76-A687-7B4B-B7C4-626092A4E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D0C56-5CE4-974A-9396-D3EB55B4D7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4DA849-C6BE-0D42-92BA-360B93EE951E}"/>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C6DB5C5E-AC5B-A14E-A301-AD633DC7D77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5D572F-30CF-9840-9A79-9226228BE8E2}"/>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1710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78CA-57F7-834F-A3B8-2F41FDE557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0E7C3A-CA92-5142-9827-289275BFED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6E172-3480-524D-A4CE-62BEC772ECAC}"/>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0EECCA29-E44B-4C43-BD55-3FCD251CD04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A014242-6B07-8543-919A-1FC4E1ADFB9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0394670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DA5-F91D-D044-B783-1882CD742B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242B5-90F0-4E4A-AAB6-B12084FC31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ECF56A0-C271-B245-A1C9-25A589EF50A7}"/>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C566E697-8320-434A-86D9-AAC230922290}"/>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37EB4B91-4A86-974C-8CCB-8A3EB058B04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8689611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212B-8369-DA4C-BABB-1A078941E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90E38-4CB2-584D-B9E8-A2B2094BF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6C5A60-5C7D-254F-9697-BF3AEA3A3A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CFB941-C882-CC41-A9CF-2E02FA3FC514}"/>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a:extLst>
              <a:ext uri="{FF2B5EF4-FFF2-40B4-BE49-F238E27FC236}">
                <a16:creationId xmlns:a16="http://schemas.microsoft.com/office/drawing/2014/main" id="{769EE5D5-3BD1-6B4E-B031-3D61A515D825}"/>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A3F84497-F0E4-324C-96C4-4BDF3800257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4996705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C25F-5F64-AB4A-BBF5-77AF585846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848DA2-5CA8-1F4E-9841-4BBF63574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3FFDB4-FED0-1C4F-8D7D-17B0867BD9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D7F3F-2DF5-3447-AAF3-177659901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613463-9787-6941-B670-25EC1557F0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0F4E8-78E2-3747-80C1-43D61721C774}"/>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a:extLst>
              <a:ext uri="{FF2B5EF4-FFF2-40B4-BE49-F238E27FC236}">
                <a16:creationId xmlns:a16="http://schemas.microsoft.com/office/drawing/2014/main" id="{7BC262F4-0E96-6C4F-B0F2-DF033F911B8C}"/>
              </a:ext>
            </a:extLst>
          </p:cNvPr>
          <p:cNvSpPr>
            <a:spLocks noGrp="1"/>
          </p:cNvSpPr>
          <p:nvPr>
            <p:ph type="ftr" sz="quarter" idx="11"/>
          </p:nvPr>
        </p:nvSpPr>
        <p:spPr/>
        <p:txBody>
          <a:bodyPr/>
          <a:lstStyle/>
          <a:p>
            <a:r>
              <a:rPr lang="de-DE"/>
              <a:t>University of Pennsylvania</a:t>
            </a:r>
            <a:endParaRPr lang="en-GB"/>
          </a:p>
        </p:txBody>
      </p:sp>
      <p:sp>
        <p:nvSpPr>
          <p:cNvPr id="9" name="Slide Number Placeholder 8">
            <a:extLst>
              <a:ext uri="{FF2B5EF4-FFF2-40B4-BE49-F238E27FC236}">
                <a16:creationId xmlns:a16="http://schemas.microsoft.com/office/drawing/2014/main" id="{55680677-D036-7543-8C21-49D40D16F000}"/>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20304593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E4D1-730E-504F-9683-098495A950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4C212F-EA7C-C045-BCB8-108319BCDE93}"/>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a:extLst>
              <a:ext uri="{FF2B5EF4-FFF2-40B4-BE49-F238E27FC236}">
                <a16:creationId xmlns:a16="http://schemas.microsoft.com/office/drawing/2014/main" id="{D936530A-03A9-CA4D-B18F-9C4F563784A5}"/>
              </a:ext>
            </a:extLst>
          </p:cNvPr>
          <p:cNvSpPr>
            <a:spLocks noGrp="1"/>
          </p:cNvSpPr>
          <p:nvPr>
            <p:ph type="ftr" sz="quarter" idx="11"/>
          </p:nvPr>
        </p:nvSpPr>
        <p:spPr/>
        <p:txBody>
          <a:bodyPr/>
          <a:lstStyle/>
          <a:p>
            <a:r>
              <a:rPr lang="de-DE"/>
              <a:t>University of Pennsylvania</a:t>
            </a:r>
            <a:endParaRPr lang="en-GB"/>
          </a:p>
        </p:txBody>
      </p:sp>
      <p:sp>
        <p:nvSpPr>
          <p:cNvPr id="5" name="Slide Number Placeholder 4">
            <a:extLst>
              <a:ext uri="{FF2B5EF4-FFF2-40B4-BE49-F238E27FC236}">
                <a16:creationId xmlns:a16="http://schemas.microsoft.com/office/drawing/2014/main" id="{46F73F1B-9FF0-8641-9282-74CC1E49A5B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7146331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40EEF-C38B-144B-821E-4975E49F335B}"/>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a:extLst>
              <a:ext uri="{FF2B5EF4-FFF2-40B4-BE49-F238E27FC236}">
                <a16:creationId xmlns:a16="http://schemas.microsoft.com/office/drawing/2014/main" id="{1EABF87A-B408-1D4E-A728-89D503529F1B}"/>
              </a:ext>
            </a:extLst>
          </p:cNvPr>
          <p:cNvSpPr>
            <a:spLocks noGrp="1"/>
          </p:cNvSpPr>
          <p:nvPr>
            <p:ph type="ftr" sz="quarter" idx="11"/>
          </p:nvPr>
        </p:nvSpPr>
        <p:spPr/>
        <p:txBody>
          <a:bodyPr/>
          <a:lstStyle/>
          <a:p>
            <a:r>
              <a:rPr lang="de-DE"/>
              <a:t>University of Pennsylvania</a:t>
            </a:r>
            <a:endParaRPr lang="en-GB"/>
          </a:p>
        </p:txBody>
      </p:sp>
      <p:sp>
        <p:nvSpPr>
          <p:cNvPr id="4" name="Slide Number Placeholder 3">
            <a:extLst>
              <a:ext uri="{FF2B5EF4-FFF2-40B4-BE49-F238E27FC236}">
                <a16:creationId xmlns:a16="http://schemas.microsoft.com/office/drawing/2014/main" id="{844A79A3-BC23-5049-AB5A-EEBEFC1DDF1E}"/>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6964078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8979A-65AB-B347-9E09-756CA6284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205E94-A13D-4147-89EB-2AE179F7EE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5A8F7D-3AD4-1D43-A088-C33A03187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D2DD2C-19B1-0A43-9570-9A1842C00E0B}"/>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a:extLst>
              <a:ext uri="{FF2B5EF4-FFF2-40B4-BE49-F238E27FC236}">
                <a16:creationId xmlns:a16="http://schemas.microsoft.com/office/drawing/2014/main" id="{728A2C57-1FDB-C346-95CB-FA52DB282911}"/>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87896CB0-35B3-1D4E-8AD4-4B0E0C05CD98}"/>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20450557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D222-4F45-014E-98B9-BC327CE71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ECB534-A460-C74C-B118-2356A474D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56C72C-FBD3-8440-AED3-C06C44303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971F36-EF5A-5F46-9C28-6E6A7D474C7E}"/>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a:extLst>
              <a:ext uri="{FF2B5EF4-FFF2-40B4-BE49-F238E27FC236}">
                <a16:creationId xmlns:a16="http://schemas.microsoft.com/office/drawing/2014/main" id="{B93FA358-451B-7942-B0C1-D0B7B9D6D98D}"/>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FDC32310-9E80-224C-B30E-CC263F97CE04}"/>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93130085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5363-015D-7D4B-BAFF-135F6C4F8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C766A-A719-2A44-9699-E3C404432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E4ADE-3ECD-8641-9FE0-CD597AA3DAAC}"/>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44B53541-5822-2348-8881-F75DD26C0936}"/>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65EF7EAC-E5FB-A241-A525-745F318996FA}"/>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7443004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E3AC36-B8F3-904D-9D44-3800404FE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B37D3E-B28E-E04C-B298-29CCA5D7CE0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93EA0-EACD-4649-BF69-F205284D4964}"/>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6527CA7A-55ED-7443-A196-4D2842C272A7}"/>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7FA9D338-29CC-A549-9D40-63A8AB4F78A3}"/>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1765062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572685" y="1990725"/>
            <a:ext cx="10390716" cy="990600"/>
          </a:xfrm>
        </p:spPr>
        <p:txBody>
          <a:bodyPr/>
          <a:lstStyle>
            <a:lvl1pPr>
              <a:defRPr sz="4000"/>
            </a:lvl1pPr>
          </a:lstStyle>
          <a:p>
            <a:r>
              <a:rPr lang="en-US"/>
              <a:t>Click to edit Master title style</a:t>
            </a:r>
          </a:p>
        </p:txBody>
      </p:sp>
      <p:sp>
        <p:nvSpPr>
          <p:cNvPr id="3" name="Slide Number Placeholder 2"/>
          <p:cNvSpPr>
            <a:spLocks noGrp="1"/>
          </p:cNvSpPr>
          <p:nvPr>
            <p:ph type="sldNum" sz="quarter" idx="10"/>
          </p:nvPr>
        </p:nvSpPr>
        <p:spPr/>
        <p:txBody>
          <a:bodyPr/>
          <a:lstStyle/>
          <a:p>
            <a:fld id="{05072F42-4DFA-4725-86F9-7594E4AB4EB5}" type="slidenum">
              <a:rPr lang="en-GB" smtClean="0"/>
              <a:pPr/>
              <a:t>‹#›</a:t>
            </a:fld>
            <a:endParaRPr lang="en-GB"/>
          </a:p>
        </p:txBody>
      </p:sp>
      <p:sp>
        <p:nvSpPr>
          <p:cNvPr id="4" name="Footer Placeholder 3"/>
          <p:cNvSpPr>
            <a:spLocks noGrp="1"/>
          </p:cNvSpPr>
          <p:nvPr>
            <p:ph type="ftr" sz="quarter" idx="11"/>
          </p:nvPr>
        </p:nvSpPr>
        <p:spPr/>
        <p:txBody>
          <a:bodyPr/>
          <a:lstStyle/>
          <a:p>
            <a:r>
              <a:rPr lang="de-DE"/>
              <a:t>University of Pennsylvania</a:t>
            </a:r>
            <a:endParaRPr lang="en-GB"/>
          </a:p>
        </p:txBody>
      </p:sp>
      <p:sp>
        <p:nvSpPr>
          <p:cNvPr id="5" name="Rectangle 111"/>
          <p:cNvSpPr>
            <a:spLocks noChangeArrowheads="1"/>
          </p:cNvSpPr>
          <p:nvPr userDrawn="1"/>
        </p:nvSpPr>
        <p:spPr bwMode="auto">
          <a:xfrm>
            <a:off x="406400" y="838200"/>
            <a:ext cx="1049867"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sz="2000"/>
          </a:p>
        </p:txBody>
      </p:sp>
      <p:sp>
        <p:nvSpPr>
          <p:cNvPr id="6" name="Line 110"/>
          <p:cNvSpPr>
            <a:spLocks noChangeShapeType="1"/>
          </p:cNvSpPr>
          <p:nvPr userDrawn="1"/>
        </p:nvSpPr>
        <p:spPr bwMode="auto">
          <a:xfrm>
            <a:off x="1123951" y="1143000"/>
            <a:ext cx="0" cy="2895600"/>
          </a:xfrm>
          <a:prstGeom prst="line">
            <a:avLst/>
          </a:prstGeom>
          <a:noFill/>
          <a:ln w="28575">
            <a:solidFill>
              <a:srgbClr val="000000"/>
            </a:solidFill>
            <a:round/>
            <a:headEnd/>
            <a:tailEnd/>
          </a:ln>
          <a:effectLst/>
        </p:spPr>
        <p:txBody>
          <a:bodyPr wrap="none" anchor="ctr"/>
          <a:lstStyle/>
          <a:p>
            <a:endParaRPr lang="en-US" sz="2000"/>
          </a:p>
        </p:txBody>
      </p:sp>
      <p:sp>
        <p:nvSpPr>
          <p:cNvPr id="8" name="Rectangle 13"/>
          <p:cNvSpPr>
            <a:spLocks noGrp="1" noChangeArrowheads="1"/>
          </p:cNvSpPr>
          <p:nvPr>
            <p:ph type="subTitle" idx="1"/>
          </p:nvPr>
        </p:nvSpPr>
        <p:spPr>
          <a:xfrm>
            <a:off x="1818217" y="3944938"/>
            <a:ext cx="85344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68817" y="3011488"/>
            <a:ext cx="11590867"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sz="2000"/>
          </a:p>
        </p:txBody>
      </p:sp>
      <p:pic>
        <p:nvPicPr>
          <p:cNvPr id="11" name="Picture 10" descr="Penn shield.gif"/>
          <p:cNvPicPr>
            <a:picLocks noChangeAspect="1"/>
          </p:cNvPicPr>
          <p:nvPr userDrawn="1"/>
        </p:nvPicPr>
        <p:blipFill>
          <a:blip r:embed="rId2" cstate="print"/>
          <a:stretch>
            <a:fillRect/>
          </a:stretch>
        </p:blipFill>
        <p:spPr>
          <a:xfrm>
            <a:off x="501061" y="2612508"/>
            <a:ext cx="878809" cy="740196"/>
          </a:xfrm>
          <a:prstGeom prst="rect">
            <a:avLst/>
          </a:prstGeom>
        </p:spPr>
      </p:pic>
      <p:sp>
        <p:nvSpPr>
          <p:cNvPr id="12" name="Rectangle 32"/>
          <p:cNvSpPr>
            <a:spLocks noChangeArrowheads="1"/>
          </p:cNvSpPr>
          <p:nvPr userDrawn="1"/>
        </p:nvSpPr>
        <p:spPr bwMode="auto">
          <a:xfrm>
            <a:off x="1" y="6605588"/>
            <a:ext cx="2331217" cy="252412"/>
          </a:xfrm>
          <a:prstGeom prst="rect">
            <a:avLst/>
          </a:prstGeom>
          <a:noFill/>
          <a:ln w="9525">
            <a:noFill/>
            <a:miter lim="800000"/>
            <a:headEnd/>
            <a:tailEnd/>
          </a:ln>
          <a:effectLst/>
        </p:spPr>
        <p:txBody>
          <a:bodyPr anchor="b"/>
          <a:lstStyle/>
          <a:p>
            <a:pPr marL="0" marR="0" indent="0" algn="l" defTabSz="914400" rtl="0" eaLnBrk="1" fontAlgn="base" latinLnBrk="0" hangingPunct="1">
              <a:lnSpc>
                <a:spcPct val="100000"/>
              </a:lnSpc>
              <a:spcBef>
                <a:spcPct val="0"/>
              </a:spcBef>
              <a:spcAft>
                <a:spcPct val="0"/>
              </a:spcAft>
              <a:buClrTx/>
              <a:buSzTx/>
              <a:buFontTx/>
              <a:buNone/>
              <a:tabLst/>
              <a:defRPr/>
            </a:pPr>
            <a:r>
              <a:rPr lang="de-DE" sz="900"/>
              <a:t>© 2013 A. Haeberlen, Z. Ives</a:t>
            </a:r>
            <a:endParaRPr lang="en-GB" sz="9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9D4BDC-9DBC-F647-991C-B00D6C38D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B5DE1C-9DB9-0E43-B50B-973E8289EE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81C8A-F206-BA43-8D7E-04234D39F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7043EDD4-9495-C047-B664-F26C6364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7EA8D715-2296-A64B-AA69-3A1F4CFB77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72F42-4DFA-4725-86F9-7594E4AB4EB5}" type="slidenum">
              <a:rPr lang="en-GB" smtClean="0"/>
              <a:pPr/>
              <a:t>‹#›</a:t>
            </a:fld>
            <a:endParaRPr lang="en-GB"/>
          </a:p>
        </p:txBody>
      </p:sp>
    </p:spTree>
    <p:extLst>
      <p:ext uri="{BB962C8B-B14F-4D97-AF65-F5344CB8AC3E}">
        <p14:creationId xmlns:p14="http://schemas.microsoft.com/office/powerpoint/2010/main" val="245105896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658"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hyperlink" Target="https://hsf-training.github.io/hsf-training-docker/05-coffee-break/index.html" TargetMode="External"/><Relationship Id="rId13" Type="http://schemas.openxmlformats.org/officeDocument/2006/relationships/image" Target="../media/image7.png"/><Relationship Id="rId3" Type="http://schemas.openxmlformats.org/officeDocument/2006/relationships/hyperlink" Target="https://hsf-training.github.io/hsf-training-docker/setup.html" TargetMode="External"/><Relationship Id="rId7" Type="http://schemas.openxmlformats.org/officeDocument/2006/relationships/hyperlink" Target="https://hsf-training.github.io/hsf-training-docker/04-file-io/index.html" TargetMode="External"/><Relationship Id="rId12" Type="http://schemas.openxmlformats.org/officeDocument/2006/relationships/hyperlink" Target="https://hsf-training.github.io/hsf-training-docker/12-bonus/index.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hsf-training.github.io/hsf-training-docker/03-running-containers/index.html" TargetMode="External"/><Relationship Id="rId11" Type="http://schemas.openxmlformats.org/officeDocument/2006/relationships/hyperlink" Target="https://hsf-training.github.io/hsf-training-docker/11-entry/index.html" TargetMode="External"/><Relationship Id="rId5" Type="http://schemas.openxmlformats.org/officeDocument/2006/relationships/hyperlink" Target="https://hsf-training.github.io/hsf-training-docker/02-pulling-images/index.html" TargetMode="External"/><Relationship Id="rId10" Type="http://schemas.openxmlformats.org/officeDocument/2006/relationships/hyperlink" Target="https://hsf-training.github.io/hsf-training-docker/07-removal/index.html" TargetMode="External"/><Relationship Id="rId4" Type="http://schemas.openxmlformats.org/officeDocument/2006/relationships/hyperlink" Target="https://hsf-training.github.io/hsf-training-docker/01-introduction/index.html" TargetMode="External"/><Relationship Id="rId9" Type="http://schemas.openxmlformats.org/officeDocument/2006/relationships/hyperlink" Target="https://hsf-training.github.io/hsf-training-docker/06-dockerfiles/index.html"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www.google.com/url?sa=i&amp;url=https://www.topmostfreight.com/?c%3D24586802041930%26mod%3D1952564f%26uri%3Dbrands.php?id%3D822855-281%26name%3Ddevice%2Bplugin%2Bkubernetes%2Bnvidia%2Bdocker&amp;psig=AOvVaw09RUjBpy8lezU7uzcZYVWG&amp;ust=1760075720582000&amp;source=images&amp;cd=vfe&amp;opi=89978449&amp;ved=2ahUKEwj3hIySt5aQAxVv9qACHS1RAFQQjhx6BAgAEB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hyperlink" Target="https://www.kubeflow.org/docs/started/introduction/" TargetMode="External"/><Relationship Id="rId13" Type="http://schemas.openxmlformats.org/officeDocument/2006/relationships/hyperlink" Target="https://www.kubeflow.org/docs/components/" TargetMode="External"/><Relationship Id="rId18" Type="http://schemas.openxmlformats.org/officeDocument/2006/relationships/hyperlink" Target="https://www.kubeflow.org/docs/components/kserve/" TargetMode="External"/><Relationship Id="rId3" Type="http://schemas.openxmlformats.org/officeDocument/2006/relationships/image" Target="../media/image21.png"/><Relationship Id="rId21" Type="http://schemas.openxmlformats.org/officeDocument/2006/relationships/hyperlink" Target="https://www.kubeflow.org/docs/components/central-dash/" TargetMode="External"/><Relationship Id="rId7" Type="http://schemas.openxmlformats.org/officeDocument/2006/relationships/hyperlink" Target="https://www.kubeflow.org/docs/started/" TargetMode="External"/><Relationship Id="rId12" Type="http://schemas.openxmlformats.org/officeDocument/2006/relationships/hyperlink" Target="https://www.kubeflow.org/docs/started/kubeflow-examples/" TargetMode="External"/><Relationship Id="rId17" Type="http://schemas.openxmlformats.org/officeDocument/2006/relationships/hyperlink" Target="https://www.kubeflow.org/docs/components/katib/" TargetMode="External"/><Relationship Id="rId25" Type="http://schemas.openxmlformats.org/officeDocument/2006/relationships/image" Target="../media/image23.png"/><Relationship Id="rId2" Type="http://schemas.openxmlformats.org/officeDocument/2006/relationships/notesSlide" Target="../notesSlides/notesSlide10.xml"/><Relationship Id="rId16" Type="http://schemas.openxmlformats.org/officeDocument/2006/relationships/hyperlink" Target="https://www.kubeflow.org/docs/components/trainer/" TargetMode="External"/><Relationship Id="rId20" Type="http://schemas.openxmlformats.org/officeDocument/2006/relationships/hyperlink" Target="https://www.kubeflow.org/docs/components/pipelines/" TargetMode="External"/><Relationship Id="rId1" Type="http://schemas.openxmlformats.org/officeDocument/2006/relationships/slideLayout" Target="../slideLayouts/slideLayout2.xml"/><Relationship Id="rId6" Type="http://schemas.openxmlformats.org/officeDocument/2006/relationships/hyperlink" Target="https://www.kubeflow.org/docs/genai/" TargetMode="External"/><Relationship Id="rId11" Type="http://schemas.openxmlformats.org/officeDocument/2006/relationships/hyperlink" Target="https://www.kubeflow.org/docs/started/support/" TargetMode="External"/><Relationship Id="rId24" Type="http://schemas.openxmlformats.org/officeDocument/2006/relationships/hyperlink" Target="https://www.kubeflow.org/docs/external-add-ons/" TargetMode="External"/><Relationship Id="rId5" Type="http://schemas.openxmlformats.org/officeDocument/2006/relationships/hyperlink" Target="https://www.kubeflow.org/docs/" TargetMode="External"/><Relationship Id="rId15" Type="http://schemas.openxmlformats.org/officeDocument/2006/relationships/hyperlink" Target="https://www.kubeflow.org/docs/components/notebooks/" TargetMode="External"/><Relationship Id="rId23" Type="http://schemas.openxmlformats.org/officeDocument/2006/relationships/hyperlink" Target="https://www.kubeflow.org/docs/about/" TargetMode="External"/><Relationship Id="rId10" Type="http://schemas.openxmlformats.org/officeDocument/2006/relationships/hyperlink" Target="https://www.kubeflow.org/docs/started/installing-kubeflow/" TargetMode="External"/><Relationship Id="rId19" Type="http://schemas.openxmlformats.org/officeDocument/2006/relationships/hyperlink" Target="https://www.kubeflow.org/docs/components/model-registry/" TargetMode="External"/><Relationship Id="rId4" Type="http://schemas.openxmlformats.org/officeDocument/2006/relationships/image" Target="../media/image22.png"/><Relationship Id="rId9" Type="http://schemas.openxmlformats.org/officeDocument/2006/relationships/hyperlink" Target="https://www.kubeflow.org/docs/started/architecture/" TargetMode="External"/><Relationship Id="rId14" Type="http://schemas.openxmlformats.org/officeDocument/2006/relationships/hyperlink" Target="https://www.kubeflow.org/docs/components/spark-operator/" TargetMode="External"/><Relationship Id="rId22" Type="http://schemas.openxmlformats.org/officeDocument/2006/relationships/hyperlink" Target="https://www.kubeflow.org/docs/kubeflow-platfor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hyperlink" Target="https://www.nvidia.com/en-us/data-center/pascal-gpu-architecture/"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docs.nvidia.com/deploy/mps/index.html#topic_5_2_7" TargetMode="External"/><Relationship Id="rId5" Type="http://schemas.openxmlformats.org/officeDocument/2006/relationships/hyperlink" Target="https://docs.nvidia.com/deploy/mps/index.html#topic_5_2_5" TargetMode="External"/><Relationship Id="rId4" Type="http://schemas.openxmlformats.org/officeDocument/2006/relationships/hyperlink" Target="https://docs.nvidia.com/deploy/pdf/CUDA_Multi_Process_Service_Overview.pdf"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cloud.google.com/kubernetes-engine/docs/how-to/nvidia-mps-gpus?hl=id" TargetMode="External"/><Relationship Id="rId3" Type="http://schemas.openxmlformats.org/officeDocument/2006/relationships/hyperlink" Target="https://docs.nvidia.com/deploy/mps/#topic_3_3_3" TargetMode="External"/><Relationship Id="rId7" Type="http://schemas.openxmlformats.org/officeDocument/2006/relationships/hyperlink" Target="https://cloud.google.com/kubernetes-engine/docs/how-to/timesharing-gpus?hl=id"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cloud.google.com/kubernetes-engine/docs/how-to/gpus-multi?hl=id" TargetMode="External"/><Relationship Id="rId5" Type="http://schemas.openxmlformats.org/officeDocument/2006/relationships/hyperlink" Target="https://cloud.google.com/kubernetes-engine/docs/concepts/timesharing-gpus?hl=id#monitor" TargetMode="External"/><Relationship Id="rId4" Type="http://schemas.openxmlformats.org/officeDocument/2006/relationships/hyperlink" Target="https://cloud.google.com/monitoring/docs?hl=id"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loud.google.com/kubernetes-engine/docs/how-to/timesharing-gpus?hl=id"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cloud.google.com/kubernetes-engine/docs/how-to/gpus?hl=id" TargetMode="External"/><Relationship Id="rId5" Type="http://schemas.openxmlformats.org/officeDocument/2006/relationships/hyperlink" Target="https://cloud.google.com/kubernetes-engine/docs/how-to/gpus-multi?hl=id" TargetMode="External"/><Relationship Id="rId4" Type="http://schemas.openxmlformats.org/officeDocument/2006/relationships/hyperlink" Target="https://cloud.google.com/kubernetes-engine/docs/how-to/nvidia-mps-gpus?hl=id"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b="1" dirty="0" smtClean="0"/>
              <a:t>Kubernetes </a:t>
            </a:r>
          </a:p>
          <a:p>
            <a:pPr algn="l"/>
            <a:r>
              <a:rPr lang="en-US" sz="4400" dirty="0"/>
              <a:t>	</a:t>
            </a:r>
            <a:r>
              <a:rPr lang="en-US" sz="2000" dirty="0" smtClean="0">
                <a:solidFill>
                  <a:srgbClr val="00FFFF"/>
                </a:solidFill>
              </a:rPr>
              <a:t>GPU-Nodes</a:t>
            </a:r>
            <a:endParaRPr lang="en-US" sz="2000" b="1" dirty="0">
              <a:solidFill>
                <a:srgbClr val="00FFFF"/>
              </a:solidFill>
            </a:endParaRPr>
          </a:p>
        </p:txBody>
      </p:sp>
      <p:sp>
        <p:nvSpPr>
          <p:cNvPr id="27" name="Title 1"/>
          <p:cNvSpPr txBox="1">
            <a:spLocks/>
          </p:cNvSpPr>
          <p:nvPr/>
        </p:nvSpPr>
        <p:spPr>
          <a:xfrm>
            <a:off x="344135" y="6042557"/>
            <a:ext cx="2012203" cy="67076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rgbClr val="0070C0"/>
                </a:solidFill>
              </a:rPr>
              <a:t>O</a:t>
            </a:r>
            <a:r>
              <a:rPr lang="en-US" sz="2400" dirty="0">
                <a:solidFill>
                  <a:schemeClr val="tx1">
                    <a:lumMod val="50000"/>
                    <a:lumOff val="50000"/>
                  </a:schemeClr>
                </a:solidFill>
              </a:rPr>
              <a:t>pen</a:t>
            </a:r>
            <a:r>
              <a:rPr lang="en-US" sz="2400" dirty="0">
                <a:solidFill>
                  <a:srgbClr val="FF0000"/>
                </a:solidFill>
              </a:rPr>
              <a:t> </a:t>
            </a:r>
            <a:r>
              <a:rPr lang="en-US" sz="2400" dirty="0" err="1">
                <a:solidFill>
                  <a:srgbClr val="FF0000"/>
                </a:solidFill>
              </a:rPr>
              <a:t>T</a:t>
            </a:r>
            <a:r>
              <a:rPr lang="en-US" sz="2400" dirty="0" err="1">
                <a:solidFill>
                  <a:srgbClr val="00B0F0"/>
                </a:solidFill>
              </a:rPr>
              <a:t>of</a:t>
            </a:r>
            <a:r>
              <a:rPr lang="en-US" sz="2400" dirty="0" err="1">
                <a:solidFill>
                  <a:srgbClr val="0070C0"/>
                </a:solidFill>
              </a:rPr>
              <a:t>U</a:t>
            </a:r>
            <a:r>
              <a:rPr lang="en-US" sz="2400" dirty="0" err="1">
                <a:solidFill>
                  <a:srgbClr val="FF0000"/>
                </a:solidFill>
              </a:rPr>
              <a:t>-I</a:t>
            </a:r>
            <a:r>
              <a:rPr lang="en-US" sz="2400" dirty="0" err="1">
                <a:solidFill>
                  <a:schemeClr val="accent1"/>
                </a:solidFill>
              </a:rPr>
              <a:t>a</a:t>
            </a:r>
            <a:r>
              <a:rPr lang="en-US" sz="2400" dirty="0" err="1">
                <a:solidFill>
                  <a:srgbClr val="1A9626"/>
                </a:solidFill>
              </a:rPr>
              <a:t>C</a:t>
            </a:r>
            <a:endParaRPr lang="en-US" sz="2400" b="1" dirty="0"/>
          </a:p>
        </p:txBody>
      </p:sp>
      <p:sp>
        <p:nvSpPr>
          <p:cNvPr id="32" name="Rectangle 31"/>
          <p:cNvSpPr/>
          <p:nvPr/>
        </p:nvSpPr>
        <p:spPr>
          <a:xfrm>
            <a:off x="9624120" y="6668468"/>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33" name="Rectangle 32"/>
          <p:cNvSpPr/>
          <p:nvPr/>
        </p:nvSpPr>
        <p:spPr>
          <a:xfrm>
            <a:off x="10290703" y="6033554"/>
            <a:ext cx="1301349" cy="150490"/>
          </a:xfrm>
          <a:prstGeom prst="rect">
            <a:avLst/>
          </a:prstGeom>
        </p:spPr>
        <p:txBody>
          <a:bodyPr wrap="square">
            <a:spAutoFit/>
          </a:bodyPr>
          <a:lstStyle/>
          <a:p>
            <a:pPr algn="r"/>
            <a:r>
              <a:rPr lang="en-US" sz="378" dirty="0"/>
              <a:t>https://www.youtube.com/@AmelOline/videos</a:t>
            </a:r>
          </a:p>
        </p:txBody>
      </p:sp>
      <p:sp>
        <p:nvSpPr>
          <p:cNvPr id="34" name="Rectangle 33"/>
          <p:cNvSpPr/>
          <p:nvPr/>
        </p:nvSpPr>
        <p:spPr>
          <a:xfrm>
            <a:off x="10703274" y="5971254"/>
            <a:ext cx="879077" cy="150490"/>
          </a:xfrm>
          <a:prstGeom prst="rect">
            <a:avLst/>
          </a:prstGeom>
        </p:spPr>
        <p:txBody>
          <a:bodyPr wrap="square">
            <a:spAutoFit/>
          </a:bodyPr>
          <a:lstStyle/>
          <a:p>
            <a:pPr algn="r"/>
            <a:r>
              <a:rPr lang="en-US" sz="378" dirty="0"/>
              <a:t>https://github.com/siagianp</a:t>
            </a:r>
          </a:p>
        </p:txBody>
      </p:sp>
      <p:sp>
        <p:nvSpPr>
          <p:cNvPr id="35" name="Rectangle 34"/>
          <p:cNvSpPr/>
          <p:nvPr/>
        </p:nvSpPr>
        <p:spPr>
          <a:xfrm>
            <a:off x="10139971" y="6105153"/>
            <a:ext cx="1452642" cy="150490"/>
          </a:xfrm>
          <a:prstGeom prst="rect">
            <a:avLst/>
          </a:prstGeom>
        </p:spPr>
        <p:txBody>
          <a:bodyPr wrap="none">
            <a:spAutoFit/>
          </a:bodyPr>
          <a:lstStyle/>
          <a:p>
            <a:pPr algn="r"/>
            <a:r>
              <a:rPr lang="en-US" sz="378" dirty="0"/>
              <a:t>https://github.com/amelcharolinesgn2/Cloud-Infrastructures</a:t>
            </a:r>
          </a:p>
        </p:txBody>
      </p:sp>
      <p:sp>
        <p:nvSpPr>
          <p:cNvPr id="36" name="Rectangle 35"/>
          <p:cNvSpPr/>
          <p:nvPr/>
        </p:nvSpPr>
        <p:spPr>
          <a:xfrm>
            <a:off x="9873873" y="6169179"/>
            <a:ext cx="1718740" cy="150490"/>
          </a:xfrm>
          <a:prstGeom prst="rect">
            <a:avLst/>
          </a:prstGeom>
        </p:spPr>
        <p:txBody>
          <a:bodyPr wrap="none">
            <a:spAutoFit/>
          </a:bodyPr>
          <a:lstStyle/>
          <a:p>
            <a:pPr algn="r"/>
            <a:r>
              <a:rPr lang="en-US" sz="378" dirty="0"/>
              <a:t>https://github.com/amelcharolinesgn2/ClouD-Infrastructure-SISKA-2025</a:t>
            </a:r>
          </a:p>
        </p:txBody>
      </p:sp>
      <p:sp>
        <p:nvSpPr>
          <p:cNvPr id="37" name="Rectangle 36"/>
          <p:cNvSpPr/>
          <p:nvPr/>
        </p:nvSpPr>
        <p:spPr>
          <a:xfrm>
            <a:off x="10290703" y="6220122"/>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8" name="Rectangle 37"/>
          <p:cNvSpPr/>
          <p:nvPr/>
        </p:nvSpPr>
        <p:spPr>
          <a:xfrm>
            <a:off x="10290703" y="6281802"/>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9" name="Rectangle 38"/>
          <p:cNvSpPr/>
          <p:nvPr/>
        </p:nvSpPr>
        <p:spPr>
          <a:xfrm>
            <a:off x="10291825" y="6537690"/>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40" name="Rectangle 39"/>
          <p:cNvSpPr/>
          <p:nvPr/>
        </p:nvSpPr>
        <p:spPr>
          <a:xfrm>
            <a:off x="10291825" y="6595847"/>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41" name="Rectangle 40"/>
          <p:cNvSpPr/>
          <p:nvPr/>
        </p:nvSpPr>
        <p:spPr>
          <a:xfrm>
            <a:off x="10291264" y="6479161"/>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42" name="Rectangle 41"/>
          <p:cNvSpPr/>
          <p:nvPr/>
        </p:nvSpPr>
        <p:spPr>
          <a:xfrm>
            <a:off x="10290142" y="6341912"/>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43" name="Rectangle 42"/>
          <p:cNvSpPr/>
          <p:nvPr/>
        </p:nvSpPr>
        <p:spPr>
          <a:xfrm>
            <a:off x="10290142" y="6390846"/>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44" name="Rectangle 43"/>
          <p:cNvSpPr/>
          <p:nvPr/>
        </p:nvSpPr>
        <p:spPr>
          <a:xfrm>
            <a:off x="10173461" y="6438587"/>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13295802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200" b="1" dirty="0">
                <a:solidFill>
                  <a:schemeClr val="bg1"/>
                </a:solidFill>
                <a:cs typeface="times" panose="02020603050405020304" pitchFamily="18" charset="0"/>
              </a:rPr>
              <a:t>Introduction to Docker and </a:t>
            </a:r>
            <a:r>
              <a:rPr lang="en-US" altLang="ko-KR" sz="3200" b="1" dirty="0" err="1">
                <a:solidFill>
                  <a:schemeClr val="bg1"/>
                </a:solidFill>
                <a:cs typeface="times" panose="02020603050405020304" pitchFamily="18" charset="0"/>
              </a:rPr>
              <a:t>Podman</a:t>
            </a:r>
            <a:endParaRPr lang="ko-KR" altLang="en-US" sz="32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graphicFrame>
        <p:nvGraphicFramePr>
          <p:cNvPr id="4" name="Table 3"/>
          <p:cNvGraphicFramePr>
            <a:graphicFrameLocks noGrp="1"/>
          </p:cNvGraphicFramePr>
          <p:nvPr/>
        </p:nvGraphicFramePr>
        <p:xfrm>
          <a:off x="762000" y="1802722"/>
          <a:ext cx="5810250" cy="4451134"/>
        </p:xfrm>
        <a:graphic>
          <a:graphicData uri="http://schemas.openxmlformats.org/drawingml/2006/table">
            <a:tbl>
              <a:tblPr/>
              <a:tblGrid>
                <a:gridCol w="968375">
                  <a:extLst>
                    <a:ext uri="{9D8B030D-6E8A-4147-A177-3AD203B41FA5}">
                      <a16:colId xmlns:a16="http://schemas.microsoft.com/office/drawing/2014/main" val="1009073341"/>
                    </a:ext>
                  </a:extLst>
                </a:gridCol>
                <a:gridCol w="1452563">
                  <a:extLst>
                    <a:ext uri="{9D8B030D-6E8A-4147-A177-3AD203B41FA5}">
                      <a16:colId xmlns:a16="http://schemas.microsoft.com/office/drawing/2014/main" val="149524443"/>
                    </a:ext>
                  </a:extLst>
                </a:gridCol>
                <a:gridCol w="3389312">
                  <a:extLst>
                    <a:ext uri="{9D8B030D-6E8A-4147-A177-3AD203B41FA5}">
                      <a16:colId xmlns:a16="http://schemas.microsoft.com/office/drawing/2014/main" val="3667450481"/>
                    </a:ext>
                  </a:extLst>
                </a:gridCol>
              </a:tblGrid>
              <a:tr h="177522">
                <a:tc>
                  <a:txBody>
                    <a:bodyPr/>
                    <a:lstStyle/>
                    <a:p>
                      <a:pPr fontAlgn="t"/>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u="none" strike="noStrike">
                          <a:solidFill>
                            <a:srgbClr val="196EBD"/>
                          </a:solidFill>
                          <a:effectLst/>
                          <a:hlinkClick r:id="rId3"/>
                        </a:rPr>
                        <a:t>Setup</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a:effectLst/>
                        </a:rPr>
                        <a:t>Download files required for the lesson</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99939358"/>
                  </a:ext>
                </a:extLst>
              </a:tr>
              <a:tr h="291643">
                <a:tc>
                  <a:txBody>
                    <a:bodyPr/>
                    <a:lstStyle/>
                    <a:p>
                      <a:pPr fontAlgn="t"/>
                      <a:r>
                        <a:rPr lang="en-US" sz="1000">
                          <a:effectLst/>
                        </a:rPr>
                        <a:t>00:00</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1. </a:t>
                      </a:r>
                      <a:r>
                        <a:rPr lang="en-US" sz="1000" u="none" strike="noStrike">
                          <a:solidFill>
                            <a:srgbClr val="196EBD"/>
                          </a:solidFill>
                          <a:effectLst/>
                          <a:hlinkClick r:id="rId4"/>
                        </a:rPr>
                        <a:t>Introduction</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What are containers?</a:t>
                      </a:r>
                      <a:br>
                        <a:rPr lang="en-US" sz="1000">
                          <a:effectLst/>
                        </a:rPr>
                      </a:br>
                      <a:r>
                        <a:rPr lang="en-US" sz="1000">
                          <a:effectLst/>
                        </a:rPr>
                        <a:t>What is Docker and Podman? What are the differences?</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647650422"/>
                  </a:ext>
                </a:extLst>
              </a:tr>
              <a:tr h="291643">
                <a:tc>
                  <a:txBody>
                    <a:bodyPr/>
                    <a:lstStyle/>
                    <a:p>
                      <a:pPr fontAlgn="t"/>
                      <a:r>
                        <a:rPr lang="en-US" sz="1000">
                          <a:effectLst/>
                        </a:rPr>
                        <a:t>00:10</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dirty="0">
                          <a:effectLst/>
                        </a:rPr>
                        <a:t>2. </a:t>
                      </a:r>
                      <a:r>
                        <a:rPr lang="en-US" sz="1000" u="none" strike="noStrike" dirty="0">
                          <a:solidFill>
                            <a:srgbClr val="196EBD"/>
                          </a:solidFill>
                          <a:effectLst/>
                          <a:hlinkClick r:id="rId5"/>
                        </a:rPr>
                        <a:t>Pulling Images</a:t>
                      </a:r>
                      <a:endParaRPr lang="en-US" sz="1000" dirty="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dirty="0">
                          <a:effectLst/>
                        </a:rPr>
                        <a:t>How are images downloaded?</a:t>
                      </a:r>
                      <a:br>
                        <a:rPr lang="en-US" sz="1000" dirty="0">
                          <a:effectLst/>
                        </a:rPr>
                      </a:br>
                      <a:r>
                        <a:rPr lang="en-US" sz="1000" dirty="0">
                          <a:effectLst/>
                        </a:rPr>
                        <a:t>How are images distinguished?</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398314692"/>
                  </a:ext>
                </a:extLst>
              </a:tr>
              <a:tr h="519886">
                <a:tc>
                  <a:txBody>
                    <a:bodyPr/>
                    <a:lstStyle/>
                    <a:p>
                      <a:pPr fontAlgn="t"/>
                      <a:r>
                        <a:rPr lang="en-US" sz="1000">
                          <a:effectLst/>
                        </a:rPr>
                        <a:t>00:25</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3. </a:t>
                      </a:r>
                      <a:r>
                        <a:rPr lang="en-US" sz="1000" u="none" strike="noStrike">
                          <a:solidFill>
                            <a:srgbClr val="196EBD"/>
                          </a:solidFill>
                          <a:effectLst/>
                          <a:hlinkClick r:id="rId6"/>
                        </a:rPr>
                        <a:t>Running Containers</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How are containers run?</a:t>
                      </a:r>
                      <a:br>
                        <a:rPr lang="en-US" sz="1000">
                          <a:effectLst/>
                        </a:rPr>
                      </a:br>
                      <a:r>
                        <a:rPr lang="en-US" sz="1000">
                          <a:effectLst/>
                        </a:rPr>
                        <a:t>How do you monitor containers?</a:t>
                      </a:r>
                      <a:br>
                        <a:rPr lang="en-US" sz="1000">
                          <a:effectLst/>
                        </a:rPr>
                      </a:br>
                      <a:r>
                        <a:rPr lang="en-US" sz="1000">
                          <a:effectLst/>
                        </a:rPr>
                        <a:t>How are containers exited?</a:t>
                      </a:r>
                      <a:br>
                        <a:rPr lang="en-US" sz="1000">
                          <a:effectLst/>
                        </a:rPr>
                      </a:br>
                      <a:r>
                        <a:rPr lang="en-US" sz="1000">
                          <a:effectLst/>
                        </a:rPr>
                        <a:t>How are containers restarted?</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780915669"/>
                  </a:ext>
                </a:extLst>
              </a:tr>
              <a:tr h="177522">
                <a:tc>
                  <a:txBody>
                    <a:bodyPr/>
                    <a:lstStyle/>
                    <a:p>
                      <a:pPr fontAlgn="t"/>
                      <a:r>
                        <a:rPr lang="en-US" sz="1000">
                          <a:effectLst/>
                        </a:rPr>
                        <a:t>00:45</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a:effectLst/>
                        </a:rPr>
                        <a:t>4. </a:t>
                      </a:r>
                      <a:r>
                        <a:rPr lang="en-US" sz="1000" u="none" strike="noStrike">
                          <a:solidFill>
                            <a:srgbClr val="196EBD"/>
                          </a:solidFill>
                          <a:effectLst/>
                          <a:hlinkClick r:id="rId7"/>
                        </a:rPr>
                        <a:t>File I/O with Containers</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a:effectLst/>
                        </a:rPr>
                        <a:t>How do containers interact with my local file system?</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478713289"/>
                  </a:ext>
                </a:extLst>
              </a:tr>
              <a:tr h="177522">
                <a:tc>
                  <a:txBody>
                    <a:bodyPr/>
                    <a:lstStyle/>
                    <a:p>
                      <a:pPr fontAlgn="t"/>
                      <a:r>
                        <a:rPr lang="en-US" sz="1000">
                          <a:effectLst/>
                        </a:rPr>
                        <a:t>01:05</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5. </a:t>
                      </a:r>
                      <a:r>
                        <a:rPr lang="en-US" sz="1000" u="none" strike="noStrike">
                          <a:solidFill>
                            <a:srgbClr val="196EBD"/>
                          </a:solidFill>
                          <a:effectLst/>
                          <a:hlinkClick r:id="rId8"/>
                        </a:rPr>
                        <a:t>Coffee break</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Coffee or tea?</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33357306"/>
                  </a:ext>
                </a:extLst>
              </a:tr>
              <a:tr h="291643">
                <a:tc>
                  <a:txBody>
                    <a:bodyPr/>
                    <a:lstStyle/>
                    <a:p>
                      <a:pPr fontAlgn="t"/>
                      <a:r>
                        <a:rPr lang="en-US" sz="1000">
                          <a:effectLst/>
                        </a:rPr>
                        <a:t>01:20</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a:effectLst/>
                        </a:rPr>
                        <a:t>6. </a:t>
                      </a:r>
                      <a:r>
                        <a:rPr lang="en-US" sz="1000" u="none" strike="noStrike">
                          <a:solidFill>
                            <a:srgbClr val="196EBD"/>
                          </a:solidFill>
                          <a:effectLst/>
                          <a:hlinkClick r:id="rId9"/>
                        </a:rPr>
                        <a:t>Writing Dockerfiles and Building Images</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a:effectLst/>
                        </a:rPr>
                        <a:t>How are Dockerfiles written?</a:t>
                      </a:r>
                      <a:br>
                        <a:rPr lang="en-US" sz="1000">
                          <a:effectLst/>
                        </a:rPr>
                      </a:br>
                      <a:r>
                        <a:rPr lang="en-US" sz="1000">
                          <a:effectLst/>
                        </a:rPr>
                        <a:t>How are images built?</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404208407"/>
                  </a:ext>
                </a:extLst>
              </a:tr>
              <a:tr h="291643">
                <a:tc>
                  <a:txBody>
                    <a:bodyPr/>
                    <a:lstStyle/>
                    <a:p>
                      <a:pPr fontAlgn="t"/>
                      <a:r>
                        <a:rPr lang="en-US" sz="1000">
                          <a:effectLst/>
                        </a:rPr>
                        <a:t>02:00</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7. </a:t>
                      </a:r>
                      <a:r>
                        <a:rPr lang="en-US" sz="1000" u="none" strike="noStrike">
                          <a:solidFill>
                            <a:srgbClr val="196EBD"/>
                          </a:solidFill>
                          <a:effectLst/>
                          <a:hlinkClick r:id="rId10"/>
                        </a:rPr>
                        <a:t>Removal of Containers and Images</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How do you cleanup old containers?</a:t>
                      </a:r>
                      <a:br>
                        <a:rPr lang="en-US" sz="1000">
                          <a:effectLst/>
                        </a:rPr>
                      </a:br>
                      <a:r>
                        <a:rPr lang="en-US" sz="1000">
                          <a:effectLst/>
                        </a:rPr>
                        <a:t>How do you delete images?</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661384302"/>
                  </a:ext>
                </a:extLst>
              </a:tr>
              <a:tr h="291643">
                <a:tc>
                  <a:txBody>
                    <a:bodyPr/>
                    <a:lstStyle/>
                    <a:p>
                      <a:pPr fontAlgn="t"/>
                      <a:r>
                        <a:rPr lang="en-US" sz="1000">
                          <a:effectLst/>
                        </a:rPr>
                        <a:t>02:10</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a:effectLst/>
                        </a:rPr>
                        <a:t>8. </a:t>
                      </a:r>
                      <a:r>
                        <a:rPr lang="en-US" sz="1000" u="none" strike="noStrike">
                          <a:solidFill>
                            <a:srgbClr val="196EBD"/>
                          </a:solidFill>
                          <a:effectLst/>
                          <a:hlinkClick r:id="rId11"/>
                        </a:rPr>
                        <a:t>Using CMD and ENTRYPOINT in Dockerfiles</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US" sz="1000">
                          <a:effectLst/>
                        </a:rPr>
                        <a:t>How are default commands set in Dockerfiles?</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754935490"/>
                  </a:ext>
                </a:extLst>
              </a:tr>
              <a:tr h="519886">
                <a:tc>
                  <a:txBody>
                    <a:bodyPr/>
                    <a:lstStyle/>
                    <a:p>
                      <a:pPr fontAlgn="t"/>
                      <a:r>
                        <a:rPr lang="en-US" sz="1000">
                          <a:effectLst/>
                        </a:rPr>
                        <a:t>02:35</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9. </a:t>
                      </a:r>
                      <a:r>
                        <a:rPr lang="en-US" sz="1000" u="none" strike="noStrike">
                          <a:solidFill>
                            <a:srgbClr val="196EBD"/>
                          </a:solidFill>
                          <a:effectLst/>
                          <a:hlinkClick r:id="rId12"/>
                        </a:rPr>
                        <a:t>Bonus Episode: Building and deploying a Docker container to Github Packages</a:t>
                      </a:r>
                      <a:endParaRPr lang="en-US" sz="100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000">
                          <a:effectLst/>
                        </a:rPr>
                        <a:t>How to build a Docker container for python packages?</a:t>
                      </a:r>
                      <a:br>
                        <a:rPr lang="en-US" sz="1000">
                          <a:effectLst/>
                        </a:rPr>
                      </a:br>
                      <a:r>
                        <a:rPr lang="en-US" sz="1000">
                          <a:effectLst/>
                        </a:rPr>
                        <a:t>How to share Docker images?</a:t>
                      </a:r>
                    </a:p>
                  </a:txBody>
                  <a:tcPr marL="42997" marR="42997" marT="42997" marB="42997">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185479520"/>
                  </a:ext>
                </a:extLst>
              </a:tr>
              <a:tr h="177522">
                <a:tc>
                  <a:txBody>
                    <a:bodyPr/>
                    <a:lstStyle/>
                    <a:p>
                      <a:pPr fontAlgn="t"/>
                      <a:r>
                        <a:rPr lang="en-US" sz="1000">
                          <a:effectLst/>
                        </a:rPr>
                        <a:t>03:15</a:t>
                      </a:r>
                    </a:p>
                  </a:txBody>
                  <a:tcPr marL="42997" marR="42997" marT="42997" marB="42997">
                    <a:lnL>
                      <a:noFill/>
                    </a:lnL>
                    <a:lnR>
                      <a:noFill/>
                    </a:lnR>
                    <a:lnT w="9525" cap="flat" cmpd="sng" algn="ctr">
                      <a:solidFill>
                        <a:srgbClr val="DDDDDD"/>
                      </a:solidFill>
                      <a:prstDash val="solid"/>
                      <a:round/>
                      <a:headEnd type="none" w="med" len="med"/>
                      <a:tailEnd type="none" w="med" len="med"/>
                    </a:lnT>
                    <a:lnB>
                      <a:noFill/>
                    </a:lnB>
                    <a:solidFill>
                      <a:srgbClr val="F9F9F9"/>
                    </a:solidFill>
                  </a:tcPr>
                </a:tc>
                <a:tc>
                  <a:txBody>
                    <a:bodyPr/>
                    <a:lstStyle/>
                    <a:p>
                      <a:pPr fontAlgn="t"/>
                      <a:r>
                        <a:rPr lang="en-US" sz="1000">
                          <a:effectLst/>
                        </a:rPr>
                        <a:t>Finish</a:t>
                      </a:r>
                    </a:p>
                  </a:txBody>
                  <a:tcPr marL="42997" marR="42997" marT="42997" marB="42997">
                    <a:lnL>
                      <a:noFill/>
                    </a:lnL>
                    <a:lnR>
                      <a:noFill/>
                    </a:lnR>
                    <a:lnT w="9525" cap="flat" cmpd="sng" algn="ctr">
                      <a:solidFill>
                        <a:srgbClr val="DDDDDD"/>
                      </a:solidFill>
                      <a:prstDash val="solid"/>
                      <a:round/>
                      <a:headEnd type="none" w="med" len="med"/>
                      <a:tailEnd type="none" w="med" len="med"/>
                    </a:lnT>
                    <a:lnB>
                      <a:noFill/>
                    </a:lnB>
                    <a:solidFill>
                      <a:srgbClr val="F9F9F9"/>
                    </a:solidFill>
                  </a:tcPr>
                </a:tc>
                <a:tc>
                  <a:txBody>
                    <a:bodyPr/>
                    <a:lstStyle/>
                    <a:p>
                      <a:pPr fontAlgn="t"/>
                      <a:endParaRPr lang="en-US" sz="1000" dirty="0">
                        <a:effectLst/>
                      </a:endParaRPr>
                    </a:p>
                  </a:txBody>
                  <a:tcPr marL="42997" marR="42997" marT="42997" marB="42997">
                    <a:lnL>
                      <a:noFill/>
                    </a:lnL>
                    <a:lnR>
                      <a:noFill/>
                    </a:lnR>
                    <a:lnT w="9525" cap="flat" cmpd="sng" algn="ctr">
                      <a:solidFill>
                        <a:srgbClr val="DDDDDD"/>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1796495968"/>
                  </a:ext>
                </a:extLst>
              </a:tr>
            </a:tbl>
          </a:graphicData>
        </a:graphic>
      </p:graphicFrame>
      <p:sp>
        <p:nvSpPr>
          <p:cNvPr id="5" name="Rectangle 1"/>
          <p:cNvSpPr>
            <a:spLocks noChangeArrowheads="1"/>
          </p:cNvSpPr>
          <p:nvPr/>
        </p:nvSpPr>
        <p:spPr bwMode="auto">
          <a:xfrm>
            <a:off x="114300" y="1325561"/>
            <a:ext cx="1866900" cy="5308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smtClean="0">
                <a:ln>
                  <a:noFill/>
                </a:ln>
                <a:solidFill>
                  <a:srgbClr val="333333"/>
                </a:solidFill>
                <a:effectLst/>
                <a:latin typeface="Ubuntu"/>
              </a:rPr>
              <a:t>Schedule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8" name="Picture 7"/>
          <p:cNvPicPr>
            <a:picLocks noChangeAspect="1"/>
          </p:cNvPicPr>
          <p:nvPr/>
        </p:nvPicPr>
        <p:blipFill>
          <a:blip r:embed="rId13"/>
          <a:stretch>
            <a:fillRect/>
          </a:stretch>
        </p:blipFill>
        <p:spPr>
          <a:xfrm>
            <a:off x="114301" y="6253856"/>
            <a:ext cx="1866900" cy="604144"/>
          </a:xfrm>
          <a:prstGeom prst="rect">
            <a:avLst/>
          </a:prstGeom>
        </p:spPr>
      </p:pic>
      <p:sp>
        <p:nvSpPr>
          <p:cNvPr id="11" name="Rectangle 1"/>
          <p:cNvSpPr>
            <a:spLocks noChangeArrowheads="1"/>
          </p:cNvSpPr>
          <p:nvPr/>
        </p:nvSpPr>
        <p:spPr bwMode="auto">
          <a:xfrm>
            <a:off x="7924800" y="3058797"/>
            <a:ext cx="1771650" cy="9309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smtClean="0">
                <a:ln>
                  <a:noFill/>
                </a:ln>
                <a:solidFill>
                  <a:srgbClr val="FFC000"/>
                </a:solidFill>
                <a:effectLst/>
                <a:latin typeface="Ubuntu"/>
              </a:rPr>
              <a:t>OK </a:t>
            </a:r>
            <a:endParaRPr kumimoji="0" lang="en-US" altLang="en-US" sz="4800" b="1" i="0" u="none" strike="noStrike" cap="none" normalizeH="0" baseline="0" dirty="0" smtClean="0">
              <a:ln>
                <a:noFill/>
              </a:ln>
              <a:solidFill>
                <a:srgbClr val="FFC000"/>
              </a:solidFill>
              <a:effectLst/>
              <a:latin typeface="Arial" panose="020B0604020202020204" pitchFamily="34" charset="0"/>
            </a:endParaRPr>
          </a:p>
        </p:txBody>
      </p:sp>
    </p:spTree>
    <p:extLst>
      <p:ext uri="{BB962C8B-B14F-4D97-AF65-F5344CB8AC3E}">
        <p14:creationId xmlns:p14="http://schemas.microsoft.com/office/powerpoint/2010/main" val="4167973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3403166" y="1264516"/>
            <a:ext cx="5637820" cy="4351338"/>
          </a:xfrm>
          <a:prstGeom prst="rect">
            <a:avLst/>
          </a:prstGeom>
        </p:spPr>
      </p:pic>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05072F42-4DFA-4725-86F9-7594E4AB4EB5}" type="slidenum">
              <a:rPr lang="en-GB" smtClean="0"/>
              <a:pPr/>
              <a:t>3</a:t>
            </a:fld>
            <a:endParaRPr lang="en-GB"/>
          </a:p>
        </p:txBody>
      </p:sp>
    </p:spTree>
    <p:extLst>
      <p:ext uri="{BB962C8B-B14F-4D97-AF65-F5344CB8AC3E}">
        <p14:creationId xmlns:p14="http://schemas.microsoft.com/office/powerpoint/2010/main" val="15331497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D76EF-16F6-0343-93E1-BDA3293D7403}"/>
              </a:ext>
            </a:extLst>
          </p:cNvPr>
          <p:cNvSpPr>
            <a:spLocks noGrp="1"/>
          </p:cNvSpPr>
          <p:nvPr>
            <p:ph type="title"/>
          </p:nvPr>
        </p:nvSpPr>
        <p:spPr>
          <a:xfrm>
            <a:off x="117763" y="1391765"/>
            <a:ext cx="5410200" cy="660111"/>
          </a:xfrm>
        </p:spPr>
        <p:txBody>
          <a:bodyPr>
            <a:normAutofit fontScale="90000"/>
          </a:bodyPr>
          <a:lstStyle/>
          <a:p>
            <a:r>
              <a:rPr lang="en-US" dirty="0" err="1"/>
              <a:t>Konsep</a:t>
            </a:r>
            <a:r>
              <a:rPr lang="en-US" dirty="0"/>
              <a:t> Kubernetes?</a:t>
            </a:r>
          </a:p>
        </p:txBody>
      </p:sp>
      <p:sp>
        <p:nvSpPr>
          <p:cNvPr id="3" name="Content Placeholder 2">
            <a:extLst>
              <a:ext uri="{FF2B5EF4-FFF2-40B4-BE49-F238E27FC236}">
                <a16:creationId xmlns:a16="http://schemas.microsoft.com/office/drawing/2014/main" id="{BB8AF28A-05A6-B241-A132-267BC84021CD}"/>
              </a:ext>
            </a:extLst>
          </p:cNvPr>
          <p:cNvSpPr>
            <a:spLocks noGrp="1"/>
          </p:cNvSpPr>
          <p:nvPr>
            <p:ph idx="1"/>
          </p:nvPr>
        </p:nvSpPr>
        <p:spPr>
          <a:xfrm>
            <a:off x="290945" y="3931515"/>
            <a:ext cx="4814455" cy="4351338"/>
          </a:xfrm>
        </p:spPr>
        <p:txBody>
          <a:bodyPr>
            <a:normAutofit/>
          </a:bodyPr>
          <a:lstStyle/>
          <a:p>
            <a:r>
              <a:rPr lang="en-US" sz="1800" dirty="0" err="1"/>
              <a:t>Menerapkan</a:t>
            </a:r>
            <a:r>
              <a:rPr lang="en-US" sz="1800" dirty="0"/>
              <a:t> </a:t>
            </a:r>
            <a:r>
              <a:rPr lang="en-US" sz="1800" dirty="0" err="1"/>
              <a:t>aplikasi</a:t>
            </a:r>
            <a:r>
              <a:rPr lang="en-US" sz="1800" dirty="0"/>
              <a:t> </a:t>
            </a:r>
            <a:r>
              <a:rPr lang="en-US" sz="1800" dirty="0" err="1"/>
              <a:t>pada</a:t>
            </a:r>
            <a:r>
              <a:rPr lang="en-US" sz="1800" dirty="0"/>
              <a:t> </a:t>
            </a:r>
            <a:r>
              <a:rPr lang="en-US" sz="1800" dirty="0" err="1"/>
              <a:t>beberapa</a:t>
            </a:r>
            <a:r>
              <a:rPr lang="en-US" sz="1800" dirty="0"/>
              <a:t> </a:t>
            </a:r>
            <a:r>
              <a:rPr lang="en-US" sz="1800" dirty="0" err="1"/>
              <a:t>mesin</a:t>
            </a:r>
            <a:r>
              <a:rPr lang="en-US" sz="1800" dirty="0"/>
              <a:t> (</a:t>
            </a:r>
            <a:r>
              <a:rPr lang="en-US" sz="1800" dirty="0" err="1"/>
              <a:t>menggunakan</a:t>
            </a:r>
            <a:r>
              <a:rPr lang="en-US" sz="1800" dirty="0"/>
              <a:t> </a:t>
            </a:r>
            <a:r>
              <a:rPr lang="en-US" sz="1800" dirty="0" err="1"/>
              <a:t>kontainer</a:t>
            </a:r>
            <a:r>
              <a:rPr lang="en-US" sz="1800" dirty="0"/>
              <a:t> yang di-deploy di Pod)</a:t>
            </a:r>
          </a:p>
          <a:p>
            <a:r>
              <a:rPr lang="en-US" sz="1800" dirty="0" err="1"/>
              <a:t>Pantau</a:t>
            </a:r>
            <a:r>
              <a:rPr lang="en-US" sz="1800" dirty="0"/>
              <a:t> </a:t>
            </a:r>
            <a:r>
              <a:rPr lang="en-US" sz="1800" dirty="0" err="1"/>
              <a:t>kesehatan</a:t>
            </a:r>
            <a:r>
              <a:rPr lang="en-US" sz="1800" dirty="0"/>
              <a:t> </a:t>
            </a:r>
            <a:r>
              <a:rPr lang="en-US" sz="1800" dirty="0" err="1"/>
              <a:t>kontainer</a:t>
            </a:r>
            <a:r>
              <a:rPr lang="en-US" sz="1800" dirty="0"/>
              <a:t> </a:t>
            </a:r>
            <a:r>
              <a:rPr lang="en-US" sz="1800" dirty="0" err="1"/>
              <a:t>dan</a:t>
            </a:r>
            <a:r>
              <a:rPr lang="en-US" sz="1800" dirty="0"/>
              <a:t> </a:t>
            </a:r>
            <a:r>
              <a:rPr lang="en-US" sz="1800" dirty="0" err="1"/>
              <a:t>mulai</a:t>
            </a:r>
            <a:r>
              <a:rPr lang="en-US" sz="1800" dirty="0"/>
              <a:t> </a:t>
            </a:r>
            <a:r>
              <a:rPr lang="en-US" sz="1800" dirty="0" err="1"/>
              <a:t>ulang</a:t>
            </a:r>
            <a:r>
              <a:rPr lang="en-US" sz="1800" dirty="0"/>
              <a:t> </a:t>
            </a:r>
            <a:r>
              <a:rPr lang="en-US" sz="1800" dirty="0" err="1"/>
              <a:t>kontainer</a:t>
            </a:r>
            <a:r>
              <a:rPr lang="en-US" sz="1800" dirty="0"/>
              <a:t> yang </a:t>
            </a:r>
            <a:r>
              <a:rPr lang="en-US" sz="1800" dirty="0" err="1"/>
              <a:t>gagal</a:t>
            </a:r>
            <a:endParaRPr lang="en-US" sz="1800" dirty="0"/>
          </a:p>
          <a:p>
            <a:r>
              <a:rPr lang="en-US" sz="1800" dirty="0" err="1"/>
              <a:t>Skalakan</a:t>
            </a:r>
            <a:r>
              <a:rPr lang="en-US" sz="1800" dirty="0"/>
              <a:t> </a:t>
            </a:r>
            <a:r>
              <a:rPr lang="en-US" sz="1800" dirty="0" err="1"/>
              <a:t>kontainer</a:t>
            </a:r>
            <a:r>
              <a:rPr lang="en-US" sz="1800" dirty="0"/>
              <a:t> </a:t>
            </a:r>
            <a:r>
              <a:rPr lang="en-US" sz="1800" dirty="0" err="1"/>
              <a:t>ke</a:t>
            </a:r>
            <a:r>
              <a:rPr lang="en-US" sz="1800" dirty="0"/>
              <a:t> </a:t>
            </a:r>
            <a:r>
              <a:rPr lang="en-US" sz="1800" dirty="0" err="1"/>
              <a:t>atas</a:t>
            </a:r>
            <a:r>
              <a:rPr lang="en-US" sz="1800" dirty="0"/>
              <a:t> </a:t>
            </a:r>
            <a:r>
              <a:rPr lang="en-US" sz="1800" dirty="0" err="1"/>
              <a:t>dan</a:t>
            </a:r>
            <a:r>
              <a:rPr lang="en-US" sz="1800" dirty="0"/>
              <a:t> </a:t>
            </a:r>
            <a:r>
              <a:rPr lang="en-US" sz="1800" dirty="0" err="1"/>
              <a:t>ke</a:t>
            </a:r>
            <a:r>
              <a:rPr lang="en-US" sz="1800" dirty="0"/>
              <a:t> </a:t>
            </a:r>
            <a:r>
              <a:rPr lang="en-US" sz="1800" dirty="0" err="1"/>
              <a:t>bawah</a:t>
            </a:r>
            <a:r>
              <a:rPr lang="en-US" sz="1800" dirty="0"/>
              <a:t> </a:t>
            </a:r>
            <a:r>
              <a:rPr lang="en-US" sz="1800" dirty="0" err="1"/>
              <a:t>berdasarkan</a:t>
            </a:r>
            <a:r>
              <a:rPr lang="en-US" sz="1800" dirty="0"/>
              <a:t> </a:t>
            </a:r>
            <a:r>
              <a:rPr lang="en-US" sz="1800" dirty="0" err="1"/>
              <a:t>beban</a:t>
            </a:r>
            <a:endParaRPr lang="en-US" sz="1800" dirty="0"/>
          </a:p>
          <a:p>
            <a:r>
              <a:rPr lang="en-US" sz="1800" dirty="0" err="1"/>
              <a:t>Perbarui</a:t>
            </a:r>
            <a:r>
              <a:rPr lang="en-US" sz="1800" dirty="0"/>
              <a:t> </a:t>
            </a:r>
            <a:r>
              <a:rPr lang="en-US" sz="1800" dirty="0" err="1"/>
              <a:t>wadah</a:t>
            </a:r>
            <a:r>
              <a:rPr lang="en-US" sz="1800" dirty="0"/>
              <a:t> </a:t>
            </a:r>
            <a:r>
              <a:rPr lang="en-US" sz="1800" dirty="0" err="1"/>
              <a:t>dengan</a:t>
            </a:r>
            <a:r>
              <a:rPr lang="en-US" sz="1800" dirty="0"/>
              <a:t> </a:t>
            </a:r>
            <a:r>
              <a:rPr lang="en-US" sz="1800" dirty="0" err="1"/>
              <a:t>versi</a:t>
            </a:r>
            <a:r>
              <a:rPr lang="en-US" sz="1800" dirty="0"/>
              <a:t> </a:t>
            </a:r>
            <a:r>
              <a:rPr lang="en-US" sz="1800" dirty="0" err="1"/>
              <a:t>baru</a:t>
            </a:r>
            <a:endParaRPr lang="en-US" sz="1800" dirty="0"/>
          </a:p>
          <a:p>
            <a:r>
              <a:rPr lang="en-US" sz="1800" dirty="0" err="1"/>
              <a:t>Alokasikan</a:t>
            </a:r>
            <a:r>
              <a:rPr lang="en-US" sz="1800" dirty="0"/>
              <a:t> </a:t>
            </a:r>
            <a:r>
              <a:rPr lang="en-US" sz="1800" dirty="0" err="1"/>
              <a:t>sumber</a:t>
            </a:r>
            <a:r>
              <a:rPr lang="en-US" sz="1800" dirty="0"/>
              <a:t> </a:t>
            </a:r>
            <a:r>
              <a:rPr lang="en-US" sz="1800" dirty="0" err="1"/>
              <a:t>daya</a:t>
            </a:r>
            <a:r>
              <a:rPr lang="en-US" sz="1800" dirty="0"/>
              <a:t> </a:t>
            </a:r>
            <a:r>
              <a:rPr lang="en-US" sz="1800" dirty="0" err="1"/>
              <a:t>antar</a:t>
            </a:r>
            <a:r>
              <a:rPr lang="en-US" sz="1800" dirty="0"/>
              <a:t> </a:t>
            </a:r>
            <a:r>
              <a:rPr lang="en-US" sz="1800" dirty="0" err="1"/>
              <a:t>kontainer</a:t>
            </a:r>
            <a:endParaRPr lang="en-US" sz="1800" dirty="0"/>
          </a:p>
        </p:txBody>
      </p:sp>
      <p:pic>
        <p:nvPicPr>
          <p:cNvPr id="4" name="Picture 3"/>
          <p:cNvPicPr>
            <a:picLocks noChangeAspect="1"/>
          </p:cNvPicPr>
          <p:nvPr/>
        </p:nvPicPr>
        <p:blipFill>
          <a:blip r:embed="rId3"/>
          <a:stretch>
            <a:fillRect/>
          </a:stretch>
        </p:blipFill>
        <p:spPr>
          <a:xfrm>
            <a:off x="5640340" y="2931825"/>
            <a:ext cx="6551660" cy="3685309"/>
          </a:xfrm>
          <a:prstGeom prst="rect">
            <a:avLst/>
          </a:prstGeom>
        </p:spPr>
      </p:pic>
      <p:sp>
        <p:nvSpPr>
          <p:cNvPr id="5" name="Title 1">
            <a:extLst>
              <a:ext uri="{FF2B5EF4-FFF2-40B4-BE49-F238E27FC236}">
                <a16:creationId xmlns:a16="http://schemas.microsoft.com/office/drawing/2014/main" id="{217D76EF-16F6-0343-93E1-BDA3293D7403}"/>
              </a:ext>
            </a:extLst>
          </p:cNvPr>
          <p:cNvSpPr txBox="1">
            <a:spLocks/>
          </p:cNvSpPr>
          <p:nvPr/>
        </p:nvSpPr>
        <p:spPr>
          <a:xfrm>
            <a:off x="5749635" y="2601769"/>
            <a:ext cx="5410200" cy="66011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dirty="0" smtClean="0"/>
              <a:t>AWS</a:t>
            </a:r>
            <a:endParaRPr lang="en-US" dirty="0"/>
          </a:p>
        </p:txBody>
      </p:sp>
      <p:sp>
        <p:nvSpPr>
          <p:cNvPr id="6" name="Rectangle 5"/>
          <p:cNvSpPr/>
          <p:nvPr/>
        </p:nvSpPr>
        <p:spPr>
          <a:xfrm>
            <a:off x="96982" y="2171617"/>
            <a:ext cx="3823854" cy="1520416"/>
          </a:xfrm>
          <a:prstGeom prst="rect">
            <a:avLst/>
          </a:prstGeom>
        </p:spPr>
        <p:txBody>
          <a:bodyPr wrap="square">
            <a:spAutoFit/>
          </a:bodyPr>
          <a:lstStyle/>
          <a:p>
            <a:pPr algn="l"/>
            <a:r>
              <a:rPr lang="en-US" sz="1600" dirty="0" err="1"/>
              <a:t>Topik</a:t>
            </a:r>
            <a:endParaRPr lang="en-US" sz="1600" dirty="0"/>
          </a:p>
          <a:p>
            <a:pPr marL="342900" indent="-342900" algn="l">
              <a:buFont typeface="Arial" panose="020B0604020202020204" pitchFamily="34" charset="0"/>
              <a:buChar char="•"/>
            </a:pPr>
            <a:r>
              <a:rPr lang="en-US" sz="1600" dirty="0" err="1"/>
              <a:t>Mengapa</a:t>
            </a:r>
            <a:r>
              <a:rPr lang="en-US" sz="1600" dirty="0"/>
              <a:t> Kubernetes?</a:t>
            </a:r>
          </a:p>
          <a:p>
            <a:pPr marL="342900" indent="-342900" algn="l">
              <a:buFont typeface="Arial" panose="020B0604020202020204" pitchFamily="34" charset="0"/>
              <a:buChar char="•"/>
            </a:pPr>
            <a:r>
              <a:rPr lang="en-US" sz="1600" dirty="0" err="1" smtClean="0"/>
              <a:t>Klaster</a:t>
            </a:r>
            <a:endParaRPr lang="en-US" sz="1600" dirty="0"/>
          </a:p>
          <a:p>
            <a:pPr marL="342900" indent="-342900" algn="l">
              <a:buFont typeface="Arial" panose="020B0604020202020204" pitchFamily="34" charset="0"/>
              <a:buChar char="•"/>
            </a:pPr>
            <a:r>
              <a:rPr lang="en-US" sz="1600" dirty="0" smtClean="0"/>
              <a:t>Beban </a:t>
            </a:r>
            <a:r>
              <a:rPr lang="en-US" sz="1600" dirty="0" err="1"/>
              <a:t>kerja</a:t>
            </a:r>
            <a:endParaRPr lang="en-US" sz="1600" dirty="0"/>
          </a:p>
          <a:p>
            <a:pPr marL="342900" indent="-342900" algn="l">
              <a:buFont typeface="Arial" panose="020B0604020202020204" pitchFamily="34" charset="0"/>
              <a:buChar char="•"/>
            </a:pPr>
            <a:r>
              <a:rPr lang="en-US" sz="1600" dirty="0" err="1" smtClean="0"/>
              <a:t>Langkah</a:t>
            </a:r>
            <a:r>
              <a:rPr lang="en-US" sz="1600" dirty="0" smtClean="0"/>
              <a:t> </a:t>
            </a:r>
            <a:r>
              <a:rPr lang="en-US" sz="1600" dirty="0" err="1"/>
              <a:t>selanjutnya</a:t>
            </a:r>
            <a:endParaRPr lang="en-US" sz="1600" dirty="0"/>
          </a:p>
        </p:txBody>
      </p:sp>
      <p:sp>
        <p:nvSpPr>
          <p:cNvPr id="7" name="직사각형 5">
            <a:extLst>
              <a:ext uri="{FF2B5EF4-FFF2-40B4-BE49-F238E27FC236}">
                <a16:creationId xmlns:a16="http://schemas.microsoft.com/office/drawing/2014/main" id="{0EDDC26F-71D8-4B03-BD6A-EF35447CC309}"/>
              </a:ext>
            </a:extLst>
          </p:cNvPr>
          <p:cNvSpPr/>
          <p:nvPr/>
        </p:nvSpPr>
        <p:spPr>
          <a:xfrm flipV="1">
            <a:off x="0" y="0"/>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제목 1">
            <a:extLst>
              <a:ext uri="{FF2B5EF4-FFF2-40B4-BE49-F238E27FC236}">
                <a16:creationId xmlns:a16="http://schemas.microsoft.com/office/drawing/2014/main" id="{0414CAAA-4E9C-490D-939E-F0F0CA16C772}"/>
              </a:ext>
            </a:extLst>
          </p:cNvPr>
          <p:cNvSpPr txBox="1">
            <a:spLocks/>
          </p:cNvSpPr>
          <p:nvPr/>
        </p:nvSpPr>
        <p:spPr>
          <a:xfrm>
            <a:off x="457200" y="-16030"/>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Multi-GPU training based </a:t>
            </a:r>
            <a:r>
              <a:rPr lang="en-US" altLang="ko-KR" sz="1800" b="1" dirty="0" err="1">
                <a:solidFill>
                  <a:schemeClr val="bg1"/>
                </a:solidFill>
                <a:cs typeface="times" panose="02020603050405020304" pitchFamily="18" charset="0"/>
              </a:rPr>
              <a:t>PyTorch</a:t>
            </a:r>
            <a:r>
              <a:rPr lang="en-US" altLang="ko-KR" sz="1800" b="1" dirty="0">
                <a:solidFill>
                  <a:schemeClr val="bg1"/>
                </a:solidFill>
                <a:cs typeface="times" panose="02020603050405020304" pitchFamily="18" charset="0"/>
              </a:rPr>
              <a:t> on Docker-container-Pods</a:t>
            </a:r>
            <a:endParaRPr lang="ko-KR" altLang="en-US" sz="1800" dirty="0">
              <a:solidFill>
                <a:schemeClr val="bg1"/>
              </a:solidFill>
            </a:endParaRPr>
          </a:p>
        </p:txBody>
      </p:sp>
      <p:sp>
        <p:nvSpPr>
          <p:cNvPr id="9"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Multi-GPU training based </a:t>
            </a:r>
            <a:r>
              <a:rPr lang="en-US" altLang="ko-KR" sz="1800" b="1" dirty="0" err="1">
                <a:solidFill>
                  <a:schemeClr val="bg1"/>
                </a:solidFill>
                <a:cs typeface="times" panose="02020603050405020304" pitchFamily="18" charset="0"/>
              </a:rPr>
              <a:t>PyTorch</a:t>
            </a:r>
            <a:r>
              <a:rPr lang="en-US" altLang="ko-KR" sz="1800" b="1" dirty="0">
                <a:solidFill>
                  <a:schemeClr val="bg1"/>
                </a:solidFill>
                <a:cs typeface="times" panose="02020603050405020304" pitchFamily="18" charset="0"/>
              </a:rPr>
              <a:t> on Docker-container-Pods</a:t>
            </a:r>
            <a:endParaRPr lang="ko-KR" altLang="en-US" sz="1800" dirty="0">
              <a:solidFill>
                <a:schemeClr val="bg1"/>
              </a:solidFill>
            </a:endParaRPr>
          </a:p>
        </p:txBody>
      </p:sp>
    </p:spTree>
    <p:extLst>
      <p:ext uri="{BB962C8B-B14F-4D97-AF65-F5344CB8AC3E}">
        <p14:creationId xmlns:p14="http://schemas.microsoft.com/office/powerpoint/2010/main" val="38264886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Bare Metal Kubernetes with GPU</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pic>
        <p:nvPicPr>
          <p:cNvPr id="5" name="Content Placeholder 4"/>
          <p:cNvPicPr>
            <a:picLocks noGrp="1" noChangeAspect="1"/>
          </p:cNvPicPr>
          <p:nvPr>
            <p:ph idx="1"/>
          </p:nvPr>
        </p:nvPicPr>
        <p:blipFill>
          <a:blip r:embed="rId3"/>
          <a:stretch>
            <a:fillRect/>
          </a:stretch>
        </p:blipFill>
        <p:spPr>
          <a:xfrm>
            <a:off x="0" y="1325561"/>
            <a:ext cx="4637667" cy="2782600"/>
          </a:xfrm>
          <a:prstGeom prst="rect">
            <a:avLst/>
          </a:prstGeom>
        </p:spPr>
      </p:pic>
      <p:sp>
        <p:nvSpPr>
          <p:cNvPr id="8" name="Rectangle 7"/>
          <p:cNvSpPr/>
          <p:nvPr/>
        </p:nvSpPr>
        <p:spPr>
          <a:xfrm>
            <a:off x="228600" y="4345641"/>
            <a:ext cx="5285509" cy="1341906"/>
          </a:xfrm>
          <a:prstGeom prst="rect">
            <a:avLst/>
          </a:prstGeom>
        </p:spPr>
        <p:txBody>
          <a:bodyPr wrap="square">
            <a:spAutoFit/>
          </a:bodyPr>
          <a:lstStyle/>
          <a:p>
            <a:pPr algn="just"/>
            <a:r>
              <a:rPr lang="en-US" sz="1400" dirty="0"/>
              <a:t>Table of Contents</a:t>
            </a:r>
          </a:p>
          <a:p>
            <a:pPr lvl="1" algn="just"/>
            <a:r>
              <a:rPr lang="en-US" sz="1400" dirty="0"/>
              <a:t>The Current State of Bare Metal Kubernetes with GPU</a:t>
            </a:r>
          </a:p>
          <a:p>
            <a:pPr lvl="1" algn="just"/>
            <a:r>
              <a:rPr lang="en-US" sz="1400" dirty="0"/>
              <a:t>Shared Nodes Mode (Default </a:t>
            </a:r>
            <a:r>
              <a:rPr lang="en-US" sz="1400" dirty="0" err="1"/>
              <a:t>vCluster</a:t>
            </a:r>
            <a:r>
              <a:rPr lang="en-US" sz="1400" dirty="0"/>
              <a:t> Mode)</a:t>
            </a:r>
          </a:p>
          <a:p>
            <a:pPr lvl="1" algn="just"/>
            <a:r>
              <a:rPr lang="en-US" sz="1400" dirty="0"/>
              <a:t>Dedicated Nodes via Node Selectors</a:t>
            </a:r>
          </a:p>
          <a:p>
            <a:pPr lvl="1" algn="just"/>
            <a:r>
              <a:rPr lang="en-US" sz="1400" dirty="0"/>
              <a:t>Dedicated Clusters with Private Nodes (Coming Soon)</a:t>
            </a:r>
          </a:p>
        </p:txBody>
      </p:sp>
      <p:pic>
        <p:nvPicPr>
          <p:cNvPr id="11" name="Content Placeholder 1"/>
          <p:cNvPicPr>
            <a:picLocks noChangeAspect="1"/>
          </p:cNvPicPr>
          <p:nvPr/>
        </p:nvPicPr>
        <p:blipFill>
          <a:blip r:embed="rId4"/>
          <a:stretch>
            <a:fillRect/>
          </a:stretch>
        </p:blipFill>
        <p:spPr>
          <a:xfrm>
            <a:off x="6372375" y="1606024"/>
            <a:ext cx="4400010" cy="4351338"/>
          </a:xfrm>
          <a:prstGeom prst="rect">
            <a:avLst/>
          </a:prstGeom>
        </p:spPr>
      </p:pic>
    </p:spTree>
    <p:extLst>
      <p:ext uri="{BB962C8B-B14F-4D97-AF65-F5344CB8AC3E}">
        <p14:creationId xmlns:p14="http://schemas.microsoft.com/office/powerpoint/2010/main" val="18854650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Bare Metal Kubernetes with GPU</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pic>
        <p:nvPicPr>
          <p:cNvPr id="8" name="Content Placeholder 7"/>
          <p:cNvPicPr>
            <a:picLocks noGrp="1" noChangeAspect="1"/>
          </p:cNvPicPr>
          <p:nvPr>
            <p:ph idx="1"/>
          </p:nvPr>
        </p:nvPicPr>
        <p:blipFill>
          <a:blip r:embed="rId3"/>
          <a:stretch>
            <a:fillRect/>
          </a:stretch>
        </p:blipFill>
        <p:spPr>
          <a:xfrm>
            <a:off x="457200" y="1463675"/>
            <a:ext cx="5181600" cy="4351338"/>
          </a:xfrm>
          <a:prstGeom prst="rect">
            <a:avLst/>
          </a:prstGeom>
        </p:spPr>
      </p:pic>
      <p:pic>
        <p:nvPicPr>
          <p:cNvPr id="11" name="Picture 10"/>
          <p:cNvPicPr>
            <a:picLocks noChangeAspect="1"/>
          </p:cNvPicPr>
          <p:nvPr/>
        </p:nvPicPr>
        <p:blipFill>
          <a:blip r:embed="rId4"/>
          <a:stretch>
            <a:fillRect/>
          </a:stretch>
        </p:blipFill>
        <p:spPr>
          <a:xfrm>
            <a:off x="7336582" y="1906966"/>
            <a:ext cx="4369744" cy="3464755"/>
          </a:xfrm>
          <a:prstGeom prst="rect">
            <a:avLst/>
          </a:prstGeom>
        </p:spPr>
      </p:pic>
    </p:spTree>
    <p:extLst>
      <p:ext uri="{BB962C8B-B14F-4D97-AF65-F5344CB8AC3E}">
        <p14:creationId xmlns:p14="http://schemas.microsoft.com/office/powerpoint/2010/main" val="24278818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Bare Metal Kubernetes with GPU</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2" name="Rectangle 1"/>
          <p:cNvSpPr/>
          <p:nvPr/>
        </p:nvSpPr>
        <p:spPr>
          <a:xfrm>
            <a:off x="210705" y="1425515"/>
            <a:ext cx="5217389" cy="400110"/>
          </a:xfrm>
          <a:prstGeom prst="rect">
            <a:avLst/>
          </a:prstGeom>
        </p:spPr>
        <p:txBody>
          <a:bodyPr wrap="none">
            <a:spAutoFit/>
          </a:bodyPr>
          <a:lstStyle/>
          <a:p>
            <a:r>
              <a:rPr lang="fr-FR" dirty="0" err="1"/>
              <a:t>Shared</a:t>
            </a:r>
            <a:r>
              <a:rPr lang="fr-FR" dirty="0"/>
              <a:t> </a:t>
            </a:r>
            <a:r>
              <a:rPr lang="fr-FR" dirty="0" err="1"/>
              <a:t>Nodes</a:t>
            </a:r>
            <a:r>
              <a:rPr lang="fr-FR" dirty="0"/>
              <a:t> Mode (Default </a:t>
            </a:r>
            <a:r>
              <a:rPr lang="fr-FR" dirty="0" err="1"/>
              <a:t>vCluster</a:t>
            </a:r>
            <a:r>
              <a:rPr lang="fr-FR" dirty="0"/>
              <a:t> Mode)</a:t>
            </a:r>
            <a:endParaRPr lang="en-US" dirty="0"/>
          </a:p>
        </p:txBody>
      </p:sp>
      <p:pic>
        <p:nvPicPr>
          <p:cNvPr id="1026" name="Picture 2" descr="https://cdn.prod.website-files.com/65a5be30bf4809bb3a2e8aff/6863f67a27ca1e03c941a0ec_bfd6da6d-f777-485a-9e35-1a5347235d8c.pn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2233571"/>
            <a:ext cx="5382080" cy="309624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6324600" y="1338497"/>
            <a:ext cx="3491617" cy="2443196"/>
          </a:xfrm>
          <a:prstGeom prst="rect">
            <a:avLst/>
          </a:prstGeom>
        </p:spPr>
      </p:pic>
      <p:pic>
        <p:nvPicPr>
          <p:cNvPr id="1028" name="Picture 4" descr="https://cdn.prod.website-files.com/65a5be30bf4809bb3a2e8aff/6863f67927ca1e03c941a0d7_69f34486-b2e6-4bf0-8bc3-04dec5d77f8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33623" y="3908753"/>
            <a:ext cx="5791677" cy="2701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3711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Bare Metal Kubernetes with GPU</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2" name="Rectangle 1"/>
          <p:cNvSpPr/>
          <p:nvPr/>
        </p:nvSpPr>
        <p:spPr>
          <a:xfrm>
            <a:off x="249641" y="1425515"/>
            <a:ext cx="4263218" cy="400110"/>
          </a:xfrm>
          <a:prstGeom prst="rect">
            <a:avLst/>
          </a:prstGeom>
        </p:spPr>
        <p:txBody>
          <a:bodyPr wrap="none">
            <a:spAutoFit/>
          </a:bodyPr>
          <a:lstStyle/>
          <a:p>
            <a:r>
              <a:rPr lang="en-US" dirty="0"/>
              <a:t>Dedicated Nodes via Node Selectors</a:t>
            </a:r>
          </a:p>
        </p:txBody>
      </p:sp>
      <p:pic>
        <p:nvPicPr>
          <p:cNvPr id="2050" name="Picture 2" descr="https://cdn.prod.website-files.com/65a5be30bf4809bb3a2e8aff/6863f67a27ca1e03c941a0f2_48a03a4b-36b2-4687-9fee-08f545acd8ac.pn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753835" y="2344176"/>
            <a:ext cx="3759024" cy="287503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176912" y="1425515"/>
            <a:ext cx="6096000" cy="707886"/>
          </a:xfrm>
          <a:prstGeom prst="rect">
            <a:avLst/>
          </a:prstGeom>
        </p:spPr>
        <p:txBody>
          <a:bodyPr>
            <a:spAutoFit/>
          </a:bodyPr>
          <a:lstStyle/>
          <a:p>
            <a:pPr algn="l"/>
            <a:r>
              <a:rPr lang="en-US" dirty="0"/>
              <a:t>Dedicated Clusters with Private Nodes (Coming Soon)</a:t>
            </a:r>
          </a:p>
        </p:txBody>
      </p:sp>
      <p:pic>
        <p:nvPicPr>
          <p:cNvPr id="2052" name="Picture 4" descr="https://cdn.prod.website-files.com/65a5be30bf4809bb3a2e8aff/6863f67a27ca1e03c941a0e5_d6a5a0f8-3424-4c4d-8e84-41dfe2eec8b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3188" y="2648644"/>
            <a:ext cx="3071724" cy="2633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514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smtClean="0">
                <a:solidFill>
                  <a:schemeClr val="bg1"/>
                </a:solidFill>
                <a:cs typeface="times" panose="02020603050405020304" pitchFamily="18" charset="0"/>
              </a:rPr>
              <a:t>Kubernetes  Cluster</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pic>
        <p:nvPicPr>
          <p:cNvPr id="3074" name="Picture 2" descr="The Best Cloud Infrastructure Automation Tools MetricFir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01733" y="1606024"/>
            <a:ext cx="5194267" cy="435133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096000" y="1589998"/>
            <a:ext cx="6096000" cy="3429000"/>
          </a:xfrm>
          <a:prstGeom prst="rect">
            <a:avLst/>
          </a:prstGeom>
        </p:spPr>
      </p:pic>
    </p:spTree>
    <p:extLst>
      <p:ext uri="{BB962C8B-B14F-4D97-AF65-F5344CB8AC3E}">
        <p14:creationId xmlns:p14="http://schemas.microsoft.com/office/powerpoint/2010/main" val="25953975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hlinkClick r:id="rId3"/>
              </a:rPr>
              <a:t>Device Plugin Kubernetes </a:t>
            </a:r>
            <a:r>
              <a:rPr lang="en-US" dirty="0" err="1">
                <a:solidFill>
                  <a:schemeClr val="bg1"/>
                </a:solidFill>
                <a:hlinkClick r:id="rId3"/>
              </a:rPr>
              <a:t>Nvidia</a:t>
            </a:r>
            <a:r>
              <a:rPr lang="en-US" dirty="0">
                <a:solidFill>
                  <a:schemeClr val="bg1"/>
                </a:solidFill>
                <a:hlinkClick r:id="rId3"/>
              </a:rPr>
              <a:t> Docker Virtual </a:t>
            </a:r>
            <a:r>
              <a:rPr lang="en-US" dirty="0" err="1">
                <a:solidFill>
                  <a:schemeClr val="bg1"/>
                </a:solidFill>
                <a:hlinkClick r:id="rId3"/>
              </a:rPr>
              <a:t>Gpu</a:t>
            </a:r>
            <a:r>
              <a:rPr lang="en-US" dirty="0">
                <a:solidFill>
                  <a:schemeClr val="bg1"/>
                </a:solidFill>
                <a:hlinkClick r:id="rId3"/>
              </a:rPr>
              <a:t> Server Shop</a:t>
            </a: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pic>
        <p:nvPicPr>
          <p:cNvPr id="2" name="Content Placeholder 1"/>
          <p:cNvPicPr>
            <a:picLocks noGrp="1" noChangeAspect="1"/>
          </p:cNvPicPr>
          <p:nvPr>
            <p:ph idx="1"/>
          </p:nvPr>
        </p:nvPicPr>
        <p:blipFill>
          <a:blip r:embed="rId4"/>
          <a:stretch>
            <a:fillRect/>
          </a:stretch>
        </p:blipFill>
        <p:spPr>
          <a:xfrm>
            <a:off x="308913" y="1325561"/>
            <a:ext cx="5554373" cy="4351338"/>
          </a:xfrm>
          <a:prstGeom prst="rect">
            <a:avLst/>
          </a:prstGeom>
        </p:spPr>
      </p:pic>
    </p:spTree>
    <p:extLst>
      <p:ext uri="{BB962C8B-B14F-4D97-AF65-F5344CB8AC3E}">
        <p14:creationId xmlns:p14="http://schemas.microsoft.com/office/powerpoint/2010/main" val="23759933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WBC1</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664845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bg1"/>
                </a:solidFill>
              </a:rPr>
              <a:t>Distributed Training with the Training Operator</a:t>
            </a: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pic>
        <p:nvPicPr>
          <p:cNvPr id="2" name="Picture 1"/>
          <p:cNvPicPr>
            <a:picLocks noChangeAspect="1"/>
          </p:cNvPicPr>
          <p:nvPr/>
        </p:nvPicPr>
        <p:blipFill>
          <a:blip r:embed="rId3"/>
          <a:stretch>
            <a:fillRect/>
          </a:stretch>
        </p:blipFill>
        <p:spPr>
          <a:xfrm>
            <a:off x="7105650" y="1858246"/>
            <a:ext cx="4629151" cy="2441399"/>
          </a:xfrm>
          <a:prstGeom prst="rect">
            <a:avLst/>
          </a:prstGeom>
        </p:spPr>
      </p:pic>
      <p:sp>
        <p:nvSpPr>
          <p:cNvPr id="8" name="Rectangle 7"/>
          <p:cNvSpPr/>
          <p:nvPr/>
        </p:nvSpPr>
        <p:spPr>
          <a:xfrm>
            <a:off x="7010400" y="4445610"/>
            <a:ext cx="5657849" cy="369332"/>
          </a:xfrm>
          <a:prstGeom prst="rect">
            <a:avLst/>
          </a:prstGeom>
        </p:spPr>
        <p:txBody>
          <a:bodyPr wrap="square">
            <a:spAutoFit/>
          </a:bodyPr>
          <a:lstStyle/>
          <a:p>
            <a:r>
              <a:rPr lang="en-US" dirty="0"/>
              <a:t>Distributed Training for </a:t>
            </a:r>
            <a:r>
              <a:rPr lang="en-US" dirty="0" err="1" smtClean="0"/>
              <a:t>TensorFlow</a:t>
            </a:r>
            <a:endParaRPr lang="en-US" dirty="0"/>
          </a:p>
        </p:txBody>
      </p:sp>
      <p:pic>
        <p:nvPicPr>
          <p:cNvPr id="4" name="Picture 3"/>
          <p:cNvPicPr>
            <a:picLocks noChangeAspect="1"/>
          </p:cNvPicPr>
          <p:nvPr/>
        </p:nvPicPr>
        <p:blipFill>
          <a:blip r:embed="rId4"/>
          <a:stretch>
            <a:fillRect/>
          </a:stretch>
        </p:blipFill>
        <p:spPr>
          <a:xfrm>
            <a:off x="7105650" y="4838699"/>
            <a:ext cx="5086350" cy="1999931"/>
          </a:xfrm>
          <a:prstGeom prst="rect">
            <a:avLst/>
          </a:prstGeom>
        </p:spPr>
      </p:pic>
      <p:sp>
        <p:nvSpPr>
          <p:cNvPr id="11" name="Rectangle 10"/>
          <p:cNvSpPr/>
          <p:nvPr/>
        </p:nvSpPr>
        <p:spPr>
          <a:xfrm>
            <a:off x="7105650" y="1463227"/>
            <a:ext cx="5657849" cy="369332"/>
          </a:xfrm>
          <a:prstGeom prst="rect">
            <a:avLst/>
          </a:prstGeom>
        </p:spPr>
        <p:txBody>
          <a:bodyPr wrap="square">
            <a:spAutoFit/>
          </a:bodyPr>
          <a:lstStyle/>
          <a:p>
            <a:r>
              <a:rPr lang="en-US" dirty="0"/>
              <a:t>Distributed Training for </a:t>
            </a:r>
            <a:r>
              <a:rPr lang="en-US" dirty="0" err="1"/>
              <a:t>PyTorch</a:t>
            </a:r>
            <a:endParaRPr lang="en-US" dirty="0"/>
          </a:p>
        </p:txBody>
      </p:sp>
      <p:sp>
        <p:nvSpPr>
          <p:cNvPr id="5" name="Rectangle 1"/>
          <p:cNvSpPr>
            <a:spLocks noChangeArrowheads="1"/>
          </p:cNvSpPr>
          <p:nvPr/>
        </p:nvSpPr>
        <p:spPr bwMode="auto">
          <a:xfrm>
            <a:off x="228600" y="1617115"/>
            <a:ext cx="2533650" cy="3678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rgbClr val="4279F4"/>
                </a:solidFill>
                <a:effectLst/>
                <a:latin typeface="open sans"/>
                <a:hlinkClick r:id="rId5"/>
              </a:rPr>
              <a:t>Documentation</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6"/>
              </a:rPr>
              <a:t>GenAI</a:t>
            </a:r>
            <a:endParaRPr kumimoji="0" lang="en-US" altLang="en-US" sz="1100" b="0" i="0" u="none" strike="noStrike" cap="none" normalizeH="0" baseline="0" dirty="0" smtClean="0">
              <a:ln>
                <a:noFill/>
              </a:ln>
              <a:solidFill>
                <a:srgbClr val="222222"/>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smtClean="0">
                <a:ln>
                  <a:noFill/>
                </a:ln>
                <a:solidFill>
                  <a:srgbClr val="4279F4"/>
                </a:solidFill>
                <a:effectLst/>
                <a:latin typeface="open sans"/>
                <a:hlinkClick r:id="rId7"/>
              </a:rPr>
              <a:t>Getting Started</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smtClean="0">
                <a:ln>
                  <a:noFill/>
                </a:ln>
                <a:solidFill>
                  <a:srgbClr val="495057"/>
                </a:solidFill>
                <a:effectLst/>
                <a:latin typeface="open sans"/>
                <a:hlinkClick r:id="rId8"/>
              </a:rPr>
              <a:t>Introduction</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smtClean="0">
                <a:ln>
                  <a:noFill/>
                </a:ln>
                <a:solidFill>
                  <a:srgbClr val="495057"/>
                </a:solidFill>
                <a:effectLst/>
                <a:latin typeface="open sans"/>
                <a:hlinkClick r:id="rId9"/>
              </a:rPr>
              <a:t>Architecture</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smtClean="0">
                <a:ln>
                  <a:noFill/>
                </a:ln>
                <a:solidFill>
                  <a:srgbClr val="495057"/>
                </a:solidFill>
                <a:effectLst/>
                <a:latin typeface="open sans"/>
                <a:hlinkClick r:id="rId10"/>
              </a:rPr>
              <a:t>Installing </a:t>
            </a:r>
            <a:r>
              <a:rPr kumimoji="0" lang="en-US" altLang="en-US" sz="1100" b="0" i="0" u="none" strike="noStrike" cap="none" normalizeH="0" baseline="0" dirty="0" err="1" smtClean="0">
                <a:ln>
                  <a:noFill/>
                </a:ln>
                <a:solidFill>
                  <a:srgbClr val="495057"/>
                </a:solidFill>
                <a:effectLst/>
                <a:latin typeface="open sans"/>
                <a:hlinkClick r:id="rId10"/>
              </a:rPr>
              <a:t>Kubeflow</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smtClean="0">
                <a:ln>
                  <a:noFill/>
                </a:ln>
                <a:solidFill>
                  <a:srgbClr val="495057"/>
                </a:solidFill>
                <a:effectLst/>
                <a:latin typeface="open sans"/>
                <a:hlinkClick r:id="rId11"/>
              </a:rPr>
              <a:t>Get Support</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smtClean="0">
                <a:ln>
                  <a:noFill/>
                </a:ln>
                <a:solidFill>
                  <a:srgbClr val="495057"/>
                </a:solidFill>
                <a:effectLst/>
                <a:latin typeface="open sans"/>
                <a:hlinkClick r:id="rId12"/>
              </a:rPr>
              <a:t>Examples</a:t>
            </a:r>
            <a:endParaRPr kumimoji="0" lang="en-US" altLang="en-US" sz="1100" b="0" i="0" u="none" strike="noStrike" cap="none" normalizeH="0" baseline="0" dirty="0" smtClean="0">
              <a:ln>
                <a:noFill/>
              </a:ln>
              <a:solidFill>
                <a:srgbClr val="222222"/>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13"/>
              </a:rPr>
              <a:t>Kubeflow</a:t>
            </a:r>
            <a:r>
              <a:rPr kumimoji="0" lang="en-US" altLang="en-US" sz="1100" b="0" i="0" u="none" strike="noStrike" cap="none" normalizeH="0" baseline="0" dirty="0" smtClean="0">
                <a:ln>
                  <a:noFill/>
                </a:ln>
                <a:solidFill>
                  <a:srgbClr val="222222"/>
                </a:solidFill>
                <a:effectLst/>
                <a:latin typeface="open sans"/>
                <a:hlinkClick r:id="rId13"/>
              </a:rPr>
              <a:t> Projects</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14"/>
              </a:rPr>
              <a:t>Kubeflow</a:t>
            </a:r>
            <a:r>
              <a:rPr kumimoji="0" lang="en-US" altLang="en-US" sz="1100" b="0" i="0" u="none" strike="noStrike" cap="none" normalizeH="0" baseline="0" dirty="0" smtClean="0">
                <a:ln>
                  <a:noFill/>
                </a:ln>
                <a:solidFill>
                  <a:srgbClr val="222222"/>
                </a:solidFill>
                <a:effectLst/>
                <a:latin typeface="open sans"/>
                <a:hlinkClick r:id="rId14"/>
              </a:rPr>
              <a:t> Spark Operator</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15"/>
              </a:rPr>
              <a:t>Kubeflow</a:t>
            </a:r>
            <a:r>
              <a:rPr kumimoji="0" lang="en-US" altLang="en-US" sz="1100" b="0" i="0" u="none" strike="noStrike" cap="none" normalizeH="0" baseline="0" dirty="0" smtClean="0">
                <a:ln>
                  <a:noFill/>
                </a:ln>
                <a:solidFill>
                  <a:srgbClr val="222222"/>
                </a:solidFill>
                <a:effectLst/>
                <a:latin typeface="open sans"/>
                <a:hlinkClick r:id="rId15"/>
              </a:rPr>
              <a:t> Notebooks</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16"/>
              </a:rPr>
              <a:t>Kubeflow</a:t>
            </a:r>
            <a:r>
              <a:rPr kumimoji="0" lang="en-US" altLang="en-US" sz="1100" b="0" i="0" u="none" strike="noStrike" cap="none" normalizeH="0" baseline="0" dirty="0" smtClean="0">
                <a:ln>
                  <a:noFill/>
                </a:ln>
                <a:solidFill>
                  <a:srgbClr val="222222"/>
                </a:solidFill>
                <a:effectLst/>
                <a:latin typeface="open sans"/>
                <a:hlinkClick r:id="rId16"/>
              </a:rPr>
              <a:t> Trainer</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17"/>
              </a:rPr>
              <a:t>Kubeflow</a:t>
            </a:r>
            <a:r>
              <a:rPr kumimoji="0" lang="en-US" altLang="en-US" sz="1100" b="0" i="0" u="none" strike="noStrike" cap="none" normalizeH="0" baseline="0" dirty="0" smtClean="0">
                <a:ln>
                  <a:noFill/>
                </a:ln>
                <a:solidFill>
                  <a:srgbClr val="222222"/>
                </a:solidFill>
                <a:effectLst/>
                <a:latin typeface="open sans"/>
                <a:hlinkClick r:id="rId17"/>
              </a:rPr>
              <a:t> </a:t>
            </a:r>
            <a:r>
              <a:rPr kumimoji="0" lang="en-US" altLang="en-US" sz="1100" b="0" i="0" u="none" strike="noStrike" cap="none" normalizeH="0" baseline="0" dirty="0" err="1" smtClean="0">
                <a:ln>
                  <a:noFill/>
                </a:ln>
                <a:solidFill>
                  <a:srgbClr val="222222"/>
                </a:solidFill>
                <a:effectLst/>
                <a:latin typeface="open sans"/>
                <a:hlinkClick r:id="rId17"/>
              </a:rPr>
              <a:t>Katib</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18"/>
              </a:rPr>
              <a:t>Kubeflow</a:t>
            </a:r>
            <a:r>
              <a:rPr kumimoji="0" lang="en-US" altLang="en-US" sz="1100" b="0" i="0" u="none" strike="noStrike" cap="none" normalizeH="0" baseline="0" dirty="0" smtClean="0">
                <a:ln>
                  <a:noFill/>
                </a:ln>
                <a:solidFill>
                  <a:srgbClr val="222222"/>
                </a:solidFill>
                <a:effectLst/>
                <a:latin typeface="open sans"/>
                <a:hlinkClick r:id="rId18"/>
              </a:rPr>
              <a:t> </a:t>
            </a:r>
            <a:r>
              <a:rPr kumimoji="0" lang="en-US" altLang="en-US" sz="1100" b="0" i="0" u="none" strike="noStrike" cap="none" normalizeH="0" baseline="0" dirty="0" err="1" smtClean="0">
                <a:ln>
                  <a:noFill/>
                </a:ln>
                <a:solidFill>
                  <a:srgbClr val="222222"/>
                </a:solidFill>
                <a:effectLst/>
                <a:latin typeface="open sans"/>
                <a:hlinkClick r:id="rId18"/>
              </a:rPr>
              <a:t>KServe</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19"/>
              </a:rPr>
              <a:t>Kubeflow</a:t>
            </a:r>
            <a:r>
              <a:rPr kumimoji="0" lang="en-US" altLang="en-US" sz="1100" b="0" i="0" u="none" strike="noStrike" cap="none" normalizeH="0" baseline="0" dirty="0" smtClean="0">
                <a:ln>
                  <a:noFill/>
                </a:ln>
                <a:solidFill>
                  <a:srgbClr val="222222"/>
                </a:solidFill>
                <a:effectLst/>
                <a:latin typeface="open sans"/>
                <a:hlinkClick r:id="rId19"/>
              </a:rPr>
              <a:t> Model Registry</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20"/>
              </a:rPr>
              <a:t>Kubeflow</a:t>
            </a:r>
            <a:r>
              <a:rPr kumimoji="0" lang="en-US" altLang="en-US" sz="1100" b="0" i="0" u="none" strike="noStrike" cap="none" normalizeH="0" baseline="0" dirty="0" smtClean="0">
                <a:ln>
                  <a:noFill/>
                </a:ln>
                <a:solidFill>
                  <a:srgbClr val="222222"/>
                </a:solidFill>
                <a:effectLst/>
                <a:latin typeface="open sans"/>
                <a:hlinkClick r:id="rId20"/>
              </a:rPr>
              <a:t> Pipelines</a:t>
            </a:r>
            <a:endParaRPr kumimoji="0" lang="en-US" altLang="en-US" sz="1100" b="0" i="0" u="none" strike="noStrike" cap="none" normalizeH="0" baseline="0" dirty="0" smtClean="0">
              <a:ln>
                <a:noFill/>
              </a:ln>
              <a:solidFill>
                <a:srgbClr val="222222"/>
              </a:solidFill>
              <a:effectLst/>
              <a:latin typeface="open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21"/>
              </a:rPr>
              <a:t>Kubeflow</a:t>
            </a:r>
            <a:r>
              <a:rPr kumimoji="0" lang="en-US" altLang="en-US" sz="1100" b="0" i="0" u="none" strike="noStrike" cap="none" normalizeH="0" baseline="0" dirty="0" smtClean="0">
                <a:ln>
                  <a:noFill/>
                </a:ln>
                <a:solidFill>
                  <a:srgbClr val="222222"/>
                </a:solidFill>
                <a:effectLst/>
                <a:latin typeface="open sans"/>
                <a:hlinkClick r:id="rId21"/>
              </a:rPr>
              <a:t> Dashboard</a:t>
            </a:r>
            <a:endParaRPr kumimoji="0" lang="en-US" altLang="en-US" sz="1100" b="0" i="0" u="none" strike="noStrike" cap="none" normalizeH="0" baseline="0" dirty="0" smtClean="0">
              <a:ln>
                <a:noFill/>
              </a:ln>
              <a:solidFill>
                <a:srgbClr val="222222"/>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72A1E5"/>
                </a:solidFill>
                <a:effectLst/>
                <a:latin typeface="open sans"/>
                <a:hlinkClick r:id="rId22"/>
              </a:rPr>
              <a:t>Kubeflow</a:t>
            </a:r>
            <a:r>
              <a:rPr kumimoji="0" lang="en-US" altLang="en-US" sz="1100" b="0" i="0" u="none" strike="noStrike" cap="none" normalizeH="0" baseline="0" dirty="0" smtClean="0">
                <a:ln>
                  <a:noFill/>
                </a:ln>
                <a:solidFill>
                  <a:srgbClr val="72A1E5"/>
                </a:solidFill>
                <a:effectLst/>
                <a:latin typeface="open sans"/>
                <a:hlinkClick r:id="rId22"/>
              </a:rPr>
              <a:t> AI Reference Platform</a:t>
            </a:r>
            <a:endParaRPr kumimoji="0" lang="en-US" altLang="en-US" sz="1100" b="0" i="0" u="none" strike="noStrike" cap="none" normalizeH="0" baseline="0" dirty="0" smtClean="0">
              <a:ln>
                <a:noFill/>
              </a:ln>
              <a:solidFill>
                <a:srgbClr val="222222"/>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smtClean="0">
                <a:ln>
                  <a:noFill/>
                </a:ln>
                <a:solidFill>
                  <a:srgbClr val="222222"/>
                </a:solidFill>
                <a:effectLst/>
                <a:latin typeface="open sans"/>
                <a:hlinkClick r:id="rId23"/>
              </a:rPr>
              <a:t>Kubeflow</a:t>
            </a:r>
            <a:r>
              <a:rPr kumimoji="0" lang="en-US" altLang="en-US" sz="1100" b="0" i="0" u="none" strike="noStrike" cap="none" normalizeH="0" baseline="0" dirty="0" smtClean="0">
                <a:ln>
                  <a:noFill/>
                </a:ln>
                <a:solidFill>
                  <a:srgbClr val="222222"/>
                </a:solidFill>
                <a:effectLst/>
                <a:latin typeface="open sans"/>
                <a:hlinkClick r:id="rId23"/>
              </a:rPr>
              <a:t> Community</a:t>
            </a:r>
            <a:endParaRPr kumimoji="0" lang="en-US" altLang="en-US" sz="1100" b="0" i="0" u="none" strike="noStrike" cap="none" normalizeH="0" baseline="0" dirty="0" smtClean="0">
              <a:ln>
                <a:noFill/>
              </a:ln>
              <a:solidFill>
                <a:srgbClr val="222222"/>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smtClean="0">
                <a:ln>
                  <a:noFill/>
                </a:ln>
                <a:solidFill>
                  <a:srgbClr val="222222"/>
                </a:solidFill>
                <a:effectLst/>
                <a:latin typeface="open sans"/>
                <a:hlinkClick r:id="rId24"/>
              </a:rPr>
              <a:t>External Add-Ons</a:t>
            </a:r>
            <a:endParaRPr kumimoji="0" lang="en-US" altLang="en-US" sz="1100" b="0" i="0" u="none" strike="noStrike" cap="none" normalizeH="0" baseline="0" dirty="0" smtClean="0">
              <a:ln>
                <a:noFill/>
              </a:ln>
              <a:solidFill>
                <a:srgbClr val="222222"/>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2" name="Picture 11"/>
          <p:cNvPicPr>
            <a:picLocks noChangeAspect="1"/>
          </p:cNvPicPr>
          <p:nvPr/>
        </p:nvPicPr>
        <p:blipFill>
          <a:blip r:embed="rId25"/>
          <a:stretch>
            <a:fillRect/>
          </a:stretch>
        </p:blipFill>
        <p:spPr>
          <a:xfrm>
            <a:off x="2933700" y="3078945"/>
            <a:ext cx="3320702" cy="2380133"/>
          </a:xfrm>
          <a:prstGeom prst="rect">
            <a:avLst/>
          </a:prstGeom>
        </p:spPr>
      </p:pic>
      <p:sp>
        <p:nvSpPr>
          <p:cNvPr id="13" name="Rectangle 12"/>
          <p:cNvSpPr/>
          <p:nvPr/>
        </p:nvSpPr>
        <p:spPr>
          <a:xfrm>
            <a:off x="4623727" y="1861907"/>
            <a:ext cx="2944546" cy="1015663"/>
          </a:xfrm>
          <a:prstGeom prst="rect">
            <a:avLst/>
          </a:prstGeom>
        </p:spPr>
        <p:txBody>
          <a:bodyPr wrap="square">
            <a:spAutoFit/>
          </a:bodyPr>
          <a:lstStyle/>
          <a:p>
            <a:r>
              <a:rPr lang="en-US" sz="6000" dirty="0" smtClean="0">
                <a:solidFill>
                  <a:srgbClr val="FFC000"/>
                </a:solidFill>
              </a:rPr>
              <a:t>OK</a:t>
            </a:r>
            <a:endParaRPr lang="en-US" sz="6000" dirty="0">
              <a:solidFill>
                <a:srgbClr val="FFC000"/>
              </a:solidFill>
            </a:endParaRPr>
          </a:p>
        </p:txBody>
      </p:sp>
    </p:spTree>
    <p:extLst>
      <p:ext uri="{BB962C8B-B14F-4D97-AF65-F5344CB8AC3E}">
        <p14:creationId xmlns:p14="http://schemas.microsoft.com/office/powerpoint/2010/main" val="39734826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err="1">
                <a:solidFill>
                  <a:schemeClr val="bg1"/>
                </a:solidFill>
                <a:cs typeface="times" panose="02020603050405020304" pitchFamily="18" charset="0"/>
              </a:rPr>
              <a:t>Arsitektur</a:t>
            </a:r>
            <a:r>
              <a:rPr lang="en-US" altLang="ko-KR" sz="1800" b="1" dirty="0">
                <a:solidFill>
                  <a:schemeClr val="bg1"/>
                </a:solidFill>
                <a:cs typeface="times" panose="02020603050405020304" pitchFamily="18" charset="0"/>
              </a:rPr>
              <a:t> </a:t>
            </a:r>
            <a:r>
              <a:rPr lang="en-US" altLang="ko-KR" sz="1800" b="1" dirty="0" err="1">
                <a:solidFill>
                  <a:schemeClr val="bg1"/>
                </a:solidFill>
                <a:cs typeface="times" panose="02020603050405020304" pitchFamily="18" charset="0"/>
              </a:rPr>
              <a:t>Pemantauan</a:t>
            </a:r>
            <a:r>
              <a:rPr lang="en-US" altLang="ko-KR" sz="1800" b="1" dirty="0">
                <a:solidFill>
                  <a:schemeClr val="bg1"/>
                </a:solidFill>
                <a:cs typeface="times" panose="02020603050405020304" pitchFamily="18" charset="0"/>
              </a:rPr>
              <a:t> GPU</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2" name="Rectangle 1"/>
          <p:cNvSpPr/>
          <p:nvPr/>
        </p:nvSpPr>
        <p:spPr>
          <a:xfrm>
            <a:off x="0" y="1213635"/>
            <a:ext cx="6096000" cy="707886"/>
          </a:xfrm>
          <a:prstGeom prst="rect">
            <a:avLst/>
          </a:prstGeom>
        </p:spPr>
        <p:txBody>
          <a:bodyPr>
            <a:spAutoFit/>
          </a:bodyPr>
          <a:lstStyle/>
          <a:p>
            <a:pPr algn="l"/>
            <a:r>
              <a:rPr lang="en-US" dirty="0" err="1"/>
              <a:t>Memantau</a:t>
            </a:r>
            <a:r>
              <a:rPr lang="en-US" dirty="0"/>
              <a:t> </a:t>
            </a:r>
            <a:r>
              <a:rPr lang="en-US" dirty="0" err="1"/>
              <a:t>beban</a:t>
            </a:r>
            <a:r>
              <a:rPr lang="en-US" dirty="0"/>
              <a:t> </a:t>
            </a:r>
            <a:r>
              <a:rPr lang="en-US" dirty="0" err="1"/>
              <a:t>kerja</a:t>
            </a:r>
            <a:r>
              <a:rPr lang="en-US" dirty="0"/>
              <a:t> GPU di GKE </a:t>
            </a:r>
            <a:r>
              <a:rPr lang="en-US" dirty="0" err="1"/>
              <a:t>dengan</a:t>
            </a:r>
            <a:r>
              <a:rPr lang="en-US" dirty="0"/>
              <a:t> NVIDIA Data Center GPU Manager (DCGM)</a:t>
            </a:r>
          </a:p>
        </p:txBody>
      </p:sp>
      <p:pic>
        <p:nvPicPr>
          <p:cNvPr id="8" name="Content Placeholder 7"/>
          <p:cNvPicPr>
            <a:picLocks noGrp="1" noChangeAspect="1"/>
          </p:cNvPicPr>
          <p:nvPr>
            <p:ph idx="1"/>
          </p:nvPr>
        </p:nvPicPr>
        <p:blipFill>
          <a:blip r:embed="rId3"/>
          <a:stretch>
            <a:fillRect/>
          </a:stretch>
        </p:blipFill>
        <p:spPr>
          <a:xfrm>
            <a:off x="6814899" y="1325561"/>
            <a:ext cx="3667556" cy="4351338"/>
          </a:xfrm>
          <a:prstGeom prst="rect">
            <a:avLst/>
          </a:prstGeom>
        </p:spPr>
      </p:pic>
      <p:sp>
        <p:nvSpPr>
          <p:cNvPr id="4" name="Rectangle 3"/>
          <p:cNvSpPr/>
          <p:nvPr/>
        </p:nvSpPr>
        <p:spPr>
          <a:xfrm>
            <a:off x="457200" y="1921521"/>
            <a:ext cx="6096000" cy="4093428"/>
          </a:xfrm>
          <a:prstGeom prst="rect">
            <a:avLst/>
          </a:prstGeom>
        </p:spPr>
        <p:txBody>
          <a:bodyPr>
            <a:spAutoFit/>
          </a:bodyPr>
          <a:lstStyle/>
          <a:p>
            <a:pPr algn="l"/>
            <a:r>
              <a:rPr lang="en-US" dirty="0" err="1"/>
              <a:t>Persyaratan</a:t>
            </a:r>
            <a:endParaRPr lang="en-US" dirty="0"/>
          </a:p>
          <a:p>
            <a:pPr marL="800100" lvl="1" indent="-342900" algn="l">
              <a:buFont typeface="Wingdings" panose="05000000000000000000" pitchFamily="2" charset="2"/>
              <a:buChar char="ü"/>
            </a:pPr>
            <a:r>
              <a:rPr lang="en-US" dirty="0" err="1"/>
              <a:t>Proyek</a:t>
            </a:r>
            <a:r>
              <a:rPr lang="en-US" dirty="0"/>
              <a:t> Google Cloud</a:t>
            </a:r>
          </a:p>
          <a:p>
            <a:pPr marL="800100" lvl="1" indent="-342900" algn="l">
              <a:buFont typeface="Wingdings" panose="05000000000000000000" pitchFamily="2" charset="2"/>
              <a:buChar char="ü"/>
            </a:pPr>
            <a:r>
              <a:rPr lang="en-US" dirty="0" err="1" smtClean="0"/>
              <a:t>Kuota</a:t>
            </a:r>
            <a:r>
              <a:rPr lang="en-US" dirty="0" smtClean="0"/>
              <a:t> </a:t>
            </a:r>
            <a:r>
              <a:rPr lang="en-US" dirty="0" err="1"/>
              <a:t>untuk</a:t>
            </a:r>
            <a:r>
              <a:rPr lang="en-US" dirty="0"/>
              <a:t> GPU NVIDIA (</a:t>
            </a:r>
            <a:r>
              <a:rPr lang="en-US" dirty="0" err="1"/>
              <a:t>informasi</a:t>
            </a:r>
            <a:r>
              <a:rPr lang="en-US" dirty="0"/>
              <a:t> </a:t>
            </a:r>
            <a:r>
              <a:rPr lang="en-US" dirty="0" err="1"/>
              <a:t>selengkapnya</a:t>
            </a:r>
            <a:r>
              <a:rPr lang="en-US" dirty="0"/>
              <a:t> di </a:t>
            </a:r>
            <a:r>
              <a:rPr lang="en-US" dirty="0" err="1"/>
              <a:t>Kuota</a:t>
            </a:r>
            <a:r>
              <a:rPr lang="en-US" dirty="0"/>
              <a:t> GPU )</a:t>
            </a:r>
          </a:p>
          <a:p>
            <a:pPr marL="800100" lvl="1" indent="-342900" algn="l">
              <a:buFont typeface="Wingdings" panose="05000000000000000000" pitchFamily="2" charset="2"/>
              <a:buChar char="ü"/>
            </a:pPr>
            <a:r>
              <a:rPr lang="en-US" dirty="0" smtClean="0"/>
              <a:t>GKE </a:t>
            </a:r>
            <a:r>
              <a:rPr lang="en-US" dirty="0" err="1"/>
              <a:t>versi</a:t>
            </a:r>
            <a:r>
              <a:rPr lang="en-US" dirty="0"/>
              <a:t> 1.21.4-gke.300 </a:t>
            </a:r>
            <a:r>
              <a:rPr lang="en-US" dirty="0" err="1"/>
              <a:t>dengan</a:t>
            </a:r>
            <a:r>
              <a:rPr lang="en-US" dirty="0"/>
              <a:t> </a:t>
            </a:r>
            <a:r>
              <a:rPr lang="en-US" dirty="0" err="1"/>
              <a:t>komponen</a:t>
            </a:r>
            <a:r>
              <a:rPr lang="en-US" dirty="0"/>
              <a:t> “beta” </a:t>
            </a:r>
            <a:r>
              <a:rPr lang="en-US" dirty="0" err="1"/>
              <a:t>untuk</a:t>
            </a:r>
            <a:r>
              <a:rPr lang="en-US" dirty="0"/>
              <a:t> </a:t>
            </a:r>
            <a:r>
              <a:rPr lang="en-US" dirty="0" err="1"/>
              <a:t>menginstal</a:t>
            </a:r>
            <a:r>
              <a:rPr lang="en-US" dirty="0"/>
              <a:t> Prometheus </a:t>
            </a:r>
            <a:r>
              <a:rPr lang="en-US" dirty="0" err="1"/>
              <a:t>Terkelola</a:t>
            </a:r>
            <a:r>
              <a:rPr lang="en-US" dirty="0"/>
              <a:t>.</a:t>
            </a:r>
          </a:p>
          <a:p>
            <a:pPr marL="800100" lvl="1" indent="-342900" algn="l">
              <a:buFont typeface="Wingdings" panose="05000000000000000000" pitchFamily="2" charset="2"/>
              <a:buChar char="ü"/>
            </a:pPr>
            <a:r>
              <a:rPr lang="en-US" dirty="0" smtClean="0"/>
              <a:t>GKE </a:t>
            </a:r>
            <a:r>
              <a:rPr lang="en-US" dirty="0" err="1"/>
              <a:t>versi</a:t>
            </a:r>
            <a:r>
              <a:rPr lang="en-US" dirty="0"/>
              <a:t> 1.18.6-gke.3504 </a:t>
            </a:r>
            <a:r>
              <a:rPr lang="en-US" dirty="0" err="1"/>
              <a:t>atau</a:t>
            </a:r>
            <a:r>
              <a:rPr lang="en-US" dirty="0"/>
              <a:t> </a:t>
            </a:r>
            <a:r>
              <a:rPr lang="en-US" dirty="0" err="1"/>
              <a:t>lebih</a:t>
            </a:r>
            <a:r>
              <a:rPr lang="en-US" dirty="0"/>
              <a:t> </a:t>
            </a:r>
            <a:r>
              <a:rPr lang="en-US" dirty="0" err="1"/>
              <a:t>tinggi</a:t>
            </a:r>
            <a:r>
              <a:rPr lang="en-US" dirty="0"/>
              <a:t> </a:t>
            </a:r>
            <a:r>
              <a:rPr lang="en-US" dirty="0" err="1"/>
              <a:t>untuk</a:t>
            </a:r>
            <a:r>
              <a:rPr lang="en-US" dirty="0"/>
              <a:t> </a:t>
            </a:r>
            <a:r>
              <a:rPr lang="en-US" dirty="0" err="1"/>
              <a:t>mendukung</a:t>
            </a:r>
            <a:r>
              <a:rPr lang="en-US" dirty="0"/>
              <a:t> </a:t>
            </a:r>
            <a:r>
              <a:rPr lang="en-US" dirty="0" err="1"/>
              <a:t>semua</a:t>
            </a:r>
            <a:r>
              <a:rPr lang="en-US" dirty="0"/>
              <a:t> </a:t>
            </a:r>
            <a:r>
              <a:rPr lang="en-US" dirty="0" err="1"/>
              <a:t>jenis</a:t>
            </a:r>
            <a:r>
              <a:rPr lang="en-US" dirty="0"/>
              <a:t> GPU cloud yang </a:t>
            </a:r>
            <a:r>
              <a:rPr lang="en-US" dirty="0" err="1"/>
              <a:t>tersedia</a:t>
            </a:r>
            <a:r>
              <a:rPr lang="en-US" dirty="0"/>
              <a:t>.</a:t>
            </a:r>
          </a:p>
          <a:p>
            <a:pPr marL="800100" lvl="1" indent="-342900" algn="l">
              <a:buFont typeface="Wingdings" panose="05000000000000000000" pitchFamily="2" charset="2"/>
              <a:buChar char="ü"/>
            </a:pPr>
            <a:r>
              <a:rPr lang="en-US" dirty="0" smtClean="0"/>
              <a:t>NVIDIA </a:t>
            </a:r>
            <a:r>
              <a:rPr lang="en-US" dirty="0"/>
              <a:t>Datacenter GPU Manager </a:t>
            </a:r>
            <a:r>
              <a:rPr lang="en-US" dirty="0" err="1"/>
              <a:t>memerlukan</a:t>
            </a:r>
            <a:r>
              <a:rPr lang="en-US" dirty="0"/>
              <a:t> NVIDIA Driver R450+.</a:t>
            </a:r>
          </a:p>
        </p:txBody>
      </p:sp>
      <p:pic>
        <p:nvPicPr>
          <p:cNvPr id="5" name="Picture 4"/>
          <p:cNvPicPr>
            <a:picLocks noChangeAspect="1"/>
          </p:cNvPicPr>
          <p:nvPr/>
        </p:nvPicPr>
        <p:blipFill>
          <a:blip r:embed="rId4"/>
          <a:stretch>
            <a:fillRect/>
          </a:stretch>
        </p:blipFill>
        <p:spPr>
          <a:xfrm>
            <a:off x="10302522" y="1325561"/>
            <a:ext cx="1797663" cy="2411725"/>
          </a:xfrm>
          <a:prstGeom prst="rect">
            <a:avLst/>
          </a:prstGeom>
        </p:spPr>
      </p:pic>
    </p:spTree>
    <p:extLst>
      <p:ext uri="{BB962C8B-B14F-4D97-AF65-F5344CB8AC3E}">
        <p14:creationId xmlns:p14="http://schemas.microsoft.com/office/powerpoint/2010/main" val="3297682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it-IT" altLang="ko-KR" b="1" dirty="0" smtClean="0">
                <a:solidFill>
                  <a:schemeClr val="bg1"/>
                </a:solidFill>
                <a:cs typeface="times" panose="02020603050405020304" pitchFamily="18" charset="0"/>
              </a:rPr>
              <a:t>Strategi </a:t>
            </a:r>
            <a:r>
              <a:rPr lang="it-IT" altLang="ko-KR" b="1" dirty="0">
                <a:solidFill>
                  <a:schemeClr val="bg1"/>
                </a:solidFill>
                <a:cs typeface="times" panose="02020603050405020304" pitchFamily="18" charset="0"/>
              </a:rPr>
              <a:t>berbagi GPU di GKE</a:t>
            </a:r>
            <a:endParaRPr lang="ko-KR" altLang="en-US"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pPr marL="0" indent="0" algn="just">
              <a:buNone/>
            </a:pPr>
            <a:r>
              <a:rPr lang="en-US" dirty="0" err="1"/>
              <a:t>Strategi</a:t>
            </a:r>
            <a:r>
              <a:rPr lang="en-US" dirty="0"/>
              <a:t> </a:t>
            </a:r>
            <a:r>
              <a:rPr lang="en-US" dirty="0" err="1"/>
              <a:t>berbagi</a:t>
            </a:r>
            <a:r>
              <a:rPr lang="en-US" dirty="0"/>
              <a:t> GPU </a:t>
            </a:r>
            <a:r>
              <a:rPr lang="en-US" dirty="0" err="1"/>
              <a:t>memungkinkan</a:t>
            </a:r>
            <a:r>
              <a:rPr lang="en-US" dirty="0"/>
              <a:t> </a:t>
            </a:r>
            <a:r>
              <a:rPr lang="en-US" dirty="0" err="1"/>
              <a:t>beberapa</a:t>
            </a:r>
            <a:r>
              <a:rPr lang="en-US" dirty="0"/>
              <a:t> container </a:t>
            </a:r>
            <a:r>
              <a:rPr lang="en-US" dirty="0" err="1"/>
              <a:t>menggunakan</a:t>
            </a:r>
            <a:r>
              <a:rPr lang="en-US" dirty="0"/>
              <a:t> GPU yang </a:t>
            </a:r>
            <a:r>
              <a:rPr lang="en-US" dirty="0" err="1"/>
              <a:t>terpasang</a:t>
            </a:r>
            <a:r>
              <a:rPr lang="en-US" dirty="0"/>
              <a:t> </a:t>
            </a:r>
            <a:r>
              <a:rPr lang="en-US" dirty="0" err="1"/>
              <a:t>secara</a:t>
            </a:r>
            <a:r>
              <a:rPr lang="en-US" dirty="0"/>
              <a:t> </a:t>
            </a:r>
            <a:r>
              <a:rPr lang="en-US" dirty="0" err="1"/>
              <a:t>efisien</a:t>
            </a:r>
            <a:r>
              <a:rPr lang="en-US" dirty="0"/>
              <a:t> </a:t>
            </a:r>
            <a:r>
              <a:rPr lang="en-US" dirty="0" err="1"/>
              <a:t>dan</a:t>
            </a:r>
            <a:r>
              <a:rPr lang="en-US" dirty="0"/>
              <a:t> </a:t>
            </a:r>
            <a:r>
              <a:rPr lang="en-US" dirty="0" err="1"/>
              <a:t>menghemat</a:t>
            </a:r>
            <a:r>
              <a:rPr lang="en-US" dirty="0"/>
              <a:t> </a:t>
            </a:r>
            <a:r>
              <a:rPr lang="en-US" dirty="0" err="1"/>
              <a:t>biaya</a:t>
            </a:r>
            <a:r>
              <a:rPr lang="en-US" dirty="0"/>
              <a:t> </a:t>
            </a:r>
            <a:r>
              <a:rPr lang="en-US" dirty="0" err="1"/>
              <a:t>pengoperasian</a:t>
            </a:r>
            <a:r>
              <a:rPr lang="en-US" dirty="0"/>
              <a:t>. GKE </a:t>
            </a:r>
            <a:r>
              <a:rPr lang="en-US" dirty="0" err="1"/>
              <a:t>menyediakan</a:t>
            </a:r>
            <a:r>
              <a:rPr lang="en-US" dirty="0"/>
              <a:t> </a:t>
            </a:r>
            <a:r>
              <a:rPr lang="en-US" dirty="0" err="1"/>
              <a:t>strategi</a:t>
            </a:r>
            <a:r>
              <a:rPr lang="en-US" dirty="0"/>
              <a:t> </a:t>
            </a:r>
            <a:r>
              <a:rPr lang="en-US" dirty="0" err="1"/>
              <a:t>berbagi</a:t>
            </a:r>
            <a:r>
              <a:rPr lang="en-US" dirty="0"/>
              <a:t> GPU </a:t>
            </a:r>
            <a:r>
              <a:rPr lang="en-US" dirty="0" err="1"/>
              <a:t>berikut</a:t>
            </a:r>
            <a:r>
              <a:rPr lang="en-US" dirty="0"/>
              <a:t>:</a:t>
            </a:r>
          </a:p>
          <a:p>
            <a:pPr algn="just"/>
            <a:r>
              <a:rPr lang="en-US" b="1" dirty="0"/>
              <a:t>GPU multi-instance</a:t>
            </a:r>
            <a:r>
              <a:rPr lang="en-US" dirty="0"/>
              <a:t>: GKE </a:t>
            </a:r>
            <a:r>
              <a:rPr lang="en-US" dirty="0" err="1"/>
              <a:t>membagi</a:t>
            </a:r>
            <a:r>
              <a:rPr lang="en-US" dirty="0"/>
              <a:t> </a:t>
            </a:r>
            <a:r>
              <a:rPr lang="en-US" dirty="0" err="1"/>
              <a:t>satu</a:t>
            </a:r>
            <a:r>
              <a:rPr lang="en-US" dirty="0"/>
              <a:t> GPU yang </a:t>
            </a:r>
            <a:r>
              <a:rPr lang="en-US" dirty="0" err="1"/>
              <a:t>didukung</a:t>
            </a:r>
            <a:r>
              <a:rPr lang="en-US" dirty="0"/>
              <a:t> </a:t>
            </a:r>
            <a:r>
              <a:rPr lang="en-US" dirty="0" err="1"/>
              <a:t>menjadi</a:t>
            </a:r>
            <a:r>
              <a:rPr lang="en-US" dirty="0"/>
              <a:t> </a:t>
            </a:r>
            <a:r>
              <a:rPr lang="en-US" dirty="0" err="1"/>
              <a:t>hingga</a:t>
            </a:r>
            <a:r>
              <a:rPr lang="en-US" dirty="0"/>
              <a:t> </a:t>
            </a:r>
            <a:r>
              <a:rPr lang="en-US" dirty="0" err="1"/>
              <a:t>tujuh</a:t>
            </a:r>
            <a:r>
              <a:rPr lang="en-US" dirty="0"/>
              <a:t> </a:t>
            </a:r>
            <a:r>
              <a:rPr lang="en-US" dirty="0" err="1"/>
              <a:t>bagian</a:t>
            </a:r>
            <a:r>
              <a:rPr lang="en-US" dirty="0"/>
              <a:t>. </a:t>
            </a:r>
            <a:r>
              <a:rPr lang="en-US" dirty="0" err="1"/>
              <a:t>Setiap</a:t>
            </a:r>
            <a:r>
              <a:rPr lang="en-US" dirty="0"/>
              <a:t> slice </a:t>
            </a:r>
            <a:r>
              <a:rPr lang="en-US" dirty="0" err="1"/>
              <a:t>dapat</a:t>
            </a:r>
            <a:r>
              <a:rPr lang="en-US" dirty="0"/>
              <a:t> </a:t>
            </a:r>
            <a:r>
              <a:rPr lang="en-US" dirty="0" err="1"/>
              <a:t>dialokasikan</a:t>
            </a:r>
            <a:r>
              <a:rPr lang="en-US" dirty="0"/>
              <a:t> </a:t>
            </a:r>
            <a:r>
              <a:rPr lang="en-US" dirty="0" err="1"/>
              <a:t>ke</a:t>
            </a:r>
            <a:r>
              <a:rPr lang="en-US" dirty="0"/>
              <a:t> </a:t>
            </a:r>
            <a:r>
              <a:rPr lang="en-US" dirty="0" err="1"/>
              <a:t>satu</a:t>
            </a:r>
            <a:r>
              <a:rPr lang="en-US" dirty="0"/>
              <a:t> container </a:t>
            </a:r>
            <a:r>
              <a:rPr lang="en-US" dirty="0" err="1"/>
              <a:t>pada</a:t>
            </a:r>
            <a:r>
              <a:rPr lang="en-US" dirty="0"/>
              <a:t> node </a:t>
            </a:r>
            <a:r>
              <a:rPr lang="en-US" dirty="0" err="1"/>
              <a:t>secara</a:t>
            </a:r>
            <a:r>
              <a:rPr lang="en-US" dirty="0"/>
              <a:t> </a:t>
            </a:r>
            <a:r>
              <a:rPr lang="en-US" dirty="0" err="1"/>
              <a:t>independen</a:t>
            </a:r>
            <a:r>
              <a:rPr lang="en-US" dirty="0"/>
              <a:t>, </a:t>
            </a:r>
            <a:r>
              <a:rPr lang="en-US" dirty="0" err="1"/>
              <a:t>untuk</a:t>
            </a:r>
            <a:r>
              <a:rPr lang="en-US" dirty="0"/>
              <a:t> </a:t>
            </a:r>
            <a:r>
              <a:rPr lang="en-US" dirty="0" err="1"/>
              <a:t>maksimum</a:t>
            </a:r>
            <a:r>
              <a:rPr lang="en-US" dirty="0"/>
              <a:t> </a:t>
            </a:r>
            <a:r>
              <a:rPr lang="en-US" dirty="0" err="1"/>
              <a:t>tujuh</a:t>
            </a:r>
            <a:r>
              <a:rPr lang="en-US" dirty="0"/>
              <a:t> container per GPU. GPU multi-instance </a:t>
            </a:r>
            <a:r>
              <a:rPr lang="en-US" dirty="0" err="1"/>
              <a:t>memberikan</a:t>
            </a:r>
            <a:r>
              <a:rPr lang="en-US" dirty="0"/>
              <a:t> </a:t>
            </a:r>
            <a:r>
              <a:rPr lang="en-US" dirty="0" err="1"/>
              <a:t>isolasi</a:t>
            </a:r>
            <a:r>
              <a:rPr lang="en-US" dirty="0"/>
              <a:t> hardware </a:t>
            </a:r>
            <a:r>
              <a:rPr lang="en-US" dirty="0" err="1"/>
              <a:t>antara</a:t>
            </a:r>
            <a:r>
              <a:rPr lang="en-US" dirty="0"/>
              <a:t> workload, </a:t>
            </a:r>
            <a:r>
              <a:rPr lang="en-US" dirty="0" err="1"/>
              <a:t>serta</a:t>
            </a:r>
            <a:r>
              <a:rPr lang="en-US" dirty="0"/>
              <a:t> </a:t>
            </a:r>
            <a:r>
              <a:rPr lang="en-US" dirty="0" err="1"/>
              <a:t>Kualitas</a:t>
            </a:r>
            <a:r>
              <a:rPr lang="en-US" dirty="0"/>
              <a:t> </a:t>
            </a:r>
            <a:r>
              <a:rPr lang="en-US" dirty="0" err="1"/>
              <a:t>Layanan</a:t>
            </a:r>
            <a:r>
              <a:rPr lang="en-US" dirty="0"/>
              <a:t> (</a:t>
            </a:r>
            <a:r>
              <a:rPr lang="en-US" dirty="0" err="1"/>
              <a:t>QoS</a:t>
            </a:r>
            <a:r>
              <a:rPr lang="en-US" dirty="0"/>
              <a:t>) yang </a:t>
            </a:r>
            <a:r>
              <a:rPr lang="en-US" dirty="0" err="1"/>
              <a:t>konsisten</a:t>
            </a:r>
            <a:r>
              <a:rPr lang="en-US" dirty="0"/>
              <a:t> </a:t>
            </a:r>
            <a:r>
              <a:rPr lang="en-US" dirty="0" err="1"/>
              <a:t>dan</a:t>
            </a:r>
            <a:r>
              <a:rPr lang="en-US" dirty="0"/>
              <a:t> </a:t>
            </a:r>
            <a:r>
              <a:rPr lang="en-US" dirty="0" err="1"/>
              <a:t>dapat</a:t>
            </a:r>
            <a:r>
              <a:rPr lang="en-US" dirty="0"/>
              <a:t> </a:t>
            </a:r>
            <a:r>
              <a:rPr lang="en-US" dirty="0" err="1"/>
              <a:t>diprediksi</a:t>
            </a:r>
            <a:r>
              <a:rPr lang="en-US" dirty="0"/>
              <a:t> </a:t>
            </a:r>
            <a:r>
              <a:rPr lang="en-US" dirty="0" err="1"/>
              <a:t>untuk</a:t>
            </a:r>
            <a:r>
              <a:rPr lang="en-US" dirty="0"/>
              <a:t> </a:t>
            </a:r>
            <a:r>
              <a:rPr lang="en-US" dirty="0" err="1"/>
              <a:t>semua</a:t>
            </a:r>
            <a:r>
              <a:rPr lang="en-US" dirty="0"/>
              <a:t> container yang </a:t>
            </a:r>
            <a:r>
              <a:rPr lang="en-US" dirty="0" err="1"/>
              <a:t>berjalan</a:t>
            </a:r>
            <a:r>
              <a:rPr lang="en-US" dirty="0"/>
              <a:t> di GPU.</a:t>
            </a:r>
          </a:p>
          <a:p>
            <a:pPr algn="just"/>
            <a:r>
              <a:rPr lang="en-US" b="1" dirty="0" err="1"/>
              <a:t>Berbagi</a:t>
            </a:r>
            <a:r>
              <a:rPr lang="en-US" b="1" dirty="0"/>
              <a:t> </a:t>
            </a:r>
            <a:r>
              <a:rPr lang="en-US" b="1" dirty="0" err="1"/>
              <a:t>waktu</a:t>
            </a:r>
            <a:r>
              <a:rPr lang="en-US" b="1" dirty="0"/>
              <a:t> GPU</a:t>
            </a:r>
            <a:r>
              <a:rPr lang="en-US" dirty="0"/>
              <a:t>: GKE </a:t>
            </a:r>
            <a:r>
              <a:rPr lang="en-US" dirty="0" err="1"/>
              <a:t>menggunakan</a:t>
            </a:r>
            <a:r>
              <a:rPr lang="en-US" dirty="0"/>
              <a:t> </a:t>
            </a:r>
            <a:r>
              <a:rPr lang="en-US" dirty="0" err="1"/>
              <a:t>kemampuan</a:t>
            </a:r>
            <a:r>
              <a:rPr lang="en-US" dirty="0"/>
              <a:t> </a:t>
            </a:r>
            <a:r>
              <a:rPr lang="en-US" dirty="0" err="1"/>
              <a:t>berbagi</a:t>
            </a:r>
            <a:r>
              <a:rPr lang="en-US" dirty="0"/>
              <a:t> </a:t>
            </a:r>
            <a:r>
              <a:rPr lang="en-US" dirty="0" err="1"/>
              <a:t>waktu</a:t>
            </a:r>
            <a:r>
              <a:rPr lang="en-US" dirty="0"/>
              <a:t> </a:t>
            </a:r>
            <a:r>
              <a:rPr lang="en-US" dirty="0" err="1"/>
              <a:t>bawaan</a:t>
            </a:r>
            <a:r>
              <a:rPr lang="en-US" dirty="0"/>
              <a:t> yang </a:t>
            </a:r>
            <a:r>
              <a:rPr lang="en-US" dirty="0" err="1"/>
              <a:t>disediakan</a:t>
            </a:r>
            <a:r>
              <a:rPr lang="en-US" dirty="0"/>
              <a:t> </a:t>
            </a:r>
            <a:r>
              <a:rPr lang="en-US" dirty="0" err="1"/>
              <a:t>oleh</a:t>
            </a:r>
            <a:r>
              <a:rPr lang="en-US" dirty="0"/>
              <a:t> GPU NVIDIA </a:t>
            </a:r>
            <a:r>
              <a:rPr lang="en-US" dirty="0" err="1"/>
              <a:t>dan</a:t>
            </a:r>
            <a:r>
              <a:rPr lang="en-US" dirty="0"/>
              <a:t> stack software. </a:t>
            </a:r>
            <a:r>
              <a:rPr lang="en-US" dirty="0" err="1"/>
              <a:t>Mulai</a:t>
            </a:r>
            <a:r>
              <a:rPr lang="en-US" dirty="0"/>
              <a:t> </a:t>
            </a:r>
            <a:r>
              <a:rPr lang="en-US" dirty="0" err="1"/>
              <a:t>dari</a:t>
            </a:r>
            <a:r>
              <a:rPr lang="en-US" dirty="0"/>
              <a:t> </a:t>
            </a:r>
            <a:r>
              <a:rPr lang="en-US" dirty="0" err="1">
                <a:hlinkClick r:id="rId3"/>
              </a:rPr>
              <a:t>arsitektur</a:t>
            </a:r>
            <a:r>
              <a:rPr lang="en-US" dirty="0">
                <a:hlinkClick r:id="rId3"/>
              </a:rPr>
              <a:t> Pascal</a:t>
            </a:r>
            <a:r>
              <a:rPr lang="en-US" dirty="0"/>
              <a:t>, GPU NVIDIA </a:t>
            </a:r>
            <a:r>
              <a:rPr lang="en-US" dirty="0" err="1"/>
              <a:t>mendukung</a:t>
            </a:r>
            <a:r>
              <a:rPr lang="en-US" dirty="0"/>
              <a:t> </a:t>
            </a:r>
            <a:r>
              <a:rPr lang="en-US" dirty="0" err="1"/>
              <a:t>preempti</a:t>
            </a:r>
            <a:r>
              <a:rPr lang="en-US" dirty="0"/>
              <a:t> </a:t>
            </a:r>
            <a:r>
              <a:rPr lang="en-US" dirty="0" err="1"/>
              <a:t>tingkat</a:t>
            </a:r>
            <a:r>
              <a:rPr lang="en-US" dirty="0"/>
              <a:t> </a:t>
            </a:r>
            <a:r>
              <a:rPr lang="en-US" dirty="0" err="1"/>
              <a:t>instruksi</a:t>
            </a:r>
            <a:r>
              <a:rPr lang="en-US" dirty="0"/>
              <a:t>. </a:t>
            </a:r>
            <a:r>
              <a:rPr lang="en-US" dirty="0" err="1"/>
              <a:t>Saat</a:t>
            </a:r>
            <a:r>
              <a:rPr lang="en-US" dirty="0"/>
              <a:t> </a:t>
            </a:r>
            <a:r>
              <a:rPr lang="en-US" dirty="0" err="1"/>
              <a:t>melakukan</a:t>
            </a:r>
            <a:r>
              <a:rPr lang="en-US" dirty="0"/>
              <a:t> </a:t>
            </a:r>
            <a:r>
              <a:rPr lang="en-US" dirty="0" err="1"/>
              <a:t>pengalihan</a:t>
            </a:r>
            <a:r>
              <a:rPr lang="en-US" dirty="0"/>
              <a:t> </a:t>
            </a:r>
            <a:r>
              <a:rPr lang="en-US" dirty="0" err="1"/>
              <a:t>konteks</a:t>
            </a:r>
            <a:r>
              <a:rPr lang="en-US" dirty="0"/>
              <a:t> di </a:t>
            </a:r>
            <a:r>
              <a:rPr lang="en-US" dirty="0" err="1"/>
              <a:t>antara</a:t>
            </a:r>
            <a:r>
              <a:rPr lang="en-US" dirty="0"/>
              <a:t> proses yang </a:t>
            </a:r>
            <a:r>
              <a:rPr lang="en-US" dirty="0" err="1"/>
              <a:t>berjalan</a:t>
            </a:r>
            <a:r>
              <a:rPr lang="en-US" dirty="0"/>
              <a:t> di GPU, </a:t>
            </a:r>
            <a:r>
              <a:rPr lang="en-US" dirty="0" err="1"/>
              <a:t>penghentian</a:t>
            </a:r>
            <a:r>
              <a:rPr lang="en-US" dirty="0"/>
              <a:t> </a:t>
            </a:r>
            <a:r>
              <a:rPr lang="en-US" dirty="0" err="1"/>
              <a:t>paksa</a:t>
            </a:r>
            <a:r>
              <a:rPr lang="en-US" dirty="0"/>
              <a:t> </a:t>
            </a:r>
            <a:r>
              <a:rPr lang="en-US" dirty="0" err="1"/>
              <a:t>tingkat</a:t>
            </a:r>
            <a:r>
              <a:rPr lang="en-US" dirty="0"/>
              <a:t> </a:t>
            </a:r>
            <a:r>
              <a:rPr lang="en-US" dirty="0" err="1"/>
              <a:t>petunjuk</a:t>
            </a:r>
            <a:r>
              <a:rPr lang="en-US" dirty="0"/>
              <a:t> </a:t>
            </a:r>
            <a:r>
              <a:rPr lang="en-US" dirty="0" err="1"/>
              <a:t>memastikan</a:t>
            </a:r>
            <a:r>
              <a:rPr lang="en-US" dirty="0"/>
              <a:t> </a:t>
            </a:r>
            <a:r>
              <a:rPr lang="en-US" dirty="0" err="1"/>
              <a:t>setiap</a:t>
            </a:r>
            <a:r>
              <a:rPr lang="en-US" dirty="0"/>
              <a:t> proses </a:t>
            </a:r>
            <a:r>
              <a:rPr lang="en-US" dirty="0" err="1"/>
              <a:t>mendapatkan</a:t>
            </a:r>
            <a:r>
              <a:rPr lang="en-US" dirty="0"/>
              <a:t> </a:t>
            </a:r>
            <a:r>
              <a:rPr lang="en-US" dirty="0" err="1"/>
              <a:t>irisan</a:t>
            </a:r>
            <a:r>
              <a:rPr lang="en-US" dirty="0"/>
              <a:t> </a:t>
            </a:r>
            <a:r>
              <a:rPr lang="en-US" dirty="0" err="1"/>
              <a:t>waktu</a:t>
            </a:r>
            <a:r>
              <a:rPr lang="en-US" dirty="0"/>
              <a:t> yang </a:t>
            </a:r>
            <a:r>
              <a:rPr lang="en-US" dirty="0" err="1"/>
              <a:t>adil</a:t>
            </a:r>
            <a:r>
              <a:rPr lang="en-US" dirty="0"/>
              <a:t>. </a:t>
            </a:r>
            <a:r>
              <a:rPr lang="en-US" dirty="0" err="1"/>
              <a:t>Pembagian</a:t>
            </a:r>
            <a:r>
              <a:rPr lang="en-US" dirty="0"/>
              <a:t> </a:t>
            </a:r>
            <a:r>
              <a:rPr lang="en-US" dirty="0" err="1"/>
              <a:t>waktu</a:t>
            </a:r>
            <a:r>
              <a:rPr lang="en-US" dirty="0"/>
              <a:t> GPU </a:t>
            </a:r>
            <a:r>
              <a:rPr lang="en-US" dirty="0" err="1"/>
              <a:t>memberikan</a:t>
            </a:r>
            <a:r>
              <a:rPr lang="en-US" dirty="0"/>
              <a:t> </a:t>
            </a:r>
            <a:r>
              <a:rPr lang="en-US" dirty="0" err="1"/>
              <a:t>isolasi</a:t>
            </a:r>
            <a:r>
              <a:rPr lang="en-US" dirty="0"/>
              <a:t> </a:t>
            </a:r>
            <a:r>
              <a:rPr lang="en-US" dirty="0" err="1"/>
              <a:t>tingkat</a:t>
            </a:r>
            <a:r>
              <a:rPr lang="en-US" dirty="0"/>
              <a:t> software </a:t>
            </a:r>
            <a:r>
              <a:rPr lang="en-US" dirty="0" err="1"/>
              <a:t>antara</a:t>
            </a:r>
            <a:r>
              <a:rPr lang="en-US" dirty="0"/>
              <a:t> </a:t>
            </a:r>
            <a:r>
              <a:rPr lang="en-US" dirty="0" err="1"/>
              <a:t>beban</a:t>
            </a:r>
            <a:r>
              <a:rPr lang="en-US" dirty="0"/>
              <a:t> </a:t>
            </a:r>
            <a:r>
              <a:rPr lang="en-US" dirty="0" err="1"/>
              <a:t>kerja</a:t>
            </a:r>
            <a:r>
              <a:rPr lang="en-US" dirty="0"/>
              <a:t> </a:t>
            </a:r>
            <a:r>
              <a:rPr lang="en-US" dirty="0" err="1"/>
              <a:t>dalam</a:t>
            </a:r>
            <a:r>
              <a:rPr lang="en-US" dirty="0"/>
              <a:t> </a:t>
            </a:r>
            <a:r>
              <a:rPr lang="en-US" dirty="0" err="1"/>
              <a:t>hal</a:t>
            </a:r>
            <a:r>
              <a:rPr lang="en-US" dirty="0"/>
              <a:t> </a:t>
            </a:r>
            <a:r>
              <a:rPr lang="en-US" dirty="0" err="1"/>
              <a:t>isolasi</a:t>
            </a:r>
            <a:r>
              <a:rPr lang="en-US" dirty="0"/>
              <a:t> </a:t>
            </a:r>
            <a:r>
              <a:rPr lang="en-US" dirty="0" err="1"/>
              <a:t>ruang</a:t>
            </a:r>
            <a:r>
              <a:rPr lang="en-US" dirty="0"/>
              <a:t> </a:t>
            </a:r>
            <a:r>
              <a:rPr lang="en-US" dirty="0" err="1"/>
              <a:t>alamat</a:t>
            </a:r>
            <a:r>
              <a:rPr lang="en-US" dirty="0"/>
              <a:t>, </a:t>
            </a:r>
            <a:r>
              <a:rPr lang="en-US" dirty="0" err="1"/>
              <a:t>isolasi</a:t>
            </a:r>
            <a:r>
              <a:rPr lang="en-US" dirty="0"/>
              <a:t> </a:t>
            </a:r>
            <a:r>
              <a:rPr lang="en-US" dirty="0" err="1"/>
              <a:t>performa</a:t>
            </a:r>
            <a:r>
              <a:rPr lang="en-US" dirty="0"/>
              <a:t>, </a:t>
            </a:r>
            <a:r>
              <a:rPr lang="en-US" dirty="0" err="1"/>
              <a:t>dan</a:t>
            </a:r>
            <a:r>
              <a:rPr lang="en-US" dirty="0"/>
              <a:t> </a:t>
            </a:r>
            <a:r>
              <a:rPr lang="en-US" dirty="0" err="1"/>
              <a:t>isolasi</a:t>
            </a:r>
            <a:r>
              <a:rPr lang="en-US" dirty="0"/>
              <a:t> error.</a:t>
            </a:r>
          </a:p>
          <a:p>
            <a:pPr algn="just"/>
            <a:r>
              <a:rPr lang="en-US" b="1" dirty="0"/>
              <a:t>NVIDIA MPS</a:t>
            </a:r>
            <a:r>
              <a:rPr lang="en-US" dirty="0"/>
              <a:t>: GKE </a:t>
            </a:r>
            <a:r>
              <a:rPr lang="en-US" dirty="0" err="1"/>
              <a:t>menggunakan</a:t>
            </a:r>
            <a:r>
              <a:rPr lang="en-US" dirty="0"/>
              <a:t> </a:t>
            </a:r>
            <a:r>
              <a:rPr lang="en-US" dirty="0">
                <a:hlinkClick r:id="rId4"/>
              </a:rPr>
              <a:t>Multi-Process Service (MPS) NVIDIA</a:t>
            </a:r>
            <a:r>
              <a:rPr lang="en-US" dirty="0"/>
              <a:t>. NVIDIA MPS </a:t>
            </a:r>
            <a:r>
              <a:rPr lang="en-US" dirty="0" err="1"/>
              <a:t>adalah</a:t>
            </a:r>
            <a:r>
              <a:rPr lang="en-US" dirty="0"/>
              <a:t> </a:t>
            </a:r>
            <a:r>
              <a:rPr lang="en-US" dirty="0" err="1"/>
              <a:t>penerapan</a:t>
            </a:r>
            <a:r>
              <a:rPr lang="en-US" dirty="0"/>
              <a:t> </a:t>
            </a:r>
            <a:r>
              <a:rPr lang="en-US" dirty="0" err="1"/>
              <a:t>alternatif</a:t>
            </a:r>
            <a:r>
              <a:rPr lang="en-US" dirty="0"/>
              <a:t> yang </a:t>
            </a:r>
            <a:r>
              <a:rPr lang="en-US" dirty="0" err="1"/>
              <a:t>kompatibel</a:t>
            </a:r>
            <a:r>
              <a:rPr lang="en-US" dirty="0"/>
              <a:t> </a:t>
            </a:r>
            <a:r>
              <a:rPr lang="en-US" dirty="0" err="1"/>
              <a:t>secara</a:t>
            </a:r>
            <a:r>
              <a:rPr lang="en-US" dirty="0"/>
              <a:t> </a:t>
            </a:r>
            <a:r>
              <a:rPr lang="en-US" dirty="0" err="1"/>
              <a:t>biner</a:t>
            </a:r>
            <a:r>
              <a:rPr lang="en-US" dirty="0"/>
              <a:t> </a:t>
            </a:r>
            <a:r>
              <a:rPr lang="en-US" dirty="0" err="1"/>
              <a:t>dari</a:t>
            </a:r>
            <a:r>
              <a:rPr lang="en-US" dirty="0"/>
              <a:t> CUDA API yang </a:t>
            </a:r>
            <a:r>
              <a:rPr lang="en-US" dirty="0" err="1"/>
              <a:t>dirancang</a:t>
            </a:r>
            <a:r>
              <a:rPr lang="en-US" dirty="0"/>
              <a:t> </a:t>
            </a:r>
            <a:r>
              <a:rPr lang="en-US" dirty="0" err="1"/>
              <a:t>untuk</a:t>
            </a:r>
            <a:r>
              <a:rPr lang="en-US" dirty="0"/>
              <a:t> </a:t>
            </a:r>
            <a:r>
              <a:rPr lang="en-US" dirty="0" err="1"/>
              <a:t>secara</a:t>
            </a:r>
            <a:r>
              <a:rPr lang="en-US" dirty="0"/>
              <a:t> </a:t>
            </a:r>
            <a:r>
              <a:rPr lang="en-US" dirty="0" err="1"/>
              <a:t>transparan</a:t>
            </a:r>
            <a:r>
              <a:rPr lang="en-US" dirty="0"/>
              <a:t> </a:t>
            </a:r>
            <a:r>
              <a:rPr lang="en-US" dirty="0" err="1"/>
              <a:t>memungkinkan</a:t>
            </a:r>
            <a:r>
              <a:rPr lang="en-US" dirty="0"/>
              <a:t> </a:t>
            </a:r>
            <a:r>
              <a:rPr lang="en-US" dirty="0" err="1"/>
              <a:t>beban</a:t>
            </a:r>
            <a:r>
              <a:rPr lang="en-US" dirty="0"/>
              <a:t> </a:t>
            </a:r>
            <a:r>
              <a:rPr lang="en-US" dirty="0" err="1"/>
              <a:t>kerja</a:t>
            </a:r>
            <a:r>
              <a:rPr lang="en-US" dirty="0"/>
              <a:t> CUDA multi-proses </a:t>
            </a:r>
            <a:r>
              <a:rPr lang="en-US" dirty="0" err="1"/>
              <a:t>kooperatif</a:t>
            </a:r>
            <a:r>
              <a:rPr lang="en-US" dirty="0"/>
              <a:t> </a:t>
            </a:r>
            <a:r>
              <a:rPr lang="en-US" dirty="0" err="1"/>
              <a:t>berjalan</a:t>
            </a:r>
            <a:r>
              <a:rPr lang="en-US" dirty="0"/>
              <a:t> </a:t>
            </a:r>
            <a:r>
              <a:rPr lang="en-US" dirty="0" err="1"/>
              <a:t>secara</a:t>
            </a:r>
            <a:r>
              <a:rPr lang="en-US" dirty="0"/>
              <a:t> </a:t>
            </a:r>
            <a:r>
              <a:rPr lang="en-US" dirty="0" err="1"/>
              <a:t>bersamaan</a:t>
            </a:r>
            <a:r>
              <a:rPr lang="en-US" dirty="0"/>
              <a:t> </a:t>
            </a:r>
            <a:r>
              <a:rPr lang="en-US" dirty="0" err="1"/>
              <a:t>pada</a:t>
            </a:r>
            <a:r>
              <a:rPr lang="en-US" dirty="0"/>
              <a:t> </a:t>
            </a:r>
            <a:r>
              <a:rPr lang="en-US" dirty="0" err="1"/>
              <a:t>satu</a:t>
            </a:r>
            <a:r>
              <a:rPr lang="en-US" dirty="0"/>
              <a:t> </a:t>
            </a:r>
            <a:r>
              <a:rPr lang="en-US" dirty="0" err="1"/>
              <a:t>perangkat</a:t>
            </a:r>
            <a:r>
              <a:rPr lang="en-US" dirty="0"/>
              <a:t> GPU. GPU </a:t>
            </a:r>
            <a:r>
              <a:rPr lang="en-US" dirty="0" err="1"/>
              <a:t>dengan</a:t>
            </a:r>
            <a:r>
              <a:rPr lang="en-US" dirty="0"/>
              <a:t> NVIDIA MPS </a:t>
            </a:r>
            <a:r>
              <a:rPr lang="en-US" dirty="0" err="1"/>
              <a:t>memberikan</a:t>
            </a:r>
            <a:r>
              <a:rPr lang="en-US" dirty="0"/>
              <a:t> </a:t>
            </a:r>
            <a:r>
              <a:rPr lang="en-US" dirty="0" err="1"/>
              <a:t>isolasi</a:t>
            </a:r>
            <a:r>
              <a:rPr lang="en-US" dirty="0"/>
              <a:t> </a:t>
            </a:r>
            <a:r>
              <a:rPr lang="en-US" dirty="0" err="1"/>
              <a:t>tingkat</a:t>
            </a:r>
            <a:r>
              <a:rPr lang="en-US" dirty="0"/>
              <a:t> software </a:t>
            </a:r>
            <a:r>
              <a:rPr lang="en-US" dirty="0" err="1"/>
              <a:t>dalam</a:t>
            </a:r>
            <a:r>
              <a:rPr lang="en-US" dirty="0"/>
              <a:t> </a:t>
            </a:r>
            <a:r>
              <a:rPr lang="en-US" dirty="0" err="1"/>
              <a:t>hal</a:t>
            </a:r>
            <a:r>
              <a:rPr lang="en-US" dirty="0"/>
              <a:t> </a:t>
            </a:r>
            <a:r>
              <a:rPr lang="en-US" dirty="0" err="1"/>
              <a:t>batas</a:t>
            </a:r>
            <a:r>
              <a:rPr lang="en-US" dirty="0"/>
              <a:t> resource (</a:t>
            </a:r>
            <a:r>
              <a:rPr lang="en-US" dirty="0" err="1">
                <a:hlinkClick r:id="rId5"/>
              </a:rPr>
              <a:t>persentase</a:t>
            </a:r>
            <a:r>
              <a:rPr lang="en-US" dirty="0">
                <a:hlinkClick r:id="rId5"/>
              </a:rPr>
              <a:t> thread </a:t>
            </a:r>
            <a:r>
              <a:rPr lang="en-US" dirty="0" err="1">
                <a:hlinkClick r:id="rId5"/>
              </a:rPr>
              <a:t>aktif</a:t>
            </a:r>
            <a:r>
              <a:rPr lang="en-US" dirty="0"/>
              <a:t> </a:t>
            </a:r>
            <a:r>
              <a:rPr lang="en-US" dirty="0" err="1"/>
              <a:t>dan</a:t>
            </a:r>
            <a:r>
              <a:rPr lang="en-US" dirty="0"/>
              <a:t> </a:t>
            </a:r>
            <a:r>
              <a:rPr lang="en-US" dirty="0" err="1">
                <a:hlinkClick r:id="rId6"/>
              </a:rPr>
              <a:t>memori</a:t>
            </a:r>
            <a:r>
              <a:rPr lang="en-US" dirty="0">
                <a:hlinkClick r:id="rId6"/>
              </a:rPr>
              <a:t> </a:t>
            </a:r>
            <a:r>
              <a:rPr lang="en-US" dirty="0" err="1">
                <a:hlinkClick r:id="rId6"/>
              </a:rPr>
              <a:t>perangkat</a:t>
            </a:r>
            <a:r>
              <a:rPr lang="en-US" dirty="0">
                <a:hlinkClick r:id="rId6"/>
              </a:rPr>
              <a:t> yang </a:t>
            </a:r>
            <a:r>
              <a:rPr lang="en-US" dirty="0" err="1">
                <a:hlinkClick r:id="rId6"/>
              </a:rPr>
              <a:t>disematkan</a:t>
            </a:r>
            <a:r>
              <a:rPr lang="en-US" dirty="0"/>
              <a:t>).</a:t>
            </a:r>
          </a:p>
          <a:p>
            <a:pPr marL="0" indent="0">
              <a:buNone/>
            </a:pPr>
            <a:endParaRPr lang="en-US" dirty="0"/>
          </a:p>
        </p:txBody>
      </p:sp>
      <p:sp>
        <p:nvSpPr>
          <p:cNvPr id="2" name="Rectangle 1"/>
          <p:cNvSpPr/>
          <p:nvPr/>
        </p:nvSpPr>
        <p:spPr>
          <a:xfrm>
            <a:off x="242900" y="1425515"/>
            <a:ext cx="2295500" cy="400110"/>
          </a:xfrm>
          <a:prstGeom prst="rect">
            <a:avLst/>
          </a:prstGeom>
        </p:spPr>
        <p:txBody>
          <a:bodyPr wrap="none">
            <a:spAutoFit/>
          </a:bodyPr>
          <a:lstStyle/>
          <a:p>
            <a:r>
              <a:rPr lang="en-US" dirty="0"/>
              <a:t>GPU di Kubernetes</a:t>
            </a:r>
          </a:p>
        </p:txBody>
      </p:sp>
    </p:spTree>
    <p:extLst>
      <p:ext uri="{BB962C8B-B14F-4D97-AF65-F5344CB8AC3E}">
        <p14:creationId xmlns:p14="http://schemas.microsoft.com/office/powerpoint/2010/main" val="34154438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it-IT" altLang="ko-KR" b="1" dirty="0">
                <a:solidFill>
                  <a:schemeClr val="bg1"/>
                </a:solidFill>
                <a:cs typeface="times" panose="02020603050405020304" pitchFamily="18" charset="0"/>
              </a:rPr>
              <a:t>Strategi berbagi GPU di GKE</a:t>
            </a:r>
            <a:endParaRPr lang="ko-KR" altLang="en-US"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2" name="Rectangle 1"/>
          <p:cNvSpPr/>
          <p:nvPr/>
        </p:nvSpPr>
        <p:spPr>
          <a:xfrm>
            <a:off x="0" y="1361766"/>
            <a:ext cx="6530763" cy="400110"/>
          </a:xfrm>
          <a:prstGeom prst="rect">
            <a:avLst/>
          </a:prstGeom>
        </p:spPr>
        <p:txBody>
          <a:bodyPr wrap="none">
            <a:spAutoFit/>
          </a:bodyPr>
          <a:lstStyle/>
          <a:p>
            <a:r>
              <a:rPr lang="en-US" dirty="0" err="1"/>
              <a:t>Strategi</a:t>
            </a:r>
            <a:r>
              <a:rPr lang="en-US" dirty="0"/>
              <a:t> </a:t>
            </a:r>
            <a:r>
              <a:rPr lang="en-US" dirty="0" err="1"/>
              <a:t>berbagi</a:t>
            </a:r>
            <a:r>
              <a:rPr lang="en-US" dirty="0"/>
              <a:t> </a:t>
            </a:r>
            <a:r>
              <a:rPr lang="en-US" dirty="0" smtClean="0"/>
              <a:t>GPU, </a:t>
            </a:r>
            <a:r>
              <a:rPr lang="en-US" dirty="0" err="1"/>
              <a:t>karakteristik</a:t>
            </a:r>
            <a:r>
              <a:rPr lang="en-US" dirty="0"/>
              <a:t> </a:t>
            </a:r>
            <a:r>
              <a:rPr lang="en-US" dirty="0" err="1"/>
              <a:t>strategi</a:t>
            </a:r>
            <a:r>
              <a:rPr lang="en-US" dirty="0"/>
              <a:t> </a:t>
            </a:r>
            <a:r>
              <a:rPr lang="en-US" dirty="0" err="1"/>
              <a:t>berbagi</a:t>
            </a:r>
            <a:r>
              <a:rPr lang="en-US" dirty="0"/>
              <a:t> GPU</a:t>
            </a:r>
          </a:p>
        </p:txBody>
      </p:sp>
      <p:graphicFrame>
        <p:nvGraphicFramePr>
          <p:cNvPr id="4" name="Table 3"/>
          <p:cNvGraphicFramePr>
            <a:graphicFrameLocks noGrp="1"/>
          </p:cNvGraphicFramePr>
          <p:nvPr>
            <p:extLst>
              <p:ext uri="{D42A27DB-BD31-4B8C-83A1-F6EECF244321}">
                <p14:modId xmlns:p14="http://schemas.microsoft.com/office/powerpoint/2010/main" val="4102453248"/>
              </p:ext>
            </p:extLst>
          </p:nvPr>
        </p:nvGraphicFramePr>
        <p:xfrm>
          <a:off x="457200" y="1830137"/>
          <a:ext cx="11353800" cy="4801108"/>
        </p:xfrm>
        <a:graphic>
          <a:graphicData uri="http://schemas.openxmlformats.org/drawingml/2006/table">
            <a:tbl>
              <a:tblPr/>
              <a:tblGrid>
                <a:gridCol w="1162050">
                  <a:extLst>
                    <a:ext uri="{9D8B030D-6E8A-4147-A177-3AD203B41FA5}">
                      <a16:colId xmlns:a16="http://schemas.microsoft.com/office/drawing/2014/main" val="85385988"/>
                    </a:ext>
                  </a:extLst>
                </a:gridCol>
                <a:gridCol w="3524250">
                  <a:extLst>
                    <a:ext uri="{9D8B030D-6E8A-4147-A177-3AD203B41FA5}">
                      <a16:colId xmlns:a16="http://schemas.microsoft.com/office/drawing/2014/main" val="3766330359"/>
                    </a:ext>
                  </a:extLst>
                </a:gridCol>
                <a:gridCol w="3829050">
                  <a:extLst>
                    <a:ext uri="{9D8B030D-6E8A-4147-A177-3AD203B41FA5}">
                      <a16:colId xmlns:a16="http://schemas.microsoft.com/office/drawing/2014/main" val="50524684"/>
                    </a:ext>
                  </a:extLst>
                </a:gridCol>
                <a:gridCol w="2838450">
                  <a:extLst>
                    <a:ext uri="{9D8B030D-6E8A-4147-A177-3AD203B41FA5}">
                      <a16:colId xmlns:a16="http://schemas.microsoft.com/office/drawing/2014/main" val="3425600441"/>
                    </a:ext>
                  </a:extLst>
                </a:gridCol>
              </a:tblGrid>
              <a:tr h="133151">
                <a:tc>
                  <a:txBody>
                    <a:bodyPr/>
                    <a:lstStyle/>
                    <a:p>
                      <a:pPr algn="just" fontAlgn="ctr"/>
                      <a:r>
                        <a:rPr lang="en-US" sz="900" b="0">
                          <a:solidFill>
                            <a:srgbClr val="202124"/>
                          </a:solidFill>
                          <a:effectLst/>
                          <a:latin typeface="Roboto"/>
                        </a:rPr>
                        <a:t/>
                      </a:r>
                      <a:br>
                        <a:rPr lang="en-US" sz="900" b="0">
                          <a:solidFill>
                            <a:srgbClr val="202124"/>
                          </a:solidFill>
                          <a:effectLst/>
                          <a:latin typeface="Roboto"/>
                        </a:rPr>
                      </a:br>
                      <a:r>
                        <a:rPr lang="en-US" sz="900" b="0">
                          <a:solidFill>
                            <a:srgbClr val="202124"/>
                          </a:solidFill>
                          <a:effectLst/>
                          <a:latin typeface="Roboto"/>
                        </a:rPr>
                        <a:t>GPU multi-instance</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ctr"/>
                      <a:r>
                        <a:rPr lang="en-US" sz="900" b="0">
                          <a:solidFill>
                            <a:srgbClr val="202124"/>
                          </a:solidFill>
                          <a:effectLst/>
                          <a:latin typeface="Roboto"/>
                        </a:rPr>
                        <a:t>Berbagi waktu GPU</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ctr"/>
                      <a:r>
                        <a:rPr lang="en-US" sz="900" b="0">
                          <a:solidFill>
                            <a:srgbClr val="202124"/>
                          </a:solidFill>
                          <a:effectLst/>
                          <a:latin typeface="Roboto"/>
                        </a:rPr>
                        <a:t>NVIDIA MPS</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a:endParaRPr lang="en-US" sz="900"/>
                    </a:p>
                  </a:txBody>
                  <a:tcPr marL="12483" marR="12483" marT="6241" marB="6241">
                    <a:lnL>
                      <a:noFill/>
                    </a:lnL>
                  </a:tcPr>
                </a:tc>
                <a:extLst>
                  <a:ext uri="{0D108BD9-81ED-4DB2-BD59-A6C34878D82A}">
                    <a16:rowId xmlns:a16="http://schemas.microsoft.com/office/drawing/2014/main" val="3965533100"/>
                  </a:ext>
                </a:extLst>
              </a:tr>
              <a:tr h="131851">
                <a:tc>
                  <a:txBody>
                    <a:bodyPr/>
                    <a:lstStyle/>
                    <a:p>
                      <a:pPr algn="just" fontAlgn="ctr"/>
                      <a:r>
                        <a:rPr lang="en-US" sz="900" b="0">
                          <a:solidFill>
                            <a:srgbClr val="202124"/>
                          </a:solidFill>
                          <a:effectLst/>
                          <a:latin typeface="Roboto"/>
                        </a:rPr>
                        <a:t>Umum</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it-IT" sz="900">
                          <a:effectLst/>
                        </a:rPr>
                        <a:t>Berbagi GPU paralel di antara container</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rPr>
                        <a:t>Pengalihan konteks yang cepat</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it-IT" sz="900">
                          <a:effectLst/>
                        </a:rPr>
                        <a:t>Berbagi GPU paralel di antara container</a:t>
                      </a:r>
                    </a:p>
                  </a:txBody>
                  <a:tcPr marL="10402" marR="10402" marT="9102" marB="10402">
                    <a:lnL>
                      <a:noFill/>
                    </a:lnL>
                    <a:lnR>
                      <a:noFill/>
                    </a:lnR>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2816484694"/>
                  </a:ext>
                </a:extLst>
              </a:tr>
              <a:tr h="1105519">
                <a:tc>
                  <a:txBody>
                    <a:bodyPr/>
                    <a:lstStyle/>
                    <a:p>
                      <a:pPr algn="just" fontAlgn="ctr"/>
                      <a:r>
                        <a:rPr lang="en-US" sz="900" b="0">
                          <a:solidFill>
                            <a:srgbClr val="202124"/>
                          </a:solidFill>
                          <a:effectLst/>
                          <a:latin typeface="Roboto"/>
                        </a:rPr>
                        <a:t>Isolasi</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rPr>
                        <a:t>Satu GPU dibagi menjadi hingga tujuh bagian dan setiap container pada GPU fisik yang sama memiliki komputasi, memori, dan bandwidth khusus. Oleh karena itu, container dalam partisi memiliki throughput dan latensi yang dapat diprediksi meskipun container lain memenuhi partisi lain.</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latin typeface="Roboto"/>
                        </a:rPr>
                        <a:t>Setiap container mengakses kapasitas penuh GPU fisik yang mendasarinya dengan melakukan pengalihan konteks antar-proses yang berjalan di GPU.</a:t>
                      </a:r>
                    </a:p>
                    <a:p>
                      <a:pPr algn="just" fontAlgn="t"/>
                      <a:r>
                        <a:rPr lang="en-US" sz="900">
                          <a:effectLst/>
                          <a:latin typeface="Roboto"/>
                        </a:rPr>
                        <a:t>Namun, time-sharing tidak memberikan penegakan batas memori antara Job bersama dan peralihan konteks yang cepat untuk akses bersama dapat menimbulkan overhead.</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rPr>
                        <a:t>MPS NVIDIA memiliki isolasi resource terbatas, tetapi mendapatkan lebih banyak fleksibilitas dalam dimensi lain, misalnya jenis GPU dan unit bersama maksimum, yang menyederhanakan alokasi resource.</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2754836347"/>
                  </a:ext>
                </a:extLst>
              </a:tr>
              <a:tr h="2228981">
                <a:tc>
                  <a:txBody>
                    <a:bodyPr/>
                    <a:lstStyle/>
                    <a:p>
                      <a:pPr algn="just" fontAlgn="ctr"/>
                      <a:r>
                        <a:rPr lang="en-US" sz="900" b="0">
                          <a:solidFill>
                            <a:srgbClr val="202124"/>
                          </a:solidFill>
                          <a:effectLst/>
                          <a:latin typeface="Roboto"/>
                        </a:rPr>
                        <a:t>Cocok untuk beban kerja ini</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rPr>
                        <a:t>Direkomendasikan untuk workload yang berjalan secara paralel dan memerlukan ketahanan serta QoS tertentu. Misalnya, saat menjalankan workload inferensi AI, GPU multi-instance memungkinkan beberapa kueri inferensi dijalankan secara bersamaan untuk mendapatkan respons cepat, tanpa memperlambat satu sama lain.</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dirty="0" err="1">
                          <a:effectLst/>
                          <a:latin typeface="Roboto"/>
                        </a:rPr>
                        <a:t>Direkomendasikan</a:t>
                      </a:r>
                      <a:r>
                        <a:rPr lang="en-US" sz="900" dirty="0">
                          <a:effectLst/>
                          <a:latin typeface="Roboto"/>
                        </a:rPr>
                        <a:t> </a:t>
                      </a:r>
                      <a:r>
                        <a:rPr lang="en-US" sz="900" dirty="0" err="1">
                          <a:effectLst/>
                          <a:latin typeface="Roboto"/>
                        </a:rPr>
                        <a:t>untuk</a:t>
                      </a:r>
                      <a:r>
                        <a:rPr lang="en-US" sz="900" dirty="0">
                          <a:effectLst/>
                          <a:latin typeface="Roboto"/>
                        </a:rPr>
                        <a:t> </a:t>
                      </a:r>
                      <a:r>
                        <a:rPr lang="en-US" sz="900" dirty="0" err="1">
                          <a:effectLst/>
                          <a:latin typeface="Roboto"/>
                        </a:rPr>
                        <a:t>beban</a:t>
                      </a:r>
                      <a:r>
                        <a:rPr lang="en-US" sz="900" dirty="0">
                          <a:effectLst/>
                          <a:latin typeface="Roboto"/>
                        </a:rPr>
                        <a:t> </a:t>
                      </a:r>
                      <a:r>
                        <a:rPr lang="en-US" sz="900" dirty="0" err="1">
                          <a:effectLst/>
                          <a:latin typeface="Roboto"/>
                        </a:rPr>
                        <a:t>kerja</a:t>
                      </a:r>
                      <a:r>
                        <a:rPr lang="en-US" sz="900" dirty="0">
                          <a:effectLst/>
                          <a:latin typeface="Roboto"/>
                        </a:rPr>
                        <a:t> </a:t>
                      </a:r>
                      <a:r>
                        <a:rPr lang="en-US" sz="900" dirty="0" err="1">
                          <a:effectLst/>
                          <a:latin typeface="Roboto"/>
                        </a:rPr>
                        <a:t>interaktif</a:t>
                      </a:r>
                      <a:r>
                        <a:rPr lang="en-US" sz="900" dirty="0">
                          <a:effectLst/>
                          <a:latin typeface="Roboto"/>
                        </a:rPr>
                        <a:t> </a:t>
                      </a:r>
                      <a:r>
                        <a:rPr lang="en-US" sz="900" dirty="0" err="1">
                          <a:effectLst/>
                          <a:latin typeface="Roboto"/>
                        </a:rPr>
                        <a:t>dan</a:t>
                      </a:r>
                      <a:r>
                        <a:rPr lang="en-US" sz="900" dirty="0">
                          <a:effectLst/>
                          <a:latin typeface="Roboto"/>
                        </a:rPr>
                        <a:t> </a:t>
                      </a:r>
                      <a:r>
                        <a:rPr lang="en-US" sz="900" dirty="0" err="1">
                          <a:effectLst/>
                          <a:latin typeface="Roboto"/>
                        </a:rPr>
                        <a:t>lonjakan</a:t>
                      </a:r>
                      <a:r>
                        <a:rPr lang="en-US" sz="900" dirty="0">
                          <a:effectLst/>
                          <a:latin typeface="Roboto"/>
                        </a:rPr>
                        <a:t> yang </a:t>
                      </a:r>
                      <a:r>
                        <a:rPr lang="en-US" sz="900" dirty="0" err="1">
                          <a:effectLst/>
                          <a:latin typeface="Roboto"/>
                        </a:rPr>
                        <a:t>memiliki</a:t>
                      </a:r>
                      <a:r>
                        <a:rPr lang="en-US" sz="900" dirty="0">
                          <a:effectLst/>
                          <a:latin typeface="Roboto"/>
                        </a:rPr>
                        <a:t> </a:t>
                      </a:r>
                      <a:r>
                        <a:rPr lang="en-US" sz="900" dirty="0" err="1">
                          <a:effectLst/>
                          <a:latin typeface="Roboto"/>
                        </a:rPr>
                        <a:t>periode</a:t>
                      </a:r>
                      <a:r>
                        <a:rPr lang="en-US" sz="900" dirty="0">
                          <a:effectLst/>
                          <a:latin typeface="Roboto"/>
                        </a:rPr>
                        <a:t> </a:t>
                      </a:r>
                      <a:r>
                        <a:rPr lang="en-US" sz="900" dirty="0" err="1">
                          <a:effectLst/>
                          <a:latin typeface="Roboto"/>
                        </a:rPr>
                        <a:t>tidak</a:t>
                      </a:r>
                      <a:r>
                        <a:rPr lang="en-US" sz="900" dirty="0">
                          <a:effectLst/>
                          <a:latin typeface="Roboto"/>
                        </a:rPr>
                        <a:t> </a:t>
                      </a:r>
                      <a:r>
                        <a:rPr lang="en-US" sz="900" dirty="0" err="1">
                          <a:effectLst/>
                          <a:latin typeface="Roboto"/>
                        </a:rPr>
                        <a:t>ada</a:t>
                      </a:r>
                      <a:r>
                        <a:rPr lang="en-US" sz="900" dirty="0">
                          <a:effectLst/>
                          <a:latin typeface="Roboto"/>
                        </a:rPr>
                        <a:t> </a:t>
                      </a:r>
                      <a:r>
                        <a:rPr lang="en-US" sz="900" dirty="0" err="1">
                          <a:effectLst/>
                          <a:latin typeface="Roboto"/>
                        </a:rPr>
                        <a:t>aktivitas</a:t>
                      </a:r>
                      <a:r>
                        <a:rPr lang="en-US" sz="900" dirty="0">
                          <a:effectLst/>
                          <a:latin typeface="Roboto"/>
                        </a:rPr>
                        <a:t>. Workload </a:t>
                      </a:r>
                      <a:r>
                        <a:rPr lang="en-US" sz="900" dirty="0" err="1">
                          <a:effectLst/>
                          <a:latin typeface="Roboto"/>
                        </a:rPr>
                        <a:t>ini</a:t>
                      </a:r>
                      <a:r>
                        <a:rPr lang="en-US" sz="900" dirty="0">
                          <a:effectLst/>
                          <a:latin typeface="Roboto"/>
                        </a:rPr>
                        <a:t> </a:t>
                      </a:r>
                      <a:r>
                        <a:rPr lang="en-US" sz="900" dirty="0" err="1">
                          <a:effectLst/>
                          <a:latin typeface="Roboto"/>
                        </a:rPr>
                        <a:t>tidak</a:t>
                      </a:r>
                      <a:r>
                        <a:rPr lang="en-US" sz="900" dirty="0">
                          <a:effectLst/>
                          <a:latin typeface="Roboto"/>
                        </a:rPr>
                        <a:t> </a:t>
                      </a:r>
                      <a:r>
                        <a:rPr lang="en-US" sz="900" dirty="0" err="1">
                          <a:effectLst/>
                          <a:latin typeface="Roboto"/>
                        </a:rPr>
                        <a:t>hemat</a:t>
                      </a:r>
                      <a:r>
                        <a:rPr lang="en-US" sz="900" dirty="0">
                          <a:effectLst/>
                          <a:latin typeface="Roboto"/>
                        </a:rPr>
                        <a:t> </a:t>
                      </a:r>
                      <a:r>
                        <a:rPr lang="en-US" sz="900" dirty="0" err="1">
                          <a:effectLst/>
                          <a:latin typeface="Roboto"/>
                        </a:rPr>
                        <a:t>biaya</a:t>
                      </a:r>
                      <a:r>
                        <a:rPr lang="en-US" sz="900" dirty="0">
                          <a:effectLst/>
                          <a:latin typeface="Roboto"/>
                        </a:rPr>
                        <a:t> </a:t>
                      </a:r>
                      <a:r>
                        <a:rPr lang="en-US" sz="900" dirty="0" err="1">
                          <a:effectLst/>
                          <a:latin typeface="Roboto"/>
                        </a:rPr>
                        <a:t>dengan</a:t>
                      </a:r>
                      <a:r>
                        <a:rPr lang="en-US" sz="900" dirty="0">
                          <a:effectLst/>
                          <a:latin typeface="Roboto"/>
                        </a:rPr>
                        <a:t> GPU yang </a:t>
                      </a:r>
                      <a:r>
                        <a:rPr lang="en-US" sz="900" dirty="0" err="1">
                          <a:effectLst/>
                          <a:latin typeface="Roboto"/>
                        </a:rPr>
                        <a:t>sepenuhnya</a:t>
                      </a:r>
                      <a:r>
                        <a:rPr lang="en-US" sz="900" dirty="0">
                          <a:effectLst/>
                          <a:latin typeface="Roboto"/>
                        </a:rPr>
                        <a:t> </a:t>
                      </a:r>
                      <a:r>
                        <a:rPr lang="en-US" sz="900" dirty="0" err="1">
                          <a:effectLst/>
                          <a:latin typeface="Roboto"/>
                        </a:rPr>
                        <a:t>khusus</a:t>
                      </a:r>
                      <a:r>
                        <a:rPr lang="en-US" sz="900" dirty="0">
                          <a:effectLst/>
                          <a:latin typeface="Roboto"/>
                        </a:rPr>
                        <a:t>. </a:t>
                      </a:r>
                      <a:r>
                        <a:rPr lang="en-US" sz="900" dirty="0" err="1">
                          <a:effectLst/>
                          <a:latin typeface="Roboto"/>
                        </a:rPr>
                        <a:t>Dengan</a:t>
                      </a:r>
                      <a:r>
                        <a:rPr lang="en-US" sz="900" dirty="0">
                          <a:effectLst/>
                          <a:latin typeface="Roboto"/>
                        </a:rPr>
                        <a:t> </a:t>
                      </a:r>
                      <a:r>
                        <a:rPr lang="en-US" sz="900" dirty="0" err="1">
                          <a:effectLst/>
                          <a:latin typeface="Roboto"/>
                        </a:rPr>
                        <a:t>menggunakan</a:t>
                      </a:r>
                      <a:r>
                        <a:rPr lang="en-US" sz="900" dirty="0">
                          <a:effectLst/>
                          <a:latin typeface="Roboto"/>
                        </a:rPr>
                        <a:t> </a:t>
                      </a:r>
                      <a:r>
                        <a:rPr lang="en-US" sz="900" dirty="0" err="1">
                          <a:effectLst/>
                          <a:latin typeface="Roboto"/>
                        </a:rPr>
                        <a:t>berbagi</a:t>
                      </a:r>
                      <a:r>
                        <a:rPr lang="en-US" sz="900" dirty="0">
                          <a:effectLst/>
                          <a:latin typeface="Roboto"/>
                        </a:rPr>
                        <a:t> </a:t>
                      </a:r>
                      <a:r>
                        <a:rPr lang="en-US" sz="900" dirty="0" err="1">
                          <a:effectLst/>
                          <a:latin typeface="Roboto"/>
                        </a:rPr>
                        <a:t>waktu</a:t>
                      </a:r>
                      <a:r>
                        <a:rPr lang="en-US" sz="900" dirty="0">
                          <a:effectLst/>
                          <a:latin typeface="Roboto"/>
                        </a:rPr>
                        <a:t>, workload </a:t>
                      </a:r>
                      <a:r>
                        <a:rPr lang="en-US" sz="900" dirty="0" err="1">
                          <a:effectLst/>
                          <a:latin typeface="Roboto"/>
                        </a:rPr>
                        <a:t>mendapatkan</a:t>
                      </a:r>
                      <a:r>
                        <a:rPr lang="en-US" sz="900" dirty="0">
                          <a:effectLst/>
                          <a:latin typeface="Roboto"/>
                        </a:rPr>
                        <a:t> </a:t>
                      </a:r>
                      <a:r>
                        <a:rPr lang="en-US" sz="900" dirty="0" err="1">
                          <a:effectLst/>
                          <a:latin typeface="Roboto"/>
                        </a:rPr>
                        <a:t>akses</a:t>
                      </a:r>
                      <a:r>
                        <a:rPr lang="en-US" sz="900" dirty="0">
                          <a:effectLst/>
                          <a:latin typeface="Roboto"/>
                        </a:rPr>
                        <a:t> </a:t>
                      </a:r>
                      <a:r>
                        <a:rPr lang="en-US" sz="900" dirty="0" err="1">
                          <a:effectLst/>
                          <a:latin typeface="Roboto"/>
                        </a:rPr>
                        <a:t>cepat</a:t>
                      </a:r>
                      <a:r>
                        <a:rPr lang="en-US" sz="900" dirty="0">
                          <a:effectLst/>
                          <a:latin typeface="Roboto"/>
                        </a:rPr>
                        <a:t> </a:t>
                      </a:r>
                      <a:r>
                        <a:rPr lang="en-US" sz="900" dirty="0" err="1">
                          <a:effectLst/>
                          <a:latin typeface="Roboto"/>
                        </a:rPr>
                        <a:t>ke</a:t>
                      </a:r>
                      <a:r>
                        <a:rPr lang="en-US" sz="900" dirty="0">
                          <a:effectLst/>
                          <a:latin typeface="Roboto"/>
                        </a:rPr>
                        <a:t> GPU </a:t>
                      </a:r>
                      <a:r>
                        <a:rPr lang="en-US" sz="900" dirty="0" err="1">
                          <a:effectLst/>
                          <a:latin typeface="Roboto"/>
                        </a:rPr>
                        <a:t>saat</a:t>
                      </a:r>
                      <a:r>
                        <a:rPr lang="en-US" sz="900" dirty="0">
                          <a:effectLst/>
                          <a:latin typeface="Roboto"/>
                        </a:rPr>
                        <a:t> </a:t>
                      </a:r>
                      <a:r>
                        <a:rPr lang="en-US" sz="900" dirty="0" err="1">
                          <a:effectLst/>
                          <a:latin typeface="Roboto"/>
                        </a:rPr>
                        <a:t>berada</a:t>
                      </a:r>
                      <a:r>
                        <a:rPr lang="en-US" sz="900" dirty="0">
                          <a:effectLst/>
                          <a:latin typeface="Roboto"/>
                        </a:rPr>
                        <a:t> </a:t>
                      </a:r>
                      <a:r>
                        <a:rPr lang="en-US" sz="900" dirty="0" err="1">
                          <a:effectLst/>
                          <a:latin typeface="Roboto"/>
                        </a:rPr>
                        <a:t>dalam</a:t>
                      </a:r>
                      <a:r>
                        <a:rPr lang="en-US" sz="900" dirty="0">
                          <a:effectLst/>
                          <a:latin typeface="Roboto"/>
                        </a:rPr>
                        <a:t> </a:t>
                      </a:r>
                      <a:r>
                        <a:rPr lang="en-US" sz="900" dirty="0" err="1">
                          <a:effectLst/>
                          <a:latin typeface="Roboto"/>
                        </a:rPr>
                        <a:t>fase</a:t>
                      </a:r>
                      <a:r>
                        <a:rPr lang="en-US" sz="900" dirty="0">
                          <a:effectLst/>
                          <a:latin typeface="Roboto"/>
                        </a:rPr>
                        <a:t> </a:t>
                      </a:r>
                      <a:r>
                        <a:rPr lang="en-US" sz="900" dirty="0" err="1">
                          <a:effectLst/>
                          <a:latin typeface="Roboto"/>
                        </a:rPr>
                        <a:t>aktif</a:t>
                      </a:r>
                      <a:r>
                        <a:rPr lang="en-US" sz="900" dirty="0">
                          <a:effectLst/>
                          <a:latin typeface="Roboto"/>
                        </a:rPr>
                        <a:t>.</a:t>
                      </a:r>
                    </a:p>
                    <a:p>
                      <a:pPr algn="just" fontAlgn="t"/>
                      <a:r>
                        <a:rPr lang="en-US" sz="900" dirty="0" err="1">
                          <a:effectLst/>
                          <a:latin typeface="Roboto"/>
                        </a:rPr>
                        <a:t>Berbagi</a:t>
                      </a:r>
                      <a:r>
                        <a:rPr lang="en-US" sz="900" dirty="0">
                          <a:effectLst/>
                          <a:latin typeface="Roboto"/>
                        </a:rPr>
                        <a:t> </a:t>
                      </a:r>
                      <a:r>
                        <a:rPr lang="en-US" sz="900" dirty="0" err="1">
                          <a:effectLst/>
                          <a:latin typeface="Roboto"/>
                        </a:rPr>
                        <a:t>waktu</a:t>
                      </a:r>
                      <a:r>
                        <a:rPr lang="en-US" sz="900" dirty="0">
                          <a:effectLst/>
                          <a:latin typeface="Roboto"/>
                        </a:rPr>
                        <a:t> GPU </a:t>
                      </a:r>
                      <a:r>
                        <a:rPr lang="en-US" sz="900" dirty="0" err="1">
                          <a:effectLst/>
                          <a:latin typeface="Roboto"/>
                        </a:rPr>
                        <a:t>sangat</a:t>
                      </a:r>
                      <a:r>
                        <a:rPr lang="en-US" sz="900" dirty="0">
                          <a:effectLst/>
                          <a:latin typeface="Roboto"/>
                        </a:rPr>
                        <a:t> optimal </a:t>
                      </a:r>
                      <a:r>
                        <a:rPr lang="en-US" sz="900" dirty="0" err="1">
                          <a:effectLst/>
                          <a:latin typeface="Roboto"/>
                        </a:rPr>
                        <a:t>untuk</a:t>
                      </a:r>
                      <a:r>
                        <a:rPr lang="en-US" sz="900" dirty="0">
                          <a:effectLst/>
                          <a:latin typeface="Roboto"/>
                        </a:rPr>
                        <a:t> </a:t>
                      </a:r>
                      <a:r>
                        <a:rPr lang="en-US" sz="900" dirty="0" err="1">
                          <a:effectLst/>
                          <a:latin typeface="Roboto"/>
                        </a:rPr>
                        <a:t>skenario</a:t>
                      </a:r>
                      <a:r>
                        <a:rPr lang="en-US" sz="900" dirty="0">
                          <a:effectLst/>
                          <a:latin typeface="Roboto"/>
                        </a:rPr>
                        <a:t> yang </a:t>
                      </a:r>
                      <a:r>
                        <a:rPr lang="en-US" sz="900" dirty="0" err="1">
                          <a:effectLst/>
                          <a:latin typeface="Roboto"/>
                        </a:rPr>
                        <a:t>menghindari</a:t>
                      </a:r>
                      <a:r>
                        <a:rPr lang="en-US" sz="900" dirty="0">
                          <a:effectLst/>
                          <a:latin typeface="Roboto"/>
                        </a:rPr>
                        <a:t> GPU </a:t>
                      </a:r>
                      <a:r>
                        <a:rPr lang="en-US" sz="900" dirty="0" err="1">
                          <a:effectLst/>
                          <a:latin typeface="Roboto"/>
                        </a:rPr>
                        <a:t>mahal</a:t>
                      </a:r>
                      <a:r>
                        <a:rPr lang="en-US" sz="900" dirty="0">
                          <a:effectLst/>
                          <a:latin typeface="Roboto"/>
                        </a:rPr>
                        <a:t> yang </a:t>
                      </a:r>
                      <a:r>
                        <a:rPr lang="en-US" sz="900" dirty="0" err="1">
                          <a:effectLst/>
                          <a:latin typeface="Roboto"/>
                        </a:rPr>
                        <a:t>menganggur</a:t>
                      </a:r>
                      <a:r>
                        <a:rPr lang="en-US" sz="900" dirty="0">
                          <a:effectLst/>
                          <a:latin typeface="Roboto"/>
                        </a:rPr>
                        <a:t> </a:t>
                      </a:r>
                      <a:r>
                        <a:rPr lang="en-US" sz="900" dirty="0" err="1">
                          <a:effectLst/>
                          <a:latin typeface="Roboto"/>
                        </a:rPr>
                        <a:t>jika</a:t>
                      </a:r>
                      <a:r>
                        <a:rPr lang="en-US" sz="900" dirty="0">
                          <a:effectLst/>
                          <a:latin typeface="Roboto"/>
                        </a:rPr>
                        <a:t> </a:t>
                      </a:r>
                      <a:r>
                        <a:rPr lang="en-US" sz="900" dirty="0" err="1">
                          <a:effectLst/>
                          <a:latin typeface="Roboto"/>
                        </a:rPr>
                        <a:t>isolasi</a:t>
                      </a:r>
                      <a:r>
                        <a:rPr lang="en-US" sz="900" dirty="0">
                          <a:effectLst/>
                          <a:latin typeface="Roboto"/>
                        </a:rPr>
                        <a:t> </a:t>
                      </a:r>
                      <a:r>
                        <a:rPr lang="en-US" sz="900" dirty="0" err="1">
                          <a:effectLst/>
                          <a:latin typeface="Roboto"/>
                        </a:rPr>
                        <a:t>penuh</a:t>
                      </a:r>
                      <a:r>
                        <a:rPr lang="en-US" sz="900" dirty="0">
                          <a:effectLst/>
                          <a:latin typeface="Roboto"/>
                        </a:rPr>
                        <a:t> </a:t>
                      </a:r>
                      <a:r>
                        <a:rPr lang="en-US" sz="900" dirty="0" err="1">
                          <a:effectLst/>
                          <a:latin typeface="Roboto"/>
                        </a:rPr>
                        <a:t>dan</a:t>
                      </a:r>
                      <a:r>
                        <a:rPr lang="en-US" sz="900" dirty="0">
                          <a:effectLst/>
                          <a:latin typeface="Roboto"/>
                        </a:rPr>
                        <a:t> </a:t>
                      </a:r>
                      <a:r>
                        <a:rPr lang="en-US" sz="900" dirty="0" err="1">
                          <a:effectLst/>
                          <a:latin typeface="Roboto"/>
                        </a:rPr>
                        <a:t>akses</a:t>
                      </a:r>
                      <a:r>
                        <a:rPr lang="en-US" sz="900" dirty="0">
                          <a:effectLst/>
                          <a:latin typeface="Roboto"/>
                        </a:rPr>
                        <a:t> GPU </a:t>
                      </a:r>
                      <a:r>
                        <a:rPr lang="en-US" sz="900" dirty="0" err="1">
                          <a:effectLst/>
                          <a:latin typeface="Roboto"/>
                        </a:rPr>
                        <a:t>berkelanjutan</a:t>
                      </a:r>
                      <a:r>
                        <a:rPr lang="en-US" sz="900" dirty="0">
                          <a:effectLst/>
                          <a:latin typeface="Roboto"/>
                        </a:rPr>
                        <a:t> </a:t>
                      </a:r>
                      <a:r>
                        <a:rPr lang="en-US" sz="900" dirty="0" err="1">
                          <a:effectLst/>
                          <a:latin typeface="Roboto"/>
                        </a:rPr>
                        <a:t>mungkin</a:t>
                      </a:r>
                      <a:r>
                        <a:rPr lang="en-US" sz="900" dirty="0">
                          <a:effectLst/>
                          <a:latin typeface="Roboto"/>
                        </a:rPr>
                        <a:t> </a:t>
                      </a:r>
                      <a:r>
                        <a:rPr lang="en-US" sz="900" dirty="0" err="1">
                          <a:effectLst/>
                          <a:latin typeface="Roboto"/>
                        </a:rPr>
                        <a:t>tidak</a:t>
                      </a:r>
                      <a:r>
                        <a:rPr lang="en-US" sz="900" dirty="0">
                          <a:effectLst/>
                          <a:latin typeface="Roboto"/>
                        </a:rPr>
                        <a:t> </a:t>
                      </a:r>
                      <a:r>
                        <a:rPr lang="en-US" sz="900" dirty="0" err="1">
                          <a:effectLst/>
                          <a:latin typeface="Roboto"/>
                        </a:rPr>
                        <a:t>diperlukan</a:t>
                      </a:r>
                      <a:r>
                        <a:rPr lang="en-US" sz="900" dirty="0">
                          <a:effectLst/>
                          <a:latin typeface="Roboto"/>
                        </a:rPr>
                        <a:t>, </a:t>
                      </a:r>
                      <a:r>
                        <a:rPr lang="en-US" sz="900" dirty="0" err="1">
                          <a:effectLst/>
                          <a:latin typeface="Roboto"/>
                        </a:rPr>
                        <a:t>misalnya</a:t>
                      </a:r>
                      <a:r>
                        <a:rPr lang="en-US" sz="900" dirty="0">
                          <a:effectLst/>
                          <a:latin typeface="Roboto"/>
                        </a:rPr>
                        <a:t>, </a:t>
                      </a:r>
                      <a:r>
                        <a:rPr lang="en-US" sz="900" dirty="0" err="1">
                          <a:effectLst/>
                          <a:latin typeface="Roboto"/>
                        </a:rPr>
                        <a:t>saat</a:t>
                      </a:r>
                      <a:r>
                        <a:rPr lang="en-US" sz="900" dirty="0">
                          <a:effectLst/>
                          <a:latin typeface="Roboto"/>
                        </a:rPr>
                        <a:t> </a:t>
                      </a:r>
                      <a:r>
                        <a:rPr lang="en-US" sz="900" dirty="0" err="1">
                          <a:effectLst/>
                          <a:latin typeface="Roboto"/>
                        </a:rPr>
                        <a:t>beberapa</a:t>
                      </a:r>
                      <a:r>
                        <a:rPr lang="en-US" sz="900" dirty="0">
                          <a:effectLst/>
                          <a:latin typeface="Roboto"/>
                        </a:rPr>
                        <a:t> </a:t>
                      </a:r>
                      <a:r>
                        <a:rPr lang="en-US" sz="900" dirty="0" err="1">
                          <a:effectLst/>
                          <a:latin typeface="Roboto"/>
                        </a:rPr>
                        <a:t>pengguna</a:t>
                      </a:r>
                      <a:r>
                        <a:rPr lang="en-US" sz="900" dirty="0">
                          <a:effectLst/>
                          <a:latin typeface="Roboto"/>
                        </a:rPr>
                        <a:t> </a:t>
                      </a:r>
                      <a:r>
                        <a:rPr lang="en-US" sz="900" dirty="0" err="1">
                          <a:effectLst/>
                          <a:latin typeface="Roboto"/>
                        </a:rPr>
                        <a:t>menguji</a:t>
                      </a:r>
                      <a:r>
                        <a:rPr lang="en-US" sz="900" dirty="0">
                          <a:effectLst/>
                          <a:latin typeface="Roboto"/>
                        </a:rPr>
                        <a:t> </a:t>
                      </a:r>
                      <a:r>
                        <a:rPr lang="en-US" sz="900" dirty="0" err="1">
                          <a:effectLst/>
                          <a:latin typeface="Roboto"/>
                        </a:rPr>
                        <a:t>atau</a:t>
                      </a:r>
                      <a:r>
                        <a:rPr lang="en-US" sz="900" dirty="0">
                          <a:effectLst/>
                          <a:latin typeface="Roboto"/>
                        </a:rPr>
                        <a:t> </a:t>
                      </a:r>
                      <a:r>
                        <a:rPr lang="en-US" sz="900" dirty="0" err="1">
                          <a:effectLst/>
                          <a:latin typeface="Roboto"/>
                        </a:rPr>
                        <a:t>membuat</a:t>
                      </a:r>
                      <a:r>
                        <a:rPr lang="en-US" sz="900" dirty="0">
                          <a:effectLst/>
                          <a:latin typeface="Roboto"/>
                        </a:rPr>
                        <a:t> </a:t>
                      </a:r>
                      <a:r>
                        <a:rPr lang="en-US" sz="900" dirty="0" err="1">
                          <a:effectLst/>
                          <a:latin typeface="Roboto"/>
                        </a:rPr>
                        <a:t>prototipe</a:t>
                      </a:r>
                      <a:r>
                        <a:rPr lang="en-US" sz="900" dirty="0">
                          <a:effectLst/>
                          <a:latin typeface="Roboto"/>
                        </a:rPr>
                        <a:t> workload.</a:t>
                      </a:r>
                    </a:p>
                    <a:p>
                      <a:pPr algn="just" fontAlgn="t"/>
                      <a:r>
                        <a:rPr lang="en-US" sz="900" dirty="0">
                          <a:effectLst/>
                          <a:latin typeface="Roboto"/>
                        </a:rPr>
                        <a:t>Beban </a:t>
                      </a:r>
                      <a:r>
                        <a:rPr lang="en-US" sz="900" dirty="0" err="1">
                          <a:effectLst/>
                          <a:latin typeface="Roboto"/>
                        </a:rPr>
                        <a:t>kerja</a:t>
                      </a:r>
                      <a:r>
                        <a:rPr lang="en-US" sz="900" dirty="0">
                          <a:effectLst/>
                          <a:latin typeface="Roboto"/>
                        </a:rPr>
                        <a:t> yang </a:t>
                      </a:r>
                      <a:r>
                        <a:rPr lang="en-US" sz="900" dirty="0" err="1">
                          <a:effectLst/>
                          <a:latin typeface="Roboto"/>
                        </a:rPr>
                        <a:t>menggunakan</a:t>
                      </a:r>
                      <a:r>
                        <a:rPr lang="en-US" sz="900" dirty="0">
                          <a:effectLst/>
                          <a:latin typeface="Roboto"/>
                        </a:rPr>
                        <a:t> time-sharing </a:t>
                      </a:r>
                      <a:r>
                        <a:rPr lang="en-US" sz="900" dirty="0" err="1">
                          <a:effectLst/>
                          <a:latin typeface="Roboto"/>
                        </a:rPr>
                        <a:t>harus</a:t>
                      </a:r>
                      <a:r>
                        <a:rPr lang="en-US" sz="900" dirty="0">
                          <a:effectLst/>
                          <a:latin typeface="Roboto"/>
                        </a:rPr>
                        <a:t> </a:t>
                      </a:r>
                      <a:r>
                        <a:rPr lang="en-US" sz="900" dirty="0" err="1">
                          <a:effectLst/>
                          <a:latin typeface="Roboto"/>
                        </a:rPr>
                        <a:t>mentoleransi</a:t>
                      </a:r>
                      <a:r>
                        <a:rPr lang="en-US" sz="900" dirty="0">
                          <a:effectLst/>
                          <a:latin typeface="Roboto"/>
                        </a:rPr>
                        <a:t> </a:t>
                      </a:r>
                      <a:r>
                        <a:rPr lang="en-US" sz="900" dirty="0" err="1">
                          <a:effectLst/>
                          <a:latin typeface="Roboto"/>
                        </a:rPr>
                        <a:t>kompromi</a:t>
                      </a:r>
                      <a:r>
                        <a:rPr lang="en-US" sz="900" dirty="0">
                          <a:effectLst/>
                          <a:latin typeface="Roboto"/>
                        </a:rPr>
                        <a:t> </a:t>
                      </a:r>
                      <a:r>
                        <a:rPr lang="en-US" sz="900" dirty="0" err="1">
                          <a:effectLst/>
                          <a:latin typeface="Roboto"/>
                        </a:rPr>
                        <a:t>performa</a:t>
                      </a:r>
                      <a:r>
                        <a:rPr lang="en-US" sz="900" dirty="0">
                          <a:effectLst/>
                          <a:latin typeface="Roboto"/>
                        </a:rPr>
                        <a:t> </a:t>
                      </a:r>
                      <a:r>
                        <a:rPr lang="en-US" sz="900" dirty="0" err="1">
                          <a:effectLst/>
                          <a:latin typeface="Roboto"/>
                        </a:rPr>
                        <a:t>dan</a:t>
                      </a:r>
                      <a:r>
                        <a:rPr lang="en-US" sz="900" dirty="0">
                          <a:effectLst/>
                          <a:latin typeface="Roboto"/>
                        </a:rPr>
                        <a:t> </a:t>
                      </a:r>
                      <a:r>
                        <a:rPr lang="en-US" sz="900" dirty="0" err="1">
                          <a:effectLst/>
                          <a:latin typeface="Roboto"/>
                        </a:rPr>
                        <a:t>latensi</a:t>
                      </a:r>
                      <a:r>
                        <a:rPr lang="en-US" sz="900" dirty="0">
                          <a:effectLst/>
                          <a:latin typeface="Roboto"/>
                        </a:rPr>
                        <a:t> </a:t>
                      </a:r>
                      <a:r>
                        <a:rPr lang="en-US" sz="900" dirty="0" err="1">
                          <a:effectLst/>
                          <a:latin typeface="Roboto"/>
                        </a:rPr>
                        <a:t>tertentu</a:t>
                      </a:r>
                      <a:r>
                        <a:rPr lang="en-US" sz="900" dirty="0">
                          <a:effectLst/>
                          <a:latin typeface="Roboto"/>
                        </a:rPr>
                        <a:t>.</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dirty="0" err="1">
                          <a:effectLst/>
                          <a:latin typeface="Roboto"/>
                        </a:rPr>
                        <a:t>Direkomendasikan</a:t>
                      </a:r>
                      <a:r>
                        <a:rPr lang="en-US" sz="900" dirty="0">
                          <a:effectLst/>
                          <a:latin typeface="Roboto"/>
                        </a:rPr>
                        <a:t> </a:t>
                      </a:r>
                      <a:r>
                        <a:rPr lang="en-US" sz="900" dirty="0" err="1">
                          <a:effectLst/>
                          <a:latin typeface="Roboto"/>
                        </a:rPr>
                        <a:t>untuk</a:t>
                      </a:r>
                      <a:r>
                        <a:rPr lang="en-US" sz="900" dirty="0">
                          <a:effectLst/>
                          <a:latin typeface="Roboto"/>
                        </a:rPr>
                        <a:t> </a:t>
                      </a:r>
                      <a:r>
                        <a:rPr lang="en-US" sz="900" dirty="0" err="1">
                          <a:effectLst/>
                          <a:latin typeface="Roboto"/>
                        </a:rPr>
                        <a:t>pemrosesan</a:t>
                      </a:r>
                      <a:r>
                        <a:rPr lang="en-US" sz="900" dirty="0">
                          <a:effectLst/>
                          <a:latin typeface="Roboto"/>
                        </a:rPr>
                        <a:t> batch </a:t>
                      </a:r>
                      <a:r>
                        <a:rPr lang="en-US" sz="900" dirty="0" err="1">
                          <a:effectLst/>
                          <a:latin typeface="Roboto"/>
                        </a:rPr>
                        <a:t>untuk</a:t>
                      </a:r>
                      <a:r>
                        <a:rPr lang="en-US" sz="900" dirty="0">
                          <a:effectLst/>
                          <a:latin typeface="Roboto"/>
                        </a:rPr>
                        <a:t> </a:t>
                      </a:r>
                      <a:r>
                        <a:rPr lang="en-US" sz="900" dirty="0" err="1">
                          <a:effectLst/>
                          <a:latin typeface="Roboto"/>
                        </a:rPr>
                        <a:t>tugas</a:t>
                      </a:r>
                      <a:r>
                        <a:rPr lang="en-US" sz="900" dirty="0">
                          <a:effectLst/>
                          <a:latin typeface="Roboto"/>
                        </a:rPr>
                        <a:t> </a:t>
                      </a:r>
                      <a:r>
                        <a:rPr lang="en-US" sz="900" dirty="0" err="1">
                          <a:effectLst/>
                          <a:latin typeface="Roboto"/>
                        </a:rPr>
                        <a:t>kecil</a:t>
                      </a:r>
                      <a:r>
                        <a:rPr lang="en-US" sz="900" dirty="0">
                          <a:effectLst/>
                          <a:latin typeface="Roboto"/>
                        </a:rPr>
                        <a:t> </a:t>
                      </a:r>
                      <a:r>
                        <a:rPr lang="en-US" sz="900" dirty="0" err="1">
                          <a:effectLst/>
                          <a:latin typeface="Roboto"/>
                        </a:rPr>
                        <a:t>karena</a:t>
                      </a:r>
                      <a:r>
                        <a:rPr lang="en-US" sz="900" dirty="0">
                          <a:effectLst/>
                          <a:latin typeface="Roboto"/>
                        </a:rPr>
                        <a:t> MPS </a:t>
                      </a:r>
                      <a:r>
                        <a:rPr lang="en-US" sz="900" dirty="0" err="1">
                          <a:effectLst/>
                          <a:latin typeface="Roboto"/>
                        </a:rPr>
                        <a:t>memaksimalkan</a:t>
                      </a:r>
                      <a:r>
                        <a:rPr lang="en-US" sz="900" dirty="0">
                          <a:effectLst/>
                          <a:latin typeface="Roboto"/>
                        </a:rPr>
                        <a:t> throughput </a:t>
                      </a:r>
                      <a:r>
                        <a:rPr lang="en-US" sz="900" dirty="0" err="1">
                          <a:effectLst/>
                          <a:latin typeface="Roboto"/>
                        </a:rPr>
                        <a:t>dan</a:t>
                      </a:r>
                      <a:r>
                        <a:rPr lang="en-US" sz="900" dirty="0">
                          <a:effectLst/>
                          <a:latin typeface="Roboto"/>
                        </a:rPr>
                        <a:t> </a:t>
                      </a:r>
                      <a:r>
                        <a:rPr lang="en-US" sz="900" dirty="0" err="1">
                          <a:effectLst/>
                          <a:latin typeface="Roboto"/>
                        </a:rPr>
                        <a:t>penggunaan</a:t>
                      </a:r>
                      <a:r>
                        <a:rPr lang="en-US" sz="900" dirty="0">
                          <a:effectLst/>
                          <a:latin typeface="Roboto"/>
                        </a:rPr>
                        <a:t> GPU </a:t>
                      </a:r>
                      <a:r>
                        <a:rPr lang="en-US" sz="900" dirty="0" err="1">
                          <a:effectLst/>
                          <a:latin typeface="Roboto"/>
                        </a:rPr>
                        <a:t>secara</a:t>
                      </a:r>
                      <a:r>
                        <a:rPr lang="en-US" sz="900" dirty="0">
                          <a:effectLst/>
                          <a:latin typeface="Roboto"/>
                        </a:rPr>
                        <a:t> </a:t>
                      </a:r>
                      <a:r>
                        <a:rPr lang="en-US" sz="900" dirty="0" err="1">
                          <a:effectLst/>
                          <a:latin typeface="Roboto"/>
                        </a:rPr>
                        <a:t>bersamaan</a:t>
                      </a:r>
                      <a:r>
                        <a:rPr lang="en-US" sz="900" dirty="0">
                          <a:effectLst/>
                          <a:latin typeface="Roboto"/>
                        </a:rPr>
                        <a:t>. MPS </a:t>
                      </a:r>
                      <a:r>
                        <a:rPr lang="en-US" sz="900" dirty="0" err="1">
                          <a:effectLst/>
                          <a:latin typeface="Roboto"/>
                        </a:rPr>
                        <a:t>memungkinkan</a:t>
                      </a:r>
                      <a:r>
                        <a:rPr lang="en-US" sz="900" dirty="0">
                          <a:effectLst/>
                          <a:latin typeface="Roboto"/>
                        </a:rPr>
                        <a:t> </a:t>
                      </a:r>
                      <a:r>
                        <a:rPr lang="en-US" sz="900" dirty="0" err="1">
                          <a:effectLst/>
                          <a:latin typeface="Roboto"/>
                        </a:rPr>
                        <a:t>tugas</a:t>
                      </a:r>
                      <a:r>
                        <a:rPr lang="en-US" sz="900" dirty="0">
                          <a:effectLst/>
                          <a:latin typeface="Roboto"/>
                        </a:rPr>
                        <a:t> batch </a:t>
                      </a:r>
                      <a:r>
                        <a:rPr lang="en-US" sz="900" dirty="0" err="1">
                          <a:effectLst/>
                          <a:latin typeface="Roboto"/>
                        </a:rPr>
                        <a:t>diproses</a:t>
                      </a:r>
                      <a:r>
                        <a:rPr lang="en-US" sz="900" dirty="0">
                          <a:effectLst/>
                          <a:latin typeface="Roboto"/>
                        </a:rPr>
                        <a:t> </a:t>
                      </a:r>
                      <a:r>
                        <a:rPr lang="en-US" sz="900" dirty="0" err="1">
                          <a:effectLst/>
                          <a:latin typeface="Roboto"/>
                        </a:rPr>
                        <a:t>secara</a:t>
                      </a:r>
                      <a:r>
                        <a:rPr lang="en-US" sz="900" dirty="0">
                          <a:effectLst/>
                          <a:latin typeface="Roboto"/>
                        </a:rPr>
                        <a:t> </a:t>
                      </a:r>
                      <a:r>
                        <a:rPr lang="en-US" sz="900" dirty="0" err="1">
                          <a:effectLst/>
                          <a:latin typeface="Roboto"/>
                        </a:rPr>
                        <a:t>paralel</a:t>
                      </a:r>
                      <a:r>
                        <a:rPr lang="en-US" sz="900" dirty="0">
                          <a:effectLst/>
                          <a:latin typeface="Roboto"/>
                        </a:rPr>
                        <a:t> </a:t>
                      </a:r>
                      <a:r>
                        <a:rPr lang="en-US" sz="900" dirty="0" err="1">
                          <a:effectLst/>
                          <a:latin typeface="Roboto"/>
                        </a:rPr>
                        <a:t>secara</a:t>
                      </a:r>
                      <a:r>
                        <a:rPr lang="en-US" sz="900" dirty="0">
                          <a:effectLst/>
                          <a:latin typeface="Roboto"/>
                        </a:rPr>
                        <a:t> </a:t>
                      </a:r>
                      <a:r>
                        <a:rPr lang="en-US" sz="900" dirty="0" err="1">
                          <a:effectLst/>
                          <a:latin typeface="Roboto"/>
                        </a:rPr>
                        <a:t>efisien</a:t>
                      </a:r>
                      <a:r>
                        <a:rPr lang="en-US" sz="900" dirty="0">
                          <a:effectLst/>
                          <a:latin typeface="Roboto"/>
                        </a:rPr>
                        <a:t> </a:t>
                      </a:r>
                      <a:r>
                        <a:rPr lang="en-US" sz="900" dirty="0" err="1">
                          <a:effectLst/>
                          <a:latin typeface="Roboto"/>
                        </a:rPr>
                        <a:t>untuk</a:t>
                      </a:r>
                      <a:r>
                        <a:rPr lang="en-US" sz="900" dirty="0">
                          <a:effectLst/>
                          <a:latin typeface="Roboto"/>
                        </a:rPr>
                        <a:t> workload </a:t>
                      </a:r>
                      <a:r>
                        <a:rPr lang="en-US" sz="900" dirty="0" err="1">
                          <a:effectLst/>
                          <a:latin typeface="Roboto"/>
                        </a:rPr>
                        <a:t>berukuran</a:t>
                      </a:r>
                      <a:r>
                        <a:rPr lang="en-US" sz="900" dirty="0">
                          <a:effectLst/>
                          <a:latin typeface="Roboto"/>
                        </a:rPr>
                        <a:t> </a:t>
                      </a:r>
                      <a:r>
                        <a:rPr lang="en-US" sz="900" dirty="0" err="1">
                          <a:effectLst/>
                          <a:latin typeface="Roboto"/>
                        </a:rPr>
                        <a:t>kecil</a:t>
                      </a:r>
                      <a:r>
                        <a:rPr lang="en-US" sz="900" dirty="0">
                          <a:effectLst/>
                          <a:latin typeface="Roboto"/>
                        </a:rPr>
                        <a:t> </a:t>
                      </a:r>
                      <a:r>
                        <a:rPr lang="en-US" sz="900" dirty="0" err="1">
                          <a:effectLst/>
                          <a:latin typeface="Roboto"/>
                        </a:rPr>
                        <a:t>hingga</a:t>
                      </a:r>
                      <a:r>
                        <a:rPr lang="en-US" sz="900" dirty="0">
                          <a:effectLst/>
                          <a:latin typeface="Roboto"/>
                        </a:rPr>
                        <a:t> </a:t>
                      </a:r>
                      <a:r>
                        <a:rPr lang="en-US" sz="900" dirty="0" err="1">
                          <a:effectLst/>
                          <a:latin typeface="Roboto"/>
                        </a:rPr>
                        <a:t>sedang</a:t>
                      </a:r>
                      <a:r>
                        <a:rPr lang="en-US" sz="900" dirty="0">
                          <a:effectLst/>
                          <a:latin typeface="Roboto"/>
                        </a:rPr>
                        <a:t>.</a:t>
                      </a:r>
                    </a:p>
                    <a:p>
                      <a:pPr algn="just" fontAlgn="t"/>
                      <a:r>
                        <a:rPr lang="en-US" sz="900" dirty="0">
                          <a:effectLst/>
                          <a:latin typeface="Roboto"/>
                        </a:rPr>
                        <a:t>MPS NVIDIA </a:t>
                      </a:r>
                      <a:r>
                        <a:rPr lang="en-US" sz="900" dirty="0" err="1">
                          <a:effectLst/>
                          <a:latin typeface="Roboto"/>
                        </a:rPr>
                        <a:t>sangat</a:t>
                      </a:r>
                      <a:r>
                        <a:rPr lang="en-US" sz="900" dirty="0">
                          <a:effectLst/>
                          <a:latin typeface="Roboto"/>
                        </a:rPr>
                        <a:t> optimal </a:t>
                      </a:r>
                      <a:r>
                        <a:rPr lang="en-US" sz="900" dirty="0" err="1">
                          <a:effectLst/>
                          <a:latin typeface="Roboto"/>
                        </a:rPr>
                        <a:t>untuk</a:t>
                      </a:r>
                      <a:r>
                        <a:rPr lang="en-US" sz="900" dirty="0">
                          <a:effectLst/>
                          <a:latin typeface="Roboto"/>
                        </a:rPr>
                        <a:t> proses </a:t>
                      </a:r>
                      <a:r>
                        <a:rPr lang="en-US" sz="900" dirty="0" err="1">
                          <a:effectLst/>
                          <a:latin typeface="Roboto"/>
                        </a:rPr>
                        <a:t>kooperatif</a:t>
                      </a:r>
                      <a:r>
                        <a:rPr lang="en-US" sz="900" dirty="0">
                          <a:effectLst/>
                          <a:latin typeface="Roboto"/>
                        </a:rPr>
                        <a:t> yang </a:t>
                      </a:r>
                      <a:r>
                        <a:rPr lang="en-US" sz="900" dirty="0" err="1">
                          <a:effectLst/>
                          <a:latin typeface="Roboto"/>
                        </a:rPr>
                        <a:t>bertindak</a:t>
                      </a:r>
                      <a:r>
                        <a:rPr lang="en-US" sz="900" dirty="0">
                          <a:effectLst/>
                          <a:latin typeface="Roboto"/>
                        </a:rPr>
                        <a:t> </a:t>
                      </a:r>
                      <a:r>
                        <a:rPr lang="en-US" sz="900" dirty="0" err="1">
                          <a:effectLst/>
                          <a:latin typeface="Roboto"/>
                        </a:rPr>
                        <a:t>sebagai</a:t>
                      </a:r>
                      <a:r>
                        <a:rPr lang="en-US" sz="900" dirty="0">
                          <a:effectLst/>
                          <a:latin typeface="Roboto"/>
                        </a:rPr>
                        <a:t> </a:t>
                      </a:r>
                      <a:r>
                        <a:rPr lang="en-US" sz="900" dirty="0" err="1">
                          <a:effectLst/>
                          <a:latin typeface="Roboto"/>
                        </a:rPr>
                        <a:t>satu</a:t>
                      </a:r>
                      <a:r>
                        <a:rPr lang="en-US" sz="900" dirty="0">
                          <a:effectLst/>
                          <a:latin typeface="Roboto"/>
                        </a:rPr>
                        <a:t> </a:t>
                      </a:r>
                      <a:r>
                        <a:rPr lang="en-US" sz="900" dirty="0" err="1">
                          <a:effectLst/>
                          <a:latin typeface="Roboto"/>
                        </a:rPr>
                        <a:t>aplikasi</a:t>
                      </a:r>
                      <a:r>
                        <a:rPr lang="en-US" sz="900" dirty="0">
                          <a:effectLst/>
                          <a:latin typeface="Roboto"/>
                        </a:rPr>
                        <a:t>. </a:t>
                      </a:r>
                      <a:r>
                        <a:rPr lang="en-US" sz="900" dirty="0" err="1">
                          <a:effectLst/>
                          <a:latin typeface="Roboto"/>
                        </a:rPr>
                        <a:t>Misalnya</a:t>
                      </a:r>
                      <a:r>
                        <a:rPr lang="en-US" sz="900" dirty="0">
                          <a:effectLst/>
                          <a:latin typeface="Roboto"/>
                        </a:rPr>
                        <a:t>, </a:t>
                      </a:r>
                      <a:r>
                        <a:rPr lang="en-US" sz="900" dirty="0" err="1">
                          <a:effectLst/>
                          <a:latin typeface="Roboto"/>
                        </a:rPr>
                        <a:t>tugas</a:t>
                      </a:r>
                      <a:r>
                        <a:rPr lang="en-US" sz="900" dirty="0">
                          <a:effectLst/>
                          <a:latin typeface="Roboto"/>
                        </a:rPr>
                        <a:t> MPI </a:t>
                      </a:r>
                      <a:r>
                        <a:rPr lang="en-US" sz="900" dirty="0" err="1">
                          <a:effectLst/>
                          <a:latin typeface="Roboto"/>
                        </a:rPr>
                        <a:t>dengan</a:t>
                      </a:r>
                      <a:r>
                        <a:rPr lang="en-US" sz="900" dirty="0">
                          <a:effectLst/>
                          <a:latin typeface="Roboto"/>
                        </a:rPr>
                        <a:t> </a:t>
                      </a:r>
                      <a:r>
                        <a:rPr lang="en-US" sz="900" dirty="0" err="1">
                          <a:effectLst/>
                          <a:latin typeface="Roboto"/>
                        </a:rPr>
                        <a:t>paralelisme</a:t>
                      </a:r>
                      <a:r>
                        <a:rPr lang="en-US" sz="900" dirty="0">
                          <a:effectLst/>
                          <a:latin typeface="Roboto"/>
                        </a:rPr>
                        <a:t> </a:t>
                      </a:r>
                      <a:r>
                        <a:rPr lang="en-US" sz="900" dirty="0" err="1">
                          <a:effectLst/>
                          <a:latin typeface="Roboto"/>
                        </a:rPr>
                        <a:t>peringkat</a:t>
                      </a:r>
                      <a:r>
                        <a:rPr lang="en-US" sz="900" dirty="0">
                          <a:effectLst/>
                          <a:latin typeface="Roboto"/>
                        </a:rPr>
                        <a:t> </a:t>
                      </a:r>
                      <a:r>
                        <a:rPr lang="en-US" sz="900" dirty="0" err="1">
                          <a:effectLst/>
                          <a:latin typeface="Roboto"/>
                        </a:rPr>
                        <a:t>antar</a:t>
                      </a:r>
                      <a:r>
                        <a:rPr lang="en-US" sz="900" dirty="0">
                          <a:effectLst/>
                          <a:latin typeface="Roboto"/>
                        </a:rPr>
                        <a:t>-MPI. </a:t>
                      </a:r>
                      <a:r>
                        <a:rPr lang="en-US" sz="900" dirty="0" err="1">
                          <a:effectLst/>
                          <a:latin typeface="Roboto"/>
                        </a:rPr>
                        <a:t>Dengan</a:t>
                      </a:r>
                      <a:r>
                        <a:rPr lang="en-US" sz="900" dirty="0">
                          <a:effectLst/>
                          <a:latin typeface="Roboto"/>
                        </a:rPr>
                        <a:t> </a:t>
                      </a:r>
                      <a:r>
                        <a:rPr lang="en-US" sz="900" dirty="0" err="1">
                          <a:effectLst/>
                          <a:latin typeface="Roboto"/>
                        </a:rPr>
                        <a:t>tugas</a:t>
                      </a:r>
                      <a:r>
                        <a:rPr lang="en-US" sz="900" dirty="0">
                          <a:effectLst/>
                          <a:latin typeface="Roboto"/>
                        </a:rPr>
                        <a:t> </a:t>
                      </a:r>
                      <a:r>
                        <a:rPr lang="en-US" sz="900" dirty="0" err="1">
                          <a:effectLst/>
                          <a:latin typeface="Roboto"/>
                        </a:rPr>
                        <a:t>ini</a:t>
                      </a:r>
                      <a:r>
                        <a:rPr lang="en-US" sz="900" dirty="0">
                          <a:effectLst/>
                          <a:latin typeface="Roboto"/>
                        </a:rPr>
                        <a:t>, </a:t>
                      </a:r>
                      <a:r>
                        <a:rPr lang="en-US" sz="900" dirty="0" err="1">
                          <a:effectLst/>
                          <a:latin typeface="Roboto"/>
                        </a:rPr>
                        <a:t>setiap</a:t>
                      </a:r>
                      <a:r>
                        <a:rPr lang="en-US" sz="900" dirty="0">
                          <a:effectLst/>
                          <a:latin typeface="Roboto"/>
                        </a:rPr>
                        <a:t> proses CUDA </a:t>
                      </a:r>
                      <a:r>
                        <a:rPr lang="en-US" sz="900" dirty="0" err="1">
                          <a:effectLst/>
                          <a:latin typeface="Roboto"/>
                        </a:rPr>
                        <a:t>kecil</a:t>
                      </a:r>
                      <a:r>
                        <a:rPr lang="en-US" sz="900" dirty="0">
                          <a:effectLst/>
                          <a:latin typeface="Roboto"/>
                        </a:rPr>
                        <a:t> (</a:t>
                      </a:r>
                      <a:r>
                        <a:rPr lang="en-US" sz="900" dirty="0" err="1">
                          <a:effectLst/>
                          <a:latin typeface="Roboto"/>
                        </a:rPr>
                        <a:t>biasanya</a:t>
                      </a:r>
                      <a:r>
                        <a:rPr lang="en-US" sz="900" dirty="0">
                          <a:effectLst/>
                          <a:latin typeface="Roboto"/>
                        </a:rPr>
                        <a:t> </a:t>
                      </a:r>
                      <a:r>
                        <a:rPr lang="en-US" sz="900" dirty="0" err="1">
                          <a:effectLst/>
                          <a:latin typeface="Roboto"/>
                        </a:rPr>
                        <a:t>peringkat</a:t>
                      </a:r>
                      <a:r>
                        <a:rPr lang="en-US" sz="900" dirty="0">
                          <a:effectLst/>
                          <a:latin typeface="Roboto"/>
                        </a:rPr>
                        <a:t> MPI) </a:t>
                      </a:r>
                      <a:r>
                        <a:rPr lang="en-US" sz="900" dirty="0" err="1">
                          <a:effectLst/>
                          <a:latin typeface="Roboto"/>
                        </a:rPr>
                        <a:t>dapat</a:t>
                      </a:r>
                      <a:r>
                        <a:rPr lang="en-US" sz="900" dirty="0">
                          <a:effectLst/>
                          <a:latin typeface="Roboto"/>
                        </a:rPr>
                        <a:t> </a:t>
                      </a:r>
                      <a:r>
                        <a:rPr lang="en-US" sz="900" dirty="0" err="1">
                          <a:effectLst/>
                          <a:latin typeface="Roboto"/>
                        </a:rPr>
                        <a:t>berjalan</a:t>
                      </a:r>
                      <a:r>
                        <a:rPr lang="en-US" sz="900" dirty="0">
                          <a:effectLst/>
                          <a:latin typeface="Roboto"/>
                        </a:rPr>
                        <a:t> </a:t>
                      </a:r>
                      <a:r>
                        <a:rPr lang="en-US" sz="900" dirty="0" err="1">
                          <a:effectLst/>
                          <a:latin typeface="Roboto"/>
                        </a:rPr>
                        <a:t>secara</a:t>
                      </a:r>
                      <a:r>
                        <a:rPr lang="en-US" sz="900" dirty="0">
                          <a:effectLst/>
                          <a:latin typeface="Roboto"/>
                        </a:rPr>
                        <a:t> </a:t>
                      </a:r>
                      <a:r>
                        <a:rPr lang="en-US" sz="900" dirty="0" err="1">
                          <a:effectLst/>
                          <a:latin typeface="Roboto"/>
                        </a:rPr>
                        <a:t>bersamaan</a:t>
                      </a:r>
                      <a:r>
                        <a:rPr lang="en-US" sz="900" dirty="0">
                          <a:effectLst/>
                          <a:latin typeface="Roboto"/>
                        </a:rPr>
                        <a:t> di GPU </a:t>
                      </a:r>
                      <a:r>
                        <a:rPr lang="en-US" sz="900" dirty="0" err="1">
                          <a:effectLst/>
                          <a:latin typeface="Roboto"/>
                        </a:rPr>
                        <a:t>untuk</a:t>
                      </a:r>
                      <a:r>
                        <a:rPr lang="en-US" sz="900" dirty="0">
                          <a:effectLst/>
                          <a:latin typeface="Roboto"/>
                        </a:rPr>
                        <a:t> </a:t>
                      </a:r>
                      <a:r>
                        <a:rPr lang="en-US" sz="900" dirty="0" err="1">
                          <a:effectLst/>
                          <a:latin typeface="Roboto"/>
                        </a:rPr>
                        <a:t>sepenuhnya</a:t>
                      </a:r>
                      <a:r>
                        <a:rPr lang="en-US" sz="900" dirty="0">
                          <a:effectLst/>
                          <a:latin typeface="Roboto"/>
                        </a:rPr>
                        <a:t> </a:t>
                      </a:r>
                      <a:r>
                        <a:rPr lang="en-US" sz="900" dirty="0" err="1">
                          <a:effectLst/>
                          <a:latin typeface="Roboto"/>
                        </a:rPr>
                        <a:t>memproses</a:t>
                      </a:r>
                      <a:r>
                        <a:rPr lang="en-US" sz="900" dirty="0">
                          <a:effectLst/>
                          <a:latin typeface="Roboto"/>
                        </a:rPr>
                        <a:t> </a:t>
                      </a:r>
                      <a:r>
                        <a:rPr lang="en-US" sz="900" dirty="0" err="1">
                          <a:effectLst/>
                          <a:latin typeface="Roboto"/>
                        </a:rPr>
                        <a:t>seluruh</a:t>
                      </a:r>
                      <a:r>
                        <a:rPr lang="en-US" sz="900" dirty="0">
                          <a:effectLst/>
                          <a:latin typeface="Roboto"/>
                        </a:rPr>
                        <a:t> GPU.</a:t>
                      </a:r>
                    </a:p>
                    <a:p>
                      <a:pPr algn="just" fontAlgn="t"/>
                      <a:r>
                        <a:rPr lang="en-US" sz="900" dirty="0">
                          <a:effectLst/>
                          <a:latin typeface="Roboto"/>
                        </a:rPr>
                        <a:t>Workload yang </a:t>
                      </a:r>
                      <a:r>
                        <a:rPr lang="en-US" sz="900" dirty="0" err="1">
                          <a:effectLst/>
                          <a:latin typeface="Roboto"/>
                        </a:rPr>
                        <a:t>menggunakan</a:t>
                      </a:r>
                      <a:r>
                        <a:rPr lang="en-US" sz="900" dirty="0">
                          <a:effectLst/>
                          <a:latin typeface="Roboto"/>
                        </a:rPr>
                        <a:t> CUDA MPS </a:t>
                      </a:r>
                      <a:r>
                        <a:rPr lang="en-US" sz="900" dirty="0" err="1">
                          <a:effectLst/>
                          <a:latin typeface="Roboto"/>
                        </a:rPr>
                        <a:t>harus</a:t>
                      </a:r>
                      <a:r>
                        <a:rPr lang="en-US" sz="900" dirty="0">
                          <a:effectLst/>
                          <a:latin typeface="Roboto"/>
                        </a:rPr>
                        <a:t> </a:t>
                      </a:r>
                      <a:r>
                        <a:rPr lang="en-US" sz="900" dirty="0" err="1">
                          <a:effectLst/>
                          <a:latin typeface="Roboto"/>
                        </a:rPr>
                        <a:t>mentoleransi</a:t>
                      </a:r>
                      <a:r>
                        <a:rPr lang="en-US" sz="900" dirty="0">
                          <a:effectLst/>
                          <a:latin typeface="Roboto"/>
                        </a:rPr>
                        <a:t> </a:t>
                      </a:r>
                      <a:r>
                        <a:rPr lang="en-US" sz="900" dirty="0" err="1">
                          <a:solidFill>
                            <a:srgbClr val="1A73E8"/>
                          </a:solidFill>
                          <a:effectLst/>
                          <a:latin typeface="Roboto"/>
                          <a:hlinkClick r:id="rId3"/>
                        </a:rPr>
                        <a:t>batasan</a:t>
                      </a:r>
                      <a:r>
                        <a:rPr lang="en-US" sz="900" dirty="0">
                          <a:solidFill>
                            <a:srgbClr val="1A73E8"/>
                          </a:solidFill>
                          <a:effectLst/>
                          <a:latin typeface="Roboto"/>
                          <a:hlinkClick r:id="rId3"/>
                        </a:rPr>
                        <a:t> </a:t>
                      </a:r>
                      <a:r>
                        <a:rPr lang="en-US" sz="900" dirty="0" err="1">
                          <a:solidFill>
                            <a:srgbClr val="1A73E8"/>
                          </a:solidFill>
                          <a:effectLst/>
                          <a:latin typeface="Roboto"/>
                          <a:hlinkClick r:id="rId3"/>
                        </a:rPr>
                        <a:t>perlindungan</a:t>
                      </a:r>
                      <a:r>
                        <a:rPr lang="en-US" sz="900" dirty="0">
                          <a:solidFill>
                            <a:srgbClr val="1A73E8"/>
                          </a:solidFill>
                          <a:effectLst/>
                          <a:latin typeface="Roboto"/>
                          <a:hlinkClick r:id="rId3"/>
                        </a:rPr>
                        <a:t> </a:t>
                      </a:r>
                      <a:r>
                        <a:rPr lang="en-US" sz="900" dirty="0" err="1">
                          <a:solidFill>
                            <a:srgbClr val="1A73E8"/>
                          </a:solidFill>
                          <a:effectLst/>
                          <a:latin typeface="Roboto"/>
                          <a:hlinkClick r:id="rId3"/>
                        </a:rPr>
                        <a:t>memori</a:t>
                      </a:r>
                      <a:r>
                        <a:rPr lang="en-US" sz="900" dirty="0">
                          <a:solidFill>
                            <a:srgbClr val="1A73E8"/>
                          </a:solidFill>
                          <a:effectLst/>
                          <a:latin typeface="Roboto"/>
                          <a:hlinkClick r:id="rId3"/>
                        </a:rPr>
                        <a:t> </a:t>
                      </a:r>
                      <a:r>
                        <a:rPr lang="en-US" sz="900" dirty="0" err="1">
                          <a:solidFill>
                            <a:srgbClr val="1A73E8"/>
                          </a:solidFill>
                          <a:effectLst/>
                          <a:latin typeface="Roboto"/>
                          <a:hlinkClick r:id="rId3"/>
                        </a:rPr>
                        <a:t>dan</a:t>
                      </a:r>
                      <a:r>
                        <a:rPr lang="en-US" sz="900" dirty="0">
                          <a:solidFill>
                            <a:srgbClr val="1A73E8"/>
                          </a:solidFill>
                          <a:effectLst/>
                          <a:latin typeface="Roboto"/>
                          <a:hlinkClick r:id="rId3"/>
                        </a:rPr>
                        <a:t> </a:t>
                      </a:r>
                      <a:r>
                        <a:rPr lang="en-US" sz="900" dirty="0" err="1">
                          <a:solidFill>
                            <a:srgbClr val="1A73E8"/>
                          </a:solidFill>
                          <a:effectLst/>
                          <a:latin typeface="Roboto"/>
                          <a:hlinkClick r:id="rId3"/>
                        </a:rPr>
                        <a:t>pembatasan</a:t>
                      </a:r>
                      <a:r>
                        <a:rPr lang="en-US" sz="900" dirty="0">
                          <a:solidFill>
                            <a:srgbClr val="1A73E8"/>
                          </a:solidFill>
                          <a:effectLst/>
                          <a:latin typeface="Roboto"/>
                          <a:hlinkClick r:id="rId3"/>
                        </a:rPr>
                        <a:t> error</a:t>
                      </a:r>
                      <a:r>
                        <a:rPr lang="en-US" sz="900" dirty="0">
                          <a:effectLst/>
                          <a:latin typeface="Roboto"/>
                        </a:rPr>
                        <a:t>.</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1613296250"/>
                  </a:ext>
                </a:extLst>
              </a:tr>
              <a:tr h="581236">
                <a:tc>
                  <a:txBody>
                    <a:bodyPr/>
                    <a:lstStyle/>
                    <a:p>
                      <a:pPr algn="just" fontAlgn="ctr"/>
                      <a:r>
                        <a:rPr lang="en-US" sz="900" b="0">
                          <a:solidFill>
                            <a:srgbClr val="202124"/>
                          </a:solidFill>
                          <a:effectLst/>
                          <a:latin typeface="Roboto"/>
                        </a:rPr>
                        <a:t>Pemantauan</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rPr>
                        <a:t>Metrik pemakaian GPU tidak tersedia untuk GPU multi-instance.</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rPr>
                        <a:t>Gunakan </a:t>
                      </a:r>
                      <a:r>
                        <a:rPr lang="en-US" sz="900">
                          <a:solidFill>
                            <a:srgbClr val="1A73E8"/>
                          </a:solidFill>
                          <a:effectLst/>
                          <a:hlinkClick r:id="rId4"/>
                        </a:rPr>
                        <a:t>Cloud Monitoring</a:t>
                      </a:r>
                      <a:r>
                        <a:rPr lang="en-US" sz="900">
                          <a:effectLst/>
                        </a:rPr>
                        <a:t> untuk memantau performa berbagi waktu GPU Anda. Untuk mempelajari lebih lanjut metrik yang tersedia, lihat </a:t>
                      </a:r>
                      <a:r>
                        <a:rPr lang="en-US" sz="900">
                          <a:solidFill>
                            <a:srgbClr val="1A73E8"/>
                          </a:solidFill>
                          <a:effectLst/>
                          <a:hlinkClick r:id="rId5"/>
                        </a:rPr>
                        <a:t>Memantau node berbagi waktu GPU atau NVIDIA MPS</a:t>
                      </a:r>
                      <a:r>
                        <a:rPr lang="en-US" sz="900">
                          <a:effectLst/>
                        </a:rPr>
                        <a:t>.</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effectLst/>
                        </a:rPr>
                        <a:t>Gunakan </a:t>
                      </a:r>
                      <a:r>
                        <a:rPr lang="en-US" sz="900">
                          <a:solidFill>
                            <a:srgbClr val="1A73E8"/>
                          </a:solidFill>
                          <a:effectLst/>
                          <a:hlinkClick r:id="rId4"/>
                        </a:rPr>
                        <a:t>Cloud Monitoring</a:t>
                      </a:r>
                      <a:r>
                        <a:rPr lang="en-US" sz="900">
                          <a:effectLst/>
                        </a:rPr>
                        <a:t> untuk memantau performa NVIDIA MPS Anda. Untuk mempelajari lebih lanjut metrik yang tersedia, lihat </a:t>
                      </a:r>
                      <a:r>
                        <a:rPr lang="en-US" sz="900">
                          <a:solidFill>
                            <a:srgbClr val="1A73E8"/>
                          </a:solidFill>
                          <a:effectLst/>
                          <a:hlinkClick r:id="rId5"/>
                        </a:rPr>
                        <a:t>Memantau node berbagi waktu GPU atau NVIDIA MPS</a:t>
                      </a:r>
                      <a:r>
                        <a:rPr lang="en-US" sz="900">
                          <a:effectLst/>
                        </a:rPr>
                        <a:t>.</a:t>
                      </a: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1755638673"/>
                  </a:ext>
                </a:extLst>
              </a:tr>
              <a:tr h="170600">
                <a:tc>
                  <a:txBody>
                    <a:bodyPr/>
                    <a:lstStyle/>
                    <a:p>
                      <a:pPr algn="just" fontAlgn="ctr"/>
                      <a:r>
                        <a:rPr lang="en-US" sz="900" b="0">
                          <a:solidFill>
                            <a:srgbClr val="202124"/>
                          </a:solidFill>
                          <a:effectLst/>
                          <a:latin typeface="Roboto"/>
                        </a:rPr>
                        <a:t>Meminta GPU bersama dalam workload</a:t>
                      </a:r>
                    </a:p>
                  </a:txBody>
                  <a:tcPr marL="10402" marR="10402" marT="10402" marB="10402"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a:solidFill>
                            <a:srgbClr val="1A73E8"/>
                          </a:solidFill>
                          <a:effectLst/>
                          <a:hlinkClick r:id="rId6"/>
                        </a:rPr>
                        <a:t>Menjalankan GPU multi-instance</a:t>
                      </a:r>
                      <a:endParaRPr lang="en-US" sz="900">
                        <a:effectLst/>
                      </a:endParaRP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sv-SE" sz="900">
                          <a:solidFill>
                            <a:srgbClr val="1A73E8"/>
                          </a:solidFill>
                          <a:effectLst/>
                          <a:hlinkClick r:id="rId7"/>
                        </a:rPr>
                        <a:t>Menjalankan GPU dengan berbagi waktu</a:t>
                      </a:r>
                      <a:endParaRPr lang="sv-SE" sz="900">
                        <a:effectLst/>
                      </a:endParaRP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just" fontAlgn="t"/>
                      <a:r>
                        <a:rPr lang="en-US" sz="900" dirty="0" err="1">
                          <a:solidFill>
                            <a:srgbClr val="1A73E8"/>
                          </a:solidFill>
                          <a:effectLst/>
                          <a:hlinkClick r:id="rId8"/>
                        </a:rPr>
                        <a:t>Menjalankan</a:t>
                      </a:r>
                      <a:r>
                        <a:rPr lang="en-US" sz="900" dirty="0">
                          <a:solidFill>
                            <a:srgbClr val="1A73E8"/>
                          </a:solidFill>
                          <a:effectLst/>
                          <a:hlinkClick r:id="rId8"/>
                        </a:rPr>
                        <a:t> GPU </a:t>
                      </a:r>
                      <a:r>
                        <a:rPr lang="en-US" sz="900" dirty="0" err="1">
                          <a:solidFill>
                            <a:srgbClr val="1A73E8"/>
                          </a:solidFill>
                          <a:effectLst/>
                          <a:hlinkClick r:id="rId8"/>
                        </a:rPr>
                        <a:t>dengan</a:t>
                      </a:r>
                      <a:r>
                        <a:rPr lang="en-US" sz="900" dirty="0">
                          <a:solidFill>
                            <a:srgbClr val="1A73E8"/>
                          </a:solidFill>
                          <a:effectLst/>
                          <a:hlinkClick r:id="rId8"/>
                        </a:rPr>
                        <a:t> NVIDIA MPS</a:t>
                      </a:r>
                      <a:endParaRPr lang="en-US" sz="900" dirty="0">
                        <a:effectLst/>
                      </a:endParaRPr>
                    </a:p>
                  </a:txBody>
                  <a:tcPr marL="10402" marR="10402" marT="9102" marB="10402">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2205332203"/>
                  </a:ext>
                </a:extLst>
              </a:tr>
            </a:tbl>
          </a:graphicData>
        </a:graphic>
      </p:graphicFrame>
    </p:spTree>
    <p:extLst>
      <p:ext uri="{BB962C8B-B14F-4D97-AF65-F5344CB8AC3E}">
        <p14:creationId xmlns:p14="http://schemas.microsoft.com/office/powerpoint/2010/main" val="34132181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8"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it-IT" altLang="ko-KR" b="1" dirty="0">
                <a:solidFill>
                  <a:schemeClr val="bg1"/>
                </a:solidFill>
                <a:cs typeface="times" panose="02020603050405020304" pitchFamily="18" charset="0"/>
              </a:rPr>
              <a:t>Strategi berbagi GPU di GKE</a:t>
            </a:r>
            <a:endParaRPr lang="ko-KR" altLang="en-US" dirty="0">
              <a:solidFill>
                <a:schemeClr val="bg1"/>
              </a:solidFill>
            </a:endParaRPr>
          </a:p>
        </p:txBody>
      </p:sp>
      <p:sp>
        <p:nvSpPr>
          <p:cNvPr id="11" name="Rectangle 10"/>
          <p:cNvSpPr/>
          <p:nvPr/>
        </p:nvSpPr>
        <p:spPr>
          <a:xfrm>
            <a:off x="221362" y="1325561"/>
            <a:ext cx="2544735" cy="400110"/>
          </a:xfrm>
          <a:prstGeom prst="rect">
            <a:avLst/>
          </a:prstGeom>
        </p:spPr>
        <p:txBody>
          <a:bodyPr wrap="none">
            <a:spAutoFit/>
          </a:bodyPr>
          <a:lstStyle/>
          <a:p>
            <a:r>
              <a:rPr lang="en-US" dirty="0" err="1"/>
              <a:t>Strategi</a:t>
            </a:r>
            <a:r>
              <a:rPr lang="en-US" dirty="0"/>
              <a:t> </a:t>
            </a:r>
            <a:r>
              <a:rPr lang="en-US" dirty="0" err="1"/>
              <a:t>berbagi</a:t>
            </a:r>
            <a:r>
              <a:rPr lang="en-US" dirty="0"/>
              <a:t> </a:t>
            </a:r>
            <a:r>
              <a:rPr lang="en-US" dirty="0" smtClean="0"/>
              <a:t>GPU</a:t>
            </a:r>
            <a:endParaRPr lang="en-US" dirty="0"/>
          </a:p>
        </p:txBody>
      </p:sp>
      <p:sp>
        <p:nvSpPr>
          <p:cNvPr id="2" name="Rectangle 1"/>
          <p:cNvSpPr/>
          <p:nvPr/>
        </p:nvSpPr>
        <p:spPr>
          <a:xfrm>
            <a:off x="457200" y="1757727"/>
            <a:ext cx="6096000" cy="2985433"/>
          </a:xfrm>
          <a:prstGeom prst="rect">
            <a:avLst/>
          </a:prstGeom>
        </p:spPr>
        <p:txBody>
          <a:bodyPr>
            <a:spAutoFit/>
          </a:bodyPr>
          <a:lstStyle/>
          <a:p>
            <a:pPr algn="just"/>
            <a:r>
              <a:rPr lang="en-US" dirty="0" err="1" smtClean="0"/>
              <a:t>Jumlah</a:t>
            </a:r>
            <a:r>
              <a:rPr lang="en-US" dirty="0" smtClean="0"/>
              <a:t> </a:t>
            </a:r>
            <a:r>
              <a:rPr lang="en-US" dirty="0" err="1"/>
              <a:t>maksimum</a:t>
            </a:r>
            <a:r>
              <a:rPr lang="en-US" dirty="0"/>
              <a:t> container yang </a:t>
            </a:r>
            <a:r>
              <a:rPr lang="en-US" dirty="0" err="1"/>
              <a:t>diizinkan</a:t>
            </a:r>
            <a:r>
              <a:rPr lang="en-US" dirty="0"/>
              <a:t> </a:t>
            </a:r>
            <a:r>
              <a:rPr lang="en-US" dirty="0" err="1"/>
              <a:t>untuk</a:t>
            </a:r>
            <a:r>
              <a:rPr lang="en-US" dirty="0"/>
              <a:t> </a:t>
            </a:r>
            <a:r>
              <a:rPr lang="en-US" dirty="0" err="1"/>
              <a:t>berbagi</a:t>
            </a:r>
            <a:r>
              <a:rPr lang="en-US" dirty="0"/>
              <a:t> GPU </a:t>
            </a:r>
            <a:r>
              <a:rPr lang="en-US" dirty="0" err="1"/>
              <a:t>fisik</a:t>
            </a:r>
            <a:r>
              <a:rPr lang="en-US" dirty="0"/>
              <a:t>:</a:t>
            </a:r>
          </a:p>
          <a:p>
            <a:pPr marL="800100" lvl="1" indent="-342900" algn="just">
              <a:buFont typeface="Wingdings" panose="05000000000000000000" pitchFamily="2" charset="2"/>
              <a:buChar char="ü"/>
            </a:pPr>
            <a:r>
              <a:rPr lang="en-US" dirty="0" smtClean="0"/>
              <a:t>Di </a:t>
            </a:r>
            <a:r>
              <a:rPr lang="en-US" dirty="0"/>
              <a:t>cluster Autopilot, </a:t>
            </a:r>
            <a:r>
              <a:rPr lang="en-US" dirty="0" err="1"/>
              <a:t>hal</a:t>
            </a:r>
            <a:r>
              <a:rPr lang="en-US" dirty="0"/>
              <a:t> </a:t>
            </a:r>
            <a:r>
              <a:rPr lang="en-US" dirty="0" err="1"/>
              <a:t>ini</a:t>
            </a:r>
            <a:r>
              <a:rPr lang="en-US" dirty="0"/>
              <a:t> </a:t>
            </a:r>
            <a:r>
              <a:rPr lang="en-US" dirty="0" err="1"/>
              <a:t>dikonfigurasi</a:t>
            </a:r>
            <a:r>
              <a:rPr lang="en-US" dirty="0"/>
              <a:t> </a:t>
            </a:r>
            <a:r>
              <a:rPr lang="en-US" dirty="0" err="1"/>
              <a:t>dalam</a:t>
            </a:r>
            <a:r>
              <a:rPr lang="en-US" dirty="0"/>
              <a:t> </a:t>
            </a:r>
            <a:r>
              <a:rPr lang="en-US" dirty="0" err="1"/>
              <a:t>spesifikasi</a:t>
            </a:r>
            <a:r>
              <a:rPr lang="en-US" dirty="0"/>
              <a:t> workload </a:t>
            </a:r>
            <a:r>
              <a:rPr lang="en-US" dirty="0" err="1"/>
              <a:t>Anda</a:t>
            </a:r>
            <a:r>
              <a:rPr lang="en-US" dirty="0"/>
              <a:t>.</a:t>
            </a:r>
          </a:p>
          <a:p>
            <a:pPr marL="800100" lvl="1" indent="-342900" algn="just">
              <a:buFont typeface="Wingdings" panose="05000000000000000000" pitchFamily="2" charset="2"/>
              <a:buChar char="ü"/>
            </a:pPr>
            <a:r>
              <a:rPr lang="en-US" dirty="0"/>
              <a:t>Di cluster Standard, </a:t>
            </a:r>
            <a:r>
              <a:rPr lang="en-US" dirty="0" err="1"/>
              <a:t>hal</a:t>
            </a:r>
            <a:r>
              <a:rPr lang="en-US" dirty="0"/>
              <a:t> </a:t>
            </a:r>
            <a:r>
              <a:rPr lang="en-US" dirty="0" err="1"/>
              <a:t>ini</a:t>
            </a:r>
            <a:r>
              <a:rPr lang="en-US" dirty="0"/>
              <a:t> </a:t>
            </a:r>
            <a:r>
              <a:rPr lang="en-US" dirty="0" err="1"/>
              <a:t>dikonfigurasi</a:t>
            </a:r>
            <a:r>
              <a:rPr lang="en-US" dirty="0"/>
              <a:t> </a:t>
            </a:r>
            <a:r>
              <a:rPr lang="en-US" dirty="0" err="1"/>
              <a:t>saat</a:t>
            </a:r>
            <a:r>
              <a:rPr lang="en-US" dirty="0"/>
              <a:t> </a:t>
            </a:r>
            <a:r>
              <a:rPr lang="en-US" dirty="0" err="1"/>
              <a:t>Anda</a:t>
            </a:r>
            <a:r>
              <a:rPr lang="en-US" dirty="0"/>
              <a:t> </a:t>
            </a:r>
            <a:r>
              <a:rPr lang="en-US" dirty="0" err="1"/>
              <a:t>membuat</a:t>
            </a:r>
            <a:r>
              <a:rPr lang="en-US" dirty="0"/>
              <a:t> node pool </a:t>
            </a:r>
            <a:r>
              <a:rPr lang="en-US" dirty="0" err="1"/>
              <a:t>baru</a:t>
            </a:r>
            <a:r>
              <a:rPr lang="en-US" dirty="0"/>
              <a:t> </a:t>
            </a:r>
            <a:r>
              <a:rPr lang="en-US" dirty="0" err="1"/>
              <a:t>dengan</a:t>
            </a:r>
            <a:r>
              <a:rPr lang="en-US" dirty="0"/>
              <a:t> GPU yang </a:t>
            </a:r>
            <a:r>
              <a:rPr lang="en-US" dirty="0" err="1"/>
              <a:t>terpasang</a:t>
            </a:r>
            <a:r>
              <a:rPr lang="en-US" dirty="0"/>
              <a:t>. </a:t>
            </a:r>
            <a:r>
              <a:rPr lang="en-US" dirty="0" err="1"/>
              <a:t>Setiap</a:t>
            </a:r>
            <a:r>
              <a:rPr lang="en-US" dirty="0"/>
              <a:t> GPU di node pool </a:t>
            </a:r>
            <a:r>
              <a:rPr lang="en-US" dirty="0" err="1"/>
              <a:t>dibagikan</a:t>
            </a:r>
            <a:r>
              <a:rPr lang="en-US" dirty="0"/>
              <a:t> </a:t>
            </a:r>
            <a:r>
              <a:rPr lang="en-US" dirty="0" err="1"/>
              <a:t>berdasarkan</a:t>
            </a:r>
            <a:r>
              <a:rPr lang="en-US" dirty="0"/>
              <a:t> </a:t>
            </a:r>
            <a:r>
              <a:rPr lang="en-US" dirty="0" err="1"/>
              <a:t>setelan</a:t>
            </a:r>
            <a:r>
              <a:rPr lang="en-US" dirty="0"/>
              <a:t> yang </a:t>
            </a:r>
            <a:r>
              <a:rPr lang="en-US" dirty="0" err="1"/>
              <a:t>Anda</a:t>
            </a:r>
            <a:r>
              <a:rPr lang="en-US" dirty="0"/>
              <a:t> </a:t>
            </a:r>
            <a:r>
              <a:rPr lang="en-US" dirty="0" err="1"/>
              <a:t>tentukan</a:t>
            </a:r>
            <a:r>
              <a:rPr lang="en-US" dirty="0"/>
              <a:t> </a:t>
            </a:r>
            <a:r>
              <a:rPr lang="en-US" dirty="0" err="1"/>
              <a:t>pada</a:t>
            </a:r>
            <a:r>
              <a:rPr lang="en-US" dirty="0"/>
              <a:t> level node pool.</a:t>
            </a:r>
          </a:p>
        </p:txBody>
      </p:sp>
      <p:sp>
        <p:nvSpPr>
          <p:cNvPr id="5" name="Rectangle 4"/>
          <p:cNvSpPr/>
          <p:nvPr/>
        </p:nvSpPr>
        <p:spPr>
          <a:xfrm>
            <a:off x="6838950" y="1525616"/>
            <a:ext cx="4972050" cy="4278094"/>
          </a:xfrm>
          <a:prstGeom prst="rect">
            <a:avLst/>
          </a:prstGeom>
        </p:spPr>
        <p:txBody>
          <a:bodyPr wrap="square">
            <a:spAutoFit/>
          </a:bodyPr>
          <a:lstStyle/>
          <a:p>
            <a:pPr algn="just"/>
            <a:r>
              <a:rPr lang="en-US" dirty="0"/>
              <a:t>GPU multi-instance</a:t>
            </a:r>
          </a:p>
          <a:p>
            <a:pPr algn="just"/>
            <a:r>
              <a:rPr lang="en-US" sz="1800" dirty="0" err="1"/>
              <a:t>Anda</a:t>
            </a:r>
            <a:r>
              <a:rPr lang="en-US" sz="1800" dirty="0"/>
              <a:t> </a:t>
            </a:r>
            <a:r>
              <a:rPr lang="en-US" sz="1800" dirty="0" err="1"/>
              <a:t>dapat</a:t>
            </a:r>
            <a:r>
              <a:rPr lang="en-US" sz="1800" dirty="0"/>
              <a:t> </a:t>
            </a:r>
            <a:r>
              <a:rPr lang="en-US" sz="1800" dirty="0" err="1"/>
              <a:t>meminta</a:t>
            </a:r>
            <a:r>
              <a:rPr lang="en-US" sz="1800" dirty="0"/>
              <a:t> GPU multi-instance </a:t>
            </a:r>
            <a:r>
              <a:rPr lang="en-US" sz="1800" dirty="0" err="1"/>
              <a:t>dalam</a:t>
            </a:r>
            <a:r>
              <a:rPr lang="en-US" sz="1800" dirty="0"/>
              <a:t> workload </a:t>
            </a:r>
            <a:r>
              <a:rPr lang="en-US" sz="1800" dirty="0" err="1"/>
              <a:t>dengan</a:t>
            </a:r>
            <a:r>
              <a:rPr lang="en-US" sz="1800" dirty="0"/>
              <a:t> </a:t>
            </a:r>
            <a:r>
              <a:rPr lang="en-US" sz="1800" dirty="0" err="1"/>
              <a:t>menentukan</a:t>
            </a:r>
            <a:r>
              <a:rPr lang="en-US" sz="1800" dirty="0"/>
              <a:t> label cloud.google.com/</a:t>
            </a:r>
            <a:r>
              <a:rPr lang="en-US" sz="1800" dirty="0" err="1"/>
              <a:t>gke</a:t>
            </a:r>
            <a:r>
              <a:rPr lang="en-US" sz="1800" dirty="0"/>
              <a:t>-</a:t>
            </a:r>
            <a:r>
              <a:rPr lang="en-US" sz="1800" dirty="0" err="1"/>
              <a:t>gpu</a:t>
            </a:r>
            <a:r>
              <a:rPr lang="en-US" sz="1800" dirty="0"/>
              <a:t>-partition-size di </a:t>
            </a:r>
            <a:r>
              <a:rPr lang="en-US" sz="1800" dirty="0" err="1"/>
              <a:t>kolom</a:t>
            </a:r>
            <a:r>
              <a:rPr lang="en-US" sz="1800" dirty="0"/>
              <a:t> </a:t>
            </a:r>
            <a:r>
              <a:rPr lang="en-US" sz="1800" dirty="0" err="1"/>
              <a:t>nodeSelector</a:t>
            </a:r>
            <a:r>
              <a:rPr lang="en-US" sz="1800" dirty="0"/>
              <a:t> </a:t>
            </a:r>
            <a:r>
              <a:rPr lang="en-US" sz="1800" dirty="0" err="1"/>
              <a:t>spesifikasi</a:t>
            </a:r>
            <a:r>
              <a:rPr lang="en-US" sz="1800" dirty="0"/>
              <a:t> Pod, di </a:t>
            </a:r>
            <a:r>
              <a:rPr lang="en-US" sz="1800" dirty="0" err="1"/>
              <a:t>bagian</a:t>
            </a:r>
            <a:r>
              <a:rPr lang="en-US" sz="1800" dirty="0"/>
              <a:t> spec: </a:t>
            </a:r>
            <a:r>
              <a:rPr lang="en-US" sz="1800" dirty="0" err="1"/>
              <a:t>nodeSelector</a:t>
            </a:r>
            <a:r>
              <a:rPr lang="en-US" sz="1800" dirty="0" smtClean="0"/>
              <a:t>.</a:t>
            </a:r>
          </a:p>
          <a:p>
            <a:pPr algn="just"/>
            <a:r>
              <a:rPr lang="en-US" dirty="0" err="1"/>
              <a:t>Berbagi</a:t>
            </a:r>
            <a:r>
              <a:rPr lang="en-US" dirty="0"/>
              <a:t> </a:t>
            </a:r>
            <a:r>
              <a:rPr lang="en-US" dirty="0" err="1"/>
              <a:t>waktu</a:t>
            </a:r>
            <a:r>
              <a:rPr lang="en-US" dirty="0"/>
              <a:t> GPU </a:t>
            </a:r>
            <a:r>
              <a:rPr lang="en-US" dirty="0" err="1"/>
              <a:t>atau</a:t>
            </a:r>
            <a:r>
              <a:rPr lang="en-US" dirty="0"/>
              <a:t> MPS NVIDIA</a:t>
            </a:r>
          </a:p>
          <a:p>
            <a:pPr algn="just"/>
            <a:r>
              <a:rPr lang="en-US" sz="1400" dirty="0" err="1"/>
              <a:t>Anda</a:t>
            </a:r>
            <a:r>
              <a:rPr lang="en-US" sz="1400" dirty="0"/>
              <a:t> </a:t>
            </a:r>
            <a:r>
              <a:rPr lang="en-US" sz="1400" dirty="0" err="1"/>
              <a:t>dapat</a:t>
            </a:r>
            <a:r>
              <a:rPr lang="en-US" sz="1400" dirty="0"/>
              <a:t> </a:t>
            </a:r>
            <a:r>
              <a:rPr lang="en-US" sz="1400" dirty="0" err="1"/>
              <a:t>meminta</a:t>
            </a:r>
            <a:r>
              <a:rPr lang="en-US" sz="1400" dirty="0"/>
              <a:t> </a:t>
            </a:r>
            <a:r>
              <a:rPr lang="en-US" sz="1400" dirty="0" err="1"/>
              <a:t>berbagi</a:t>
            </a:r>
            <a:r>
              <a:rPr lang="en-US" sz="1400" dirty="0"/>
              <a:t> </a:t>
            </a:r>
            <a:r>
              <a:rPr lang="en-US" sz="1400" dirty="0" err="1"/>
              <a:t>waktu</a:t>
            </a:r>
            <a:r>
              <a:rPr lang="en-US" sz="1400" dirty="0"/>
              <a:t> GPU </a:t>
            </a:r>
            <a:r>
              <a:rPr lang="en-US" sz="1400" dirty="0" err="1"/>
              <a:t>atau</a:t>
            </a:r>
            <a:r>
              <a:rPr lang="en-US" sz="1400" dirty="0"/>
              <a:t> NVIDIA MPS </a:t>
            </a:r>
            <a:r>
              <a:rPr lang="en-US" sz="1400" dirty="0" err="1"/>
              <a:t>dalam</a:t>
            </a:r>
            <a:r>
              <a:rPr lang="en-US" sz="1400" dirty="0"/>
              <a:t> workload </a:t>
            </a:r>
            <a:r>
              <a:rPr lang="en-US" sz="1400" dirty="0" err="1"/>
              <a:t>dengan</a:t>
            </a:r>
            <a:r>
              <a:rPr lang="en-US" sz="1400" dirty="0"/>
              <a:t> </a:t>
            </a:r>
            <a:r>
              <a:rPr lang="en-US" sz="1400" dirty="0" err="1"/>
              <a:t>menentukan</a:t>
            </a:r>
            <a:r>
              <a:rPr lang="en-US" sz="1400" dirty="0"/>
              <a:t> label </a:t>
            </a:r>
            <a:r>
              <a:rPr lang="en-US" sz="1400" dirty="0" err="1"/>
              <a:t>berikut</a:t>
            </a:r>
            <a:r>
              <a:rPr lang="en-US" sz="1400" dirty="0"/>
              <a:t> di </a:t>
            </a:r>
            <a:r>
              <a:rPr lang="en-US" sz="1400" dirty="0" err="1"/>
              <a:t>kolom</a:t>
            </a:r>
            <a:r>
              <a:rPr lang="en-US" sz="1400" dirty="0"/>
              <a:t> </a:t>
            </a:r>
            <a:r>
              <a:rPr lang="en-US" sz="1400" dirty="0" err="1"/>
              <a:t>nodeSelector</a:t>
            </a:r>
            <a:r>
              <a:rPr lang="en-US" sz="1400" dirty="0"/>
              <a:t> </a:t>
            </a:r>
            <a:r>
              <a:rPr lang="en-US" sz="1400" dirty="0" err="1"/>
              <a:t>spesifikasi</a:t>
            </a:r>
            <a:r>
              <a:rPr lang="en-US" sz="1400" dirty="0"/>
              <a:t> Pod, di </a:t>
            </a:r>
            <a:r>
              <a:rPr lang="en-US" sz="1400" dirty="0" err="1"/>
              <a:t>bagian</a:t>
            </a:r>
            <a:r>
              <a:rPr lang="en-US" sz="1400" dirty="0"/>
              <a:t> </a:t>
            </a:r>
            <a:r>
              <a:rPr lang="en-US" sz="1400" dirty="0" err="1"/>
              <a:t>spec:nodeSelector</a:t>
            </a:r>
            <a:r>
              <a:rPr lang="en-US" sz="1400" dirty="0"/>
              <a:t>.</a:t>
            </a:r>
          </a:p>
          <a:p>
            <a:pPr algn="just"/>
            <a:r>
              <a:rPr lang="en-US" sz="1400" dirty="0" smtClean="0"/>
              <a:t>cloud.google.com/</a:t>
            </a:r>
            <a:r>
              <a:rPr lang="en-US" sz="1400" dirty="0" err="1" smtClean="0"/>
              <a:t>gke</a:t>
            </a:r>
            <a:r>
              <a:rPr lang="en-US" sz="1400" dirty="0" smtClean="0"/>
              <a:t>-max-shared-clients-per-</a:t>
            </a:r>
            <a:r>
              <a:rPr lang="en-US" sz="1400" dirty="0" err="1" smtClean="0"/>
              <a:t>gpu</a:t>
            </a:r>
            <a:r>
              <a:rPr lang="en-US" sz="1400" dirty="0"/>
              <a:t>: </a:t>
            </a:r>
            <a:r>
              <a:rPr lang="en-US" sz="1400" dirty="0" err="1"/>
              <a:t>Memilih</a:t>
            </a:r>
            <a:r>
              <a:rPr lang="en-US" sz="1400" dirty="0"/>
              <a:t> node yang </a:t>
            </a:r>
            <a:r>
              <a:rPr lang="en-US" sz="1400" dirty="0" err="1"/>
              <a:t>memungkinkan</a:t>
            </a:r>
            <a:r>
              <a:rPr lang="en-US" sz="1400" dirty="0"/>
              <a:t> </a:t>
            </a:r>
            <a:r>
              <a:rPr lang="en-US" sz="1400" dirty="0" err="1"/>
              <a:t>sejumlah</a:t>
            </a:r>
            <a:r>
              <a:rPr lang="en-US" sz="1400" dirty="0"/>
              <a:t> </a:t>
            </a:r>
            <a:r>
              <a:rPr lang="en-US" sz="1400" dirty="0" err="1"/>
              <a:t>klien</a:t>
            </a:r>
            <a:r>
              <a:rPr lang="en-US" sz="1400" dirty="0"/>
              <a:t> </a:t>
            </a:r>
            <a:r>
              <a:rPr lang="en-US" sz="1400" dirty="0" err="1"/>
              <a:t>tertentu</a:t>
            </a:r>
            <a:r>
              <a:rPr lang="en-US" sz="1400" dirty="0"/>
              <a:t> </a:t>
            </a:r>
            <a:r>
              <a:rPr lang="en-US" sz="1400" dirty="0" err="1"/>
              <a:t>untuk</a:t>
            </a:r>
            <a:r>
              <a:rPr lang="en-US" sz="1400" dirty="0"/>
              <a:t> </a:t>
            </a:r>
            <a:r>
              <a:rPr lang="en-US" sz="1400" dirty="0" err="1"/>
              <a:t>berbagi</a:t>
            </a:r>
            <a:r>
              <a:rPr lang="en-US" sz="1400" dirty="0"/>
              <a:t> GPU </a:t>
            </a:r>
            <a:r>
              <a:rPr lang="en-US" sz="1400" dirty="0" err="1"/>
              <a:t>dasar</a:t>
            </a:r>
            <a:r>
              <a:rPr lang="en-US" sz="1400" dirty="0"/>
              <a:t>.</a:t>
            </a:r>
          </a:p>
          <a:p>
            <a:pPr algn="just"/>
            <a:r>
              <a:rPr lang="en-US" sz="1400" dirty="0"/>
              <a:t>cloud.google.com/</a:t>
            </a:r>
            <a:r>
              <a:rPr lang="en-US" sz="1400" dirty="0" err="1"/>
              <a:t>gke</a:t>
            </a:r>
            <a:r>
              <a:rPr lang="en-US" sz="1400" dirty="0"/>
              <a:t>-</a:t>
            </a:r>
            <a:r>
              <a:rPr lang="en-US" sz="1400" dirty="0" err="1"/>
              <a:t>gpu</a:t>
            </a:r>
            <a:r>
              <a:rPr lang="en-US" sz="1400" dirty="0"/>
              <a:t>-sharing-strategy: </a:t>
            </a:r>
            <a:r>
              <a:rPr lang="en-US" sz="1400" dirty="0" err="1"/>
              <a:t>Memilih</a:t>
            </a:r>
            <a:r>
              <a:rPr lang="en-US" sz="1400" dirty="0"/>
              <a:t> node yang </a:t>
            </a:r>
            <a:r>
              <a:rPr lang="en-US" sz="1400" dirty="0" err="1"/>
              <a:t>menggunakan</a:t>
            </a:r>
            <a:r>
              <a:rPr lang="en-US" sz="1400" dirty="0"/>
              <a:t> </a:t>
            </a:r>
            <a:r>
              <a:rPr lang="en-US" sz="1400" dirty="0" err="1"/>
              <a:t>strategi</a:t>
            </a:r>
            <a:r>
              <a:rPr lang="en-US" sz="1400" dirty="0"/>
              <a:t> </a:t>
            </a:r>
            <a:r>
              <a:rPr lang="en-US" sz="1400" dirty="0" err="1"/>
              <a:t>berbagi</a:t>
            </a:r>
            <a:r>
              <a:rPr lang="en-US" sz="1400" dirty="0"/>
              <a:t> </a:t>
            </a:r>
            <a:r>
              <a:rPr lang="en-US" sz="1400" dirty="0" err="1"/>
              <a:t>waktu</a:t>
            </a:r>
            <a:r>
              <a:rPr lang="en-US" sz="1400" dirty="0"/>
              <a:t> </a:t>
            </a:r>
            <a:r>
              <a:rPr lang="en-US" sz="1400" dirty="0" err="1"/>
              <a:t>atau</a:t>
            </a:r>
            <a:r>
              <a:rPr lang="en-US" sz="1400" dirty="0"/>
              <a:t> NVIDIA MPS </a:t>
            </a:r>
            <a:r>
              <a:rPr lang="en-US" sz="1400" dirty="0" err="1"/>
              <a:t>untuk</a:t>
            </a:r>
            <a:r>
              <a:rPr lang="en-US" sz="1400" dirty="0"/>
              <a:t> GPU.</a:t>
            </a:r>
          </a:p>
        </p:txBody>
      </p:sp>
    </p:spTree>
    <p:extLst>
      <p:ext uri="{BB962C8B-B14F-4D97-AF65-F5344CB8AC3E}">
        <p14:creationId xmlns:p14="http://schemas.microsoft.com/office/powerpoint/2010/main" val="5091352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8"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it-IT" altLang="ko-KR" b="1" dirty="0">
                <a:solidFill>
                  <a:schemeClr val="bg1"/>
                </a:solidFill>
                <a:cs typeface="times" panose="02020603050405020304" pitchFamily="18" charset="0"/>
              </a:rPr>
              <a:t>Strategi berbagi GPU di GKE</a:t>
            </a:r>
            <a:endParaRPr lang="ko-KR" altLang="en-US" dirty="0">
              <a:solidFill>
                <a:schemeClr val="bg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712320890"/>
              </p:ext>
            </p:extLst>
          </p:nvPr>
        </p:nvGraphicFramePr>
        <p:xfrm>
          <a:off x="347662" y="1325561"/>
          <a:ext cx="11496676" cy="5461201"/>
        </p:xfrm>
        <a:graphic>
          <a:graphicData uri="http://schemas.openxmlformats.org/drawingml/2006/table">
            <a:tbl>
              <a:tblPr/>
              <a:tblGrid>
                <a:gridCol w="3309938">
                  <a:extLst>
                    <a:ext uri="{9D8B030D-6E8A-4147-A177-3AD203B41FA5}">
                      <a16:colId xmlns:a16="http://schemas.microsoft.com/office/drawing/2014/main" val="950289144"/>
                    </a:ext>
                  </a:extLst>
                </a:gridCol>
                <a:gridCol w="8186738">
                  <a:extLst>
                    <a:ext uri="{9D8B030D-6E8A-4147-A177-3AD203B41FA5}">
                      <a16:colId xmlns:a16="http://schemas.microsoft.com/office/drawing/2014/main" val="572529601"/>
                    </a:ext>
                  </a:extLst>
                </a:gridCol>
              </a:tblGrid>
              <a:tr h="228109">
                <a:tc gridSpan="2">
                  <a:txBody>
                    <a:bodyPr/>
                    <a:lstStyle/>
                    <a:p>
                      <a:pPr algn="l" fontAlgn="ctr"/>
                      <a:r>
                        <a:rPr lang="en-US" sz="1400" b="0">
                          <a:solidFill>
                            <a:srgbClr val="202124"/>
                          </a:solidFill>
                          <a:effectLst/>
                          <a:latin typeface="Roboto"/>
                        </a:rPr>
                        <a:t>Label node</a:t>
                      </a:r>
                    </a:p>
                  </a:txBody>
                  <a:tcPr marL="20068" marR="20068" marT="20068" marB="20068" anchor="ctr">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3893100203"/>
                  </a:ext>
                </a:extLst>
              </a:tr>
              <a:tr h="1185814">
                <a:tc>
                  <a:txBody>
                    <a:bodyPr/>
                    <a:lstStyle/>
                    <a:p>
                      <a:pPr algn="l" fontAlgn="t"/>
                      <a:r>
                        <a:rPr lang="en-US" sz="1400" dirty="0">
                          <a:effectLst/>
                        </a:rPr>
                        <a:t>cloud.google.com/</a:t>
                      </a:r>
                      <a:r>
                        <a:rPr lang="en-US" sz="1400" dirty="0" err="1">
                          <a:effectLst/>
                        </a:rPr>
                        <a:t>gke</a:t>
                      </a:r>
                      <a:r>
                        <a:rPr lang="en-US" sz="1400" dirty="0">
                          <a:effectLst/>
                        </a:rPr>
                        <a:t>-max-shared-clients-per-</a:t>
                      </a:r>
                      <a:r>
                        <a:rPr lang="en-US" sz="1400" dirty="0" err="1">
                          <a:effectLst/>
                        </a:rPr>
                        <a:t>gpu</a:t>
                      </a:r>
                      <a:r>
                        <a:rPr lang="en-US" sz="1400" dirty="0">
                          <a:effectLst/>
                        </a:rPr>
                        <a:t/>
                      </a:r>
                      <a:br>
                        <a:rPr lang="en-US" sz="1400" dirty="0">
                          <a:effectLst/>
                        </a:rPr>
                      </a:br>
                      <a:r>
                        <a:rPr lang="en-US" sz="1400" dirty="0">
                          <a:effectLst/>
                        </a:rPr>
                        <a:t/>
                      </a:r>
                      <a:br>
                        <a:rPr lang="en-US" sz="1400" dirty="0">
                          <a:effectLst/>
                        </a:rPr>
                      </a:br>
                      <a:r>
                        <a:rPr lang="en-US" sz="1400" i="1" dirty="0" err="1">
                          <a:effectLst/>
                        </a:rPr>
                        <a:t>dan</a:t>
                      </a:r>
                      <a:r>
                        <a:rPr lang="en-US" sz="1400" dirty="0">
                          <a:effectLst/>
                        </a:rPr>
                        <a:t/>
                      </a:r>
                      <a:br>
                        <a:rPr lang="en-US" sz="1400" dirty="0">
                          <a:effectLst/>
                        </a:rPr>
                      </a:br>
                      <a:r>
                        <a:rPr lang="en-US" sz="1400" dirty="0">
                          <a:effectLst/>
                        </a:rPr>
                        <a:t/>
                      </a:r>
                      <a:br>
                        <a:rPr lang="en-US" sz="1400" dirty="0">
                          <a:effectLst/>
                        </a:rPr>
                      </a:br>
                      <a:r>
                        <a:rPr lang="en-US" sz="1400" dirty="0">
                          <a:effectLst/>
                        </a:rPr>
                        <a:t>cloud.google.com/</a:t>
                      </a:r>
                      <a:r>
                        <a:rPr lang="en-US" sz="1400" dirty="0" err="1">
                          <a:effectLst/>
                        </a:rPr>
                        <a:t>gke</a:t>
                      </a:r>
                      <a:r>
                        <a:rPr lang="en-US" sz="1400" dirty="0">
                          <a:effectLst/>
                        </a:rPr>
                        <a:t>-</a:t>
                      </a:r>
                      <a:r>
                        <a:rPr lang="en-US" sz="1400" dirty="0" err="1">
                          <a:effectLst/>
                        </a:rPr>
                        <a:t>gpu</a:t>
                      </a:r>
                      <a:r>
                        <a:rPr lang="en-US" sz="1400" dirty="0">
                          <a:effectLst/>
                        </a:rPr>
                        <a:t>-sharing-strategy</a:t>
                      </a:r>
                    </a:p>
                  </a:txBody>
                  <a:tcPr marL="20068" marR="20068" marT="17560" marB="20068">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fontAlgn="t"/>
                      <a:r>
                        <a:rPr lang="en-US" sz="1400">
                          <a:effectLst/>
                          <a:latin typeface="Roboto"/>
                        </a:rPr>
                        <a:t>GKE menjadwalkan workload di node yang tersedia yang cocok dengan kedua label.</a:t>
                      </a:r>
                    </a:p>
                    <a:p>
                      <a:pPr algn="l" fontAlgn="t"/>
                      <a:r>
                        <a:rPr lang="en-US" sz="1400">
                          <a:effectLst/>
                          <a:latin typeface="Roboto"/>
                        </a:rPr>
                        <a:t>Jika tidak ada node yang tersedia, GKE akan menggunakan penskalaan otomatis dan penyediaan otomatis node untuk membuat node atau node pool baru yang cocok dengan kedua label tersebut.</a:t>
                      </a:r>
                    </a:p>
                  </a:txBody>
                  <a:tcPr marL="20068" marR="20068" marT="17560" marB="20068">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3357597619"/>
                  </a:ext>
                </a:extLst>
              </a:tr>
              <a:tr h="1627745">
                <a:tc>
                  <a:txBody>
                    <a:bodyPr/>
                    <a:lstStyle/>
                    <a:p>
                      <a:pPr algn="l" fontAlgn="t"/>
                      <a:r>
                        <a:rPr lang="en-US" sz="1400" i="1" dirty="0" err="1">
                          <a:effectLst/>
                        </a:rPr>
                        <a:t>Hanya</a:t>
                      </a:r>
                      <a:r>
                        <a:rPr lang="en-US" sz="1400" dirty="0">
                          <a:effectLst/>
                        </a:rPr>
                        <a:t> cloud.google.com/</a:t>
                      </a:r>
                      <a:r>
                        <a:rPr lang="en-US" sz="1400" dirty="0" err="1">
                          <a:effectLst/>
                        </a:rPr>
                        <a:t>gke</a:t>
                      </a:r>
                      <a:r>
                        <a:rPr lang="en-US" sz="1400" dirty="0">
                          <a:effectLst/>
                        </a:rPr>
                        <a:t>-max-shared-clients-per-</a:t>
                      </a:r>
                      <a:r>
                        <a:rPr lang="en-US" sz="1400" dirty="0" err="1">
                          <a:effectLst/>
                        </a:rPr>
                        <a:t>gpu</a:t>
                      </a:r>
                      <a:endParaRPr lang="en-US" sz="1400" dirty="0">
                        <a:effectLst/>
                      </a:endParaRPr>
                    </a:p>
                  </a:txBody>
                  <a:tcPr marL="20068" marR="20068" marT="17560" marB="20068">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fontAlgn="t"/>
                      <a:r>
                        <a:rPr lang="en-US" sz="1400" b="0">
                          <a:effectLst/>
                          <a:latin typeface="Roboto"/>
                        </a:rPr>
                        <a:t>Autopilot:</a:t>
                      </a:r>
                      <a:r>
                        <a:rPr lang="en-US" sz="1400">
                          <a:effectLst/>
                          <a:latin typeface="Roboto"/>
                        </a:rPr>
                        <a:t> GKE menolak workload.</a:t>
                      </a:r>
                    </a:p>
                    <a:p>
                      <a:pPr algn="l" fontAlgn="t"/>
                      <a:r>
                        <a:rPr lang="en-US" sz="1400" b="0">
                          <a:effectLst/>
                          <a:latin typeface="Roboto"/>
                        </a:rPr>
                        <a:t>Standard:</a:t>
                      </a:r>
                      <a:r>
                        <a:rPr lang="en-US" sz="1400">
                          <a:effectLst/>
                          <a:latin typeface="Roboto"/>
                        </a:rPr>
                        <a:t> GKE menjadwalkan workload di node yang tersedia yang cocok dengan label. Jika tidak ada node yang tersedia, GKE akan menggunakan penskalaan otomatis dan penyediaan otomatis node untuk membuat node atau node pool baru yang sesuai dengan label. Secara default, node yang disediakan secara otomatis diberi label dan nilai berikut untuk setiap strategi:</a:t>
                      </a:r>
                    </a:p>
                    <a:p>
                      <a:pPr algn="l" fontAlgn="t">
                        <a:buFont typeface="Arial" panose="020B0604020202020204" pitchFamily="34" charset="0"/>
                        <a:buChar char="•"/>
                      </a:pPr>
                      <a:r>
                        <a:rPr lang="en-US" sz="1400" b="0">
                          <a:effectLst/>
                        </a:rPr>
                        <a:t>Berbagi waktu GPU:</a:t>
                      </a:r>
                      <a:r>
                        <a:rPr lang="en-US" sz="1400">
                          <a:effectLst/>
                        </a:rPr>
                        <a:t> cloud.google.com/gke-gpu-sharing-strategy=TIME_SHARING</a:t>
                      </a:r>
                    </a:p>
                    <a:p>
                      <a:pPr algn="l" fontAlgn="t">
                        <a:buFont typeface="Arial" panose="020B0604020202020204" pitchFamily="34" charset="0"/>
                        <a:buChar char="•"/>
                      </a:pPr>
                      <a:r>
                        <a:rPr lang="en-US" sz="1400" b="0">
                          <a:effectLst/>
                        </a:rPr>
                        <a:t>NVIDIA MPS:</a:t>
                      </a:r>
                      <a:r>
                        <a:rPr lang="en-US" sz="1400">
                          <a:effectLst/>
                        </a:rPr>
                        <a:t> cloud.google.com/gke-gpu-sharing-strategy=MPS</a:t>
                      </a:r>
                    </a:p>
                  </a:txBody>
                  <a:tcPr marL="20068" marR="20068" marT="17560" marB="20068">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37844819"/>
                  </a:ext>
                </a:extLst>
              </a:tr>
              <a:tr h="2262172">
                <a:tc>
                  <a:txBody>
                    <a:bodyPr/>
                    <a:lstStyle/>
                    <a:p>
                      <a:pPr algn="l" fontAlgn="t"/>
                      <a:r>
                        <a:rPr lang="en-US" sz="1400" i="1" dirty="0" err="1">
                          <a:effectLst/>
                        </a:rPr>
                        <a:t>Hanya</a:t>
                      </a:r>
                      <a:r>
                        <a:rPr lang="en-US" sz="1400" dirty="0">
                          <a:effectLst/>
                        </a:rPr>
                        <a:t> cloud.google.com/</a:t>
                      </a:r>
                      <a:r>
                        <a:rPr lang="en-US" sz="1400" dirty="0" err="1">
                          <a:effectLst/>
                        </a:rPr>
                        <a:t>gke</a:t>
                      </a:r>
                      <a:r>
                        <a:rPr lang="en-US" sz="1400" dirty="0">
                          <a:effectLst/>
                        </a:rPr>
                        <a:t>-</a:t>
                      </a:r>
                      <a:r>
                        <a:rPr lang="en-US" sz="1400" dirty="0" err="1">
                          <a:effectLst/>
                        </a:rPr>
                        <a:t>gpu</a:t>
                      </a:r>
                      <a:r>
                        <a:rPr lang="en-US" sz="1400" dirty="0">
                          <a:effectLst/>
                        </a:rPr>
                        <a:t>-sharing-strategy</a:t>
                      </a:r>
                    </a:p>
                  </a:txBody>
                  <a:tcPr marL="20068" marR="20068" marT="17560" marB="20068">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fontAlgn="t"/>
                      <a:r>
                        <a:rPr lang="en-US" sz="1400" b="0" dirty="0">
                          <a:effectLst/>
                          <a:latin typeface="Roboto"/>
                        </a:rPr>
                        <a:t>Autopilot:</a:t>
                      </a:r>
                      <a:r>
                        <a:rPr lang="en-US" sz="1400" dirty="0">
                          <a:effectLst/>
                          <a:latin typeface="Roboto"/>
                        </a:rPr>
                        <a:t> GKE </a:t>
                      </a:r>
                      <a:r>
                        <a:rPr lang="en-US" sz="1400" dirty="0" err="1">
                          <a:effectLst/>
                          <a:latin typeface="Roboto"/>
                        </a:rPr>
                        <a:t>menolak</a:t>
                      </a:r>
                      <a:r>
                        <a:rPr lang="en-US" sz="1400" dirty="0">
                          <a:effectLst/>
                          <a:latin typeface="Roboto"/>
                        </a:rPr>
                        <a:t> workload.</a:t>
                      </a:r>
                    </a:p>
                    <a:p>
                      <a:pPr algn="l" fontAlgn="t"/>
                      <a:r>
                        <a:rPr lang="en-US" sz="1400" b="0" dirty="0">
                          <a:effectLst/>
                          <a:latin typeface="Roboto"/>
                        </a:rPr>
                        <a:t>Standard:</a:t>
                      </a:r>
                      <a:r>
                        <a:rPr lang="en-US" sz="1400" dirty="0">
                          <a:effectLst/>
                          <a:latin typeface="Roboto"/>
                        </a:rPr>
                        <a:t> GKE </a:t>
                      </a:r>
                      <a:r>
                        <a:rPr lang="en-US" sz="1400" dirty="0" err="1">
                          <a:effectLst/>
                          <a:latin typeface="Roboto"/>
                        </a:rPr>
                        <a:t>menjadwalkan</a:t>
                      </a:r>
                      <a:r>
                        <a:rPr lang="en-US" sz="1400" dirty="0">
                          <a:effectLst/>
                          <a:latin typeface="Roboto"/>
                        </a:rPr>
                        <a:t> workload di node yang </a:t>
                      </a:r>
                      <a:r>
                        <a:rPr lang="en-US" sz="1400" dirty="0" err="1">
                          <a:effectLst/>
                          <a:latin typeface="Roboto"/>
                        </a:rPr>
                        <a:t>tersedia</a:t>
                      </a:r>
                      <a:r>
                        <a:rPr lang="en-US" sz="1400" dirty="0">
                          <a:effectLst/>
                          <a:latin typeface="Roboto"/>
                        </a:rPr>
                        <a:t> yang </a:t>
                      </a:r>
                      <a:r>
                        <a:rPr lang="en-US" sz="1400" dirty="0" err="1">
                          <a:effectLst/>
                          <a:latin typeface="Roboto"/>
                        </a:rPr>
                        <a:t>menggunakan</a:t>
                      </a:r>
                      <a:r>
                        <a:rPr lang="en-US" sz="1400" dirty="0">
                          <a:effectLst/>
                          <a:latin typeface="Roboto"/>
                        </a:rPr>
                        <a:t> </a:t>
                      </a:r>
                      <a:r>
                        <a:rPr lang="en-US" sz="1400" dirty="0" err="1">
                          <a:effectLst/>
                          <a:latin typeface="Roboto"/>
                        </a:rPr>
                        <a:t>strategi</a:t>
                      </a:r>
                      <a:r>
                        <a:rPr lang="en-US" sz="1400" dirty="0">
                          <a:effectLst/>
                          <a:latin typeface="Roboto"/>
                        </a:rPr>
                        <a:t> </a:t>
                      </a:r>
                      <a:r>
                        <a:rPr lang="en-US" sz="1400" dirty="0" err="1">
                          <a:effectLst/>
                          <a:latin typeface="Roboto"/>
                        </a:rPr>
                        <a:t>berbagi</a:t>
                      </a:r>
                      <a:r>
                        <a:rPr lang="en-US" sz="1400" dirty="0">
                          <a:effectLst/>
                          <a:latin typeface="Roboto"/>
                        </a:rPr>
                        <a:t> </a:t>
                      </a:r>
                      <a:r>
                        <a:rPr lang="en-US" sz="1400" dirty="0" err="1">
                          <a:effectLst/>
                          <a:latin typeface="Roboto"/>
                        </a:rPr>
                        <a:t>tertentu</a:t>
                      </a:r>
                      <a:r>
                        <a:rPr lang="en-US" sz="1400" dirty="0">
                          <a:effectLst/>
                          <a:latin typeface="Roboto"/>
                        </a:rPr>
                        <a:t>.</a:t>
                      </a:r>
                    </a:p>
                    <a:p>
                      <a:pPr algn="l" fontAlgn="t">
                        <a:buFont typeface="Arial" panose="020B0604020202020204" pitchFamily="34" charset="0"/>
                        <a:buChar char="•"/>
                      </a:pPr>
                      <a:r>
                        <a:rPr lang="en-US" sz="1400" dirty="0" err="1">
                          <a:effectLst/>
                        </a:rPr>
                        <a:t>Jika</a:t>
                      </a:r>
                      <a:r>
                        <a:rPr lang="en-US" sz="1400" dirty="0">
                          <a:effectLst/>
                        </a:rPr>
                        <a:t> </a:t>
                      </a:r>
                      <a:r>
                        <a:rPr lang="en-US" sz="1400" dirty="0" err="1">
                          <a:effectLst/>
                        </a:rPr>
                        <a:t>ada</a:t>
                      </a:r>
                      <a:r>
                        <a:rPr lang="en-US" sz="1400" dirty="0">
                          <a:effectLst/>
                        </a:rPr>
                        <a:t> </a:t>
                      </a:r>
                      <a:r>
                        <a:rPr lang="en-US" sz="1400" dirty="0" err="1">
                          <a:effectLst/>
                        </a:rPr>
                        <a:t>beberapa</a:t>
                      </a:r>
                      <a:r>
                        <a:rPr lang="en-US" sz="1400" dirty="0">
                          <a:effectLst/>
                        </a:rPr>
                        <a:t> node pool </a:t>
                      </a:r>
                      <a:r>
                        <a:rPr lang="en-US" sz="1400" dirty="0" err="1">
                          <a:effectLst/>
                        </a:rPr>
                        <a:t>bersama</a:t>
                      </a:r>
                      <a:r>
                        <a:rPr lang="en-US" sz="1400" dirty="0">
                          <a:effectLst/>
                        </a:rPr>
                        <a:t> </a:t>
                      </a:r>
                      <a:r>
                        <a:rPr lang="en-US" sz="1400" dirty="0" err="1">
                          <a:effectLst/>
                        </a:rPr>
                        <a:t>dengan</a:t>
                      </a:r>
                      <a:r>
                        <a:rPr lang="en-US" sz="1400" dirty="0">
                          <a:effectLst/>
                        </a:rPr>
                        <a:t> </a:t>
                      </a:r>
                      <a:r>
                        <a:rPr lang="en-US" sz="1400" dirty="0" err="1">
                          <a:effectLst/>
                        </a:rPr>
                        <a:t>nilai</a:t>
                      </a:r>
                      <a:r>
                        <a:rPr lang="en-US" sz="1400" dirty="0">
                          <a:effectLst/>
                        </a:rPr>
                        <a:t> yang </a:t>
                      </a:r>
                      <a:r>
                        <a:rPr lang="en-US" sz="1400" dirty="0" err="1">
                          <a:effectLst/>
                        </a:rPr>
                        <a:t>berbeda</a:t>
                      </a:r>
                      <a:r>
                        <a:rPr lang="en-US" sz="1400" dirty="0">
                          <a:effectLst/>
                        </a:rPr>
                        <a:t> </a:t>
                      </a:r>
                      <a:r>
                        <a:rPr lang="en-US" sz="1400" dirty="0" err="1">
                          <a:effectLst/>
                        </a:rPr>
                        <a:t>untuk</a:t>
                      </a:r>
                      <a:r>
                        <a:rPr lang="en-US" sz="1400" dirty="0">
                          <a:effectLst/>
                        </a:rPr>
                        <a:t> cloud.google.com/</a:t>
                      </a:r>
                      <a:r>
                        <a:rPr lang="en-US" sz="1400" dirty="0" err="1">
                          <a:effectLst/>
                        </a:rPr>
                        <a:t>gke</a:t>
                      </a:r>
                      <a:r>
                        <a:rPr lang="en-US" sz="1400" dirty="0">
                          <a:effectLst/>
                        </a:rPr>
                        <a:t>-max-shared-clients-per-</a:t>
                      </a:r>
                      <a:r>
                        <a:rPr lang="en-US" sz="1400" dirty="0" err="1">
                          <a:effectLst/>
                        </a:rPr>
                        <a:t>gpu</a:t>
                      </a:r>
                      <a:r>
                        <a:rPr lang="en-US" sz="1400" dirty="0">
                          <a:effectLst/>
                        </a:rPr>
                        <a:t>, workload </a:t>
                      </a:r>
                      <a:r>
                        <a:rPr lang="en-US" sz="1400" dirty="0" err="1">
                          <a:effectLst/>
                        </a:rPr>
                        <a:t>dapat</a:t>
                      </a:r>
                      <a:r>
                        <a:rPr lang="en-US" sz="1400" dirty="0">
                          <a:effectLst/>
                        </a:rPr>
                        <a:t> </a:t>
                      </a:r>
                      <a:r>
                        <a:rPr lang="en-US" sz="1400" dirty="0" err="1">
                          <a:effectLst/>
                        </a:rPr>
                        <a:t>dijadwalkan</a:t>
                      </a:r>
                      <a:r>
                        <a:rPr lang="en-US" sz="1400" dirty="0">
                          <a:effectLst/>
                        </a:rPr>
                        <a:t> </a:t>
                      </a:r>
                      <a:r>
                        <a:rPr lang="en-US" sz="1400" dirty="0" err="1">
                          <a:effectLst/>
                        </a:rPr>
                        <a:t>pada</a:t>
                      </a:r>
                      <a:r>
                        <a:rPr lang="en-US" sz="1400" dirty="0">
                          <a:effectLst/>
                        </a:rPr>
                        <a:t> node mana pun yang </a:t>
                      </a:r>
                      <a:r>
                        <a:rPr lang="en-US" sz="1400" dirty="0" err="1">
                          <a:effectLst/>
                        </a:rPr>
                        <a:t>tersedia</a:t>
                      </a:r>
                      <a:r>
                        <a:rPr lang="en-US" sz="1400" dirty="0">
                          <a:effectLst/>
                        </a:rPr>
                        <a:t>.</a:t>
                      </a:r>
                    </a:p>
                    <a:p>
                      <a:pPr algn="l" fontAlgn="t">
                        <a:buFont typeface="Arial" panose="020B0604020202020204" pitchFamily="34" charset="0"/>
                        <a:buChar char="•"/>
                      </a:pPr>
                      <a:r>
                        <a:rPr lang="en-US" sz="1400" dirty="0" err="1">
                          <a:effectLst/>
                        </a:rPr>
                        <a:t>Jika</a:t>
                      </a:r>
                      <a:r>
                        <a:rPr lang="en-US" sz="1400" dirty="0">
                          <a:effectLst/>
                        </a:rPr>
                        <a:t> </a:t>
                      </a:r>
                      <a:r>
                        <a:rPr lang="en-US" sz="1400" dirty="0" err="1">
                          <a:effectLst/>
                        </a:rPr>
                        <a:t>tidak</a:t>
                      </a:r>
                      <a:r>
                        <a:rPr lang="en-US" sz="1400" dirty="0">
                          <a:effectLst/>
                        </a:rPr>
                        <a:t> </a:t>
                      </a:r>
                      <a:r>
                        <a:rPr lang="en-US" sz="1400" dirty="0" err="1">
                          <a:effectLst/>
                        </a:rPr>
                        <a:t>ada</a:t>
                      </a:r>
                      <a:r>
                        <a:rPr lang="en-US" sz="1400" dirty="0">
                          <a:effectLst/>
                        </a:rPr>
                        <a:t> node yang </a:t>
                      </a:r>
                      <a:r>
                        <a:rPr lang="en-US" sz="1400" dirty="0" err="1">
                          <a:effectLst/>
                        </a:rPr>
                        <a:t>tersedia</a:t>
                      </a:r>
                      <a:r>
                        <a:rPr lang="en-US" sz="1400" dirty="0">
                          <a:effectLst/>
                        </a:rPr>
                        <a:t> di node pool, </a:t>
                      </a:r>
                      <a:r>
                        <a:rPr lang="en-US" sz="1400" dirty="0" err="1">
                          <a:effectLst/>
                        </a:rPr>
                        <a:t>autoscaler</a:t>
                      </a:r>
                      <a:r>
                        <a:rPr lang="en-US" sz="1400" dirty="0">
                          <a:effectLst/>
                        </a:rPr>
                        <a:t> cluster </a:t>
                      </a:r>
                      <a:r>
                        <a:rPr lang="en-US" sz="1400" dirty="0" err="1">
                          <a:effectLst/>
                        </a:rPr>
                        <a:t>akan</a:t>
                      </a:r>
                      <a:r>
                        <a:rPr lang="en-US" sz="1400" dirty="0">
                          <a:effectLst/>
                        </a:rPr>
                        <a:t> </a:t>
                      </a:r>
                      <a:r>
                        <a:rPr lang="en-US" sz="1400" dirty="0" err="1">
                          <a:effectLst/>
                        </a:rPr>
                        <a:t>meningkatkan</a:t>
                      </a:r>
                      <a:r>
                        <a:rPr lang="en-US" sz="1400" dirty="0">
                          <a:effectLst/>
                        </a:rPr>
                        <a:t> </a:t>
                      </a:r>
                      <a:r>
                        <a:rPr lang="en-US" sz="1400" dirty="0" err="1">
                          <a:effectLst/>
                        </a:rPr>
                        <a:t>skala</a:t>
                      </a:r>
                      <a:r>
                        <a:rPr lang="en-US" sz="1400" dirty="0">
                          <a:effectLst/>
                        </a:rPr>
                        <a:t> node pool </a:t>
                      </a:r>
                      <a:r>
                        <a:rPr lang="en-US" sz="1400" dirty="0" err="1">
                          <a:effectLst/>
                        </a:rPr>
                        <a:t>dengan</a:t>
                      </a:r>
                      <a:r>
                        <a:rPr lang="en-US" sz="1400" dirty="0">
                          <a:effectLst/>
                        </a:rPr>
                        <a:t> </a:t>
                      </a:r>
                      <a:r>
                        <a:rPr lang="en-US" sz="1400" dirty="0" err="1">
                          <a:effectLst/>
                        </a:rPr>
                        <a:t>nilai</a:t>
                      </a:r>
                      <a:r>
                        <a:rPr lang="en-US" sz="1400" dirty="0">
                          <a:effectLst/>
                        </a:rPr>
                        <a:t> </a:t>
                      </a:r>
                      <a:r>
                        <a:rPr lang="en-US" sz="1400" dirty="0" err="1">
                          <a:effectLst/>
                        </a:rPr>
                        <a:t>terendah</a:t>
                      </a:r>
                      <a:r>
                        <a:rPr lang="en-US" sz="1400" dirty="0">
                          <a:effectLst/>
                        </a:rPr>
                        <a:t> </a:t>
                      </a:r>
                      <a:r>
                        <a:rPr lang="en-US" sz="1400" dirty="0" err="1">
                          <a:effectLst/>
                        </a:rPr>
                        <a:t>untuk</a:t>
                      </a:r>
                      <a:r>
                        <a:rPr lang="en-US" sz="1400" dirty="0">
                          <a:effectLst/>
                        </a:rPr>
                        <a:t> cloud.google.com/</a:t>
                      </a:r>
                      <a:r>
                        <a:rPr lang="en-US" sz="1400" dirty="0" err="1">
                          <a:effectLst/>
                        </a:rPr>
                        <a:t>gke</a:t>
                      </a:r>
                      <a:r>
                        <a:rPr lang="en-US" sz="1400" dirty="0">
                          <a:effectLst/>
                        </a:rPr>
                        <a:t>-max-shared-clients-per-</a:t>
                      </a:r>
                      <a:r>
                        <a:rPr lang="en-US" sz="1400" dirty="0" err="1">
                          <a:effectLst/>
                        </a:rPr>
                        <a:t>gpu</a:t>
                      </a:r>
                      <a:r>
                        <a:rPr lang="en-US" sz="1400" dirty="0">
                          <a:effectLst/>
                        </a:rPr>
                        <a:t>.</a:t>
                      </a:r>
                    </a:p>
                    <a:p>
                      <a:pPr algn="l" fontAlgn="t">
                        <a:buFont typeface="Arial" panose="020B0604020202020204" pitchFamily="34" charset="0"/>
                        <a:buChar char="•"/>
                      </a:pPr>
                      <a:r>
                        <a:rPr lang="en-US" sz="1400" dirty="0" err="1">
                          <a:effectLst/>
                        </a:rPr>
                        <a:t>Jika</a:t>
                      </a:r>
                      <a:r>
                        <a:rPr lang="en-US" sz="1400" dirty="0">
                          <a:effectLst/>
                        </a:rPr>
                        <a:t> </a:t>
                      </a:r>
                      <a:r>
                        <a:rPr lang="en-US" sz="1400" dirty="0" err="1">
                          <a:effectLst/>
                        </a:rPr>
                        <a:t>semua</a:t>
                      </a:r>
                      <a:r>
                        <a:rPr lang="en-US" sz="1400" dirty="0">
                          <a:effectLst/>
                        </a:rPr>
                        <a:t> node pool </a:t>
                      </a:r>
                      <a:r>
                        <a:rPr lang="en-US" sz="1400" dirty="0" err="1">
                          <a:effectLst/>
                        </a:rPr>
                        <a:t>mencapai</a:t>
                      </a:r>
                      <a:r>
                        <a:rPr lang="en-US" sz="1400" dirty="0">
                          <a:effectLst/>
                        </a:rPr>
                        <a:t> </a:t>
                      </a:r>
                      <a:r>
                        <a:rPr lang="en-US" sz="1400" dirty="0" err="1">
                          <a:effectLst/>
                        </a:rPr>
                        <a:t>kapasitasnya</a:t>
                      </a:r>
                      <a:r>
                        <a:rPr lang="en-US" sz="1400" dirty="0">
                          <a:effectLst/>
                        </a:rPr>
                        <a:t>, </a:t>
                      </a:r>
                      <a:r>
                        <a:rPr lang="en-US" sz="1400" dirty="0" err="1">
                          <a:effectLst/>
                        </a:rPr>
                        <a:t>penyediaan</a:t>
                      </a:r>
                      <a:r>
                        <a:rPr lang="en-US" sz="1400" dirty="0">
                          <a:effectLst/>
                        </a:rPr>
                        <a:t> </a:t>
                      </a:r>
                      <a:r>
                        <a:rPr lang="en-US" sz="1400" dirty="0" err="1">
                          <a:effectLst/>
                        </a:rPr>
                        <a:t>otomatis</a:t>
                      </a:r>
                      <a:r>
                        <a:rPr lang="en-US" sz="1400" dirty="0">
                          <a:effectLst/>
                        </a:rPr>
                        <a:t> node </a:t>
                      </a:r>
                      <a:r>
                        <a:rPr lang="en-US" sz="1400" dirty="0" err="1">
                          <a:effectLst/>
                        </a:rPr>
                        <a:t>akan</a:t>
                      </a:r>
                      <a:r>
                        <a:rPr lang="en-US" sz="1400" dirty="0">
                          <a:effectLst/>
                        </a:rPr>
                        <a:t> </a:t>
                      </a:r>
                      <a:r>
                        <a:rPr lang="en-US" sz="1400" dirty="0" err="1">
                          <a:effectLst/>
                        </a:rPr>
                        <a:t>membuat</a:t>
                      </a:r>
                      <a:r>
                        <a:rPr lang="en-US" sz="1400" dirty="0">
                          <a:effectLst/>
                        </a:rPr>
                        <a:t> node pool </a:t>
                      </a:r>
                      <a:r>
                        <a:rPr lang="en-US" sz="1400" dirty="0" err="1">
                          <a:effectLst/>
                        </a:rPr>
                        <a:t>baru</a:t>
                      </a:r>
                      <a:r>
                        <a:rPr lang="en-US" sz="1400" dirty="0">
                          <a:effectLst/>
                        </a:rPr>
                        <a:t> </a:t>
                      </a:r>
                      <a:r>
                        <a:rPr lang="en-US" sz="1400" dirty="0" err="1">
                          <a:effectLst/>
                        </a:rPr>
                        <a:t>dengan</a:t>
                      </a:r>
                      <a:r>
                        <a:rPr lang="en-US" sz="1400" dirty="0">
                          <a:effectLst/>
                        </a:rPr>
                        <a:t> </a:t>
                      </a:r>
                      <a:r>
                        <a:rPr lang="en-US" sz="1400" dirty="0" err="1">
                          <a:effectLst/>
                        </a:rPr>
                        <a:t>nilai</a:t>
                      </a:r>
                      <a:r>
                        <a:rPr lang="en-US" sz="1400" dirty="0">
                          <a:effectLst/>
                        </a:rPr>
                        <a:t> default cloud.google.com/</a:t>
                      </a:r>
                      <a:r>
                        <a:rPr lang="en-US" sz="1400" dirty="0" err="1">
                          <a:effectLst/>
                        </a:rPr>
                        <a:t>gke</a:t>
                      </a:r>
                      <a:r>
                        <a:rPr lang="en-US" sz="1400" dirty="0">
                          <a:effectLst/>
                        </a:rPr>
                        <a:t>-max-shared-clients-per-</a:t>
                      </a:r>
                      <a:r>
                        <a:rPr lang="en-US" sz="1400" dirty="0" err="1">
                          <a:effectLst/>
                        </a:rPr>
                        <a:t>gpu</a:t>
                      </a:r>
                      <a:r>
                        <a:rPr lang="en-US" sz="1400" dirty="0">
                          <a:effectLst/>
                        </a:rPr>
                        <a:t>=2</a:t>
                      </a:r>
                    </a:p>
                  </a:txBody>
                  <a:tcPr marL="20068" marR="20068" marT="17560" marB="20068">
                    <a:lnL>
                      <a:noFill/>
                    </a:lnL>
                    <a:lnR>
                      <a:noFill/>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extLst>
                  <a:ext uri="{0D108BD9-81ED-4DB2-BD59-A6C34878D82A}">
                    <a16:rowId xmlns:a16="http://schemas.microsoft.com/office/drawing/2014/main" val="2763874236"/>
                  </a:ext>
                </a:extLst>
              </a:tr>
            </a:tbl>
          </a:graphicData>
        </a:graphic>
      </p:graphicFrame>
    </p:spTree>
    <p:extLst>
      <p:ext uri="{BB962C8B-B14F-4D97-AF65-F5344CB8AC3E}">
        <p14:creationId xmlns:p14="http://schemas.microsoft.com/office/powerpoint/2010/main" val="21844079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8"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it-IT" altLang="ko-KR" b="1" dirty="0">
                <a:solidFill>
                  <a:schemeClr val="bg1"/>
                </a:solidFill>
                <a:cs typeface="times" panose="02020603050405020304" pitchFamily="18" charset="0"/>
              </a:rPr>
              <a:t>Strategi berbagi GPU di GKE</a:t>
            </a:r>
            <a:endParaRPr lang="ko-KR" altLang="en-US" dirty="0">
              <a:solidFill>
                <a:schemeClr val="bg1"/>
              </a:solidFill>
            </a:endParaRPr>
          </a:p>
        </p:txBody>
      </p:sp>
      <p:sp>
        <p:nvSpPr>
          <p:cNvPr id="2" name="Rectangle 1"/>
          <p:cNvSpPr/>
          <p:nvPr/>
        </p:nvSpPr>
        <p:spPr>
          <a:xfrm>
            <a:off x="0" y="1325561"/>
            <a:ext cx="6896100" cy="400110"/>
          </a:xfrm>
          <a:prstGeom prst="rect">
            <a:avLst/>
          </a:prstGeom>
        </p:spPr>
        <p:txBody>
          <a:bodyPr wrap="square">
            <a:spAutoFit/>
          </a:bodyPr>
          <a:lstStyle/>
          <a:p>
            <a:r>
              <a:rPr lang="en-US" dirty="0" err="1"/>
              <a:t>Memantau</a:t>
            </a:r>
            <a:r>
              <a:rPr lang="en-US" dirty="0"/>
              <a:t> node </a:t>
            </a:r>
            <a:r>
              <a:rPr lang="en-US" dirty="0" err="1"/>
              <a:t>berbagi</a:t>
            </a:r>
            <a:r>
              <a:rPr lang="en-US" dirty="0"/>
              <a:t> </a:t>
            </a:r>
            <a:r>
              <a:rPr lang="en-US" dirty="0" err="1"/>
              <a:t>waktu</a:t>
            </a:r>
            <a:r>
              <a:rPr lang="en-US" dirty="0"/>
              <a:t> GPU </a:t>
            </a:r>
            <a:r>
              <a:rPr lang="en-US" dirty="0" err="1"/>
              <a:t>atau</a:t>
            </a:r>
            <a:r>
              <a:rPr lang="en-US" dirty="0"/>
              <a:t> NVIDIA MPS</a:t>
            </a:r>
          </a:p>
        </p:txBody>
      </p:sp>
      <p:sp>
        <p:nvSpPr>
          <p:cNvPr id="5" name="Rectangle 4"/>
          <p:cNvSpPr/>
          <p:nvPr/>
        </p:nvSpPr>
        <p:spPr>
          <a:xfrm>
            <a:off x="400050" y="1900803"/>
            <a:ext cx="11468100" cy="4031873"/>
          </a:xfrm>
          <a:prstGeom prst="rect">
            <a:avLst/>
          </a:prstGeom>
        </p:spPr>
        <p:txBody>
          <a:bodyPr wrap="square">
            <a:spAutoFit/>
          </a:bodyPr>
          <a:lstStyle/>
          <a:p>
            <a:pPr algn="just"/>
            <a:r>
              <a:rPr lang="en-US" dirty="0" err="1"/>
              <a:t>Anda</a:t>
            </a:r>
            <a:r>
              <a:rPr lang="en-US" dirty="0"/>
              <a:t> </a:t>
            </a:r>
            <a:r>
              <a:rPr lang="en-US" dirty="0" err="1"/>
              <a:t>dapat</a:t>
            </a:r>
            <a:r>
              <a:rPr lang="en-US" dirty="0"/>
              <a:t> </a:t>
            </a:r>
            <a:r>
              <a:rPr lang="en-US" dirty="0" err="1"/>
              <a:t>memeriksa</a:t>
            </a:r>
            <a:r>
              <a:rPr lang="en-US" dirty="0"/>
              <a:t> </a:t>
            </a:r>
            <a:r>
              <a:rPr lang="en-US" dirty="0" err="1"/>
              <a:t>metrik</a:t>
            </a:r>
            <a:r>
              <a:rPr lang="en-US" dirty="0"/>
              <a:t> </a:t>
            </a:r>
            <a:r>
              <a:rPr lang="en-US" dirty="0" err="1"/>
              <a:t>berikut</a:t>
            </a:r>
            <a:r>
              <a:rPr lang="en-US" dirty="0"/>
              <a:t> </a:t>
            </a:r>
            <a:r>
              <a:rPr lang="en-US" dirty="0" err="1"/>
              <a:t>untuk</a:t>
            </a:r>
            <a:r>
              <a:rPr lang="en-US" dirty="0"/>
              <a:t> </a:t>
            </a:r>
            <a:r>
              <a:rPr lang="en-US" dirty="0" err="1"/>
              <a:t>setiap</a:t>
            </a:r>
            <a:r>
              <a:rPr lang="en-US" dirty="0"/>
              <a:t> node </a:t>
            </a:r>
            <a:r>
              <a:rPr lang="en-US" dirty="0" err="1"/>
              <a:t>berbagi</a:t>
            </a:r>
            <a:r>
              <a:rPr lang="en-US" dirty="0"/>
              <a:t> </a:t>
            </a:r>
            <a:r>
              <a:rPr lang="en-US" dirty="0" err="1"/>
              <a:t>waktu</a:t>
            </a:r>
            <a:r>
              <a:rPr lang="en-US" dirty="0"/>
              <a:t> GPU </a:t>
            </a:r>
            <a:r>
              <a:rPr lang="en-US" dirty="0" err="1"/>
              <a:t>atau</a:t>
            </a:r>
            <a:r>
              <a:rPr lang="en-US" dirty="0"/>
              <a:t> NVIDIA MPS di Cloud Monitoring:</a:t>
            </a:r>
          </a:p>
          <a:p>
            <a:pPr marL="342900" indent="-342900" algn="just">
              <a:buFont typeface="Wingdings" panose="05000000000000000000" pitchFamily="2" charset="2"/>
              <a:buChar char="ü"/>
            </a:pPr>
            <a:r>
              <a:rPr lang="en-US" dirty="0" err="1" smtClean="0"/>
              <a:t>Siklus</a:t>
            </a:r>
            <a:r>
              <a:rPr lang="en-US" dirty="0" smtClean="0"/>
              <a:t> </a:t>
            </a:r>
            <a:r>
              <a:rPr lang="en-US" dirty="0" err="1"/>
              <a:t>tugas</a:t>
            </a:r>
            <a:r>
              <a:rPr lang="en-US" dirty="0"/>
              <a:t> (node/accelerator/</a:t>
            </a:r>
            <a:r>
              <a:rPr lang="en-US" dirty="0" err="1"/>
              <a:t>duty_cycle</a:t>
            </a:r>
            <a:r>
              <a:rPr lang="en-US" dirty="0"/>
              <a:t>): </a:t>
            </a:r>
            <a:r>
              <a:rPr lang="en-US" dirty="0" err="1"/>
              <a:t>Persentase</a:t>
            </a:r>
            <a:r>
              <a:rPr lang="en-US" dirty="0"/>
              <a:t> </a:t>
            </a:r>
            <a:r>
              <a:rPr lang="en-US" dirty="0" err="1"/>
              <a:t>waktu</a:t>
            </a:r>
            <a:r>
              <a:rPr lang="en-US" dirty="0"/>
              <a:t> </a:t>
            </a:r>
            <a:r>
              <a:rPr lang="en-US" dirty="0" err="1"/>
              <a:t>selama</a:t>
            </a:r>
            <a:r>
              <a:rPr lang="en-US" dirty="0"/>
              <a:t> </a:t>
            </a:r>
            <a:r>
              <a:rPr lang="en-US" dirty="0" err="1"/>
              <a:t>periode</a:t>
            </a:r>
            <a:r>
              <a:rPr lang="en-US" dirty="0"/>
              <a:t> </a:t>
            </a:r>
            <a:r>
              <a:rPr lang="en-US" dirty="0" err="1"/>
              <a:t>sampel</a:t>
            </a:r>
            <a:r>
              <a:rPr lang="en-US" dirty="0"/>
              <a:t> </a:t>
            </a:r>
            <a:r>
              <a:rPr lang="en-US" dirty="0" err="1"/>
              <a:t>terakhir</a:t>
            </a:r>
            <a:r>
              <a:rPr lang="en-US" dirty="0"/>
              <a:t> (10 </a:t>
            </a:r>
            <a:r>
              <a:rPr lang="en-US" dirty="0" err="1"/>
              <a:t>detik</a:t>
            </a:r>
            <a:r>
              <a:rPr lang="en-US" dirty="0"/>
              <a:t>) </a:t>
            </a:r>
            <a:r>
              <a:rPr lang="en-US" dirty="0" err="1"/>
              <a:t>saat</a:t>
            </a:r>
            <a:r>
              <a:rPr lang="en-US" dirty="0"/>
              <a:t> node GPU </a:t>
            </a:r>
            <a:r>
              <a:rPr lang="en-US" dirty="0" err="1"/>
              <a:t>sedang</a:t>
            </a:r>
            <a:r>
              <a:rPr lang="en-US" dirty="0"/>
              <a:t> </a:t>
            </a:r>
            <a:r>
              <a:rPr lang="en-US" dirty="0" err="1"/>
              <a:t>diproses</a:t>
            </a:r>
            <a:r>
              <a:rPr lang="en-US" dirty="0"/>
              <a:t> </a:t>
            </a:r>
            <a:r>
              <a:rPr lang="en-US" dirty="0" err="1"/>
              <a:t>secara</a:t>
            </a:r>
            <a:r>
              <a:rPr lang="en-US" dirty="0"/>
              <a:t> </a:t>
            </a:r>
            <a:r>
              <a:rPr lang="en-US" dirty="0" err="1"/>
              <a:t>aktif</a:t>
            </a:r>
            <a:r>
              <a:rPr lang="en-US" dirty="0"/>
              <a:t>. </a:t>
            </a:r>
            <a:r>
              <a:rPr lang="en-US" dirty="0" err="1"/>
              <a:t>Rentang</a:t>
            </a:r>
            <a:r>
              <a:rPr lang="en-US" dirty="0"/>
              <a:t> </a:t>
            </a:r>
            <a:r>
              <a:rPr lang="en-US" dirty="0" err="1"/>
              <a:t>dari</a:t>
            </a:r>
            <a:r>
              <a:rPr lang="en-US" dirty="0"/>
              <a:t> 1% </a:t>
            </a:r>
            <a:r>
              <a:rPr lang="en-US" dirty="0" err="1"/>
              <a:t>sampai</a:t>
            </a:r>
            <a:r>
              <a:rPr lang="en-US" dirty="0"/>
              <a:t> 100%.</a:t>
            </a:r>
          </a:p>
          <a:p>
            <a:pPr marL="342900" indent="-342900" algn="just">
              <a:buFont typeface="Wingdings" panose="05000000000000000000" pitchFamily="2" charset="2"/>
              <a:buChar char="ü"/>
            </a:pPr>
            <a:r>
              <a:rPr lang="en-US" dirty="0" err="1"/>
              <a:t>Penggunaan</a:t>
            </a:r>
            <a:r>
              <a:rPr lang="en-US" dirty="0"/>
              <a:t> </a:t>
            </a:r>
            <a:r>
              <a:rPr lang="en-US" dirty="0" err="1"/>
              <a:t>memori</a:t>
            </a:r>
            <a:r>
              <a:rPr lang="en-US" dirty="0"/>
              <a:t> (node/accelerator/</a:t>
            </a:r>
            <a:r>
              <a:rPr lang="en-US" dirty="0" err="1"/>
              <a:t>memory_used</a:t>
            </a:r>
            <a:r>
              <a:rPr lang="en-US" dirty="0"/>
              <a:t>): </a:t>
            </a:r>
            <a:r>
              <a:rPr lang="en-US" dirty="0" err="1"/>
              <a:t>Jumlah</a:t>
            </a:r>
            <a:r>
              <a:rPr lang="en-US" dirty="0"/>
              <a:t> </a:t>
            </a:r>
            <a:r>
              <a:rPr lang="en-US" dirty="0" err="1"/>
              <a:t>memori</a:t>
            </a:r>
            <a:r>
              <a:rPr lang="en-US" dirty="0"/>
              <a:t> </a:t>
            </a:r>
            <a:r>
              <a:rPr lang="en-US" dirty="0" err="1"/>
              <a:t>akselerator</a:t>
            </a:r>
            <a:r>
              <a:rPr lang="en-US" dirty="0"/>
              <a:t> yang </a:t>
            </a:r>
            <a:r>
              <a:rPr lang="en-US" dirty="0" err="1"/>
              <a:t>dialokasikan</a:t>
            </a:r>
            <a:r>
              <a:rPr lang="en-US" dirty="0"/>
              <a:t> </a:t>
            </a:r>
            <a:r>
              <a:rPr lang="en-US" dirty="0" err="1"/>
              <a:t>dalam</a:t>
            </a:r>
            <a:r>
              <a:rPr lang="en-US" dirty="0"/>
              <a:t> byte </a:t>
            </a:r>
            <a:r>
              <a:rPr lang="en-US" dirty="0" err="1"/>
              <a:t>untuk</a:t>
            </a:r>
            <a:r>
              <a:rPr lang="en-US" dirty="0"/>
              <a:t> </a:t>
            </a:r>
            <a:r>
              <a:rPr lang="en-US" dirty="0" err="1"/>
              <a:t>setiap</a:t>
            </a:r>
            <a:r>
              <a:rPr lang="en-US" dirty="0"/>
              <a:t> node GPU.</a:t>
            </a:r>
          </a:p>
          <a:p>
            <a:pPr marL="342900" indent="-342900" algn="just">
              <a:buFont typeface="Wingdings" panose="05000000000000000000" pitchFamily="2" charset="2"/>
              <a:buChar char="ü"/>
            </a:pPr>
            <a:r>
              <a:rPr lang="en-US" dirty="0" err="1"/>
              <a:t>Kapasitas</a:t>
            </a:r>
            <a:r>
              <a:rPr lang="en-US" dirty="0"/>
              <a:t> </a:t>
            </a:r>
            <a:r>
              <a:rPr lang="en-US" dirty="0" err="1"/>
              <a:t>memori</a:t>
            </a:r>
            <a:r>
              <a:rPr lang="en-US" dirty="0"/>
              <a:t> (node/accelerator/</a:t>
            </a:r>
            <a:r>
              <a:rPr lang="en-US" dirty="0" err="1"/>
              <a:t>memory_total</a:t>
            </a:r>
            <a:r>
              <a:rPr lang="en-US" dirty="0"/>
              <a:t>): Total </a:t>
            </a:r>
            <a:r>
              <a:rPr lang="en-US" dirty="0" err="1"/>
              <a:t>memori</a:t>
            </a:r>
            <a:r>
              <a:rPr lang="en-US" dirty="0"/>
              <a:t> </a:t>
            </a:r>
            <a:r>
              <a:rPr lang="en-US" dirty="0" err="1"/>
              <a:t>akselerator</a:t>
            </a:r>
            <a:r>
              <a:rPr lang="en-US" dirty="0"/>
              <a:t> </a:t>
            </a:r>
            <a:r>
              <a:rPr lang="en-US" dirty="0" err="1"/>
              <a:t>dalam</a:t>
            </a:r>
            <a:r>
              <a:rPr lang="en-US" dirty="0"/>
              <a:t> byte </a:t>
            </a:r>
            <a:r>
              <a:rPr lang="en-US" dirty="0" err="1"/>
              <a:t>untuk</a:t>
            </a:r>
            <a:r>
              <a:rPr lang="en-US" dirty="0"/>
              <a:t> </a:t>
            </a:r>
            <a:r>
              <a:rPr lang="en-US" dirty="0" err="1"/>
              <a:t>setiap</a:t>
            </a:r>
            <a:r>
              <a:rPr lang="en-US" dirty="0"/>
              <a:t> node GPU.</a:t>
            </a:r>
          </a:p>
          <a:p>
            <a:pPr marL="342900" indent="-342900" algn="just">
              <a:buFont typeface="Wingdings" panose="05000000000000000000" pitchFamily="2" charset="2"/>
              <a:buChar char="ü"/>
            </a:pPr>
            <a:r>
              <a:rPr lang="en-US" dirty="0" err="1"/>
              <a:t>Metrik</a:t>
            </a:r>
            <a:r>
              <a:rPr lang="en-US" dirty="0"/>
              <a:t> </a:t>
            </a:r>
            <a:r>
              <a:rPr lang="en-US" dirty="0" err="1"/>
              <a:t>ini</a:t>
            </a:r>
            <a:r>
              <a:rPr lang="en-US" dirty="0"/>
              <a:t> </a:t>
            </a:r>
            <a:r>
              <a:rPr lang="en-US" dirty="0" err="1"/>
              <a:t>berbeda</a:t>
            </a:r>
            <a:r>
              <a:rPr lang="en-US" dirty="0"/>
              <a:t> </a:t>
            </a:r>
            <a:r>
              <a:rPr lang="en-US" dirty="0" err="1"/>
              <a:t>dengan</a:t>
            </a:r>
            <a:r>
              <a:rPr lang="en-US" dirty="0"/>
              <a:t> </a:t>
            </a:r>
            <a:r>
              <a:rPr lang="en-US" dirty="0" err="1"/>
              <a:t>metrik</a:t>
            </a:r>
            <a:r>
              <a:rPr lang="en-US" dirty="0"/>
              <a:t> </a:t>
            </a:r>
            <a:r>
              <a:rPr lang="en-US" dirty="0" err="1"/>
              <a:t>untuk</a:t>
            </a:r>
            <a:r>
              <a:rPr lang="en-US" dirty="0"/>
              <a:t> GPU </a:t>
            </a:r>
            <a:r>
              <a:rPr lang="en-US" dirty="0" err="1"/>
              <a:t>reguler</a:t>
            </a:r>
            <a:r>
              <a:rPr lang="en-US" dirty="0"/>
              <a:t> yang </a:t>
            </a:r>
            <a:r>
              <a:rPr lang="en-US" dirty="0" err="1"/>
              <a:t>tidak</a:t>
            </a:r>
            <a:r>
              <a:rPr lang="en-US" dirty="0"/>
              <a:t> </a:t>
            </a:r>
            <a:r>
              <a:rPr lang="en-US" dirty="0" err="1"/>
              <a:t>menggunakan</a:t>
            </a:r>
            <a:r>
              <a:rPr lang="en-US" dirty="0"/>
              <a:t> </a:t>
            </a:r>
            <a:r>
              <a:rPr lang="en-US" dirty="0" err="1"/>
              <a:t>berbagi</a:t>
            </a:r>
            <a:r>
              <a:rPr lang="en-US" dirty="0"/>
              <a:t> </a:t>
            </a:r>
            <a:r>
              <a:rPr lang="en-US" dirty="0" err="1"/>
              <a:t>waktu</a:t>
            </a:r>
            <a:r>
              <a:rPr lang="en-US" dirty="0"/>
              <a:t> </a:t>
            </a:r>
            <a:r>
              <a:rPr lang="en-US" dirty="0" err="1"/>
              <a:t>atau</a:t>
            </a:r>
            <a:r>
              <a:rPr lang="en-US" dirty="0"/>
              <a:t> node NVIDA MPS. </a:t>
            </a:r>
            <a:r>
              <a:rPr lang="en-US" dirty="0" err="1"/>
              <a:t>Metrik</a:t>
            </a:r>
            <a:r>
              <a:rPr lang="en-US" dirty="0"/>
              <a:t> </a:t>
            </a:r>
            <a:r>
              <a:rPr lang="en-US" dirty="0" err="1"/>
              <a:t>untuk</a:t>
            </a:r>
            <a:r>
              <a:rPr lang="en-US" dirty="0"/>
              <a:t> GPU </a:t>
            </a:r>
            <a:r>
              <a:rPr lang="en-US" dirty="0" err="1"/>
              <a:t>fisik</a:t>
            </a:r>
            <a:r>
              <a:rPr lang="en-US" dirty="0"/>
              <a:t> </a:t>
            </a:r>
            <a:r>
              <a:rPr lang="en-US" dirty="0" err="1"/>
              <a:t>reguler</a:t>
            </a:r>
            <a:r>
              <a:rPr lang="en-US" dirty="0"/>
              <a:t> </a:t>
            </a:r>
            <a:r>
              <a:rPr lang="en-US" dirty="0" err="1"/>
              <a:t>berlaku</a:t>
            </a:r>
            <a:r>
              <a:rPr lang="en-US" dirty="0"/>
              <a:t> di level container (container/accelerator) </a:t>
            </a:r>
            <a:r>
              <a:rPr lang="en-US" dirty="0" err="1"/>
              <a:t>dan</a:t>
            </a:r>
            <a:r>
              <a:rPr lang="en-US" dirty="0"/>
              <a:t> </a:t>
            </a:r>
            <a:r>
              <a:rPr lang="en-US" dirty="0" err="1"/>
              <a:t>tidak</a:t>
            </a:r>
            <a:r>
              <a:rPr lang="en-US" dirty="0"/>
              <a:t> </a:t>
            </a:r>
            <a:r>
              <a:rPr lang="en-US" dirty="0" err="1"/>
              <a:t>dikumpulkan</a:t>
            </a:r>
            <a:r>
              <a:rPr lang="en-US" dirty="0"/>
              <a:t> </a:t>
            </a:r>
            <a:r>
              <a:rPr lang="en-US" dirty="0" err="1"/>
              <a:t>untuk</a:t>
            </a:r>
            <a:r>
              <a:rPr lang="en-US" dirty="0"/>
              <a:t> container yang </a:t>
            </a:r>
            <a:r>
              <a:rPr lang="en-US" dirty="0" err="1"/>
              <a:t>dijadwalkan</a:t>
            </a:r>
            <a:r>
              <a:rPr lang="en-US" dirty="0"/>
              <a:t> di GPU yang </a:t>
            </a:r>
            <a:r>
              <a:rPr lang="en-US" dirty="0" err="1"/>
              <a:t>menggunakan</a:t>
            </a:r>
            <a:r>
              <a:rPr lang="en-US" dirty="0"/>
              <a:t> </a:t>
            </a:r>
            <a:r>
              <a:rPr lang="en-US" dirty="0" err="1"/>
              <a:t>berbagi</a:t>
            </a:r>
            <a:r>
              <a:rPr lang="en-US" dirty="0"/>
              <a:t> </a:t>
            </a:r>
            <a:r>
              <a:rPr lang="en-US" dirty="0" err="1"/>
              <a:t>waktu</a:t>
            </a:r>
            <a:r>
              <a:rPr lang="en-US" dirty="0"/>
              <a:t> GPU </a:t>
            </a:r>
            <a:r>
              <a:rPr lang="en-US" dirty="0" err="1"/>
              <a:t>atau</a:t>
            </a:r>
            <a:r>
              <a:rPr lang="en-US" dirty="0"/>
              <a:t> MPS NVIDIA.</a:t>
            </a:r>
          </a:p>
        </p:txBody>
      </p:sp>
    </p:spTree>
    <p:extLst>
      <p:ext uri="{BB962C8B-B14F-4D97-AF65-F5344CB8AC3E}">
        <p14:creationId xmlns:p14="http://schemas.microsoft.com/office/powerpoint/2010/main" val="14380312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Bare Metal Kubernetes with GPU</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4" name="Rectangle 1"/>
          <p:cNvSpPr>
            <a:spLocks noChangeArrowheads="1"/>
          </p:cNvSpPr>
          <p:nvPr/>
        </p:nvSpPr>
        <p:spPr bwMode="auto">
          <a:xfrm>
            <a:off x="609600" y="1731229"/>
            <a:ext cx="5372100" cy="16619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rgbClr val="202124"/>
                </a:solidFill>
                <a:effectLst/>
                <a:latin typeface="Google Sans"/>
              </a:rPr>
              <a:t>Langkah</a:t>
            </a:r>
            <a:r>
              <a:rPr kumimoji="0" lang="en-US" altLang="en-US" sz="1800" b="0" i="0" u="none" strike="noStrike" cap="none" normalizeH="0" baseline="0" dirty="0" smtClean="0">
                <a:ln>
                  <a:noFill/>
                </a:ln>
                <a:solidFill>
                  <a:srgbClr val="202124"/>
                </a:solidFill>
                <a:effectLst/>
                <a:latin typeface="Google Sans"/>
              </a:rPr>
              <a:t> </a:t>
            </a:r>
            <a:r>
              <a:rPr kumimoji="0" lang="en-US" altLang="en-US" sz="1800" b="0" i="0" u="none" strike="noStrike" cap="none" normalizeH="0" baseline="0" dirty="0" err="1" smtClean="0">
                <a:ln>
                  <a:noFill/>
                </a:ln>
                <a:solidFill>
                  <a:srgbClr val="202124"/>
                </a:solidFill>
                <a:effectLst/>
                <a:latin typeface="Google Sans"/>
              </a:rPr>
              <a:t>berikutnya</a:t>
            </a:r>
            <a:endParaRPr kumimoji="0" lang="en-US" altLang="en-US" sz="1800" b="0" i="0" u="none" strike="noStrike" cap="none" normalizeH="0" baseline="0" dirty="0" smtClean="0">
              <a:ln>
                <a:noFill/>
              </a:ln>
              <a:solidFill>
                <a:srgbClr val="202124"/>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smtClean="0">
                <a:ln>
                  <a:noFill/>
                </a:ln>
                <a:solidFill>
                  <a:srgbClr val="202124"/>
                </a:solidFill>
                <a:effectLst/>
                <a:latin typeface="Roboto"/>
              </a:rPr>
              <a:t>Pelajari</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202124"/>
                </a:solidFill>
                <a:effectLst/>
                <a:latin typeface="Roboto"/>
              </a:rPr>
              <a:t>cara</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1A73E8"/>
                </a:solidFill>
                <a:effectLst/>
                <a:latin typeface="Roboto"/>
                <a:hlinkClick r:id="rId3"/>
              </a:rPr>
              <a:t>berbagi</a:t>
            </a:r>
            <a:r>
              <a:rPr kumimoji="0" lang="en-US" altLang="en-US" sz="1200" b="0" i="0" u="none" strike="noStrike" cap="none" normalizeH="0" baseline="0" dirty="0" smtClean="0">
                <a:ln>
                  <a:noFill/>
                </a:ln>
                <a:solidFill>
                  <a:srgbClr val="1A73E8"/>
                </a:solidFill>
                <a:effectLst/>
                <a:latin typeface="Roboto"/>
                <a:hlinkClick r:id="rId3"/>
              </a:rPr>
              <a:t> GPU </a:t>
            </a:r>
            <a:r>
              <a:rPr kumimoji="0" lang="en-US" altLang="en-US" sz="1200" b="0" i="0" u="none" strike="noStrike" cap="none" normalizeH="0" baseline="0" dirty="0" err="1" smtClean="0">
                <a:ln>
                  <a:noFill/>
                </a:ln>
                <a:solidFill>
                  <a:srgbClr val="1A73E8"/>
                </a:solidFill>
                <a:effectLst/>
                <a:latin typeface="Roboto"/>
                <a:hlinkClick r:id="rId3"/>
              </a:rPr>
              <a:t>dengan</a:t>
            </a:r>
            <a:r>
              <a:rPr kumimoji="0" lang="en-US" altLang="en-US" sz="1200" b="0" i="0" u="none" strike="noStrike" cap="none" normalizeH="0" baseline="0" dirty="0" smtClean="0">
                <a:ln>
                  <a:noFill/>
                </a:ln>
                <a:solidFill>
                  <a:srgbClr val="1A73E8"/>
                </a:solidFill>
                <a:effectLst/>
                <a:latin typeface="Roboto"/>
                <a:hlinkClick r:id="rId3"/>
              </a:rPr>
              <a:t> </a:t>
            </a:r>
            <a:r>
              <a:rPr kumimoji="0" lang="en-US" altLang="en-US" sz="1200" b="0" i="0" u="none" strike="noStrike" cap="none" normalizeH="0" baseline="0" dirty="0" err="1" smtClean="0">
                <a:ln>
                  <a:noFill/>
                </a:ln>
                <a:solidFill>
                  <a:srgbClr val="1A73E8"/>
                </a:solidFill>
                <a:effectLst/>
                <a:latin typeface="Roboto"/>
                <a:hlinkClick r:id="rId3"/>
              </a:rPr>
              <a:t>beberapa</a:t>
            </a:r>
            <a:r>
              <a:rPr kumimoji="0" lang="en-US" altLang="en-US" sz="1200" b="0" i="0" u="none" strike="noStrike" cap="none" normalizeH="0" baseline="0" dirty="0" smtClean="0">
                <a:ln>
                  <a:noFill/>
                </a:ln>
                <a:solidFill>
                  <a:srgbClr val="1A73E8"/>
                </a:solidFill>
                <a:effectLst/>
                <a:latin typeface="Roboto"/>
                <a:hlinkClick r:id="rId3"/>
              </a:rPr>
              <a:t> workload </a:t>
            </a:r>
            <a:r>
              <a:rPr kumimoji="0" lang="en-US" altLang="en-US" sz="1200" b="0" i="0" u="none" strike="noStrike" cap="none" normalizeH="0" baseline="0" dirty="0" err="1" smtClean="0">
                <a:ln>
                  <a:noFill/>
                </a:ln>
                <a:solidFill>
                  <a:srgbClr val="1A73E8"/>
                </a:solidFill>
                <a:effectLst/>
                <a:latin typeface="Roboto"/>
                <a:hlinkClick r:id="rId3"/>
              </a:rPr>
              <a:t>menggunakan</a:t>
            </a:r>
            <a:r>
              <a:rPr kumimoji="0" lang="en-US" altLang="en-US" sz="1200" b="0" i="0" u="none" strike="noStrike" cap="none" normalizeH="0" baseline="0" dirty="0" smtClean="0">
                <a:ln>
                  <a:noFill/>
                </a:ln>
                <a:solidFill>
                  <a:srgbClr val="1A73E8"/>
                </a:solidFill>
                <a:effectLst/>
                <a:latin typeface="Roboto"/>
                <a:hlinkClick r:id="rId3"/>
              </a:rPr>
              <a:t> </a:t>
            </a:r>
            <a:r>
              <a:rPr kumimoji="0" lang="en-US" altLang="en-US" sz="1200" b="0" i="0" u="none" strike="noStrike" cap="none" normalizeH="0" baseline="0" dirty="0" err="1" smtClean="0">
                <a:ln>
                  <a:noFill/>
                </a:ln>
                <a:solidFill>
                  <a:srgbClr val="1A73E8"/>
                </a:solidFill>
                <a:effectLst/>
                <a:latin typeface="Roboto"/>
                <a:hlinkClick r:id="rId3"/>
              </a:rPr>
              <a:t>berbagi</a:t>
            </a:r>
            <a:r>
              <a:rPr kumimoji="0" lang="en-US" altLang="en-US" sz="1200" b="0" i="0" u="none" strike="noStrike" cap="none" normalizeH="0" baseline="0" dirty="0" smtClean="0">
                <a:ln>
                  <a:noFill/>
                </a:ln>
                <a:solidFill>
                  <a:srgbClr val="1A73E8"/>
                </a:solidFill>
                <a:effectLst/>
                <a:latin typeface="Roboto"/>
                <a:hlinkClick r:id="rId3"/>
              </a:rPr>
              <a:t> </a:t>
            </a:r>
            <a:r>
              <a:rPr kumimoji="0" lang="en-US" altLang="en-US" sz="1200" b="0" i="0" u="none" strike="noStrike" cap="none" normalizeH="0" baseline="0" dirty="0" err="1" smtClean="0">
                <a:ln>
                  <a:noFill/>
                </a:ln>
                <a:solidFill>
                  <a:srgbClr val="1A73E8"/>
                </a:solidFill>
                <a:effectLst/>
                <a:latin typeface="Roboto"/>
                <a:hlinkClick r:id="rId3"/>
              </a:rPr>
              <a:t>waktu</a:t>
            </a:r>
            <a:r>
              <a:rPr kumimoji="0" lang="en-US" altLang="en-US" sz="1200" b="0" i="0" u="none" strike="noStrike" cap="none" normalizeH="0" baseline="0" dirty="0" smtClean="0">
                <a:ln>
                  <a:noFill/>
                </a:ln>
                <a:solidFill>
                  <a:srgbClr val="1A73E8"/>
                </a:solidFill>
                <a:effectLst/>
                <a:latin typeface="Roboto"/>
                <a:hlinkClick r:id="rId3"/>
              </a:rPr>
              <a:t> GPU</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smtClean="0">
                <a:ln>
                  <a:noFill/>
                </a:ln>
                <a:solidFill>
                  <a:srgbClr val="202124"/>
                </a:solidFill>
                <a:effectLst/>
                <a:latin typeface="Roboto"/>
              </a:rPr>
              <a:t>Pelajari</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202124"/>
                </a:solidFill>
                <a:effectLst/>
                <a:latin typeface="Roboto"/>
              </a:rPr>
              <a:t>cara</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1A73E8"/>
                </a:solidFill>
                <a:effectLst/>
                <a:latin typeface="Roboto"/>
                <a:hlinkClick r:id="rId4"/>
              </a:rPr>
              <a:t>berbagi</a:t>
            </a:r>
            <a:r>
              <a:rPr kumimoji="0" lang="en-US" altLang="en-US" sz="1200" b="0" i="0" u="none" strike="noStrike" cap="none" normalizeH="0" baseline="0" dirty="0" smtClean="0">
                <a:ln>
                  <a:noFill/>
                </a:ln>
                <a:solidFill>
                  <a:srgbClr val="1A73E8"/>
                </a:solidFill>
                <a:effectLst/>
                <a:latin typeface="Roboto"/>
                <a:hlinkClick r:id="rId4"/>
              </a:rPr>
              <a:t> GPU </a:t>
            </a:r>
            <a:r>
              <a:rPr kumimoji="0" lang="en-US" altLang="en-US" sz="1200" b="0" i="0" u="none" strike="noStrike" cap="none" normalizeH="0" baseline="0" dirty="0" err="1" smtClean="0">
                <a:ln>
                  <a:noFill/>
                </a:ln>
                <a:solidFill>
                  <a:srgbClr val="1A73E8"/>
                </a:solidFill>
                <a:effectLst/>
                <a:latin typeface="Roboto"/>
                <a:hlinkClick r:id="rId4"/>
              </a:rPr>
              <a:t>dengan</a:t>
            </a:r>
            <a:r>
              <a:rPr kumimoji="0" lang="en-US" altLang="en-US" sz="1200" b="0" i="0" u="none" strike="noStrike" cap="none" normalizeH="0" baseline="0" dirty="0" smtClean="0">
                <a:ln>
                  <a:noFill/>
                </a:ln>
                <a:solidFill>
                  <a:srgbClr val="1A73E8"/>
                </a:solidFill>
                <a:effectLst/>
                <a:latin typeface="Roboto"/>
                <a:hlinkClick r:id="rId4"/>
              </a:rPr>
              <a:t> </a:t>
            </a:r>
            <a:r>
              <a:rPr kumimoji="0" lang="en-US" altLang="en-US" sz="1200" b="0" i="0" u="none" strike="noStrike" cap="none" normalizeH="0" baseline="0" dirty="0" err="1" smtClean="0">
                <a:ln>
                  <a:noFill/>
                </a:ln>
                <a:solidFill>
                  <a:srgbClr val="1A73E8"/>
                </a:solidFill>
                <a:effectLst/>
                <a:latin typeface="Roboto"/>
                <a:hlinkClick r:id="rId4"/>
              </a:rPr>
              <a:t>beberapa</a:t>
            </a:r>
            <a:r>
              <a:rPr kumimoji="0" lang="en-US" altLang="en-US" sz="1200" b="0" i="0" u="none" strike="noStrike" cap="none" normalizeH="0" baseline="0" dirty="0" smtClean="0">
                <a:ln>
                  <a:noFill/>
                </a:ln>
                <a:solidFill>
                  <a:srgbClr val="1A73E8"/>
                </a:solidFill>
                <a:effectLst/>
                <a:latin typeface="Roboto"/>
                <a:hlinkClick r:id="rId4"/>
              </a:rPr>
              <a:t> workload </a:t>
            </a:r>
            <a:r>
              <a:rPr kumimoji="0" lang="en-US" altLang="en-US" sz="1200" b="0" i="0" u="none" strike="noStrike" cap="none" normalizeH="0" baseline="0" dirty="0" err="1" smtClean="0">
                <a:ln>
                  <a:noFill/>
                </a:ln>
                <a:solidFill>
                  <a:srgbClr val="1A73E8"/>
                </a:solidFill>
                <a:effectLst/>
                <a:latin typeface="Roboto"/>
                <a:hlinkClick r:id="rId4"/>
              </a:rPr>
              <a:t>menggunakan</a:t>
            </a:r>
            <a:r>
              <a:rPr kumimoji="0" lang="en-US" altLang="en-US" sz="1200" b="0" i="0" u="none" strike="noStrike" cap="none" normalizeH="0" baseline="0" dirty="0" smtClean="0">
                <a:ln>
                  <a:noFill/>
                </a:ln>
                <a:solidFill>
                  <a:srgbClr val="1A73E8"/>
                </a:solidFill>
                <a:effectLst/>
                <a:latin typeface="Roboto"/>
                <a:hlinkClick r:id="rId4"/>
              </a:rPr>
              <a:t> NVIDIA MPS</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smtClean="0">
                <a:ln>
                  <a:noFill/>
                </a:ln>
                <a:solidFill>
                  <a:srgbClr val="202124"/>
                </a:solidFill>
                <a:effectLst/>
                <a:latin typeface="Roboto"/>
              </a:rPr>
              <a:t>Pelajari</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202124"/>
                </a:solidFill>
                <a:effectLst/>
                <a:latin typeface="Roboto"/>
              </a:rPr>
              <a:t>cara</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1A73E8"/>
                </a:solidFill>
                <a:effectLst/>
                <a:latin typeface="Roboto"/>
                <a:hlinkClick r:id="rId5"/>
              </a:rPr>
              <a:t>menjalankan</a:t>
            </a:r>
            <a:r>
              <a:rPr kumimoji="0" lang="en-US" altLang="en-US" sz="1200" b="0" i="0" u="none" strike="noStrike" cap="none" normalizeH="0" baseline="0" dirty="0" smtClean="0">
                <a:ln>
                  <a:noFill/>
                </a:ln>
                <a:solidFill>
                  <a:srgbClr val="1A73E8"/>
                </a:solidFill>
                <a:effectLst/>
                <a:latin typeface="Roboto"/>
                <a:hlinkClick r:id="rId5"/>
              </a:rPr>
              <a:t> GPU multi-instance</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smtClean="0">
                <a:ln>
                  <a:noFill/>
                </a:ln>
                <a:solidFill>
                  <a:srgbClr val="202124"/>
                </a:solidFill>
                <a:effectLst/>
                <a:latin typeface="Roboto"/>
              </a:rPr>
              <a:t>Pelajari</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smtClean="0">
                <a:ln>
                  <a:noFill/>
                </a:ln>
                <a:solidFill>
                  <a:srgbClr val="1A73E8"/>
                </a:solidFill>
                <a:effectLst/>
                <a:latin typeface="Roboto"/>
                <a:hlinkClick r:id="rId6"/>
              </a:rPr>
              <a:t>GPU</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202124"/>
                </a:solidFill>
                <a:effectLst/>
                <a:latin typeface="Roboto"/>
              </a:rPr>
              <a:t>lebih</a:t>
            </a:r>
            <a:r>
              <a:rPr kumimoji="0" lang="en-US" altLang="en-US" sz="1200" b="0" i="0" u="none" strike="noStrike" cap="none" normalizeH="0" baseline="0" dirty="0" smtClean="0">
                <a:ln>
                  <a:noFill/>
                </a:ln>
                <a:solidFill>
                  <a:srgbClr val="202124"/>
                </a:solidFill>
                <a:effectLst/>
                <a:latin typeface="Roboto"/>
              </a:rPr>
              <a:t> </a:t>
            </a:r>
            <a:r>
              <a:rPr kumimoji="0" lang="en-US" altLang="en-US" sz="1200" b="0" i="0" u="none" strike="noStrike" cap="none" normalizeH="0" baseline="0" dirty="0" err="1" smtClean="0">
                <a:ln>
                  <a:noFill/>
                </a:ln>
                <a:solidFill>
                  <a:srgbClr val="202124"/>
                </a:solidFill>
                <a:effectLst/>
                <a:latin typeface="Roboto"/>
              </a:rPr>
              <a:t>lanjut</a:t>
            </a:r>
            <a:endParaRPr kumimoji="0" lang="en-US" altLang="en-US" sz="1200" b="0" i="0" u="none" strike="noStrike" cap="none" normalizeH="0" baseline="0" dirty="0" smtClean="0">
              <a:ln>
                <a:noFill/>
              </a:ln>
              <a:solidFill>
                <a:srgbClr val="202124"/>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34931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0EDDC26F-71D8-4B03-BD6A-EF35447CC309}"/>
              </a:ext>
            </a:extLst>
          </p:cNvPr>
          <p:cNvSpPr/>
          <p:nvPr/>
        </p:nvSpPr>
        <p:spPr>
          <a:xfrm flipV="1">
            <a:off x="0" y="-2"/>
            <a:ext cx="12192000" cy="1293507"/>
          </a:xfrm>
          <a:prstGeom prst="rect">
            <a:avLst/>
          </a:prstGeom>
          <a:solidFill>
            <a:srgbClr val="193888"/>
          </a:solidFill>
          <a:ln>
            <a:solidFill>
              <a:srgbClr val="193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a:extLst>
              <a:ext uri="{FF2B5EF4-FFF2-40B4-BE49-F238E27FC236}">
                <a16:creationId xmlns:a16="http://schemas.microsoft.com/office/drawing/2014/main" id="{3346ED10-7D4A-4399-BC3F-3FB2E8A3D36E}"/>
              </a:ext>
            </a:extLst>
          </p:cNvPr>
          <p:cNvSpPr txBox="1"/>
          <p:nvPr/>
        </p:nvSpPr>
        <p:spPr>
          <a:xfrm>
            <a:off x="10482455" y="16616"/>
            <a:ext cx="1580914" cy="600164"/>
          </a:xfrm>
          <a:prstGeom prst="rect">
            <a:avLst/>
          </a:prstGeom>
          <a:solidFill>
            <a:srgbClr val="193888"/>
          </a:solidFill>
          <a:ln>
            <a:solidFill>
              <a:srgbClr val="193888"/>
            </a:solidFill>
          </a:ln>
        </p:spPr>
        <p:txBody>
          <a:bodyPr wrap="square" rtlCol="0">
            <a:spAutoFit/>
          </a:bodyPr>
          <a:lstStyle/>
          <a:p>
            <a:r>
              <a:rPr lang="en-US" altLang="ko-KR" sz="3300" b="1" dirty="0" smtClean="0">
                <a:solidFill>
                  <a:schemeClr val="bg1"/>
                </a:solidFill>
              </a:rPr>
              <a:t>WBC</a:t>
            </a:r>
            <a:endParaRPr lang="en-US" altLang="ko-KR" sz="3300" b="1" dirty="0">
              <a:solidFill>
                <a:schemeClr val="bg1"/>
              </a:solidFill>
            </a:endParaRPr>
          </a:p>
        </p:txBody>
      </p:sp>
      <p:sp>
        <p:nvSpPr>
          <p:cNvPr id="9" name="제목 1">
            <a:extLst>
              <a:ext uri="{FF2B5EF4-FFF2-40B4-BE49-F238E27FC236}">
                <a16:creationId xmlns:a16="http://schemas.microsoft.com/office/drawing/2014/main" id="{0414CAAA-4E9C-490D-939E-F0F0CA16C772}"/>
              </a:ext>
            </a:extLst>
          </p:cNvPr>
          <p:cNvSpPr txBox="1">
            <a:spLocks/>
          </p:cNvSpPr>
          <p:nvPr/>
        </p:nvSpPr>
        <p:spPr>
          <a:xfrm>
            <a:off x="457200" y="-16032"/>
            <a:ext cx="117348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1800" b="1" dirty="0">
                <a:solidFill>
                  <a:schemeClr val="bg1"/>
                </a:solidFill>
                <a:cs typeface="times" panose="02020603050405020304" pitchFamily="18" charset="0"/>
              </a:rPr>
              <a:t>Bare Metal Kubernetes with GPU</a:t>
            </a:r>
            <a:endParaRPr lang="ko-KR" altLang="en-US" sz="1800" dirty="0">
              <a:solidFill>
                <a:schemeClr val="bg1"/>
              </a:solidFill>
            </a:endParaRPr>
          </a:p>
        </p:txBody>
      </p:sp>
      <p:sp>
        <p:nvSpPr>
          <p:cNvPr id="10" name="TextBox 9">
            <a:extLst>
              <a:ext uri="{FF2B5EF4-FFF2-40B4-BE49-F238E27FC236}">
                <a16:creationId xmlns:a16="http://schemas.microsoft.com/office/drawing/2014/main" id="{A0FCD590-1F01-4465-8248-E73E08A1A2B4}"/>
              </a:ext>
            </a:extLst>
          </p:cNvPr>
          <p:cNvSpPr txBox="1"/>
          <p:nvPr/>
        </p:nvSpPr>
        <p:spPr>
          <a:xfrm>
            <a:off x="9370399" y="6253856"/>
            <a:ext cx="2803973" cy="584775"/>
          </a:xfrm>
          <a:prstGeom prst="rect">
            <a:avLst/>
          </a:prstGeom>
          <a:noFill/>
        </p:spPr>
        <p:txBody>
          <a:bodyPr wrap="none" rtlCol="0">
            <a:spAutoFit/>
          </a:bodyPr>
          <a:lstStyle/>
          <a:p>
            <a:pPr algn="r"/>
            <a:r>
              <a:rPr lang="en-US" altLang="ko-KR" sz="1600" dirty="0">
                <a:solidFill>
                  <a:schemeClr val="tx1">
                    <a:lumMod val="50000"/>
                    <a:lumOff val="50000"/>
                  </a:schemeClr>
                </a:solidFill>
                <a:latin typeface="times" panose="02020603050405020304" pitchFamily="18" charset="0"/>
                <a:cs typeface="times" panose="02020603050405020304" pitchFamily="18" charset="0"/>
              </a:rPr>
              <a:t> </a:t>
            </a:r>
          </a:p>
          <a:p>
            <a:pPr algn="r"/>
            <a:r>
              <a:rPr lang="en-US" altLang="ko-KR" sz="1600" dirty="0" smtClean="0">
                <a:solidFill>
                  <a:schemeClr val="tx1">
                    <a:lumMod val="50000"/>
                    <a:lumOff val="50000"/>
                  </a:schemeClr>
                </a:solidFill>
                <a:latin typeface="times" panose="02020603050405020304" pitchFamily="18" charset="0"/>
                <a:cs typeface="times" panose="02020603050405020304" pitchFamily="18" charset="0"/>
              </a:rPr>
              <a:t>amelcharolinesgn2@gmail.com</a:t>
            </a:r>
            <a:endParaRPr lang="ko-KR" altLang="en-US" sz="1600" dirty="0">
              <a:solidFill>
                <a:schemeClr val="tx1">
                  <a:lumMod val="50000"/>
                  <a:lumOff val="50000"/>
                </a:schemeClr>
              </a:solidFill>
              <a:latin typeface="times" panose="02020603050405020304" pitchFamily="18" charset="0"/>
              <a:cs typeface="times" panose="02020603050405020304" pitchFamily="18" charset="0"/>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6897956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D76EF-16F6-0343-93E1-BDA3293D7403}"/>
              </a:ext>
            </a:extLst>
          </p:cNvPr>
          <p:cNvSpPr>
            <a:spLocks noGrp="1"/>
          </p:cNvSpPr>
          <p:nvPr>
            <p:ph type="title"/>
          </p:nvPr>
        </p:nvSpPr>
        <p:spPr>
          <a:xfrm>
            <a:off x="290945" y="254288"/>
            <a:ext cx="5410200" cy="660111"/>
          </a:xfrm>
        </p:spPr>
        <p:txBody>
          <a:bodyPr>
            <a:normAutofit fontScale="90000"/>
          </a:bodyPr>
          <a:lstStyle/>
          <a:p>
            <a:r>
              <a:rPr lang="en-US" dirty="0" err="1"/>
              <a:t>Konsep</a:t>
            </a:r>
            <a:r>
              <a:rPr lang="en-US" dirty="0"/>
              <a:t> Kubernetes?</a:t>
            </a:r>
          </a:p>
        </p:txBody>
      </p:sp>
      <p:sp>
        <p:nvSpPr>
          <p:cNvPr id="3" name="Content Placeholder 2">
            <a:extLst>
              <a:ext uri="{FF2B5EF4-FFF2-40B4-BE49-F238E27FC236}">
                <a16:creationId xmlns:a16="http://schemas.microsoft.com/office/drawing/2014/main" id="{BB8AF28A-05A6-B241-A132-267BC84021CD}"/>
              </a:ext>
            </a:extLst>
          </p:cNvPr>
          <p:cNvSpPr>
            <a:spLocks noGrp="1"/>
          </p:cNvSpPr>
          <p:nvPr>
            <p:ph idx="1"/>
          </p:nvPr>
        </p:nvSpPr>
        <p:spPr>
          <a:xfrm>
            <a:off x="290945" y="2795443"/>
            <a:ext cx="4814455" cy="4351338"/>
          </a:xfrm>
        </p:spPr>
        <p:txBody>
          <a:bodyPr>
            <a:normAutofit/>
          </a:bodyPr>
          <a:lstStyle/>
          <a:p>
            <a:r>
              <a:rPr lang="en-US" sz="1800" dirty="0" err="1"/>
              <a:t>Menerapkan</a:t>
            </a:r>
            <a:r>
              <a:rPr lang="en-US" sz="1800" dirty="0"/>
              <a:t> </a:t>
            </a:r>
            <a:r>
              <a:rPr lang="en-US" sz="1800" dirty="0" err="1"/>
              <a:t>aplikasi</a:t>
            </a:r>
            <a:r>
              <a:rPr lang="en-US" sz="1800" dirty="0"/>
              <a:t> </a:t>
            </a:r>
            <a:r>
              <a:rPr lang="en-US" sz="1800" dirty="0" err="1"/>
              <a:t>pada</a:t>
            </a:r>
            <a:r>
              <a:rPr lang="en-US" sz="1800" dirty="0"/>
              <a:t> </a:t>
            </a:r>
            <a:r>
              <a:rPr lang="en-US" sz="1800" dirty="0" err="1"/>
              <a:t>beberapa</a:t>
            </a:r>
            <a:r>
              <a:rPr lang="en-US" sz="1800" dirty="0"/>
              <a:t> </a:t>
            </a:r>
            <a:r>
              <a:rPr lang="en-US" sz="1800" dirty="0" err="1"/>
              <a:t>mesin</a:t>
            </a:r>
            <a:r>
              <a:rPr lang="en-US" sz="1800" dirty="0"/>
              <a:t> (</a:t>
            </a:r>
            <a:r>
              <a:rPr lang="en-US" sz="1800" dirty="0" err="1"/>
              <a:t>menggunakan</a:t>
            </a:r>
            <a:r>
              <a:rPr lang="en-US" sz="1800" dirty="0"/>
              <a:t> </a:t>
            </a:r>
            <a:r>
              <a:rPr lang="en-US" sz="1800" dirty="0" err="1"/>
              <a:t>kontainer</a:t>
            </a:r>
            <a:r>
              <a:rPr lang="en-US" sz="1800" dirty="0"/>
              <a:t> yang di-deploy di Pod)</a:t>
            </a:r>
          </a:p>
          <a:p>
            <a:r>
              <a:rPr lang="en-US" sz="1800" dirty="0" err="1"/>
              <a:t>Pantau</a:t>
            </a:r>
            <a:r>
              <a:rPr lang="en-US" sz="1800" dirty="0"/>
              <a:t> </a:t>
            </a:r>
            <a:r>
              <a:rPr lang="en-US" sz="1800" dirty="0" err="1"/>
              <a:t>kesehatan</a:t>
            </a:r>
            <a:r>
              <a:rPr lang="en-US" sz="1800" dirty="0"/>
              <a:t> </a:t>
            </a:r>
            <a:r>
              <a:rPr lang="en-US" sz="1800" dirty="0" err="1"/>
              <a:t>kontainer</a:t>
            </a:r>
            <a:r>
              <a:rPr lang="en-US" sz="1800" dirty="0"/>
              <a:t> </a:t>
            </a:r>
            <a:r>
              <a:rPr lang="en-US" sz="1800" dirty="0" err="1"/>
              <a:t>dan</a:t>
            </a:r>
            <a:r>
              <a:rPr lang="en-US" sz="1800" dirty="0"/>
              <a:t> </a:t>
            </a:r>
            <a:r>
              <a:rPr lang="en-US" sz="1800" dirty="0" err="1"/>
              <a:t>mulai</a:t>
            </a:r>
            <a:r>
              <a:rPr lang="en-US" sz="1800" dirty="0"/>
              <a:t> </a:t>
            </a:r>
            <a:r>
              <a:rPr lang="en-US" sz="1800" dirty="0" err="1"/>
              <a:t>ulang</a:t>
            </a:r>
            <a:r>
              <a:rPr lang="en-US" sz="1800" dirty="0"/>
              <a:t> </a:t>
            </a:r>
            <a:r>
              <a:rPr lang="en-US" sz="1800" dirty="0" err="1"/>
              <a:t>kontainer</a:t>
            </a:r>
            <a:r>
              <a:rPr lang="en-US" sz="1800" dirty="0"/>
              <a:t> yang </a:t>
            </a:r>
            <a:r>
              <a:rPr lang="en-US" sz="1800" dirty="0" err="1"/>
              <a:t>gagal</a:t>
            </a:r>
            <a:endParaRPr lang="en-US" sz="1800" dirty="0"/>
          </a:p>
          <a:p>
            <a:r>
              <a:rPr lang="en-US" sz="1800" dirty="0" err="1"/>
              <a:t>Skalakan</a:t>
            </a:r>
            <a:r>
              <a:rPr lang="en-US" sz="1800" dirty="0"/>
              <a:t> </a:t>
            </a:r>
            <a:r>
              <a:rPr lang="en-US" sz="1800" dirty="0" err="1"/>
              <a:t>kontainer</a:t>
            </a:r>
            <a:r>
              <a:rPr lang="en-US" sz="1800" dirty="0"/>
              <a:t> </a:t>
            </a:r>
            <a:r>
              <a:rPr lang="en-US" sz="1800" dirty="0" err="1"/>
              <a:t>ke</a:t>
            </a:r>
            <a:r>
              <a:rPr lang="en-US" sz="1800" dirty="0"/>
              <a:t> </a:t>
            </a:r>
            <a:r>
              <a:rPr lang="en-US" sz="1800" dirty="0" err="1"/>
              <a:t>atas</a:t>
            </a:r>
            <a:r>
              <a:rPr lang="en-US" sz="1800" dirty="0"/>
              <a:t> </a:t>
            </a:r>
            <a:r>
              <a:rPr lang="en-US" sz="1800" dirty="0" err="1"/>
              <a:t>dan</a:t>
            </a:r>
            <a:r>
              <a:rPr lang="en-US" sz="1800" dirty="0"/>
              <a:t> </a:t>
            </a:r>
            <a:r>
              <a:rPr lang="en-US" sz="1800" dirty="0" err="1"/>
              <a:t>ke</a:t>
            </a:r>
            <a:r>
              <a:rPr lang="en-US" sz="1800" dirty="0"/>
              <a:t> </a:t>
            </a:r>
            <a:r>
              <a:rPr lang="en-US" sz="1800" dirty="0" err="1"/>
              <a:t>bawah</a:t>
            </a:r>
            <a:r>
              <a:rPr lang="en-US" sz="1800" dirty="0"/>
              <a:t> </a:t>
            </a:r>
            <a:r>
              <a:rPr lang="en-US" sz="1800" dirty="0" err="1"/>
              <a:t>berdasarkan</a:t>
            </a:r>
            <a:r>
              <a:rPr lang="en-US" sz="1800" dirty="0"/>
              <a:t> </a:t>
            </a:r>
            <a:r>
              <a:rPr lang="en-US" sz="1800" dirty="0" err="1"/>
              <a:t>beban</a:t>
            </a:r>
            <a:endParaRPr lang="en-US" sz="1800" dirty="0"/>
          </a:p>
          <a:p>
            <a:r>
              <a:rPr lang="en-US" sz="1800" dirty="0" err="1"/>
              <a:t>Perbarui</a:t>
            </a:r>
            <a:r>
              <a:rPr lang="en-US" sz="1800" dirty="0"/>
              <a:t> </a:t>
            </a:r>
            <a:r>
              <a:rPr lang="en-US" sz="1800" dirty="0" err="1"/>
              <a:t>wadah</a:t>
            </a:r>
            <a:r>
              <a:rPr lang="en-US" sz="1800" dirty="0"/>
              <a:t> </a:t>
            </a:r>
            <a:r>
              <a:rPr lang="en-US" sz="1800" dirty="0" err="1"/>
              <a:t>dengan</a:t>
            </a:r>
            <a:r>
              <a:rPr lang="en-US" sz="1800" dirty="0"/>
              <a:t> </a:t>
            </a:r>
            <a:r>
              <a:rPr lang="en-US" sz="1800" dirty="0" err="1"/>
              <a:t>versi</a:t>
            </a:r>
            <a:r>
              <a:rPr lang="en-US" sz="1800" dirty="0"/>
              <a:t> </a:t>
            </a:r>
            <a:r>
              <a:rPr lang="en-US" sz="1800" dirty="0" err="1"/>
              <a:t>baru</a:t>
            </a:r>
            <a:endParaRPr lang="en-US" sz="1800" dirty="0"/>
          </a:p>
          <a:p>
            <a:r>
              <a:rPr lang="en-US" sz="1800" dirty="0" err="1"/>
              <a:t>Alokasikan</a:t>
            </a:r>
            <a:r>
              <a:rPr lang="en-US" sz="1800" dirty="0"/>
              <a:t> </a:t>
            </a:r>
            <a:r>
              <a:rPr lang="en-US" sz="1800" dirty="0" err="1"/>
              <a:t>sumber</a:t>
            </a:r>
            <a:r>
              <a:rPr lang="en-US" sz="1800" dirty="0"/>
              <a:t> </a:t>
            </a:r>
            <a:r>
              <a:rPr lang="en-US" sz="1800" dirty="0" err="1"/>
              <a:t>daya</a:t>
            </a:r>
            <a:r>
              <a:rPr lang="en-US" sz="1800" dirty="0"/>
              <a:t> </a:t>
            </a:r>
            <a:r>
              <a:rPr lang="en-US" sz="1800" dirty="0" err="1"/>
              <a:t>antar</a:t>
            </a:r>
            <a:r>
              <a:rPr lang="en-US" sz="1800" dirty="0"/>
              <a:t> </a:t>
            </a:r>
            <a:r>
              <a:rPr lang="en-US" sz="1800" dirty="0" err="1"/>
              <a:t>kontainer</a:t>
            </a:r>
            <a:endParaRPr lang="en-US" sz="1800" dirty="0"/>
          </a:p>
        </p:txBody>
      </p:sp>
      <p:sp>
        <p:nvSpPr>
          <p:cNvPr id="6" name="Rectangle 5"/>
          <p:cNvSpPr/>
          <p:nvPr/>
        </p:nvSpPr>
        <p:spPr>
          <a:xfrm>
            <a:off x="401782" y="1035915"/>
            <a:ext cx="3823854" cy="1520416"/>
          </a:xfrm>
          <a:prstGeom prst="rect">
            <a:avLst/>
          </a:prstGeom>
        </p:spPr>
        <p:txBody>
          <a:bodyPr wrap="square">
            <a:spAutoFit/>
          </a:bodyPr>
          <a:lstStyle/>
          <a:p>
            <a:pPr algn="l"/>
            <a:r>
              <a:rPr lang="en-US" sz="1600" dirty="0" err="1"/>
              <a:t>Topik</a:t>
            </a:r>
            <a:endParaRPr lang="en-US" sz="1600" dirty="0"/>
          </a:p>
          <a:p>
            <a:pPr marL="342900" indent="-342900" algn="l">
              <a:buFont typeface="Arial" panose="020B0604020202020204" pitchFamily="34" charset="0"/>
              <a:buChar char="•"/>
            </a:pPr>
            <a:r>
              <a:rPr lang="en-US" sz="1600" dirty="0" err="1"/>
              <a:t>Mengapa</a:t>
            </a:r>
            <a:r>
              <a:rPr lang="en-US" sz="1600" dirty="0"/>
              <a:t> Kubernetes?</a:t>
            </a:r>
          </a:p>
          <a:p>
            <a:pPr marL="342900" indent="-342900" algn="l">
              <a:buFont typeface="Arial" panose="020B0604020202020204" pitchFamily="34" charset="0"/>
              <a:buChar char="•"/>
            </a:pPr>
            <a:r>
              <a:rPr lang="en-US" sz="1600" dirty="0" err="1" smtClean="0"/>
              <a:t>Klaster</a:t>
            </a:r>
            <a:endParaRPr lang="en-US" sz="1600" dirty="0"/>
          </a:p>
          <a:p>
            <a:pPr marL="342900" indent="-342900" algn="l">
              <a:buFont typeface="Arial" panose="020B0604020202020204" pitchFamily="34" charset="0"/>
              <a:buChar char="•"/>
            </a:pPr>
            <a:r>
              <a:rPr lang="en-US" sz="1600" dirty="0" smtClean="0"/>
              <a:t>Beban </a:t>
            </a:r>
            <a:r>
              <a:rPr lang="en-US" sz="1600" dirty="0" err="1"/>
              <a:t>kerja</a:t>
            </a:r>
            <a:endParaRPr lang="en-US" sz="1600" dirty="0"/>
          </a:p>
          <a:p>
            <a:pPr marL="342900" indent="-342900" algn="l">
              <a:buFont typeface="Arial" panose="020B0604020202020204" pitchFamily="34" charset="0"/>
              <a:buChar char="•"/>
            </a:pPr>
            <a:r>
              <a:rPr lang="en-US" sz="1600" dirty="0" err="1" smtClean="0"/>
              <a:t>Langkah</a:t>
            </a:r>
            <a:r>
              <a:rPr lang="en-US" sz="1600" dirty="0" smtClean="0"/>
              <a:t> </a:t>
            </a:r>
            <a:r>
              <a:rPr lang="en-US" sz="1600" dirty="0" err="1"/>
              <a:t>selanjutnya</a:t>
            </a:r>
            <a:endParaRPr lang="en-US" sz="1600" dirty="0"/>
          </a:p>
        </p:txBody>
      </p:sp>
    </p:spTree>
    <p:extLst>
      <p:ext uri="{BB962C8B-B14F-4D97-AF65-F5344CB8AC3E}">
        <p14:creationId xmlns:p14="http://schemas.microsoft.com/office/powerpoint/2010/main" val="31377502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05072F42-4DFA-4725-86F9-7594E4AB4EB5}" type="slidenum">
              <a:rPr lang="en-GB" smtClean="0"/>
              <a:pPr/>
              <a:t>21</a:t>
            </a:fld>
            <a:endParaRPr lang="en-GB"/>
          </a:p>
        </p:txBody>
      </p:sp>
      <p:sp>
        <p:nvSpPr>
          <p:cNvPr id="6" name="Title 1">
            <a:extLst>
              <a:ext uri="{FF2B5EF4-FFF2-40B4-BE49-F238E27FC236}">
                <a16:creationId xmlns:a16="http://schemas.microsoft.com/office/drawing/2014/main" id="{7E99E535-EDD8-44E3-98DC-07DF9ECB62E5}"/>
              </a:ext>
            </a:extLst>
          </p:cNvPr>
          <p:cNvSpPr txBox="1">
            <a:spLocks/>
          </p:cNvSpPr>
          <p:nvPr/>
        </p:nvSpPr>
        <p:spPr>
          <a:xfrm>
            <a:off x="5029179" y="2511715"/>
            <a:ext cx="6248442" cy="508524"/>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4000" dirty="0"/>
              <a:t>Thank you.</a:t>
            </a:r>
          </a:p>
          <a:p>
            <a:endParaRPr lang="en-US" sz="4000" dirty="0"/>
          </a:p>
          <a:p>
            <a:r>
              <a:rPr lang="en-US" sz="3672" dirty="0"/>
              <a:t>Q&amp;A</a:t>
            </a:r>
          </a:p>
        </p:txBody>
      </p:sp>
      <p:sp>
        <p:nvSpPr>
          <p:cNvPr id="7" name="Rectangle 6"/>
          <p:cNvSpPr/>
          <p:nvPr/>
        </p:nvSpPr>
        <p:spPr>
          <a:xfrm>
            <a:off x="9135013" y="5717409"/>
            <a:ext cx="2613761" cy="230832"/>
          </a:xfrm>
          <a:prstGeom prst="rect">
            <a:avLst/>
          </a:prstGeom>
        </p:spPr>
        <p:txBody>
          <a:bodyPr wrap="square">
            <a:spAutoFit/>
          </a:bodyPr>
          <a:lstStyle/>
          <a:p>
            <a:r>
              <a:rPr lang="en-US" sz="900" dirty="0"/>
              <a:t>https://www.youtube.com/@AmelOline/videos</a:t>
            </a:r>
          </a:p>
        </p:txBody>
      </p:sp>
      <p:sp>
        <p:nvSpPr>
          <p:cNvPr id="8" name="Rectangle 7"/>
          <p:cNvSpPr/>
          <p:nvPr/>
        </p:nvSpPr>
        <p:spPr>
          <a:xfrm>
            <a:off x="9971921" y="5578910"/>
            <a:ext cx="1623448" cy="230832"/>
          </a:xfrm>
          <a:prstGeom prst="rect">
            <a:avLst/>
          </a:prstGeom>
        </p:spPr>
        <p:txBody>
          <a:bodyPr wrap="square">
            <a:spAutoFit/>
          </a:bodyPr>
          <a:lstStyle/>
          <a:p>
            <a:r>
              <a:rPr lang="en-US" sz="900" dirty="0"/>
              <a:t>https://github.com/siagianp</a:t>
            </a:r>
          </a:p>
        </p:txBody>
      </p:sp>
      <p:sp>
        <p:nvSpPr>
          <p:cNvPr id="9" name="Rectangle 8"/>
          <p:cNvSpPr/>
          <p:nvPr/>
        </p:nvSpPr>
        <p:spPr>
          <a:xfrm>
            <a:off x="8158620" y="5855909"/>
            <a:ext cx="3667194" cy="230832"/>
          </a:xfrm>
          <a:prstGeom prst="rect">
            <a:avLst/>
          </a:prstGeom>
        </p:spPr>
        <p:txBody>
          <a:bodyPr wrap="square">
            <a:spAutoFit/>
          </a:bodyPr>
          <a:lstStyle/>
          <a:p>
            <a:r>
              <a:rPr lang="en-US" sz="900" dirty="0"/>
              <a:t>https://github.com/amelcharolinesgn2/IoT_simulator-mqtt-NodeRed</a:t>
            </a:r>
          </a:p>
        </p:txBody>
      </p:sp>
      <p:sp>
        <p:nvSpPr>
          <p:cNvPr id="10" name="Rectangle 9"/>
          <p:cNvSpPr/>
          <p:nvPr/>
        </p:nvSpPr>
        <p:spPr>
          <a:xfrm>
            <a:off x="8604310" y="5994408"/>
            <a:ext cx="3204723" cy="230832"/>
          </a:xfrm>
          <a:prstGeom prst="rect">
            <a:avLst/>
          </a:prstGeom>
        </p:spPr>
        <p:txBody>
          <a:bodyPr wrap="none">
            <a:spAutoFit/>
          </a:bodyPr>
          <a:lstStyle/>
          <a:p>
            <a:r>
              <a:rPr lang="en-US" sz="900" dirty="0"/>
              <a:t>https://github.com/amelcharolinesgn2/Cloud-Infrastructures</a:t>
            </a:r>
          </a:p>
        </p:txBody>
      </p:sp>
      <p:sp>
        <p:nvSpPr>
          <p:cNvPr id="11" name="Rectangle 10"/>
          <p:cNvSpPr/>
          <p:nvPr/>
        </p:nvSpPr>
        <p:spPr>
          <a:xfrm>
            <a:off x="8072460" y="6109824"/>
            <a:ext cx="3839513" cy="230832"/>
          </a:xfrm>
          <a:prstGeom prst="rect">
            <a:avLst/>
          </a:prstGeom>
        </p:spPr>
        <p:txBody>
          <a:bodyPr wrap="none">
            <a:spAutoFit/>
          </a:bodyPr>
          <a:lstStyle/>
          <a:p>
            <a:r>
              <a:rPr lang="en-US" sz="900" dirty="0"/>
              <a:t>https://github.com/amelcharolinesgn2/ClouD-Infrastructure-SISKA-2025</a:t>
            </a:r>
          </a:p>
        </p:txBody>
      </p:sp>
      <p:sp>
        <p:nvSpPr>
          <p:cNvPr id="12" name="Rectangle 11"/>
          <p:cNvSpPr/>
          <p:nvPr/>
        </p:nvSpPr>
        <p:spPr>
          <a:xfrm>
            <a:off x="7859403" y="6240675"/>
            <a:ext cx="3966411" cy="230832"/>
          </a:xfrm>
          <a:prstGeom prst="rect">
            <a:avLst/>
          </a:prstGeom>
        </p:spPr>
        <p:txBody>
          <a:bodyPr wrap="square">
            <a:spAutoFit/>
          </a:bodyPr>
          <a:lstStyle/>
          <a:p>
            <a:r>
              <a:rPr lang="en-US" sz="900" dirty="0"/>
              <a:t>https://github.com/amelcharolinesgn2/Gyroscope-Sensor-Data-Accelerometer</a:t>
            </a:r>
          </a:p>
        </p:txBody>
      </p:sp>
    </p:spTree>
    <p:extLst>
      <p:ext uri="{BB962C8B-B14F-4D97-AF65-F5344CB8AC3E}">
        <p14:creationId xmlns:p14="http://schemas.microsoft.com/office/powerpoint/2010/main" val="28308877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32929</TotalTime>
  <Words>1587</Words>
  <Application>Microsoft Office PowerPoint</Application>
  <PresentationFormat>Widescreen</PresentationFormat>
  <Paragraphs>324</Paragraphs>
  <Slides>21</Slides>
  <Notes>19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21</vt:i4>
      </vt:variant>
    </vt:vector>
  </HeadingPairs>
  <TitlesOfParts>
    <vt:vector size="35" baseType="lpstr">
      <vt:lpstr>Malgun Gothic</vt:lpstr>
      <vt:lpstr>Arial</vt:lpstr>
      <vt:lpstr>Calibri</vt:lpstr>
      <vt:lpstr>Calibri Light</vt:lpstr>
      <vt:lpstr>Google Sans</vt:lpstr>
      <vt:lpstr>open sans</vt:lpstr>
      <vt:lpstr>Roboto</vt:lpstr>
      <vt:lpstr>Segoe UI</vt:lpstr>
      <vt:lpstr>Tahoma</vt:lpstr>
      <vt:lpstr>times</vt:lpstr>
      <vt:lpstr>Times New Roman</vt:lpstr>
      <vt:lpstr>Ubuntu</vt:lpstr>
      <vt:lpstr>Wingdings</vt:lpstr>
      <vt:lpstr>Office Theme</vt:lpstr>
      <vt:lpstr>PowerPoint Presentation</vt:lpstr>
      <vt:lpstr>PowerPoint Presentation</vt:lpstr>
      <vt:lpstr>PowerPoint Presentation</vt:lpstr>
      <vt:lpstr>Konsep 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Konsep Kubernetes?</vt:lpstr>
      <vt:lpstr>PowerPoint Presentation</vt:lpstr>
    </vt:vector>
  </TitlesOfParts>
  <Manager>Peter Druschel</Manager>
  <Company>Rice University / Max Planck Institute for Software Systems</Company>
  <LinksUpToDate>false</LinksUpToDate>
  <SharedDoc>false</SharedDoc>
  <HyperlinkBase>http://www.cs.rice.edu/~ahae/</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basics; Amazon AWS</dc:title>
  <dc:subject>Scalable and Cloud Computing</dc:subject>
  <dc:creator>Andreas Haeberlen</dc:creator>
  <cp:keywords>NETS 212</cp:keywords>
  <dc:description>http://www.cis.upenn.edu/~nets212/</dc:description>
  <cp:lastModifiedBy>PDS</cp:lastModifiedBy>
  <cp:revision>4040</cp:revision>
  <dcterms:created xsi:type="dcterms:W3CDTF">1999-05-23T11:18:07Z</dcterms:created>
  <dcterms:modified xsi:type="dcterms:W3CDTF">2026-09-18T01:28:11Z</dcterms:modified>
  <cp:category>Lecture</cp:category>
</cp:coreProperties>
</file>