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0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  <p:sldId id="317" r:id="rId62"/>
    <p:sldId id="318" r:id="rId63"/>
    <p:sldId id="319" r:id="rId64"/>
    <p:sldId id="320" r:id="rId65"/>
    <p:sldId id="321" r:id="rId66"/>
    <p:sldId id="322" r:id="rId67"/>
    <p:sldId id="323" r:id="rId68"/>
    <p:sldId id="324" r:id="rId69"/>
    <p:sldId id="325" r:id="rId70"/>
    <p:sldId id="326" r:id="rId71"/>
    <p:sldId id="327" r:id="rId72"/>
    <p:sldId id="328" r:id="rId73"/>
    <p:sldId id="329" r:id="rId74"/>
    <p:sldId id="330" r:id="rId75"/>
    <p:sldId id="331" r:id="rId76"/>
    <p:sldId id="332" r:id="rId77"/>
    <p:sldId id="333" r:id="rId78"/>
    <p:sldId id="334" r:id="rId79"/>
    <p:sldId id="335" r:id="rId80"/>
    <p:sldId id="336" r:id="rId81"/>
    <p:sldId id="337" r:id="rId82"/>
    <p:sldId id="338" r:id="rId83"/>
    <p:sldId id="339" r:id="rId84"/>
    <p:sldId id="340" r:id="rId85"/>
    <p:sldId id="341" r:id="rId86"/>
    <p:sldId id="342" r:id="rId87"/>
    <p:sldId id="343" r:id="rId88"/>
    <p:sldId id="344" r:id="rId89"/>
    <p:sldId id="345" r:id="rId90"/>
    <p:sldId id="346" r:id="rId91"/>
    <p:sldId id="347" r:id="rId92"/>
    <p:sldId id="348" r:id="rId93"/>
    <p:sldId id="349" r:id="rId94"/>
    <p:sldId id="350" r:id="rId95"/>
    <p:sldId id="351" r:id="rId96"/>
    <p:sldId id="353" r:id="rId97"/>
    <p:sldId id="354" r:id="rId98"/>
    <p:sldId id="352" r:id="rId99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44" d="100"/>
          <a:sy n="144" d="100"/>
        </p:scale>
        <p:origin x="654" y="12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102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58A847-9CFC-4E88-9620-3D5D1654F50E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CD7B0F-AF99-4710-AA23-21D79840A8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2224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https://www.abhishek-tiwari.com/local-development-environment-for-kubernetes-using-minikube/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CD7B0F-AF99-4710-AA23-21D79840A80B}" type="slidenum">
              <a:rPr lang="en-US" smtClean="0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8808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https://github.com/kubernetes/minikube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CD7B0F-AF99-4710-AA23-21D79840A80B}" type="slidenum">
              <a:rPr lang="en-US" smtClean="0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5642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01625" y="249500"/>
            <a:ext cx="5618480" cy="4648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50" b="0" i="0">
                <a:solidFill>
                  <a:srgbClr val="FFAB4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FFAB40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50" b="0" i="0">
                <a:solidFill>
                  <a:srgbClr val="FFAB4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FFAB40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50" b="0" i="0">
                <a:solidFill>
                  <a:srgbClr val="FFAB4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FFAB40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50" b="0" i="0">
                <a:solidFill>
                  <a:srgbClr val="FFAB4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FFAB40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FFAB40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039403" y="4791125"/>
            <a:ext cx="875996" cy="2286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01625" y="118931"/>
            <a:ext cx="8540750" cy="951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50" b="0" i="0">
                <a:solidFill>
                  <a:srgbClr val="FFAB4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39734" y="1360075"/>
            <a:ext cx="7621905" cy="1625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276225" y="4823475"/>
            <a:ext cx="230504" cy="1676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FFAB40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11" Type="http://schemas.openxmlformats.org/officeDocument/2006/relationships/hyperlink" Target="https://github.com/amelcharolinesgn2/AWS" TargetMode="External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jp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2.jp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jp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5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jpg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5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4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g"/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4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g"/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4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g"/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8.jp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g"/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4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g"/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4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4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7.png"/><Relationship Id="rId4" Type="http://schemas.openxmlformats.org/officeDocument/2006/relationships/image" Target="../media/image56.jpg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g"/><Relationship Id="rId2" Type="http://schemas.openxmlformats.org/officeDocument/2006/relationships/image" Target="../media/image58.jpg"/><Relationship Id="rId1" Type="http://schemas.openxmlformats.org/officeDocument/2006/relationships/slideLayout" Target="../slideLayouts/slideLayout5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2730" cy="5143500"/>
            <a:chOff x="0" y="0"/>
            <a:chExt cx="9142730" cy="5143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53" y="0"/>
              <a:ext cx="9141290" cy="51434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4175999" cy="514349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640664" y="3860713"/>
              <a:ext cx="1274736" cy="1069392"/>
            </a:xfrm>
            <a:prstGeom prst="rect">
              <a:avLst/>
            </a:prstGeom>
          </p:spPr>
        </p:pic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3796797" y="2655435"/>
            <a:ext cx="5179471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200" spc="-10" dirty="0">
                <a:solidFill>
                  <a:srgbClr val="FFFFFF"/>
                </a:solidFill>
              </a:rPr>
              <a:t>Demystifying</a:t>
            </a:r>
            <a:r>
              <a:rPr sz="3200" spc="-190" dirty="0">
                <a:solidFill>
                  <a:srgbClr val="FFFFFF"/>
                </a:solidFill>
              </a:rPr>
              <a:t> </a:t>
            </a:r>
            <a:r>
              <a:rPr sz="3200" dirty="0" smtClean="0">
                <a:solidFill>
                  <a:srgbClr val="FFFFFF"/>
                </a:solidFill>
              </a:rPr>
              <a:t>Kubernetes</a:t>
            </a:r>
            <a:endParaRPr sz="3200" dirty="0"/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690878" y="4196277"/>
            <a:ext cx="2629569" cy="567937"/>
          </a:xfrm>
          <a:prstGeom prst="rect">
            <a:avLst/>
          </a:prstGeom>
        </p:spPr>
      </p:pic>
      <p:pic>
        <p:nvPicPr>
          <p:cNvPr id="8" name="Content Placeholder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39" y="1276350"/>
            <a:ext cx="3426376" cy="1846741"/>
          </a:xfrm>
          <a:prstGeom prst="rect">
            <a:avLst/>
          </a:prstGeom>
        </p:spPr>
      </p:pic>
      <p:grpSp>
        <p:nvGrpSpPr>
          <p:cNvPr id="9" name="Group 8"/>
          <p:cNvGrpSpPr/>
          <p:nvPr/>
        </p:nvGrpSpPr>
        <p:grpSpPr>
          <a:xfrm>
            <a:off x="372290" y="2064298"/>
            <a:ext cx="3567671" cy="1929688"/>
            <a:chOff x="89638" y="359621"/>
            <a:chExt cx="3567671" cy="1929688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35105" y="1881965"/>
              <a:ext cx="3104181" cy="263526"/>
            </a:xfrm>
            <a:prstGeom prst="rect">
              <a:avLst/>
            </a:prstGeom>
          </p:spPr>
        </p:pic>
        <p:sp>
          <p:nvSpPr>
            <p:cNvPr id="11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89639" y="1389204"/>
              <a:ext cx="3567670" cy="900105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 fontScale="975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sz="4000" dirty="0" smtClean="0">
                  <a:solidFill>
                    <a:schemeClr val="accent1">
                      <a:lumMod val="75000"/>
                    </a:schemeClr>
                  </a:solidFill>
                </a:rPr>
                <a:t>Computer </a:t>
              </a:r>
              <a:r>
                <a:rPr lang="en-US" sz="4000" dirty="0" smtClean="0">
                  <a:solidFill>
                    <a:srgbClr val="00B0F0"/>
                  </a:solidFill>
                </a:rPr>
                <a:t>Vision</a:t>
              </a:r>
              <a:endParaRPr lang="en-US" sz="4000" dirty="0">
                <a:solidFill>
                  <a:srgbClr val="00B0F0"/>
                </a:solidFill>
              </a:endParaRP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2AABCB87-2ECC-4C03-B5BB-6EE11C8A4485}"/>
                </a:ext>
              </a:extLst>
            </p:cNvPr>
            <p:cNvGrpSpPr/>
            <p:nvPr/>
          </p:nvGrpSpPr>
          <p:grpSpPr>
            <a:xfrm>
              <a:off x="89638" y="359621"/>
              <a:ext cx="3064025" cy="1516520"/>
              <a:chOff x="4853562" y="1589418"/>
              <a:chExt cx="2609520" cy="1291565"/>
            </a:xfrm>
          </p:grpSpPr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03546B24-FABC-4B2A-A80F-B03654D56A7D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4853562" y="1589418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3601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02E1A011-CDEA-4BBC-B725-C88AF5464891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5230834" y="1678285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3601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B8BC7BC-BF58-402E-9A69-AA9226DE7CAA}"/>
                </a:ext>
              </a:extLst>
            </p:cNvPr>
            <p:cNvGrpSpPr/>
            <p:nvPr/>
          </p:nvGrpSpPr>
          <p:grpSpPr>
            <a:xfrm>
              <a:off x="1176068" y="503243"/>
              <a:ext cx="1334145" cy="620384"/>
              <a:chOff x="7439031" y="1585639"/>
              <a:chExt cx="2143740" cy="996849"/>
            </a:xfrm>
            <a:solidFill>
              <a:schemeClr val="accent6"/>
            </a:solidFill>
          </p:grpSpPr>
          <p:sp>
            <p:nvSpPr>
              <p:cNvPr id="15" name="Freeform: Shape 66">
                <a:extLst>
                  <a:ext uri="{FF2B5EF4-FFF2-40B4-BE49-F238E27FC236}">
                    <a16:creationId xmlns:a16="http://schemas.microsoft.com/office/drawing/2014/main" id="{2A081543-B9FF-49B1-8EEF-ABDF5438EDCD}"/>
                  </a:ext>
                </a:extLst>
              </p:cNvPr>
              <p:cNvSpPr/>
              <p:nvPr/>
            </p:nvSpPr>
            <p:spPr>
              <a:xfrm>
                <a:off x="7439031" y="1585639"/>
                <a:ext cx="2143740" cy="996849"/>
              </a:xfrm>
              <a:custGeom>
                <a:avLst/>
                <a:gdLst/>
                <a:ahLst/>
                <a:cxnLst/>
                <a:rect l="l" t="t" r="r" b="b"/>
                <a:pathLst>
                  <a:path w="1862733" h="866179">
                    <a:moveTo>
                      <a:pt x="794147" y="204787"/>
                    </a:moveTo>
                    <a:cubicBezTo>
                      <a:pt x="745605" y="204787"/>
                      <a:pt x="701637" y="218416"/>
                      <a:pt x="662244" y="245673"/>
                    </a:cubicBezTo>
                    <a:cubicBezTo>
                      <a:pt x="622851" y="272930"/>
                      <a:pt x="594798" y="309240"/>
                      <a:pt x="578086" y="354601"/>
                    </a:cubicBezTo>
                    <a:cubicBezTo>
                      <a:pt x="568536" y="380467"/>
                      <a:pt x="563761" y="406729"/>
                      <a:pt x="563761" y="433387"/>
                    </a:cubicBezTo>
                    <a:cubicBezTo>
                      <a:pt x="563761" y="488299"/>
                      <a:pt x="582064" y="537440"/>
                      <a:pt x="618670" y="580811"/>
                    </a:cubicBezTo>
                    <a:cubicBezTo>
                      <a:pt x="664031" y="634532"/>
                      <a:pt x="722524" y="661392"/>
                      <a:pt x="794147" y="661392"/>
                    </a:cubicBezTo>
                    <a:cubicBezTo>
                      <a:pt x="865771" y="661392"/>
                      <a:pt x="924462" y="634733"/>
                      <a:pt x="970220" y="581415"/>
                    </a:cubicBezTo>
                    <a:cubicBezTo>
                      <a:pt x="1006826" y="538838"/>
                      <a:pt x="1025128" y="489496"/>
                      <a:pt x="1025128" y="433387"/>
                    </a:cubicBezTo>
                    <a:cubicBezTo>
                      <a:pt x="1025128" y="376088"/>
                      <a:pt x="1006826" y="326547"/>
                      <a:pt x="970220" y="284764"/>
                    </a:cubicBezTo>
                    <a:cubicBezTo>
                      <a:pt x="923265" y="231446"/>
                      <a:pt x="864574" y="204787"/>
                      <a:pt x="794147" y="204787"/>
                    </a:cubicBezTo>
                    <a:close/>
                    <a:moveTo>
                      <a:pt x="1304330" y="24408"/>
                    </a:moveTo>
                    <a:lnTo>
                      <a:pt x="1862733" y="24408"/>
                    </a:lnTo>
                    <a:lnTo>
                      <a:pt x="1862733" y="200620"/>
                    </a:lnTo>
                    <a:lnTo>
                      <a:pt x="1687711" y="200620"/>
                    </a:lnTo>
                    <a:lnTo>
                      <a:pt x="1687711" y="837009"/>
                    </a:lnTo>
                    <a:lnTo>
                      <a:pt x="1476375" y="837009"/>
                    </a:lnTo>
                    <a:lnTo>
                      <a:pt x="1476375" y="200620"/>
                    </a:lnTo>
                    <a:lnTo>
                      <a:pt x="1304330" y="200620"/>
                    </a:lnTo>
                    <a:close/>
                    <a:moveTo>
                      <a:pt x="0" y="24408"/>
                    </a:moveTo>
                    <a:lnTo>
                      <a:pt x="211336" y="24408"/>
                    </a:lnTo>
                    <a:lnTo>
                      <a:pt x="211336" y="837009"/>
                    </a:lnTo>
                    <a:lnTo>
                      <a:pt x="0" y="837009"/>
                    </a:lnTo>
                    <a:close/>
                    <a:moveTo>
                      <a:pt x="794147" y="0"/>
                    </a:moveTo>
                    <a:cubicBezTo>
                      <a:pt x="937022" y="0"/>
                      <a:pt x="1050330" y="47426"/>
                      <a:pt x="1134071" y="142280"/>
                    </a:cubicBezTo>
                    <a:cubicBezTo>
                      <a:pt x="1207493" y="225623"/>
                      <a:pt x="1244204" y="322659"/>
                      <a:pt x="1244204" y="433387"/>
                    </a:cubicBezTo>
                    <a:cubicBezTo>
                      <a:pt x="1244204" y="543719"/>
                      <a:pt x="1207493" y="640556"/>
                      <a:pt x="1134071" y="723900"/>
                    </a:cubicBezTo>
                    <a:cubicBezTo>
                      <a:pt x="1050330" y="818753"/>
                      <a:pt x="937022" y="866179"/>
                      <a:pt x="794147" y="866179"/>
                    </a:cubicBezTo>
                    <a:cubicBezTo>
                      <a:pt x="651669" y="866179"/>
                      <a:pt x="538560" y="818753"/>
                      <a:pt x="454819" y="723900"/>
                    </a:cubicBezTo>
                    <a:cubicBezTo>
                      <a:pt x="381397" y="640556"/>
                      <a:pt x="344686" y="543719"/>
                      <a:pt x="344686" y="433387"/>
                    </a:cubicBezTo>
                    <a:cubicBezTo>
                      <a:pt x="344686" y="382984"/>
                      <a:pt x="354608" y="331291"/>
                      <a:pt x="374452" y="278308"/>
                    </a:cubicBezTo>
                    <a:cubicBezTo>
                      <a:pt x="394296" y="225326"/>
                      <a:pt x="420886" y="179983"/>
                      <a:pt x="454224" y="142280"/>
                    </a:cubicBezTo>
                    <a:cubicBezTo>
                      <a:pt x="537964" y="47426"/>
                      <a:pt x="651272" y="0"/>
                      <a:pt x="794147" y="0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2400" dirty="0"/>
              </a:p>
            </p:txBody>
          </p:sp>
          <p:sp>
            <p:nvSpPr>
              <p:cNvPr id="16" name="Freeform: Shape 67">
                <a:extLst>
                  <a:ext uri="{FF2B5EF4-FFF2-40B4-BE49-F238E27FC236}">
                    <a16:creationId xmlns:a16="http://schemas.microsoft.com/office/drawing/2014/main" id="{275D1FAA-C13F-4A6B-BA37-7704CFB7ADCD}"/>
                  </a:ext>
                </a:extLst>
              </p:cNvPr>
              <p:cNvSpPr/>
              <p:nvPr/>
            </p:nvSpPr>
            <p:spPr>
              <a:xfrm>
                <a:off x="8174174" y="1963600"/>
                <a:ext cx="443936" cy="326799"/>
              </a:xfrm>
              <a:custGeom>
                <a:avLst/>
                <a:gdLst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788485 w 3738080"/>
                  <a:gd name="connsiteY5" fmla="*/ 1841061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624294 w 3738080"/>
                  <a:gd name="connsiteY5" fmla="*/ 1992174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1858846 w 3738080"/>
                  <a:gd name="connsiteY5" fmla="*/ 1306247 h 2751770"/>
                  <a:gd name="connsiteX6" fmla="*/ 2645621 w 3738080"/>
                  <a:gd name="connsiteY6" fmla="*/ 1504218 h 2751770"/>
                  <a:gd name="connsiteX7" fmla="*/ 2795575 w 3738080"/>
                  <a:gd name="connsiteY7" fmla="*/ 1757331 h 2751770"/>
                  <a:gd name="connsiteX8" fmla="*/ 2539052 w 3738080"/>
                  <a:gd name="connsiteY8" fmla="*/ 1841672 h 2751770"/>
                  <a:gd name="connsiteX9" fmla="*/ 1353947 w 3738080"/>
                  <a:gd name="connsiteY9" fmla="*/ 1778974 h 2751770"/>
                  <a:gd name="connsiteX10" fmla="*/ 982333 w 3738080"/>
                  <a:gd name="connsiteY10" fmla="*/ 1780833 h 2751770"/>
                  <a:gd name="connsiteX11" fmla="*/ 966756 w 3738080"/>
                  <a:gd name="connsiteY11" fmla="*/ 1667407 h 2751770"/>
                  <a:gd name="connsiteX12" fmla="*/ 1217540 w 3738080"/>
                  <a:gd name="connsiteY12" fmla="*/ 1445700 h 2751770"/>
                  <a:gd name="connsiteX13" fmla="*/ 1858846 w 3738080"/>
                  <a:gd name="connsiteY13" fmla="*/ 1306247 h 2751770"/>
                  <a:gd name="connsiteX14" fmla="*/ 1828129 w 3738080"/>
                  <a:gd name="connsiteY14" fmla="*/ 650059 h 2751770"/>
                  <a:gd name="connsiteX15" fmla="*/ 3108200 w 3738080"/>
                  <a:gd name="connsiteY15" fmla="*/ 1008980 h 2751770"/>
                  <a:gd name="connsiteX16" fmla="*/ 3258155 w 3738080"/>
                  <a:gd name="connsiteY16" fmla="*/ 1319033 h 2751770"/>
                  <a:gd name="connsiteX17" fmla="*/ 2937692 w 3738080"/>
                  <a:gd name="connsiteY17" fmla="*/ 1304637 h 2751770"/>
                  <a:gd name="connsiteX18" fmla="*/ 763561 w 3738080"/>
                  <a:gd name="connsiteY18" fmla="*/ 1325535 h 2751770"/>
                  <a:gd name="connsiteX19" fmla="*/ 464412 w 3738080"/>
                  <a:gd name="connsiteY19" fmla="*/ 1278813 h 2751770"/>
                  <a:gd name="connsiteX20" fmla="*/ 450482 w 3738080"/>
                  <a:gd name="connsiteY20" fmla="*/ 1202928 h 2751770"/>
                  <a:gd name="connsiteX21" fmla="*/ 622892 w 3738080"/>
                  <a:gd name="connsiteY21" fmla="*/ 1008979 h 2751770"/>
                  <a:gd name="connsiteX22" fmla="*/ 1828129 w 3738080"/>
                  <a:gd name="connsiteY22" fmla="*/ 650059 h 2751770"/>
                  <a:gd name="connsiteX23" fmla="*/ 1764313 w 3738080"/>
                  <a:gd name="connsiteY23" fmla="*/ 591 h 2751770"/>
                  <a:gd name="connsiteX24" fmla="*/ 3559697 w 3738080"/>
                  <a:gd name="connsiteY24" fmla="*/ 547180 h 2751770"/>
                  <a:gd name="connsiteX25" fmla="*/ 3709650 w 3738080"/>
                  <a:gd name="connsiteY25" fmla="*/ 882310 h 2751770"/>
                  <a:gd name="connsiteX26" fmla="*/ 3367875 w 3738080"/>
                  <a:gd name="connsiteY26" fmla="*/ 834477 h 2751770"/>
                  <a:gd name="connsiteX27" fmla="*/ 318417 w 3738080"/>
                  <a:gd name="connsiteY27" fmla="*/ 884635 h 2751770"/>
                  <a:gd name="connsiteX28" fmla="*/ 19267 w 3738080"/>
                  <a:gd name="connsiteY28" fmla="*/ 846272 h 2751770"/>
                  <a:gd name="connsiteX29" fmla="*/ 275 w 3738080"/>
                  <a:gd name="connsiteY29" fmla="*/ 760137 h 2751770"/>
                  <a:gd name="connsiteX30" fmla="*/ 173484 w 3738080"/>
                  <a:gd name="connsiteY30" fmla="*/ 547180 h 2751770"/>
                  <a:gd name="connsiteX31" fmla="*/ 1764313 w 3738080"/>
                  <a:gd name="connsiteY31" fmla="*/ 591 h 27517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738080" h="2751770">
                    <a:moveTo>
                      <a:pt x="1869041" y="1997576"/>
                    </a:moveTo>
                    <a:cubicBezTo>
                      <a:pt x="2077306" y="1997576"/>
                      <a:pt x="2246138" y="2166408"/>
                      <a:pt x="2246138" y="2374673"/>
                    </a:cubicBezTo>
                    <a:cubicBezTo>
                      <a:pt x="2246138" y="2582938"/>
                      <a:pt x="2077306" y="2751770"/>
                      <a:pt x="1869041" y="2751770"/>
                    </a:cubicBezTo>
                    <a:cubicBezTo>
                      <a:pt x="1660776" y="2751770"/>
                      <a:pt x="1491944" y="2582938"/>
                      <a:pt x="1491944" y="2374673"/>
                    </a:cubicBezTo>
                    <a:cubicBezTo>
                      <a:pt x="1491944" y="2166408"/>
                      <a:pt x="1660776" y="1997576"/>
                      <a:pt x="1869041" y="1997576"/>
                    </a:cubicBezTo>
                    <a:close/>
                    <a:moveTo>
                      <a:pt x="1858846" y="1306247"/>
                    </a:moveTo>
                    <a:cubicBezTo>
                      <a:pt x="2165924" y="1301758"/>
                      <a:pt x="2404940" y="1399722"/>
                      <a:pt x="2645621" y="1504218"/>
                    </a:cubicBezTo>
                    <a:cubicBezTo>
                      <a:pt x="2813424" y="1597955"/>
                      <a:pt x="2823993" y="1678797"/>
                      <a:pt x="2795575" y="1757331"/>
                    </a:cubicBezTo>
                    <a:cubicBezTo>
                      <a:pt x="2761471" y="1842158"/>
                      <a:pt x="2685239" y="1908552"/>
                      <a:pt x="2539052" y="1841672"/>
                    </a:cubicBezTo>
                    <a:cubicBezTo>
                      <a:pt x="2347207" y="1684231"/>
                      <a:pt x="1733351" y="1556050"/>
                      <a:pt x="1353947" y="1778974"/>
                    </a:cubicBezTo>
                    <a:cubicBezTo>
                      <a:pt x="1250080" y="1855218"/>
                      <a:pt x="1037749" y="1915097"/>
                      <a:pt x="982333" y="1780833"/>
                    </a:cubicBezTo>
                    <a:cubicBezTo>
                      <a:pt x="968480" y="1736637"/>
                      <a:pt x="963386" y="1699601"/>
                      <a:pt x="966756" y="1667407"/>
                    </a:cubicBezTo>
                    <a:cubicBezTo>
                      <a:pt x="976866" y="1570822"/>
                      <a:pt x="1063141" y="1517802"/>
                      <a:pt x="1217540" y="1445700"/>
                    </a:cubicBezTo>
                    <a:cubicBezTo>
                      <a:pt x="1465851" y="1348519"/>
                      <a:pt x="1674601" y="1308942"/>
                      <a:pt x="1858846" y="1306247"/>
                    </a:cubicBezTo>
                    <a:close/>
                    <a:moveTo>
                      <a:pt x="1828129" y="650059"/>
                    </a:moveTo>
                    <a:cubicBezTo>
                      <a:pt x="2445754" y="646836"/>
                      <a:pt x="2937662" y="894034"/>
                      <a:pt x="3108200" y="1008980"/>
                    </a:cubicBezTo>
                    <a:cubicBezTo>
                      <a:pt x="3228810" y="1075858"/>
                      <a:pt x="3343409" y="1171509"/>
                      <a:pt x="3258155" y="1319033"/>
                    </a:cubicBezTo>
                    <a:cubicBezTo>
                      <a:pt x="3134282" y="1435449"/>
                      <a:pt x="3057301" y="1393031"/>
                      <a:pt x="2937692" y="1304637"/>
                    </a:cubicBezTo>
                    <a:cubicBezTo>
                      <a:pt x="2647778" y="1191783"/>
                      <a:pt x="2008321" y="619142"/>
                      <a:pt x="763561" y="1325535"/>
                    </a:cubicBezTo>
                    <a:cubicBezTo>
                      <a:pt x="621636" y="1425852"/>
                      <a:pt x="511304" y="1376178"/>
                      <a:pt x="464412" y="1278813"/>
                    </a:cubicBezTo>
                    <a:cubicBezTo>
                      <a:pt x="452398" y="1252494"/>
                      <a:pt x="448110" y="1227223"/>
                      <a:pt x="450482" y="1202928"/>
                    </a:cubicBezTo>
                    <a:cubicBezTo>
                      <a:pt x="457599" y="1130049"/>
                      <a:pt x="524660" y="1065987"/>
                      <a:pt x="622892" y="1008979"/>
                    </a:cubicBezTo>
                    <a:cubicBezTo>
                      <a:pt x="1041721" y="744082"/>
                      <a:pt x="1457554" y="651995"/>
                      <a:pt x="1828129" y="650059"/>
                    </a:cubicBezTo>
                    <a:close/>
                    <a:moveTo>
                      <a:pt x="1764313" y="591"/>
                    </a:moveTo>
                    <a:cubicBezTo>
                      <a:pt x="2430887" y="-13278"/>
                      <a:pt x="3056659" y="218017"/>
                      <a:pt x="3559697" y="547180"/>
                    </a:cubicBezTo>
                    <a:cubicBezTo>
                      <a:pt x="3671781" y="597338"/>
                      <a:pt x="3794905" y="759863"/>
                      <a:pt x="3709650" y="882310"/>
                    </a:cubicBezTo>
                    <a:cubicBezTo>
                      <a:pt x="3594303" y="984791"/>
                      <a:pt x="3449118" y="907547"/>
                      <a:pt x="3367875" y="834477"/>
                    </a:cubicBezTo>
                    <a:cubicBezTo>
                      <a:pt x="3193985" y="725799"/>
                      <a:pt x="1920315" y="-235561"/>
                      <a:pt x="318417" y="884635"/>
                    </a:cubicBezTo>
                    <a:cubicBezTo>
                      <a:pt x="189280" y="993311"/>
                      <a:pt x="70419" y="922739"/>
                      <a:pt x="19267" y="846272"/>
                    </a:cubicBezTo>
                    <a:cubicBezTo>
                      <a:pt x="4410" y="817516"/>
                      <a:pt x="-1388" y="788500"/>
                      <a:pt x="275" y="760137"/>
                    </a:cubicBezTo>
                    <a:cubicBezTo>
                      <a:pt x="5260" y="675044"/>
                      <a:pt x="77384" y="595829"/>
                      <a:pt x="173484" y="547180"/>
                    </a:cubicBezTo>
                    <a:cubicBezTo>
                      <a:pt x="702741" y="170471"/>
                      <a:pt x="1245868" y="11376"/>
                      <a:pt x="1764313" y="591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/>
              </a:p>
            </p:txBody>
          </p:sp>
        </p:grpSp>
        <p:sp>
          <p:nvSpPr>
            <p:cNvPr id="14" name="Subtitle 2">
              <a:extLst>
                <a:ext uri="{FF2B5EF4-FFF2-40B4-BE49-F238E27FC236}">
                  <a16:creationId xmlns:a16="http://schemas.microsoft.com/office/drawing/2014/main" id="{53858C97-DA2F-8866-47CC-CDF4077BBF9D}"/>
                </a:ext>
              </a:extLst>
            </p:cNvPr>
            <p:cNvSpPr txBox="1">
              <a:spLocks/>
            </p:cNvSpPr>
            <p:nvPr/>
          </p:nvSpPr>
          <p:spPr>
            <a:xfrm>
              <a:off x="1560697" y="757061"/>
              <a:ext cx="729275" cy="203382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625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600" dirty="0" smtClean="0">
                  <a:solidFill>
                    <a:srgbClr val="7030A0"/>
                  </a:solidFill>
                </a:rPr>
                <a:t>PDS</a:t>
              </a:r>
              <a:endParaRPr lang="en-US" sz="1600" dirty="0">
                <a:solidFill>
                  <a:srgbClr val="7030A0"/>
                </a:solidFill>
              </a:endParaRPr>
            </a:p>
          </p:txBody>
        </p:sp>
      </p:grpSp>
      <p:pic>
        <p:nvPicPr>
          <p:cNvPr id="19" name="Picture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13612" y="2908070"/>
            <a:ext cx="446086" cy="635863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16232" y="2923909"/>
            <a:ext cx="613391" cy="582721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4914" y="2908070"/>
            <a:ext cx="599662" cy="577554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7443980" y="4607130"/>
            <a:ext cx="1587578" cy="1508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80" dirty="0"/>
              <a:t>https</a:t>
            </a:r>
            <a:r>
              <a:rPr lang="en-US" sz="380" dirty="0" smtClean="0"/>
              <a:t>://github.com/amelcharolinesgn2/IoT_simulator-mqtt-NodeRed</a:t>
            </a:r>
            <a:endParaRPr lang="en-US" sz="380" dirty="0"/>
          </a:p>
        </p:txBody>
      </p:sp>
      <p:sp>
        <p:nvSpPr>
          <p:cNvPr id="23" name="Rectangle 22"/>
          <p:cNvSpPr/>
          <p:nvPr/>
        </p:nvSpPr>
        <p:spPr>
          <a:xfrm>
            <a:off x="7684620" y="3981041"/>
            <a:ext cx="1301349" cy="150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78" dirty="0"/>
              <a:t>https://www.youtube.com/@AmelOline/videos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97191" y="3918741"/>
            <a:ext cx="879077" cy="150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78" dirty="0"/>
              <a:t>https://github.com/siagianp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33888" y="4052640"/>
            <a:ext cx="1452642" cy="15049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378" dirty="0"/>
              <a:t>https://github.com/amelcharolinesgn2/Cloud-Infrastructures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67790" y="4116666"/>
            <a:ext cx="1718740" cy="15049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378" dirty="0"/>
              <a:t>https://github.com/amelcharolinesgn2/ClouD-Infrastructure-SISKA-2025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84620" y="4167609"/>
            <a:ext cx="1301349" cy="150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78" dirty="0"/>
              <a:t>https://</a:t>
            </a:r>
            <a:r>
              <a:rPr lang="en-US" sz="378" dirty="0" smtClean="0"/>
              <a:t>github.com/amelcharolinesgn2/CCNA-1-v7</a:t>
            </a:r>
            <a:endParaRPr lang="en-US" sz="378" dirty="0"/>
          </a:p>
        </p:txBody>
      </p:sp>
      <p:sp>
        <p:nvSpPr>
          <p:cNvPr id="28" name="Rectangle 27"/>
          <p:cNvSpPr/>
          <p:nvPr/>
        </p:nvSpPr>
        <p:spPr>
          <a:xfrm>
            <a:off x="7684620" y="4229289"/>
            <a:ext cx="1301349" cy="150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78" dirty="0"/>
              <a:t>https://</a:t>
            </a:r>
            <a:r>
              <a:rPr lang="en-US" sz="378" dirty="0" smtClean="0"/>
              <a:t>github.com/amelcharolinesgn2/CCNA-2-v7</a:t>
            </a:r>
            <a:endParaRPr lang="en-US" sz="378" dirty="0"/>
          </a:p>
        </p:txBody>
      </p:sp>
      <p:sp>
        <p:nvSpPr>
          <p:cNvPr id="29" name="Rectangle 28"/>
          <p:cNvSpPr/>
          <p:nvPr/>
        </p:nvSpPr>
        <p:spPr>
          <a:xfrm>
            <a:off x="7685742" y="4485177"/>
            <a:ext cx="1301349" cy="208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78" dirty="0">
                <a:hlinkClick r:id="rId11"/>
              </a:rPr>
              <a:t>https://github.com/amelcharolinesgn2/AWS</a:t>
            </a:r>
            <a:r>
              <a:rPr lang="en-US" sz="378" dirty="0"/>
              <a:t> Certificate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685742" y="4543334"/>
            <a:ext cx="1301349" cy="150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78" dirty="0">
                <a:hlinkClick r:id="rId11"/>
              </a:rPr>
              <a:t>https://</a:t>
            </a:r>
            <a:r>
              <a:rPr lang="en-US" sz="378" dirty="0" smtClean="0">
                <a:hlinkClick r:id="rId11"/>
              </a:rPr>
              <a:t>github.com/amelcharolinesgn2/OpenStack</a:t>
            </a:r>
            <a:endParaRPr lang="en-US" sz="378" dirty="0"/>
          </a:p>
        </p:txBody>
      </p:sp>
      <p:sp>
        <p:nvSpPr>
          <p:cNvPr id="31" name="Rectangle 30"/>
          <p:cNvSpPr/>
          <p:nvPr/>
        </p:nvSpPr>
        <p:spPr>
          <a:xfrm>
            <a:off x="7685181" y="4426648"/>
            <a:ext cx="1301349" cy="150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78" dirty="0">
                <a:hlinkClick r:id="rId11"/>
              </a:rPr>
              <a:t>https://</a:t>
            </a:r>
            <a:r>
              <a:rPr lang="en-US" sz="378" dirty="0" smtClean="0">
                <a:hlinkClick r:id="rId11"/>
              </a:rPr>
              <a:t>github.com/amelcharolinesgn2/CloudSim</a:t>
            </a:r>
            <a:endParaRPr lang="en-US" sz="378" dirty="0"/>
          </a:p>
        </p:txBody>
      </p:sp>
      <p:sp>
        <p:nvSpPr>
          <p:cNvPr id="32" name="Rectangle 31"/>
          <p:cNvSpPr/>
          <p:nvPr/>
        </p:nvSpPr>
        <p:spPr>
          <a:xfrm>
            <a:off x="7684059" y="4289399"/>
            <a:ext cx="1301349" cy="150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78" dirty="0"/>
              <a:t>https://</a:t>
            </a:r>
            <a:r>
              <a:rPr lang="en-US" sz="378" dirty="0" smtClean="0"/>
              <a:t>github.com/amelcharolinesgn2/CCNA-3-v7</a:t>
            </a:r>
            <a:endParaRPr lang="en-US" sz="378" dirty="0"/>
          </a:p>
        </p:txBody>
      </p:sp>
      <p:sp>
        <p:nvSpPr>
          <p:cNvPr id="33" name="Rectangle 32"/>
          <p:cNvSpPr/>
          <p:nvPr/>
        </p:nvSpPr>
        <p:spPr>
          <a:xfrm>
            <a:off x="7684059" y="4338333"/>
            <a:ext cx="1301349" cy="150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78" dirty="0"/>
              <a:t>https://</a:t>
            </a:r>
            <a:r>
              <a:rPr lang="en-US" sz="378" dirty="0" smtClean="0"/>
              <a:t>github.com/amelcharolinesgn2/CCNA-4-v7</a:t>
            </a:r>
            <a:endParaRPr lang="en-US" sz="378" dirty="0"/>
          </a:p>
        </p:txBody>
      </p:sp>
      <p:sp>
        <p:nvSpPr>
          <p:cNvPr id="34" name="Rectangle 33"/>
          <p:cNvSpPr/>
          <p:nvPr/>
        </p:nvSpPr>
        <p:spPr>
          <a:xfrm>
            <a:off x="7567378" y="4386074"/>
            <a:ext cx="1408890" cy="150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78" dirty="0"/>
              <a:t>https://</a:t>
            </a:r>
            <a:r>
              <a:rPr lang="en-US" sz="378" dirty="0" smtClean="0"/>
              <a:t>github.com/amelcharolinesgn2/ANJAR_CCNP_Lab</a:t>
            </a:r>
            <a:endParaRPr lang="en-US" sz="378" dirty="0"/>
          </a:p>
        </p:txBody>
      </p:sp>
      <p:sp>
        <p:nvSpPr>
          <p:cNvPr id="35" name="Rectangle 34"/>
          <p:cNvSpPr/>
          <p:nvPr/>
        </p:nvSpPr>
        <p:spPr>
          <a:xfrm>
            <a:off x="7798790" y="4674784"/>
            <a:ext cx="1232768" cy="1508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80" dirty="0"/>
              <a:t>https</a:t>
            </a:r>
            <a:r>
              <a:rPr lang="en-US" sz="380" dirty="0" smtClean="0"/>
              <a:t>://</a:t>
            </a:r>
            <a:r>
              <a:rPr lang="en-US" sz="380" dirty="0" smtClean="0"/>
              <a:t>github.com/amelcharolinesgn2/kubernetes</a:t>
            </a:r>
            <a:endParaRPr lang="en-US" sz="38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2730" cy="5143500"/>
            <a:chOff x="0" y="0"/>
            <a:chExt cx="9142730" cy="5143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54" y="0"/>
              <a:ext cx="9141290" cy="410870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4175999" cy="514349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193024" y="4326076"/>
              <a:ext cx="722375" cy="604028"/>
            </a:xfrm>
            <a:prstGeom prst="rect">
              <a:avLst/>
            </a:prstGeom>
          </p:spPr>
        </p:pic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136196" y="1319152"/>
            <a:ext cx="618871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>
                <a:solidFill>
                  <a:srgbClr val="FFFFFF"/>
                </a:solidFill>
                <a:latin typeface="Calibri"/>
                <a:cs typeface="Calibri"/>
              </a:rPr>
              <a:t>Let’s</a:t>
            </a:r>
            <a:r>
              <a:rPr sz="4400" spc="-1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400" dirty="0">
                <a:solidFill>
                  <a:srgbClr val="FFFFFF"/>
                </a:solidFill>
                <a:latin typeface="Calibri"/>
                <a:cs typeface="Calibri"/>
              </a:rPr>
              <a:t>start</a:t>
            </a:r>
            <a:r>
              <a:rPr sz="4400" spc="-1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400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4400" spc="-1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400" dirty="0">
                <a:solidFill>
                  <a:srgbClr val="FFFFFF"/>
                </a:solidFill>
                <a:latin typeface="Calibri"/>
                <a:cs typeface="Calibri"/>
              </a:rPr>
              <a:t>an</a:t>
            </a:r>
            <a:r>
              <a:rPr sz="4400" spc="-1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400" spc="-10" dirty="0">
                <a:solidFill>
                  <a:srgbClr val="FFFFFF"/>
                </a:solidFill>
                <a:latin typeface="Calibri"/>
                <a:cs typeface="Calibri"/>
              </a:rPr>
              <a:t>analogy..</a:t>
            </a:r>
            <a:endParaRPr sz="44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dirty="0"/>
              <a:t>A</a:t>
            </a:r>
            <a:r>
              <a:rPr spc="-175" dirty="0"/>
              <a:t> </a:t>
            </a:r>
            <a:r>
              <a:rPr dirty="0"/>
              <a:t>Cargo</a:t>
            </a:r>
            <a:r>
              <a:rPr spc="10" dirty="0"/>
              <a:t> </a:t>
            </a:r>
            <a:r>
              <a:rPr spc="-10" dirty="0"/>
              <a:t>Ship…</a:t>
            </a: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2100" dirty="0">
                <a:solidFill>
                  <a:srgbClr val="595959"/>
                </a:solidFill>
              </a:rPr>
              <a:t>Carries</a:t>
            </a:r>
            <a:r>
              <a:rPr sz="2100" spc="-20" dirty="0">
                <a:solidFill>
                  <a:srgbClr val="595959"/>
                </a:solidFill>
              </a:rPr>
              <a:t> </a:t>
            </a:r>
            <a:r>
              <a:rPr sz="2100" dirty="0">
                <a:solidFill>
                  <a:srgbClr val="595959"/>
                </a:solidFill>
              </a:rPr>
              <a:t>containers</a:t>
            </a:r>
            <a:r>
              <a:rPr sz="2100" spc="-5" dirty="0">
                <a:solidFill>
                  <a:srgbClr val="595959"/>
                </a:solidFill>
              </a:rPr>
              <a:t> </a:t>
            </a:r>
            <a:r>
              <a:rPr sz="2100" dirty="0">
                <a:solidFill>
                  <a:srgbClr val="595959"/>
                </a:solidFill>
              </a:rPr>
              <a:t>across</a:t>
            </a:r>
            <a:r>
              <a:rPr sz="2100" spc="-10" dirty="0">
                <a:solidFill>
                  <a:srgbClr val="595959"/>
                </a:solidFill>
              </a:rPr>
              <a:t> </a:t>
            </a:r>
            <a:r>
              <a:rPr sz="2100" dirty="0">
                <a:solidFill>
                  <a:srgbClr val="595959"/>
                </a:solidFill>
              </a:rPr>
              <a:t>the</a:t>
            </a:r>
            <a:r>
              <a:rPr sz="2100" spc="-5" dirty="0">
                <a:solidFill>
                  <a:srgbClr val="595959"/>
                </a:solidFill>
              </a:rPr>
              <a:t> </a:t>
            </a:r>
            <a:r>
              <a:rPr sz="2100" spc="-25" dirty="0">
                <a:solidFill>
                  <a:srgbClr val="595959"/>
                </a:solidFill>
              </a:rPr>
              <a:t>sea</a:t>
            </a:r>
            <a:endParaRPr sz="21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38599" y="2167127"/>
            <a:ext cx="1676215" cy="120616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4391" y="1591055"/>
            <a:ext cx="5834378" cy="28602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dirty="0"/>
              <a:t>A</a:t>
            </a:r>
            <a:r>
              <a:rPr spc="-175" dirty="0"/>
              <a:t> </a:t>
            </a:r>
            <a:r>
              <a:rPr dirty="0"/>
              <a:t>Cargo</a:t>
            </a:r>
            <a:r>
              <a:rPr spc="10" dirty="0"/>
              <a:t> </a:t>
            </a:r>
            <a:r>
              <a:rPr spc="-10" dirty="0"/>
              <a:t>Ship…</a:t>
            </a: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2100" dirty="0">
                <a:solidFill>
                  <a:srgbClr val="595959"/>
                </a:solidFill>
              </a:rPr>
              <a:t>Host</a:t>
            </a:r>
            <a:r>
              <a:rPr sz="2100" spc="-140" dirty="0">
                <a:solidFill>
                  <a:srgbClr val="595959"/>
                </a:solidFill>
              </a:rPr>
              <a:t> </a:t>
            </a:r>
            <a:r>
              <a:rPr sz="2100" dirty="0">
                <a:solidFill>
                  <a:srgbClr val="595959"/>
                </a:solidFill>
              </a:rPr>
              <a:t>Application</a:t>
            </a:r>
            <a:r>
              <a:rPr sz="2100" spc="-25" dirty="0">
                <a:solidFill>
                  <a:srgbClr val="595959"/>
                </a:solidFill>
              </a:rPr>
              <a:t> </a:t>
            </a:r>
            <a:r>
              <a:rPr sz="2100" dirty="0">
                <a:solidFill>
                  <a:srgbClr val="595959"/>
                </a:solidFill>
              </a:rPr>
              <a:t>as</a:t>
            </a:r>
            <a:r>
              <a:rPr sz="2100" spc="-25" dirty="0">
                <a:solidFill>
                  <a:srgbClr val="595959"/>
                </a:solidFill>
              </a:rPr>
              <a:t> </a:t>
            </a:r>
            <a:r>
              <a:rPr sz="2100" dirty="0">
                <a:solidFill>
                  <a:srgbClr val="595959"/>
                </a:solidFill>
              </a:rPr>
              <a:t>Containers</a:t>
            </a:r>
            <a:r>
              <a:rPr sz="2100" spc="-30" dirty="0">
                <a:solidFill>
                  <a:srgbClr val="595959"/>
                </a:solidFill>
              </a:rPr>
              <a:t> </a:t>
            </a:r>
            <a:r>
              <a:rPr sz="2100" dirty="0">
                <a:solidFill>
                  <a:srgbClr val="595959"/>
                </a:solidFill>
              </a:rPr>
              <a:t>~</a:t>
            </a:r>
            <a:r>
              <a:rPr sz="2100" spc="-5" dirty="0">
                <a:solidFill>
                  <a:srgbClr val="595959"/>
                </a:solidFill>
              </a:rPr>
              <a:t> </a:t>
            </a:r>
            <a:r>
              <a:rPr sz="2100" dirty="0">
                <a:solidFill>
                  <a:srgbClr val="0097A7"/>
                </a:solidFill>
              </a:rPr>
              <a:t>Worker</a:t>
            </a:r>
            <a:r>
              <a:rPr sz="2100" spc="-25" dirty="0">
                <a:solidFill>
                  <a:srgbClr val="0097A7"/>
                </a:solidFill>
              </a:rPr>
              <a:t> </a:t>
            </a:r>
            <a:r>
              <a:rPr sz="2100" spc="-10" dirty="0">
                <a:solidFill>
                  <a:srgbClr val="0097A7"/>
                </a:solidFill>
              </a:rPr>
              <a:t>Nodes</a:t>
            </a:r>
            <a:endParaRPr sz="21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2892" y="1533305"/>
            <a:ext cx="5834377" cy="28602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Overview</a:t>
            </a:r>
          </a:p>
        </p:txBody>
      </p:sp>
      <p:sp>
        <p:nvSpPr>
          <p:cNvPr id="3" name="object 3"/>
          <p:cNvSpPr/>
          <p:nvPr/>
        </p:nvSpPr>
        <p:spPr>
          <a:xfrm>
            <a:off x="5196113" y="1175657"/>
            <a:ext cx="1676400" cy="653415"/>
          </a:xfrm>
          <a:custGeom>
            <a:avLst/>
            <a:gdLst/>
            <a:ahLst/>
            <a:cxnLst/>
            <a:rect l="l" t="t" r="r" b="b"/>
            <a:pathLst>
              <a:path w="1676400" h="653414">
                <a:moveTo>
                  <a:pt x="0" y="108859"/>
                </a:moveTo>
                <a:lnTo>
                  <a:pt x="8554" y="66486"/>
                </a:lnTo>
                <a:lnTo>
                  <a:pt x="31884" y="31884"/>
                </a:lnTo>
                <a:lnTo>
                  <a:pt x="66486" y="8554"/>
                </a:lnTo>
                <a:lnTo>
                  <a:pt x="108859" y="0"/>
                </a:lnTo>
                <a:lnTo>
                  <a:pt x="1567540" y="0"/>
                </a:lnTo>
                <a:lnTo>
                  <a:pt x="1609199" y="8286"/>
                </a:lnTo>
                <a:lnTo>
                  <a:pt x="1644515" y="31884"/>
                </a:lnTo>
                <a:lnTo>
                  <a:pt x="1668113" y="67200"/>
                </a:lnTo>
                <a:lnTo>
                  <a:pt x="1676399" y="108859"/>
                </a:lnTo>
                <a:lnTo>
                  <a:pt x="1676399" y="544283"/>
                </a:lnTo>
                <a:lnTo>
                  <a:pt x="1667845" y="586656"/>
                </a:lnTo>
                <a:lnTo>
                  <a:pt x="1644515" y="621258"/>
                </a:lnTo>
                <a:lnTo>
                  <a:pt x="1609913" y="644588"/>
                </a:lnTo>
                <a:lnTo>
                  <a:pt x="1567540" y="653142"/>
                </a:lnTo>
                <a:lnTo>
                  <a:pt x="108859" y="653142"/>
                </a:lnTo>
                <a:lnTo>
                  <a:pt x="66486" y="644588"/>
                </a:lnTo>
                <a:lnTo>
                  <a:pt x="31884" y="621258"/>
                </a:lnTo>
                <a:lnTo>
                  <a:pt x="8554" y="586656"/>
                </a:lnTo>
                <a:lnTo>
                  <a:pt x="0" y="544283"/>
                </a:lnTo>
                <a:lnTo>
                  <a:pt x="0" y="108859"/>
                </a:lnTo>
                <a:close/>
              </a:path>
            </a:pathLst>
          </a:custGeom>
          <a:ln w="12699">
            <a:solidFill>
              <a:srgbClr val="127BB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6968760" y="1328646"/>
            <a:ext cx="598170" cy="41275"/>
            <a:chOff x="6968760" y="1328646"/>
            <a:chExt cx="598170" cy="41275"/>
          </a:xfrm>
        </p:grpSpPr>
        <p:sp>
          <p:nvSpPr>
            <p:cNvPr id="5" name="object 5"/>
            <p:cNvSpPr/>
            <p:nvPr/>
          </p:nvSpPr>
          <p:spPr>
            <a:xfrm>
              <a:off x="7016745" y="1342570"/>
              <a:ext cx="545465" cy="6985"/>
            </a:xfrm>
            <a:custGeom>
              <a:avLst/>
              <a:gdLst/>
              <a:ahLst/>
              <a:cxnLst/>
              <a:rect l="l" t="t" r="r" b="b"/>
              <a:pathLst>
                <a:path w="545465" h="6984">
                  <a:moveTo>
                    <a:pt x="545196" y="0"/>
                  </a:moveTo>
                  <a:lnTo>
                    <a:pt x="0" y="6569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973523" y="133340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411" y="31463"/>
                  </a:moveTo>
                  <a:lnTo>
                    <a:pt x="0" y="16252"/>
                  </a:lnTo>
                  <a:lnTo>
                    <a:pt x="43032" y="0"/>
                  </a:lnTo>
                  <a:lnTo>
                    <a:pt x="43411" y="31463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973523" y="133340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032" y="0"/>
                  </a:moveTo>
                  <a:lnTo>
                    <a:pt x="0" y="16252"/>
                  </a:lnTo>
                  <a:lnTo>
                    <a:pt x="43411" y="31463"/>
                  </a:lnTo>
                  <a:lnTo>
                    <a:pt x="43032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7823654" y="1193944"/>
            <a:ext cx="12274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Worker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Node-</a:t>
            </a:r>
            <a:r>
              <a:rPr sz="1400" spc="-50" dirty="0">
                <a:latin typeface="Arial"/>
                <a:cs typeface="Arial"/>
              </a:rPr>
              <a:t>1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196113" y="2002971"/>
            <a:ext cx="1676400" cy="1379220"/>
          </a:xfrm>
          <a:custGeom>
            <a:avLst/>
            <a:gdLst/>
            <a:ahLst/>
            <a:cxnLst/>
            <a:rect l="l" t="t" r="r" b="b"/>
            <a:pathLst>
              <a:path w="1676400" h="1379220">
                <a:moveTo>
                  <a:pt x="0" y="229814"/>
                </a:moveTo>
                <a:lnTo>
                  <a:pt x="4669" y="183498"/>
                </a:lnTo>
                <a:lnTo>
                  <a:pt x="18059" y="140360"/>
                </a:lnTo>
                <a:lnTo>
                  <a:pt x="39248" y="101322"/>
                </a:lnTo>
                <a:lnTo>
                  <a:pt x="67311" y="67310"/>
                </a:lnTo>
                <a:lnTo>
                  <a:pt x="101322" y="39248"/>
                </a:lnTo>
                <a:lnTo>
                  <a:pt x="140360" y="18059"/>
                </a:lnTo>
                <a:lnTo>
                  <a:pt x="183498" y="4669"/>
                </a:lnTo>
                <a:lnTo>
                  <a:pt x="229813" y="0"/>
                </a:lnTo>
                <a:lnTo>
                  <a:pt x="1446585" y="0"/>
                </a:lnTo>
                <a:lnTo>
                  <a:pt x="1491630" y="4456"/>
                </a:lnTo>
                <a:lnTo>
                  <a:pt x="1534532" y="17493"/>
                </a:lnTo>
                <a:lnTo>
                  <a:pt x="1574087" y="38611"/>
                </a:lnTo>
                <a:lnTo>
                  <a:pt x="1609088" y="67310"/>
                </a:lnTo>
                <a:lnTo>
                  <a:pt x="1637788" y="102313"/>
                </a:lnTo>
                <a:lnTo>
                  <a:pt x="1658906" y="141868"/>
                </a:lnTo>
                <a:lnTo>
                  <a:pt x="1671943" y="184770"/>
                </a:lnTo>
                <a:lnTo>
                  <a:pt x="1676399" y="229814"/>
                </a:lnTo>
                <a:lnTo>
                  <a:pt x="1676399" y="1149042"/>
                </a:lnTo>
                <a:lnTo>
                  <a:pt x="1671730" y="1195358"/>
                </a:lnTo>
                <a:lnTo>
                  <a:pt x="1658340" y="1238496"/>
                </a:lnTo>
                <a:lnTo>
                  <a:pt x="1637151" y="1277534"/>
                </a:lnTo>
                <a:lnTo>
                  <a:pt x="1609088" y="1311546"/>
                </a:lnTo>
                <a:lnTo>
                  <a:pt x="1575077" y="1339608"/>
                </a:lnTo>
                <a:lnTo>
                  <a:pt x="1536039" y="1360797"/>
                </a:lnTo>
                <a:lnTo>
                  <a:pt x="1492901" y="1374188"/>
                </a:lnTo>
                <a:lnTo>
                  <a:pt x="1446585" y="1378856"/>
                </a:lnTo>
                <a:lnTo>
                  <a:pt x="229813" y="1378856"/>
                </a:lnTo>
                <a:lnTo>
                  <a:pt x="183498" y="1374188"/>
                </a:lnTo>
                <a:lnTo>
                  <a:pt x="140360" y="1360797"/>
                </a:lnTo>
                <a:lnTo>
                  <a:pt x="101322" y="1339608"/>
                </a:lnTo>
                <a:lnTo>
                  <a:pt x="67311" y="1311546"/>
                </a:lnTo>
                <a:lnTo>
                  <a:pt x="39248" y="1277534"/>
                </a:lnTo>
                <a:lnTo>
                  <a:pt x="18059" y="1238496"/>
                </a:lnTo>
                <a:lnTo>
                  <a:pt x="4669" y="1195358"/>
                </a:lnTo>
                <a:lnTo>
                  <a:pt x="0" y="1149042"/>
                </a:lnTo>
                <a:lnTo>
                  <a:pt x="0" y="229814"/>
                </a:lnTo>
                <a:close/>
              </a:path>
            </a:pathLst>
          </a:custGeom>
          <a:ln w="12699">
            <a:solidFill>
              <a:srgbClr val="127BB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196113" y="3556001"/>
            <a:ext cx="1676400" cy="653415"/>
          </a:xfrm>
          <a:custGeom>
            <a:avLst/>
            <a:gdLst/>
            <a:ahLst/>
            <a:cxnLst/>
            <a:rect l="l" t="t" r="r" b="b"/>
            <a:pathLst>
              <a:path w="1676400" h="653414">
                <a:moveTo>
                  <a:pt x="0" y="108859"/>
                </a:moveTo>
                <a:lnTo>
                  <a:pt x="8554" y="66486"/>
                </a:lnTo>
                <a:lnTo>
                  <a:pt x="31884" y="31884"/>
                </a:lnTo>
                <a:lnTo>
                  <a:pt x="66486" y="8554"/>
                </a:lnTo>
                <a:lnTo>
                  <a:pt x="108859" y="0"/>
                </a:lnTo>
                <a:lnTo>
                  <a:pt x="1567540" y="0"/>
                </a:lnTo>
                <a:lnTo>
                  <a:pt x="1609199" y="8286"/>
                </a:lnTo>
                <a:lnTo>
                  <a:pt x="1644515" y="31883"/>
                </a:lnTo>
                <a:lnTo>
                  <a:pt x="1668113" y="67200"/>
                </a:lnTo>
                <a:lnTo>
                  <a:pt x="1676399" y="108859"/>
                </a:lnTo>
                <a:lnTo>
                  <a:pt x="1676399" y="544283"/>
                </a:lnTo>
                <a:lnTo>
                  <a:pt x="1667845" y="586656"/>
                </a:lnTo>
                <a:lnTo>
                  <a:pt x="1644515" y="621258"/>
                </a:lnTo>
                <a:lnTo>
                  <a:pt x="1609913" y="644588"/>
                </a:lnTo>
                <a:lnTo>
                  <a:pt x="1567540" y="653142"/>
                </a:lnTo>
                <a:lnTo>
                  <a:pt x="108859" y="653142"/>
                </a:lnTo>
                <a:lnTo>
                  <a:pt x="66486" y="644588"/>
                </a:lnTo>
                <a:lnTo>
                  <a:pt x="31884" y="621258"/>
                </a:lnTo>
                <a:lnTo>
                  <a:pt x="8554" y="586656"/>
                </a:lnTo>
                <a:lnTo>
                  <a:pt x="0" y="544283"/>
                </a:lnTo>
                <a:lnTo>
                  <a:pt x="0" y="108859"/>
                </a:lnTo>
                <a:close/>
              </a:path>
            </a:pathLst>
          </a:custGeom>
          <a:ln w="12699">
            <a:solidFill>
              <a:srgbClr val="127BB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dirty="0"/>
              <a:t>Control</a:t>
            </a:r>
            <a:r>
              <a:rPr spc="-25" dirty="0"/>
              <a:t> </a:t>
            </a:r>
            <a:r>
              <a:rPr spc="-10" dirty="0"/>
              <a:t>Ships..</a:t>
            </a: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2100" dirty="0">
                <a:solidFill>
                  <a:srgbClr val="595959"/>
                </a:solidFill>
              </a:rPr>
              <a:t>Managing</a:t>
            </a:r>
            <a:r>
              <a:rPr sz="2100" spc="-35" dirty="0">
                <a:solidFill>
                  <a:srgbClr val="595959"/>
                </a:solidFill>
              </a:rPr>
              <a:t> </a:t>
            </a:r>
            <a:r>
              <a:rPr sz="2100" dirty="0">
                <a:solidFill>
                  <a:srgbClr val="595959"/>
                </a:solidFill>
              </a:rPr>
              <a:t>&amp;</a:t>
            </a:r>
            <a:r>
              <a:rPr sz="2100" spc="-25" dirty="0">
                <a:solidFill>
                  <a:srgbClr val="595959"/>
                </a:solidFill>
              </a:rPr>
              <a:t> </a:t>
            </a:r>
            <a:r>
              <a:rPr sz="2100" dirty="0">
                <a:solidFill>
                  <a:srgbClr val="595959"/>
                </a:solidFill>
              </a:rPr>
              <a:t>Monitoring</a:t>
            </a:r>
            <a:r>
              <a:rPr sz="2100" spc="-25" dirty="0">
                <a:solidFill>
                  <a:srgbClr val="595959"/>
                </a:solidFill>
              </a:rPr>
              <a:t> </a:t>
            </a:r>
            <a:r>
              <a:rPr sz="2100" dirty="0">
                <a:solidFill>
                  <a:srgbClr val="595959"/>
                </a:solidFill>
              </a:rPr>
              <a:t>of</a:t>
            </a:r>
            <a:r>
              <a:rPr sz="2100" spc="-25" dirty="0">
                <a:solidFill>
                  <a:srgbClr val="595959"/>
                </a:solidFill>
              </a:rPr>
              <a:t> </a:t>
            </a:r>
            <a:r>
              <a:rPr sz="2100" dirty="0">
                <a:solidFill>
                  <a:srgbClr val="595959"/>
                </a:solidFill>
              </a:rPr>
              <a:t>the</a:t>
            </a:r>
            <a:r>
              <a:rPr sz="2100" spc="-25" dirty="0">
                <a:solidFill>
                  <a:srgbClr val="595959"/>
                </a:solidFill>
              </a:rPr>
              <a:t> </a:t>
            </a:r>
            <a:r>
              <a:rPr sz="2100" dirty="0">
                <a:solidFill>
                  <a:srgbClr val="595959"/>
                </a:solidFill>
              </a:rPr>
              <a:t>cargo</a:t>
            </a:r>
            <a:r>
              <a:rPr sz="2100" spc="-20" dirty="0">
                <a:solidFill>
                  <a:srgbClr val="595959"/>
                </a:solidFill>
              </a:rPr>
              <a:t> </a:t>
            </a:r>
            <a:r>
              <a:rPr sz="2100" spc="-10" dirty="0">
                <a:solidFill>
                  <a:srgbClr val="595959"/>
                </a:solidFill>
              </a:rPr>
              <a:t>ships</a:t>
            </a:r>
            <a:endParaRPr sz="21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34905" y="1348226"/>
            <a:ext cx="5074189" cy="309844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6</a:t>
            </a:fld>
            <a:endParaRPr spc="-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dirty="0"/>
              <a:t>Control</a:t>
            </a:r>
            <a:r>
              <a:rPr spc="-25" dirty="0"/>
              <a:t> </a:t>
            </a:r>
            <a:r>
              <a:rPr spc="-10" dirty="0"/>
              <a:t>Ships..</a:t>
            </a: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2100" dirty="0">
                <a:solidFill>
                  <a:srgbClr val="595959"/>
                </a:solidFill>
              </a:rPr>
              <a:t>Manage,</a:t>
            </a:r>
            <a:r>
              <a:rPr sz="2100" spc="-35" dirty="0">
                <a:solidFill>
                  <a:srgbClr val="595959"/>
                </a:solidFill>
              </a:rPr>
              <a:t> </a:t>
            </a:r>
            <a:r>
              <a:rPr sz="2100" dirty="0">
                <a:solidFill>
                  <a:srgbClr val="595959"/>
                </a:solidFill>
              </a:rPr>
              <a:t>Plan,</a:t>
            </a:r>
            <a:r>
              <a:rPr sz="2100" spc="-25" dirty="0">
                <a:solidFill>
                  <a:srgbClr val="595959"/>
                </a:solidFill>
              </a:rPr>
              <a:t> </a:t>
            </a:r>
            <a:r>
              <a:rPr sz="2100" dirty="0">
                <a:solidFill>
                  <a:srgbClr val="595959"/>
                </a:solidFill>
              </a:rPr>
              <a:t>Schedule,</a:t>
            </a:r>
            <a:r>
              <a:rPr sz="2100" spc="-20" dirty="0">
                <a:solidFill>
                  <a:srgbClr val="595959"/>
                </a:solidFill>
              </a:rPr>
              <a:t> </a:t>
            </a:r>
            <a:r>
              <a:rPr sz="2100" dirty="0">
                <a:solidFill>
                  <a:srgbClr val="595959"/>
                </a:solidFill>
              </a:rPr>
              <a:t>Monitor</a:t>
            </a:r>
            <a:r>
              <a:rPr sz="2100" spc="-25" dirty="0">
                <a:solidFill>
                  <a:srgbClr val="595959"/>
                </a:solidFill>
              </a:rPr>
              <a:t> </a:t>
            </a:r>
            <a:r>
              <a:rPr sz="2100" dirty="0">
                <a:solidFill>
                  <a:srgbClr val="595959"/>
                </a:solidFill>
              </a:rPr>
              <a:t>~</a:t>
            </a:r>
            <a:r>
              <a:rPr sz="2100" spc="25" dirty="0">
                <a:solidFill>
                  <a:srgbClr val="595959"/>
                </a:solidFill>
              </a:rPr>
              <a:t> </a:t>
            </a:r>
            <a:r>
              <a:rPr sz="2100" spc="-10" dirty="0">
                <a:solidFill>
                  <a:srgbClr val="7030A0"/>
                </a:solidFill>
              </a:rPr>
              <a:t>Master</a:t>
            </a:r>
            <a:endParaRPr sz="21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34905" y="1348226"/>
            <a:ext cx="5074189" cy="309844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7</a:t>
            </a:fld>
            <a:endParaRPr spc="-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707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Overview</a:t>
            </a:r>
          </a:p>
        </p:txBody>
      </p:sp>
      <p:sp>
        <p:nvSpPr>
          <p:cNvPr id="3" name="object 3"/>
          <p:cNvSpPr/>
          <p:nvPr/>
        </p:nvSpPr>
        <p:spPr>
          <a:xfrm>
            <a:off x="5196113" y="1175657"/>
            <a:ext cx="1676400" cy="653415"/>
          </a:xfrm>
          <a:custGeom>
            <a:avLst/>
            <a:gdLst/>
            <a:ahLst/>
            <a:cxnLst/>
            <a:rect l="l" t="t" r="r" b="b"/>
            <a:pathLst>
              <a:path w="1676400" h="653414">
                <a:moveTo>
                  <a:pt x="0" y="108859"/>
                </a:moveTo>
                <a:lnTo>
                  <a:pt x="8554" y="66486"/>
                </a:lnTo>
                <a:lnTo>
                  <a:pt x="31884" y="31884"/>
                </a:lnTo>
                <a:lnTo>
                  <a:pt x="66486" y="8554"/>
                </a:lnTo>
                <a:lnTo>
                  <a:pt x="108859" y="0"/>
                </a:lnTo>
                <a:lnTo>
                  <a:pt x="1567540" y="0"/>
                </a:lnTo>
                <a:lnTo>
                  <a:pt x="1609199" y="8286"/>
                </a:lnTo>
                <a:lnTo>
                  <a:pt x="1644515" y="31884"/>
                </a:lnTo>
                <a:lnTo>
                  <a:pt x="1668113" y="67200"/>
                </a:lnTo>
                <a:lnTo>
                  <a:pt x="1676399" y="108859"/>
                </a:lnTo>
                <a:lnTo>
                  <a:pt x="1676399" y="544283"/>
                </a:lnTo>
                <a:lnTo>
                  <a:pt x="1667845" y="586656"/>
                </a:lnTo>
                <a:lnTo>
                  <a:pt x="1644515" y="621258"/>
                </a:lnTo>
                <a:lnTo>
                  <a:pt x="1609913" y="644588"/>
                </a:lnTo>
                <a:lnTo>
                  <a:pt x="1567540" y="653142"/>
                </a:lnTo>
                <a:lnTo>
                  <a:pt x="108859" y="653142"/>
                </a:lnTo>
                <a:lnTo>
                  <a:pt x="66486" y="644588"/>
                </a:lnTo>
                <a:lnTo>
                  <a:pt x="31884" y="621258"/>
                </a:lnTo>
                <a:lnTo>
                  <a:pt x="8554" y="586656"/>
                </a:lnTo>
                <a:lnTo>
                  <a:pt x="0" y="544283"/>
                </a:lnTo>
                <a:lnTo>
                  <a:pt x="0" y="108859"/>
                </a:lnTo>
                <a:close/>
              </a:path>
            </a:pathLst>
          </a:custGeom>
          <a:ln w="12699">
            <a:solidFill>
              <a:srgbClr val="127BB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6968760" y="1328646"/>
            <a:ext cx="598170" cy="41275"/>
            <a:chOff x="6968760" y="1328646"/>
            <a:chExt cx="598170" cy="41275"/>
          </a:xfrm>
        </p:grpSpPr>
        <p:sp>
          <p:nvSpPr>
            <p:cNvPr id="5" name="object 5"/>
            <p:cNvSpPr/>
            <p:nvPr/>
          </p:nvSpPr>
          <p:spPr>
            <a:xfrm>
              <a:off x="7016745" y="1342570"/>
              <a:ext cx="545465" cy="6985"/>
            </a:xfrm>
            <a:custGeom>
              <a:avLst/>
              <a:gdLst/>
              <a:ahLst/>
              <a:cxnLst/>
              <a:rect l="l" t="t" r="r" b="b"/>
              <a:pathLst>
                <a:path w="545465" h="6984">
                  <a:moveTo>
                    <a:pt x="545196" y="0"/>
                  </a:moveTo>
                  <a:lnTo>
                    <a:pt x="0" y="6569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973523" y="133340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411" y="31463"/>
                  </a:moveTo>
                  <a:lnTo>
                    <a:pt x="0" y="16252"/>
                  </a:lnTo>
                  <a:lnTo>
                    <a:pt x="43032" y="0"/>
                  </a:lnTo>
                  <a:lnTo>
                    <a:pt x="43411" y="31463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973523" y="133340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032" y="0"/>
                  </a:moveTo>
                  <a:lnTo>
                    <a:pt x="0" y="16252"/>
                  </a:lnTo>
                  <a:lnTo>
                    <a:pt x="43411" y="31463"/>
                  </a:lnTo>
                  <a:lnTo>
                    <a:pt x="43032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7823654" y="1193944"/>
            <a:ext cx="12274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Worker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Node-</a:t>
            </a:r>
            <a:r>
              <a:rPr sz="1400" spc="-50" dirty="0">
                <a:latin typeface="Arial"/>
                <a:cs typeface="Arial"/>
              </a:rPr>
              <a:t>1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196113" y="2002971"/>
            <a:ext cx="1676400" cy="1379220"/>
          </a:xfrm>
          <a:custGeom>
            <a:avLst/>
            <a:gdLst/>
            <a:ahLst/>
            <a:cxnLst/>
            <a:rect l="l" t="t" r="r" b="b"/>
            <a:pathLst>
              <a:path w="1676400" h="1379220">
                <a:moveTo>
                  <a:pt x="0" y="229814"/>
                </a:moveTo>
                <a:lnTo>
                  <a:pt x="4669" y="183498"/>
                </a:lnTo>
                <a:lnTo>
                  <a:pt x="18059" y="140360"/>
                </a:lnTo>
                <a:lnTo>
                  <a:pt x="39248" y="101322"/>
                </a:lnTo>
                <a:lnTo>
                  <a:pt x="67311" y="67310"/>
                </a:lnTo>
                <a:lnTo>
                  <a:pt x="101322" y="39248"/>
                </a:lnTo>
                <a:lnTo>
                  <a:pt x="140360" y="18059"/>
                </a:lnTo>
                <a:lnTo>
                  <a:pt x="183498" y="4669"/>
                </a:lnTo>
                <a:lnTo>
                  <a:pt x="229813" y="0"/>
                </a:lnTo>
                <a:lnTo>
                  <a:pt x="1446585" y="0"/>
                </a:lnTo>
                <a:lnTo>
                  <a:pt x="1491630" y="4456"/>
                </a:lnTo>
                <a:lnTo>
                  <a:pt x="1534532" y="17493"/>
                </a:lnTo>
                <a:lnTo>
                  <a:pt x="1574087" y="38611"/>
                </a:lnTo>
                <a:lnTo>
                  <a:pt x="1609088" y="67310"/>
                </a:lnTo>
                <a:lnTo>
                  <a:pt x="1637788" y="102313"/>
                </a:lnTo>
                <a:lnTo>
                  <a:pt x="1658906" y="141868"/>
                </a:lnTo>
                <a:lnTo>
                  <a:pt x="1671943" y="184770"/>
                </a:lnTo>
                <a:lnTo>
                  <a:pt x="1676399" y="229814"/>
                </a:lnTo>
                <a:lnTo>
                  <a:pt x="1676399" y="1149042"/>
                </a:lnTo>
                <a:lnTo>
                  <a:pt x="1671730" y="1195358"/>
                </a:lnTo>
                <a:lnTo>
                  <a:pt x="1658340" y="1238496"/>
                </a:lnTo>
                <a:lnTo>
                  <a:pt x="1637151" y="1277534"/>
                </a:lnTo>
                <a:lnTo>
                  <a:pt x="1609088" y="1311546"/>
                </a:lnTo>
                <a:lnTo>
                  <a:pt x="1575077" y="1339608"/>
                </a:lnTo>
                <a:lnTo>
                  <a:pt x="1536039" y="1360797"/>
                </a:lnTo>
                <a:lnTo>
                  <a:pt x="1492901" y="1374188"/>
                </a:lnTo>
                <a:lnTo>
                  <a:pt x="1446585" y="1378856"/>
                </a:lnTo>
                <a:lnTo>
                  <a:pt x="229813" y="1378856"/>
                </a:lnTo>
                <a:lnTo>
                  <a:pt x="183498" y="1374188"/>
                </a:lnTo>
                <a:lnTo>
                  <a:pt x="140360" y="1360797"/>
                </a:lnTo>
                <a:lnTo>
                  <a:pt x="101322" y="1339608"/>
                </a:lnTo>
                <a:lnTo>
                  <a:pt x="67311" y="1311546"/>
                </a:lnTo>
                <a:lnTo>
                  <a:pt x="39248" y="1277534"/>
                </a:lnTo>
                <a:lnTo>
                  <a:pt x="18059" y="1238496"/>
                </a:lnTo>
                <a:lnTo>
                  <a:pt x="4669" y="1195358"/>
                </a:lnTo>
                <a:lnTo>
                  <a:pt x="0" y="1149042"/>
                </a:lnTo>
                <a:lnTo>
                  <a:pt x="0" y="229814"/>
                </a:lnTo>
                <a:close/>
              </a:path>
            </a:pathLst>
          </a:custGeom>
          <a:ln w="12699">
            <a:solidFill>
              <a:srgbClr val="127BB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196113" y="3556001"/>
            <a:ext cx="1676400" cy="653415"/>
          </a:xfrm>
          <a:custGeom>
            <a:avLst/>
            <a:gdLst/>
            <a:ahLst/>
            <a:cxnLst/>
            <a:rect l="l" t="t" r="r" b="b"/>
            <a:pathLst>
              <a:path w="1676400" h="653414">
                <a:moveTo>
                  <a:pt x="0" y="108859"/>
                </a:moveTo>
                <a:lnTo>
                  <a:pt x="8554" y="66486"/>
                </a:lnTo>
                <a:lnTo>
                  <a:pt x="31884" y="31884"/>
                </a:lnTo>
                <a:lnTo>
                  <a:pt x="66486" y="8554"/>
                </a:lnTo>
                <a:lnTo>
                  <a:pt x="108859" y="0"/>
                </a:lnTo>
                <a:lnTo>
                  <a:pt x="1567540" y="0"/>
                </a:lnTo>
                <a:lnTo>
                  <a:pt x="1609199" y="8286"/>
                </a:lnTo>
                <a:lnTo>
                  <a:pt x="1644515" y="31883"/>
                </a:lnTo>
                <a:lnTo>
                  <a:pt x="1668113" y="67200"/>
                </a:lnTo>
                <a:lnTo>
                  <a:pt x="1676399" y="108859"/>
                </a:lnTo>
                <a:lnTo>
                  <a:pt x="1676399" y="544283"/>
                </a:lnTo>
                <a:lnTo>
                  <a:pt x="1667845" y="586656"/>
                </a:lnTo>
                <a:lnTo>
                  <a:pt x="1644515" y="621258"/>
                </a:lnTo>
                <a:lnTo>
                  <a:pt x="1609913" y="644588"/>
                </a:lnTo>
                <a:lnTo>
                  <a:pt x="1567540" y="653142"/>
                </a:lnTo>
                <a:lnTo>
                  <a:pt x="108859" y="653142"/>
                </a:lnTo>
                <a:lnTo>
                  <a:pt x="66486" y="644588"/>
                </a:lnTo>
                <a:lnTo>
                  <a:pt x="31884" y="621258"/>
                </a:lnTo>
                <a:lnTo>
                  <a:pt x="8554" y="586656"/>
                </a:lnTo>
                <a:lnTo>
                  <a:pt x="0" y="544283"/>
                </a:lnTo>
                <a:lnTo>
                  <a:pt x="0" y="108859"/>
                </a:lnTo>
                <a:close/>
              </a:path>
            </a:pathLst>
          </a:custGeom>
          <a:ln w="12699">
            <a:solidFill>
              <a:srgbClr val="127BB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1" name="object 11"/>
          <p:cNvGrpSpPr/>
          <p:nvPr/>
        </p:nvGrpSpPr>
        <p:grpSpPr>
          <a:xfrm>
            <a:off x="1303129" y="1216477"/>
            <a:ext cx="2501900" cy="2952115"/>
            <a:chOff x="1303129" y="1216477"/>
            <a:chExt cx="2501900" cy="2952115"/>
          </a:xfrm>
        </p:grpSpPr>
        <p:sp>
          <p:nvSpPr>
            <p:cNvPr id="12" name="object 12"/>
            <p:cNvSpPr/>
            <p:nvPr/>
          </p:nvSpPr>
          <p:spPr>
            <a:xfrm>
              <a:off x="1309479" y="1222827"/>
              <a:ext cx="2489200" cy="2939415"/>
            </a:xfrm>
            <a:custGeom>
              <a:avLst/>
              <a:gdLst/>
              <a:ahLst/>
              <a:cxnLst/>
              <a:rect l="l" t="t" r="r" b="b"/>
              <a:pathLst>
                <a:path w="2489200" h="2939415">
                  <a:moveTo>
                    <a:pt x="2074324" y="2939142"/>
                  </a:moveTo>
                  <a:lnTo>
                    <a:pt x="414874" y="2939142"/>
                  </a:lnTo>
                  <a:lnTo>
                    <a:pt x="366491" y="2936351"/>
                  </a:lnTo>
                  <a:lnTo>
                    <a:pt x="319747" y="2928185"/>
                  </a:lnTo>
                  <a:lnTo>
                    <a:pt x="274954" y="2914956"/>
                  </a:lnTo>
                  <a:lnTo>
                    <a:pt x="232423" y="2896974"/>
                  </a:lnTo>
                  <a:lnTo>
                    <a:pt x="192465" y="2874551"/>
                  </a:lnTo>
                  <a:lnTo>
                    <a:pt x="155391" y="2847999"/>
                  </a:lnTo>
                  <a:lnTo>
                    <a:pt x="121514" y="2817628"/>
                  </a:lnTo>
                  <a:lnTo>
                    <a:pt x="91143" y="2783751"/>
                  </a:lnTo>
                  <a:lnTo>
                    <a:pt x="64591" y="2746677"/>
                  </a:lnTo>
                  <a:lnTo>
                    <a:pt x="42168" y="2706719"/>
                  </a:lnTo>
                  <a:lnTo>
                    <a:pt x="24186" y="2664188"/>
                  </a:lnTo>
                  <a:lnTo>
                    <a:pt x="10957" y="2619394"/>
                  </a:lnTo>
                  <a:lnTo>
                    <a:pt x="2791" y="2572651"/>
                  </a:lnTo>
                  <a:lnTo>
                    <a:pt x="0" y="2524267"/>
                  </a:lnTo>
                  <a:lnTo>
                    <a:pt x="0" y="414874"/>
                  </a:lnTo>
                  <a:lnTo>
                    <a:pt x="2700" y="368062"/>
                  </a:lnTo>
                  <a:lnTo>
                    <a:pt x="10957" y="319747"/>
                  </a:lnTo>
                  <a:lnTo>
                    <a:pt x="24186" y="274954"/>
                  </a:lnTo>
                  <a:lnTo>
                    <a:pt x="42168" y="232423"/>
                  </a:lnTo>
                  <a:lnTo>
                    <a:pt x="64591" y="192465"/>
                  </a:lnTo>
                  <a:lnTo>
                    <a:pt x="91143" y="155391"/>
                  </a:lnTo>
                  <a:lnTo>
                    <a:pt x="121514" y="121514"/>
                  </a:lnTo>
                  <a:lnTo>
                    <a:pt x="155391" y="91143"/>
                  </a:lnTo>
                  <a:lnTo>
                    <a:pt x="192465" y="64591"/>
                  </a:lnTo>
                  <a:lnTo>
                    <a:pt x="232423" y="42168"/>
                  </a:lnTo>
                  <a:lnTo>
                    <a:pt x="274954" y="24186"/>
                  </a:lnTo>
                  <a:lnTo>
                    <a:pt x="319747" y="10957"/>
                  </a:lnTo>
                  <a:lnTo>
                    <a:pt x="366491" y="2791"/>
                  </a:lnTo>
                  <a:lnTo>
                    <a:pt x="414874" y="0"/>
                  </a:lnTo>
                  <a:lnTo>
                    <a:pt x="2074324" y="0"/>
                  </a:lnTo>
                  <a:lnTo>
                    <a:pt x="2121137" y="2648"/>
                  </a:lnTo>
                  <a:lnTo>
                    <a:pt x="2166992" y="10480"/>
                  </a:lnTo>
                  <a:lnTo>
                    <a:pt x="2211483" y="23328"/>
                  </a:lnTo>
                  <a:lnTo>
                    <a:pt x="2254204" y="41023"/>
                  </a:lnTo>
                  <a:lnTo>
                    <a:pt x="2294749" y="63398"/>
                  </a:lnTo>
                  <a:lnTo>
                    <a:pt x="2332711" y="90284"/>
                  </a:lnTo>
                  <a:lnTo>
                    <a:pt x="2367685" y="121514"/>
                  </a:lnTo>
                  <a:lnTo>
                    <a:pt x="2398915" y="156488"/>
                  </a:lnTo>
                  <a:lnTo>
                    <a:pt x="2425801" y="194450"/>
                  </a:lnTo>
                  <a:lnTo>
                    <a:pt x="2448176" y="234995"/>
                  </a:lnTo>
                  <a:lnTo>
                    <a:pt x="2465871" y="277716"/>
                  </a:lnTo>
                  <a:lnTo>
                    <a:pt x="2478719" y="322207"/>
                  </a:lnTo>
                  <a:lnTo>
                    <a:pt x="2486551" y="368062"/>
                  </a:lnTo>
                  <a:lnTo>
                    <a:pt x="2489199" y="414874"/>
                  </a:lnTo>
                  <a:lnTo>
                    <a:pt x="2489199" y="2524267"/>
                  </a:lnTo>
                  <a:lnTo>
                    <a:pt x="2486408" y="2572651"/>
                  </a:lnTo>
                  <a:lnTo>
                    <a:pt x="2478242" y="2619394"/>
                  </a:lnTo>
                  <a:lnTo>
                    <a:pt x="2465013" y="2664188"/>
                  </a:lnTo>
                  <a:lnTo>
                    <a:pt x="2447031" y="2706719"/>
                  </a:lnTo>
                  <a:lnTo>
                    <a:pt x="2424608" y="2746677"/>
                  </a:lnTo>
                  <a:lnTo>
                    <a:pt x="2398056" y="2783751"/>
                  </a:lnTo>
                  <a:lnTo>
                    <a:pt x="2367685" y="2817628"/>
                  </a:lnTo>
                  <a:lnTo>
                    <a:pt x="2333808" y="2847999"/>
                  </a:lnTo>
                  <a:lnTo>
                    <a:pt x="2296734" y="2874551"/>
                  </a:lnTo>
                  <a:lnTo>
                    <a:pt x="2256776" y="2896974"/>
                  </a:lnTo>
                  <a:lnTo>
                    <a:pt x="2214245" y="2914956"/>
                  </a:lnTo>
                  <a:lnTo>
                    <a:pt x="2169451" y="2928185"/>
                  </a:lnTo>
                  <a:lnTo>
                    <a:pt x="2122708" y="2936351"/>
                  </a:lnTo>
                  <a:lnTo>
                    <a:pt x="2074324" y="2939142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309479" y="1222827"/>
              <a:ext cx="2489200" cy="2939415"/>
            </a:xfrm>
            <a:custGeom>
              <a:avLst/>
              <a:gdLst/>
              <a:ahLst/>
              <a:cxnLst/>
              <a:rect l="l" t="t" r="r" b="b"/>
              <a:pathLst>
                <a:path w="2489200" h="2939415">
                  <a:moveTo>
                    <a:pt x="0" y="414874"/>
                  </a:moveTo>
                  <a:lnTo>
                    <a:pt x="2791" y="366491"/>
                  </a:lnTo>
                  <a:lnTo>
                    <a:pt x="10957" y="319747"/>
                  </a:lnTo>
                  <a:lnTo>
                    <a:pt x="24186" y="274954"/>
                  </a:lnTo>
                  <a:lnTo>
                    <a:pt x="42168" y="232423"/>
                  </a:lnTo>
                  <a:lnTo>
                    <a:pt x="64591" y="192465"/>
                  </a:lnTo>
                  <a:lnTo>
                    <a:pt x="91143" y="155391"/>
                  </a:lnTo>
                  <a:lnTo>
                    <a:pt x="121514" y="121514"/>
                  </a:lnTo>
                  <a:lnTo>
                    <a:pt x="155391" y="91143"/>
                  </a:lnTo>
                  <a:lnTo>
                    <a:pt x="192465" y="64591"/>
                  </a:lnTo>
                  <a:lnTo>
                    <a:pt x="232423" y="42168"/>
                  </a:lnTo>
                  <a:lnTo>
                    <a:pt x="274954" y="24186"/>
                  </a:lnTo>
                  <a:lnTo>
                    <a:pt x="319747" y="10957"/>
                  </a:lnTo>
                  <a:lnTo>
                    <a:pt x="366491" y="2791"/>
                  </a:lnTo>
                  <a:lnTo>
                    <a:pt x="414874" y="0"/>
                  </a:lnTo>
                  <a:lnTo>
                    <a:pt x="2074324" y="0"/>
                  </a:lnTo>
                  <a:lnTo>
                    <a:pt x="2121137" y="2648"/>
                  </a:lnTo>
                  <a:lnTo>
                    <a:pt x="2166992" y="10480"/>
                  </a:lnTo>
                  <a:lnTo>
                    <a:pt x="2211483" y="23328"/>
                  </a:lnTo>
                  <a:lnTo>
                    <a:pt x="2254204" y="41023"/>
                  </a:lnTo>
                  <a:lnTo>
                    <a:pt x="2294749" y="63398"/>
                  </a:lnTo>
                  <a:lnTo>
                    <a:pt x="2332711" y="90284"/>
                  </a:lnTo>
                  <a:lnTo>
                    <a:pt x="2367685" y="121514"/>
                  </a:lnTo>
                  <a:lnTo>
                    <a:pt x="2398915" y="156488"/>
                  </a:lnTo>
                  <a:lnTo>
                    <a:pt x="2425801" y="194450"/>
                  </a:lnTo>
                  <a:lnTo>
                    <a:pt x="2448176" y="234995"/>
                  </a:lnTo>
                  <a:lnTo>
                    <a:pt x="2465871" y="277716"/>
                  </a:lnTo>
                  <a:lnTo>
                    <a:pt x="2478719" y="322207"/>
                  </a:lnTo>
                  <a:lnTo>
                    <a:pt x="2486551" y="368062"/>
                  </a:lnTo>
                  <a:lnTo>
                    <a:pt x="2489199" y="414874"/>
                  </a:lnTo>
                  <a:lnTo>
                    <a:pt x="2489199" y="2524267"/>
                  </a:lnTo>
                  <a:lnTo>
                    <a:pt x="2486408" y="2572651"/>
                  </a:lnTo>
                  <a:lnTo>
                    <a:pt x="2478242" y="2619394"/>
                  </a:lnTo>
                  <a:lnTo>
                    <a:pt x="2465013" y="2664188"/>
                  </a:lnTo>
                  <a:lnTo>
                    <a:pt x="2447031" y="2706719"/>
                  </a:lnTo>
                  <a:lnTo>
                    <a:pt x="2424608" y="2746677"/>
                  </a:lnTo>
                  <a:lnTo>
                    <a:pt x="2398056" y="2783751"/>
                  </a:lnTo>
                  <a:lnTo>
                    <a:pt x="2367685" y="2817628"/>
                  </a:lnTo>
                  <a:lnTo>
                    <a:pt x="2333808" y="2847999"/>
                  </a:lnTo>
                  <a:lnTo>
                    <a:pt x="2296734" y="2874551"/>
                  </a:lnTo>
                  <a:lnTo>
                    <a:pt x="2256776" y="2896974"/>
                  </a:lnTo>
                  <a:lnTo>
                    <a:pt x="2214245" y="2914956"/>
                  </a:lnTo>
                  <a:lnTo>
                    <a:pt x="2169451" y="2928185"/>
                  </a:lnTo>
                  <a:lnTo>
                    <a:pt x="2122708" y="2936351"/>
                  </a:lnTo>
                  <a:lnTo>
                    <a:pt x="2074324" y="2939142"/>
                  </a:lnTo>
                  <a:lnTo>
                    <a:pt x="414874" y="2939142"/>
                  </a:lnTo>
                  <a:lnTo>
                    <a:pt x="366491" y="2936351"/>
                  </a:lnTo>
                  <a:lnTo>
                    <a:pt x="319747" y="2928185"/>
                  </a:lnTo>
                  <a:lnTo>
                    <a:pt x="274954" y="2914956"/>
                  </a:lnTo>
                  <a:lnTo>
                    <a:pt x="232423" y="2896974"/>
                  </a:lnTo>
                  <a:lnTo>
                    <a:pt x="192465" y="2874551"/>
                  </a:lnTo>
                  <a:lnTo>
                    <a:pt x="155391" y="2847999"/>
                  </a:lnTo>
                  <a:lnTo>
                    <a:pt x="121514" y="2817628"/>
                  </a:lnTo>
                  <a:lnTo>
                    <a:pt x="91143" y="2783751"/>
                  </a:lnTo>
                  <a:lnTo>
                    <a:pt x="64591" y="2746677"/>
                  </a:lnTo>
                  <a:lnTo>
                    <a:pt x="42168" y="2706719"/>
                  </a:lnTo>
                  <a:lnTo>
                    <a:pt x="24186" y="2664188"/>
                  </a:lnTo>
                  <a:lnTo>
                    <a:pt x="10957" y="2619394"/>
                  </a:lnTo>
                  <a:lnTo>
                    <a:pt x="2791" y="2572651"/>
                  </a:lnTo>
                  <a:lnTo>
                    <a:pt x="0" y="2524267"/>
                  </a:lnTo>
                  <a:lnTo>
                    <a:pt x="0" y="414874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783771" y="1946190"/>
            <a:ext cx="397510" cy="41275"/>
            <a:chOff x="783771" y="1946190"/>
            <a:chExt cx="397510" cy="41275"/>
          </a:xfrm>
        </p:grpSpPr>
        <p:sp>
          <p:nvSpPr>
            <p:cNvPr id="15" name="object 15"/>
            <p:cNvSpPr/>
            <p:nvPr/>
          </p:nvSpPr>
          <p:spPr>
            <a:xfrm>
              <a:off x="783771" y="1966686"/>
              <a:ext cx="349250" cy="0"/>
            </a:xfrm>
            <a:custGeom>
              <a:avLst/>
              <a:gdLst/>
              <a:ahLst/>
              <a:cxnLst/>
              <a:rect l="l" t="t" r="r" b="b"/>
              <a:pathLst>
                <a:path w="349250">
                  <a:moveTo>
                    <a:pt x="0" y="0"/>
                  </a:moveTo>
                  <a:lnTo>
                    <a:pt x="349249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133021" y="195095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133021" y="195095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73025" y="1831085"/>
            <a:ext cx="5689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Arial"/>
                <a:cs typeface="Arial"/>
              </a:rPr>
              <a:t>Master</a:t>
            </a:r>
            <a:endParaRPr sz="1400">
              <a:latin typeface="Arial"/>
              <a:cs typeface="Arial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8</a:t>
            </a:fld>
            <a:endParaRPr spc="-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2730" cy="5143500"/>
            <a:chOff x="0" y="0"/>
            <a:chExt cx="9142730" cy="5143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54" y="0"/>
              <a:ext cx="9141290" cy="410870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4175999" cy="514349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193024" y="4326076"/>
              <a:ext cx="722375" cy="604028"/>
            </a:xfrm>
            <a:prstGeom prst="rect">
              <a:avLst/>
            </a:prstGeom>
          </p:spPr>
        </p:pic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136196" y="1319152"/>
            <a:ext cx="5217160" cy="136271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 marR="5080">
              <a:lnSpc>
                <a:spcPts val="5250"/>
              </a:lnSpc>
              <a:spcBef>
                <a:spcPts val="229"/>
              </a:spcBef>
            </a:pPr>
            <a:r>
              <a:rPr sz="4400" dirty="0">
                <a:solidFill>
                  <a:srgbClr val="FFFFFF"/>
                </a:solidFill>
                <a:latin typeface="Calibri"/>
                <a:cs typeface="Calibri"/>
              </a:rPr>
              <a:t>Let’s</a:t>
            </a:r>
            <a:r>
              <a:rPr sz="4400" spc="-1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400" dirty="0">
                <a:solidFill>
                  <a:srgbClr val="FFFFFF"/>
                </a:solidFill>
                <a:latin typeface="Calibri"/>
                <a:cs typeface="Calibri"/>
              </a:rPr>
              <a:t>talk</a:t>
            </a:r>
            <a:r>
              <a:rPr sz="4400" spc="-1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400" dirty="0">
                <a:solidFill>
                  <a:srgbClr val="FFFFFF"/>
                </a:solidFill>
                <a:latin typeface="Calibri"/>
                <a:cs typeface="Calibri"/>
              </a:rPr>
              <a:t>about</a:t>
            </a:r>
            <a:r>
              <a:rPr sz="4400" spc="-1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400" spc="-10" dirty="0">
                <a:solidFill>
                  <a:srgbClr val="FFFFFF"/>
                </a:solidFill>
                <a:latin typeface="Calibri"/>
                <a:cs typeface="Calibri"/>
              </a:rPr>
              <a:t>Master Components..</a:t>
            </a:r>
            <a:endParaRPr sz="44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dirty="0"/>
              <a:t>Ship</a:t>
            </a:r>
            <a:r>
              <a:rPr spc="-10" dirty="0"/>
              <a:t> Cranes</a:t>
            </a: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2100" dirty="0">
                <a:solidFill>
                  <a:srgbClr val="595959"/>
                </a:solidFill>
              </a:rPr>
              <a:t>Identifies</a:t>
            </a:r>
            <a:r>
              <a:rPr sz="2100" spc="-20" dirty="0">
                <a:solidFill>
                  <a:srgbClr val="595959"/>
                </a:solidFill>
              </a:rPr>
              <a:t> </a:t>
            </a:r>
            <a:r>
              <a:rPr sz="2100" dirty="0">
                <a:solidFill>
                  <a:srgbClr val="595959"/>
                </a:solidFill>
              </a:rPr>
              <a:t>the</a:t>
            </a:r>
            <a:r>
              <a:rPr sz="2100" spc="-20" dirty="0">
                <a:solidFill>
                  <a:srgbClr val="595959"/>
                </a:solidFill>
              </a:rPr>
              <a:t> </a:t>
            </a:r>
            <a:r>
              <a:rPr sz="2100" dirty="0">
                <a:solidFill>
                  <a:srgbClr val="595959"/>
                </a:solidFill>
              </a:rPr>
              <a:t>placement</a:t>
            </a:r>
            <a:r>
              <a:rPr sz="2100" spc="-20" dirty="0">
                <a:solidFill>
                  <a:srgbClr val="595959"/>
                </a:solidFill>
              </a:rPr>
              <a:t> </a:t>
            </a:r>
            <a:r>
              <a:rPr sz="2100" dirty="0">
                <a:solidFill>
                  <a:srgbClr val="595959"/>
                </a:solidFill>
              </a:rPr>
              <a:t>of</a:t>
            </a:r>
            <a:r>
              <a:rPr sz="2100" spc="-15" dirty="0">
                <a:solidFill>
                  <a:srgbClr val="595959"/>
                </a:solidFill>
              </a:rPr>
              <a:t> </a:t>
            </a:r>
            <a:r>
              <a:rPr sz="2100" spc="-10" dirty="0">
                <a:solidFill>
                  <a:srgbClr val="595959"/>
                </a:solidFill>
              </a:rPr>
              <a:t>containers</a:t>
            </a:r>
            <a:endParaRPr sz="21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80123" y="1369219"/>
            <a:ext cx="5526141" cy="339928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dirty="0"/>
              <a:t>Ship</a:t>
            </a:r>
            <a:r>
              <a:rPr spc="-10" dirty="0"/>
              <a:t> Cranes</a:t>
            </a: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2100" dirty="0">
                <a:solidFill>
                  <a:srgbClr val="595959"/>
                </a:solidFill>
              </a:rPr>
              <a:t>Identifies</a:t>
            </a:r>
            <a:r>
              <a:rPr sz="2100" spc="-15" dirty="0">
                <a:solidFill>
                  <a:srgbClr val="595959"/>
                </a:solidFill>
              </a:rPr>
              <a:t> </a:t>
            </a:r>
            <a:r>
              <a:rPr sz="2100" dirty="0">
                <a:solidFill>
                  <a:srgbClr val="595959"/>
                </a:solidFill>
              </a:rPr>
              <a:t>the</a:t>
            </a:r>
            <a:r>
              <a:rPr sz="2100" spc="-15" dirty="0">
                <a:solidFill>
                  <a:srgbClr val="595959"/>
                </a:solidFill>
              </a:rPr>
              <a:t> </a:t>
            </a:r>
            <a:r>
              <a:rPr sz="2100" dirty="0">
                <a:solidFill>
                  <a:srgbClr val="595959"/>
                </a:solidFill>
              </a:rPr>
              <a:t>right</a:t>
            </a:r>
            <a:r>
              <a:rPr sz="2100" spc="-10" dirty="0">
                <a:solidFill>
                  <a:srgbClr val="595959"/>
                </a:solidFill>
              </a:rPr>
              <a:t> </a:t>
            </a:r>
            <a:r>
              <a:rPr sz="2100" dirty="0">
                <a:solidFill>
                  <a:srgbClr val="595959"/>
                </a:solidFill>
              </a:rPr>
              <a:t>node</a:t>
            </a:r>
            <a:r>
              <a:rPr sz="2100" spc="-15" dirty="0">
                <a:solidFill>
                  <a:srgbClr val="595959"/>
                </a:solidFill>
              </a:rPr>
              <a:t> </a:t>
            </a:r>
            <a:r>
              <a:rPr sz="2100" dirty="0">
                <a:solidFill>
                  <a:srgbClr val="595959"/>
                </a:solidFill>
              </a:rPr>
              <a:t>to</a:t>
            </a:r>
            <a:r>
              <a:rPr sz="2100" spc="-10" dirty="0">
                <a:solidFill>
                  <a:srgbClr val="595959"/>
                </a:solidFill>
              </a:rPr>
              <a:t> </a:t>
            </a:r>
            <a:r>
              <a:rPr sz="2100" dirty="0">
                <a:solidFill>
                  <a:srgbClr val="595959"/>
                </a:solidFill>
              </a:rPr>
              <a:t>place</a:t>
            </a:r>
            <a:r>
              <a:rPr sz="2100" spc="-15" dirty="0">
                <a:solidFill>
                  <a:srgbClr val="595959"/>
                </a:solidFill>
              </a:rPr>
              <a:t> </a:t>
            </a:r>
            <a:r>
              <a:rPr sz="2100" dirty="0">
                <a:solidFill>
                  <a:srgbClr val="595959"/>
                </a:solidFill>
              </a:rPr>
              <a:t>a</a:t>
            </a:r>
            <a:r>
              <a:rPr sz="2100" spc="-10" dirty="0">
                <a:solidFill>
                  <a:srgbClr val="595959"/>
                </a:solidFill>
              </a:rPr>
              <a:t> </a:t>
            </a:r>
            <a:r>
              <a:rPr sz="2100" dirty="0">
                <a:solidFill>
                  <a:srgbClr val="595959"/>
                </a:solidFill>
              </a:rPr>
              <a:t>containers</a:t>
            </a:r>
            <a:r>
              <a:rPr sz="2100" spc="-15" dirty="0">
                <a:solidFill>
                  <a:srgbClr val="595959"/>
                </a:solidFill>
              </a:rPr>
              <a:t> </a:t>
            </a:r>
            <a:r>
              <a:rPr sz="2100" dirty="0">
                <a:solidFill>
                  <a:srgbClr val="595959"/>
                </a:solidFill>
              </a:rPr>
              <a:t>~</a:t>
            </a:r>
            <a:r>
              <a:rPr sz="2100" spc="20" dirty="0">
                <a:solidFill>
                  <a:srgbClr val="595959"/>
                </a:solidFill>
              </a:rPr>
              <a:t> </a:t>
            </a:r>
            <a:r>
              <a:rPr sz="2100" dirty="0">
                <a:solidFill>
                  <a:srgbClr val="00B050"/>
                </a:solidFill>
              </a:rPr>
              <a:t>Kube-</a:t>
            </a:r>
            <a:r>
              <a:rPr sz="2100" spc="-10" dirty="0">
                <a:solidFill>
                  <a:srgbClr val="00B050"/>
                </a:solidFill>
              </a:rPr>
              <a:t>Scheduler</a:t>
            </a:r>
            <a:endParaRPr sz="21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09152" y="1369219"/>
            <a:ext cx="5526141" cy="339928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707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Overview</a:t>
            </a:r>
          </a:p>
        </p:txBody>
      </p:sp>
      <p:sp>
        <p:nvSpPr>
          <p:cNvPr id="3" name="object 3"/>
          <p:cNvSpPr/>
          <p:nvPr/>
        </p:nvSpPr>
        <p:spPr>
          <a:xfrm>
            <a:off x="5196113" y="1175657"/>
            <a:ext cx="1676400" cy="653415"/>
          </a:xfrm>
          <a:custGeom>
            <a:avLst/>
            <a:gdLst/>
            <a:ahLst/>
            <a:cxnLst/>
            <a:rect l="l" t="t" r="r" b="b"/>
            <a:pathLst>
              <a:path w="1676400" h="653414">
                <a:moveTo>
                  <a:pt x="0" y="108859"/>
                </a:moveTo>
                <a:lnTo>
                  <a:pt x="8554" y="66486"/>
                </a:lnTo>
                <a:lnTo>
                  <a:pt x="31884" y="31884"/>
                </a:lnTo>
                <a:lnTo>
                  <a:pt x="66486" y="8554"/>
                </a:lnTo>
                <a:lnTo>
                  <a:pt x="108859" y="0"/>
                </a:lnTo>
                <a:lnTo>
                  <a:pt x="1567540" y="0"/>
                </a:lnTo>
                <a:lnTo>
                  <a:pt x="1609199" y="8286"/>
                </a:lnTo>
                <a:lnTo>
                  <a:pt x="1644515" y="31884"/>
                </a:lnTo>
                <a:lnTo>
                  <a:pt x="1668113" y="67200"/>
                </a:lnTo>
                <a:lnTo>
                  <a:pt x="1676399" y="108859"/>
                </a:lnTo>
                <a:lnTo>
                  <a:pt x="1676399" y="544283"/>
                </a:lnTo>
                <a:lnTo>
                  <a:pt x="1667845" y="586656"/>
                </a:lnTo>
                <a:lnTo>
                  <a:pt x="1644515" y="621258"/>
                </a:lnTo>
                <a:lnTo>
                  <a:pt x="1609913" y="644588"/>
                </a:lnTo>
                <a:lnTo>
                  <a:pt x="1567540" y="653142"/>
                </a:lnTo>
                <a:lnTo>
                  <a:pt x="108859" y="653142"/>
                </a:lnTo>
                <a:lnTo>
                  <a:pt x="66486" y="644588"/>
                </a:lnTo>
                <a:lnTo>
                  <a:pt x="31884" y="621258"/>
                </a:lnTo>
                <a:lnTo>
                  <a:pt x="8554" y="586656"/>
                </a:lnTo>
                <a:lnTo>
                  <a:pt x="0" y="544283"/>
                </a:lnTo>
                <a:lnTo>
                  <a:pt x="0" y="108859"/>
                </a:lnTo>
                <a:close/>
              </a:path>
            </a:pathLst>
          </a:custGeom>
          <a:ln w="12699">
            <a:solidFill>
              <a:srgbClr val="127BB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6968760" y="1328646"/>
            <a:ext cx="598170" cy="41275"/>
            <a:chOff x="6968760" y="1328646"/>
            <a:chExt cx="598170" cy="41275"/>
          </a:xfrm>
        </p:grpSpPr>
        <p:sp>
          <p:nvSpPr>
            <p:cNvPr id="5" name="object 5"/>
            <p:cNvSpPr/>
            <p:nvPr/>
          </p:nvSpPr>
          <p:spPr>
            <a:xfrm>
              <a:off x="7016745" y="1342570"/>
              <a:ext cx="545465" cy="6985"/>
            </a:xfrm>
            <a:custGeom>
              <a:avLst/>
              <a:gdLst/>
              <a:ahLst/>
              <a:cxnLst/>
              <a:rect l="l" t="t" r="r" b="b"/>
              <a:pathLst>
                <a:path w="545465" h="6984">
                  <a:moveTo>
                    <a:pt x="545196" y="0"/>
                  </a:moveTo>
                  <a:lnTo>
                    <a:pt x="0" y="6569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973523" y="133340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411" y="31463"/>
                  </a:moveTo>
                  <a:lnTo>
                    <a:pt x="0" y="16252"/>
                  </a:lnTo>
                  <a:lnTo>
                    <a:pt x="43032" y="0"/>
                  </a:lnTo>
                  <a:lnTo>
                    <a:pt x="43411" y="31463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973523" y="133340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032" y="0"/>
                  </a:moveTo>
                  <a:lnTo>
                    <a:pt x="0" y="16252"/>
                  </a:lnTo>
                  <a:lnTo>
                    <a:pt x="43411" y="31463"/>
                  </a:lnTo>
                  <a:lnTo>
                    <a:pt x="43032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7823654" y="1193944"/>
            <a:ext cx="12274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Worker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Node-</a:t>
            </a:r>
            <a:r>
              <a:rPr sz="1400" spc="-50" dirty="0">
                <a:latin typeface="Arial"/>
                <a:cs typeface="Arial"/>
              </a:rPr>
              <a:t>1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196113" y="2002971"/>
            <a:ext cx="1676400" cy="1379220"/>
          </a:xfrm>
          <a:custGeom>
            <a:avLst/>
            <a:gdLst/>
            <a:ahLst/>
            <a:cxnLst/>
            <a:rect l="l" t="t" r="r" b="b"/>
            <a:pathLst>
              <a:path w="1676400" h="1379220">
                <a:moveTo>
                  <a:pt x="0" y="229814"/>
                </a:moveTo>
                <a:lnTo>
                  <a:pt x="4669" y="183498"/>
                </a:lnTo>
                <a:lnTo>
                  <a:pt x="18059" y="140360"/>
                </a:lnTo>
                <a:lnTo>
                  <a:pt x="39248" y="101322"/>
                </a:lnTo>
                <a:lnTo>
                  <a:pt x="67311" y="67310"/>
                </a:lnTo>
                <a:lnTo>
                  <a:pt x="101322" y="39248"/>
                </a:lnTo>
                <a:lnTo>
                  <a:pt x="140360" y="18059"/>
                </a:lnTo>
                <a:lnTo>
                  <a:pt x="183498" y="4669"/>
                </a:lnTo>
                <a:lnTo>
                  <a:pt x="229813" y="0"/>
                </a:lnTo>
                <a:lnTo>
                  <a:pt x="1446585" y="0"/>
                </a:lnTo>
                <a:lnTo>
                  <a:pt x="1491630" y="4456"/>
                </a:lnTo>
                <a:lnTo>
                  <a:pt x="1534532" y="17493"/>
                </a:lnTo>
                <a:lnTo>
                  <a:pt x="1574087" y="38611"/>
                </a:lnTo>
                <a:lnTo>
                  <a:pt x="1609088" y="67310"/>
                </a:lnTo>
                <a:lnTo>
                  <a:pt x="1637788" y="102313"/>
                </a:lnTo>
                <a:lnTo>
                  <a:pt x="1658906" y="141868"/>
                </a:lnTo>
                <a:lnTo>
                  <a:pt x="1671943" y="184770"/>
                </a:lnTo>
                <a:lnTo>
                  <a:pt x="1676399" y="229814"/>
                </a:lnTo>
                <a:lnTo>
                  <a:pt x="1676399" y="1149042"/>
                </a:lnTo>
                <a:lnTo>
                  <a:pt x="1671730" y="1195358"/>
                </a:lnTo>
                <a:lnTo>
                  <a:pt x="1658340" y="1238496"/>
                </a:lnTo>
                <a:lnTo>
                  <a:pt x="1637151" y="1277534"/>
                </a:lnTo>
                <a:lnTo>
                  <a:pt x="1609088" y="1311546"/>
                </a:lnTo>
                <a:lnTo>
                  <a:pt x="1575077" y="1339608"/>
                </a:lnTo>
                <a:lnTo>
                  <a:pt x="1536039" y="1360797"/>
                </a:lnTo>
                <a:lnTo>
                  <a:pt x="1492901" y="1374188"/>
                </a:lnTo>
                <a:lnTo>
                  <a:pt x="1446585" y="1378856"/>
                </a:lnTo>
                <a:lnTo>
                  <a:pt x="229813" y="1378856"/>
                </a:lnTo>
                <a:lnTo>
                  <a:pt x="183498" y="1374188"/>
                </a:lnTo>
                <a:lnTo>
                  <a:pt x="140360" y="1360797"/>
                </a:lnTo>
                <a:lnTo>
                  <a:pt x="101322" y="1339608"/>
                </a:lnTo>
                <a:lnTo>
                  <a:pt x="67311" y="1311546"/>
                </a:lnTo>
                <a:lnTo>
                  <a:pt x="39248" y="1277534"/>
                </a:lnTo>
                <a:lnTo>
                  <a:pt x="18059" y="1238496"/>
                </a:lnTo>
                <a:lnTo>
                  <a:pt x="4669" y="1195358"/>
                </a:lnTo>
                <a:lnTo>
                  <a:pt x="0" y="1149042"/>
                </a:lnTo>
                <a:lnTo>
                  <a:pt x="0" y="229814"/>
                </a:lnTo>
                <a:close/>
              </a:path>
            </a:pathLst>
          </a:custGeom>
          <a:ln w="12699">
            <a:solidFill>
              <a:srgbClr val="127BB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196113" y="3556001"/>
            <a:ext cx="1676400" cy="653415"/>
          </a:xfrm>
          <a:custGeom>
            <a:avLst/>
            <a:gdLst/>
            <a:ahLst/>
            <a:cxnLst/>
            <a:rect l="l" t="t" r="r" b="b"/>
            <a:pathLst>
              <a:path w="1676400" h="653414">
                <a:moveTo>
                  <a:pt x="0" y="108859"/>
                </a:moveTo>
                <a:lnTo>
                  <a:pt x="8554" y="66486"/>
                </a:lnTo>
                <a:lnTo>
                  <a:pt x="31884" y="31884"/>
                </a:lnTo>
                <a:lnTo>
                  <a:pt x="66486" y="8554"/>
                </a:lnTo>
                <a:lnTo>
                  <a:pt x="108859" y="0"/>
                </a:lnTo>
                <a:lnTo>
                  <a:pt x="1567540" y="0"/>
                </a:lnTo>
                <a:lnTo>
                  <a:pt x="1609199" y="8286"/>
                </a:lnTo>
                <a:lnTo>
                  <a:pt x="1644515" y="31883"/>
                </a:lnTo>
                <a:lnTo>
                  <a:pt x="1668113" y="67200"/>
                </a:lnTo>
                <a:lnTo>
                  <a:pt x="1676399" y="108859"/>
                </a:lnTo>
                <a:lnTo>
                  <a:pt x="1676399" y="544283"/>
                </a:lnTo>
                <a:lnTo>
                  <a:pt x="1667845" y="586656"/>
                </a:lnTo>
                <a:lnTo>
                  <a:pt x="1644515" y="621258"/>
                </a:lnTo>
                <a:lnTo>
                  <a:pt x="1609913" y="644588"/>
                </a:lnTo>
                <a:lnTo>
                  <a:pt x="1567540" y="653142"/>
                </a:lnTo>
                <a:lnTo>
                  <a:pt x="108859" y="653142"/>
                </a:lnTo>
                <a:lnTo>
                  <a:pt x="66486" y="644588"/>
                </a:lnTo>
                <a:lnTo>
                  <a:pt x="31884" y="621258"/>
                </a:lnTo>
                <a:lnTo>
                  <a:pt x="8554" y="586656"/>
                </a:lnTo>
                <a:lnTo>
                  <a:pt x="0" y="544283"/>
                </a:lnTo>
                <a:lnTo>
                  <a:pt x="0" y="108859"/>
                </a:lnTo>
                <a:close/>
              </a:path>
            </a:pathLst>
          </a:custGeom>
          <a:ln w="12699">
            <a:solidFill>
              <a:srgbClr val="127BB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1" name="object 11"/>
          <p:cNvGrpSpPr/>
          <p:nvPr/>
        </p:nvGrpSpPr>
        <p:grpSpPr>
          <a:xfrm>
            <a:off x="1303129" y="1216477"/>
            <a:ext cx="2501900" cy="2952115"/>
            <a:chOff x="1303129" y="1216477"/>
            <a:chExt cx="2501900" cy="2952115"/>
          </a:xfrm>
        </p:grpSpPr>
        <p:sp>
          <p:nvSpPr>
            <p:cNvPr id="12" name="object 12"/>
            <p:cNvSpPr/>
            <p:nvPr/>
          </p:nvSpPr>
          <p:spPr>
            <a:xfrm>
              <a:off x="1309479" y="1222827"/>
              <a:ext cx="2489200" cy="2939415"/>
            </a:xfrm>
            <a:custGeom>
              <a:avLst/>
              <a:gdLst/>
              <a:ahLst/>
              <a:cxnLst/>
              <a:rect l="l" t="t" r="r" b="b"/>
              <a:pathLst>
                <a:path w="2489200" h="2939415">
                  <a:moveTo>
                    <a:pt x="2074324" y="2939142"/>
                  </a:moveTo>
                  <a:lnTo>
                    <a:pt x="414874" y="2939142"/>
                  </a:lnTo>
                  <a:lnTo>
                    <a:pt x="366491" y="2936351"/>
                  </a:lnTo>
                  <a:lnTo>
                    <a:pt x="319747" y="2928185"/>
                  </a:lnTo>
                  <a:lnTo>
                    <a:pt x="274954" y="2914956"/>
                  </a:lnTo>
                  <a:lnTo>
                    <a:pt x="232423" y="2896974"/>
                  </a:lnTo>
                  <a:lnTo>
                    <a:pt x="192465" y="2874551"/>
                  </a:lnTo>
                  <a:lnTo>
                    <a:pt x="155391" y="2847999"/>
                  </a:lnTo>
                  <a:lnTo>
                    <a:pt x="121514" y="2817628"/>
                  </a:lnTo>
                  <a:lnTo>
                    <a:pt x="91143" y="2783751"/>
                  </a:lnTo>
                  <a:lnTo>
                    <a:pt x="64591" y="2746677"/>
                  </a:lnTo>
                  <a:lnTo>
                    <a:pt x="42168" y="2706719"/>
                  </a:lnTo>
                  <a:lnTo>
                    <a:pt x="24186" y="2664188"/>
                  </a:lnTo>
                  <a:lnTo>
                    <a:pt x="10957" y="2619394"/>
                  </a:lnTo>
                  <a:lnTo>
                    <a:pt x="2791" y="2572651"/>
                  </a:lnTo>
                  <a:lnTo>
                    <a:pt x="0" y="2524267"/>
                  </a:lnTo>
                  <a:lnTo>
                    <a:pt x="0" y="414874"/>
                  </a:lnTo>
                  <a:lnTo>
                    <a:pt x="2700" y="368062"/>
                  </a:lnTo>
                  <a:lnTo>
                    <a:pt x="10957" y="319747"/>
                  </a:lnTo>
                  <a:lnTo>
                    <a:pt x="24186" y="274954"/>
                  </a:lnTo>
                  <a:lnTo>
                    <a:pt x="42168" y="232423"/>
                  </a:lnTo>
                  <a:lnTo>
                    <a:pt x="64591" y="192465"/>
                  </a:lnTo>
                  <a:lnTo>
                    <a:pt x="91143" y="155391"/>
                  </a:lnTo>
                  <a:lnTo>
                    <a:pt x="121514" y="121514"/>
                  </a:lnTo>
                  <a:lnTo>
                    <a:pt x="155391" y="91143"/>
                  </a:lnTo>
                  <a:lnTo>
                    <a:pt x="192465" y="64591"/>
                  </a:lnTo>
                  <a:lnTo>
                    <a:pt x="232423" y="42168"/>
                  </a:lnTo>
                  <a:lnTo>
                    <a:pt x="274954" y="24186"/>
                  </a:lnTo>
                  <a:lnTo>
                    <a:pt x="319747" y="10957"/>
                  </a:lnTo>
                  <a:lnTo>
                    <a:pt x="366491" y="2791"/>
                  </a:lnTo>
                  <a:lnTo>
                    <a:pt x="414874" y="0"/>
                  </a:lnTo>
                  <a:lnTo>
                    <a:pt x="2074324" y="0"/>
                  </a:lnTo>
                  <a:lnTo>
                    <a:pt x="2121137" y="2648"/>
                  </a:lnTo>
                  <a:lnTo>
                    <a:pt x="2166992" y="10480"/>
                  </a:lnTo>
                  <a:lnTo>
                    <a:pt x="2211483" y="23328"/>
                  </a:lnTo>
                  <a:lnTo>
                    <a:pt x="2254204" y="41023"/>
                  </a:lnTo>
                  <a:lnTo>
                    <a:pt x="2294749" y="63398"/>
                  </a:lnTo>
                  <a:lnTo>
                    <a:pt x="2332711" y="90284"/>
                  </a:lnTo>
                  <a:lnTo>
                    <a:pt x="2367685" y="121514"/>
                  </a:lnTo>
                  <a:lnTo>
                    <a:pt x="2398915" y="156488"/>
                  </a:lnTo>
                  <a:lnTo>
                    <a:pt x="2425801" y="194450"/>
                  </a:lnTo>
                  <a:lnTo>
                    <a:pt x="2448176" y="234995"/>
                  </a:lnTo>
                  <a:lnTo>
                    <a:pt x="2465871" y="277716"/>
                  </a:lnTo>
                  <a:lnTo>
                    <a:pt x="2478719" y="322207"/>
                  </a:lnTo>
                  <a:lnTo>
                    <a:pt x="2486551" y="368062"/>
                  </a:lnTo>
                  <a:lnTo>
                    <a:pt x="2489199" y="414874"/>
                  </a:lnTo>
                  <a:lnTo>
                    <a:pt x="2489199" y="2524267"/>
                  </a:lnTo>
                  <a:lnTo>
                    <a:pt x="2486408" y="2572651"/>
                  </a:lnTo>
                  <a:lnTo>
                    <a:pt x="2478242" y="2619394"/>
                  </a:lnTo>
                  <a:lnTo>
                    <a:pt x="2465013" y="2664188"/>
                  </a:lnTo>
                  <a:lnTo>
                    <a:pt x="2447031" y="2706719"/>
                  </a:lnTo>
                  <a:lnTo>
                    <a:pt x="2424608" y="2746677"/>
                  </a:lnTo>
                  <a:lnTo>
                    <a:pt x="2398056" y="2783751"/>
                  </a:lnTo>
                  <a:lnTo>
                    <a:pt x="2367685" y="2817628"/>
                  </a:lnTo>
                  <a:lnTo>
                    <a:pt x="2333808" y="2847999"/>
                  </a:lnTo>
                  <a:lnTo>
                    <a:pt x="2296734" y="2874551"/>
                  </a:lnTo>
                  <a:lnTo>
                    <a:pt x="2256776" y="2896974"/>
                  </a:lnTo>
                  <a:lnTo>
                    <a:pt x="2214245" y="2914956"/>
                  </a:lnTo>
                  <a:lnTo>
                    <a:pt x="2169451" y="2928185"/>
                  </a:lnTo>
                  <a:lnTo>
                    <a:pt x="2122708" y="2936351"/>
                  </a:lnTo>
                  <a:lnTo>
                    <a:pt x="2074324" y="2939142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309479" y="1222827"/>
              <a:ext cx="2489200" cy="2939415"/>
            </a:xfrm>
            <a:custGeom>
              <a:avLst/>
              <a:gdLst/>
              <a:ahLst/>
              <a:cxnLst/>
              <a:rect l="l" t="t" r="r" b="b"/>
              <a:pathLst>
                <a:path w="2489200" h="2939415">
                  <a:moveTo>
                    <a:pt x="0" y="414874"/>
                  </a:moveTo>
                  <a:lnTo>
                    <a:pt x="2791" y="366491"/>
                  </a:lnTo>
                  <a:lnTo>
                    <a:pt x="10957" y="319747"/>
                  </a:lnTo>
                  <a:lnTo>
                    <a:pt x="24186" y="274954"/>
                  </a:lnTo>
                  <a:lnTo>
                    <a:pt x="42168" y="232423"/>
                  </a:lnTo>
                  <a:lnTo>
                    <a:pt x="64591" y="192465"/>
                  </a:lnTo>
                  <a:lnTo>
                    <a:pt x="91143" y="155391"/>
                  </a:lnTo>
                  <a:lnTo>
                    <a:pt x="121514" y="121514"/>
                  </a:lnTo>
                  <a:lnTo>
                    <a:pt x="155391" y="91143"/>
                  </a:lnTo>
                  <a:lnTo>
                    <a:pt x="192465" y="64591"/>
                  </a:lnTo>
                  <a:lnTo>
                    <a:pt x="232423" y="42168"/>
                  </a:lnTo>
                  <a:lnTo>
                    <a:pt x="274954" y="24186"/>
                  </a:lnTo>
                  <a:lnTo>
                    <a:pt x="319747" y="10957"/>
                  </a:lnTo>
                  <a:lnTo>
                    <a:pt x="366491" y="2791"/>
                  </a:lnTo>
                  <a:lnTo>
                    <a:pt x="414874" y="0"/>
                  </a:lnTo>
                  <a:lnTo>
                    <a:pt x="2074324" y="0"/>
                  </a:lnTo>
                  <a:lnTo>
                    <a:pt x="2121137" y="2648"/>
                  </a:lnTo>
                  <a:lnTo>
                    <a:pt x="2166992" y="10480"/>
                  </a:lnTo>
                  <a:lnTo>
                    <a:pt x="2211483" y="23328"/>
                  </a:lnTo>
                  <a:lnTo>
                    <a:pt x="2254204" y="41023"/>
                  </a:lnTo>
                  <a:lnTo>
                    <a:pt x="2294749" y="63398"/>
                  </a:lnTo>
                  <a:lnTo>
                    <a:pt x="2332711" y="90284"/>
                  </a:lnTo>
                  <a:lnTo>
                    <a:pt x="2367685" y="121514"/>
                  </a:lnTo>
                  <a:lnTo>
                    <a:pt x="2398915" y="156488"/>
                  </a:lnTo>
                  <a:lnTo>
                    <a:pt x="2425801" y="194450"/>
                  </a:lnTo>
                  <a:lnTo>
                    <a:pt x="2448176" y="234995"/>
                  </a:lnTo>
                  <a:lnTo>
                    <a:pt x="2465871" y="277716"/>
                  </a:lnTo>
                  <a:lnTo>
                    <a:pt x="2478719" y="322207"/>
                  </a:lnTo>
                  <a:lnTo>
                    <a:pt x="2486551" y="368062"/>
                  </a:lnTo>
                  <a:lnTo>
                    <a:pt x="2489199" y="414874"/>
                  </a:lnTo>
                  <a:lnTo>
                    <a:pt x="2489199" y="2524267"/>
                  </a:lnTo>
                  <a:lnTo>
                    <a:pt x="2486408" y="2572651"/>
                  </a:lnTo>
                  <a:lnTo>
                    <a:pt x="2478242" y="2619394"/>
                  </a:lnTo>
                  <a:lnTo>
                    <a:pt x="2465013" y="2664188"/>
                  </a:lnTo>
                  <a:lnTo>
                    <a:pt x="2447031" y="2706719"/>
                  </a:lnTo>
                  <a:lnTo>
                    <a:pt x="2424608" y="2746677"/>
                  </a:lnTo>
                  <a:lnTo>
                    <a:pt x="2398056" y="2783751"/>
                  </a:lnTo>
                  <a:lnTo>
                    <a:pt x="2367685" y="2817628"/>
                  </a:lnTo>
                  <a:lnTo>
                    <a:pt x="2333808" y="2847999"/>
                  </a:lnTo>
                  <a:lnTo>
                    <a:pt x="2296734" y="2874551"/>
                  </a:lnTo>
                  <a:lnTo>
                    <a:pt x="2256776" y="2896974"/>
                  </a:lnTo>
                  <a:lnTo>
                    <a:pt x="2214245" y="2914956"/>
                  </a:lnTo>
                  <a:lnTo>
                    <a:pt x="2169451" y="2928185"/>
                  </a:lnTo>
                  <a:lnTo>
                    <a:pt x="2122708" y="2936351"/>
                  </a:lnTo>
                  <a:lnTo>
                    <a:pt x="2074324" y="2939142"/>
                  </a:lnTo>
                  <a:lnTo>
                    <a:pt x="414874" y="2939142"/>
                  </a:lnTo>
                  <a:lnTo>
                    <a:pt x="366491" y="2936351"/>
                  </a:lnTo>
                  <a:lnTo>
                    <a:pt x="319747" y="2928185"/>
                  </a:lnTo>
                  <a:lnTo>
                    <a:pt x="274954" y="2914956"/>
                  </a:lnTo>
                  <a:lnTo>
                    <a:pt x="232423" y="2896974"/>
                  </a:lnTo>
                  <a:lnTo>
                    <a:pt x="192465" y="2874551"/>
                  </a:lnTo>
                  <a:lnTo>
                    <a:pt x="155391" y="2847999"/>
                  </a:lnTo>
                  <a:lnTo>
                    <a:pt x="121514" y="2817628"/>
                  </a:lnTo>
                  <a:lnTo>
                    <a:pt x="91143" y="2783751"/>
                  </a:lnTo>
                  <a:lnTo>
                    <a:pt x="64591" y="2746677"/>
                  </a:lnTo>
                  <a:lnTo>
                    <a:pt x="42168" y="2706719"/>
                  </a:lnTo>
                  <a:lnTo>
                    <a:pt x="24186" y="2664188"/>
                  </a:lnTo>
                  <a:lnTo>
                    <a:pt x="10957" y="2619394"/>
                  </a:lnTo>
                  <a:lnTo>
                    <a:pt x="2791" y="2572651"/>
                  </a:lnTo>
                  <a:lnTo>
                    <a:pt x="0" y="2524267"/>
                  </a:lnTo>
                  <a:lnTo>
                    <a:pt x="0" y="414874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452913" y="1483432"/>
              <a:ext cx="1030605" cy="403860"/>
            </a:xfrm>
            <a:custGeom>
              <a:avLst/>
              <a:gdLst/>
              <a:ahLst/>
              <a:cxnLst/>
              <a:rect l="l" t="t" r="r" b="b"/>
              <a:pathLst>
                <a:path w="1030604" h="403860">
                  <a:moveTo>
                    <a:pt x="963276" y="403422"/>
                  </a:moveTo>
                  <a:lnTo>
                    <a:pt x="67238" y="403422"/>
                  </a:lnTo>
                  <a:lnTo>
                    <a:pt x="41066" y="398139"/>
                  </a:lnTo>
                  <a:lnTo>
                    <a:pt x="19693" y="383729"/>
                  </a:lnTo>
                  <a:lnTo>
                    <a:pt x="5283" y="362356"/>
                  </a:lnTo>
                  <a:lnTo>
                    <a:pt x="0" y="336184"/>
                  </a:lnTo>
                  <a:lnTo>
                    <a:pt x="0" y="67238"/>
                  </a:lnTo>
                  <a:lnTo>
                    <a:pt x="5194" y="41507"/>
                  </a:lnTo>
                  <a:lnTo>
                    <a:pt x="5283" y="41066"/>
                  </a:lnTo>
                  <a:lnTo>
                    <a:pt x="19693" y="19693"/>
                  </a:lnTo>
                  <a:lnTo>
                    <a:pt x="41066" y="5283"/>
                  </a:lnTo>
                  <a:lnTo>
                    <a:pt x="67238" y="0"/>
                  </a:lnTo>
                  <a:lnTo>
                    <a:pt x="963276" y="0"/>
                  </a:lnTo>
                  <a:lnTo>
                    <a:pt x="1000580" y="11296"/>
                  </a:lnTo>
                  <a:lnTo>
                    <a:pt x="1025396" y="41507"/>
                  </a:lnTo>
                  <a:lnTo>
                    <a:pt x="1030514" y="67238"/>
                  </a:lnTo>
                  <a:lnTo>
                    <a:pt x="1030514" y="336184"/>
                  </a:lnTo>
                  <a:lnTo>
                    <a:pt x="1025231" y="362356"/>
                  </a:lnTo>
                  <a:lnTo>
                    <a:pt x="1010821" y="383729"/>
                  </a:lnTo>
                  <a:lnTo>
                    <a:pt x="989448" y="398139"/>
                  </a:lnTo>
                  <a:lnTo>
                    <a:pt x="963276" y="403422"/>
                  </a:lnTo>
                  <a:close/>
                </a:path>
              </a:pathLst>
            </a:custGeom>
            <a:solidFill>
              <a:srgbClr val="00B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452913" y="1483432"/>
              <a:ext cx="1030605" cy="403860"/>
            </a:xfrm>
            <a:custGeom>
              <a:avLst/>
              <a:gdLst/>
              <a:ahLst/>
              <a:cxnLst/>
              <a:rect l="l" t="t" r="r" b="b"/>
              <a:pathLst>
                <a:path w="1030604" h="403860">
                  <a:moveTo>
                    <a:pt x="0" y="67238"/>
                  </a:moveTo>
                  <a:lnTo>
                    <a:pt x="5283" y="41066"/>
                  </a:lnTo>
                  <a:lnTo>
                    <a:pt x="19693" y="19693"/>
                  </a:lnTo>
                  <a:lnTo>
                    <a:pt x="41066" y="5283"/>
                  </a:lnTo>
                  <a:lnTo>
                    <a:pt x="67238" y="0"/>
                  </a:lnTo>
                  <a:lnTo>
                    <a:pt x="963276" y="0"/>
                  </a:lnTo>
                  <a:lnTo>
                    <a:pt x="1000580" y="11296"/>
                  </a:lnTo>
                  <a:lnTo>
                    <a:pt x="1025396" y="41507"/>
                  </a:lnTo>
                  <a:lnTo>
                    <a:pt x="1030514" y="67238"/>
                  </a:lnTo>
                  <a:lnTo>
                    <a:pt x="1030514" y="336184"/>
                  </a:lnTo>
                  <a:lnTo>
                    <a:pt x="1025231" y="362356"/>
                  </a:lnTo>
                  <a:lnTo>
                    <a:pt x="1010821" y="383729"/>
                  </a:lnTo>
                  <a:lnTo>
                    <a:pt x="989448" y="398139"/>
                  </a:lnTo>
                  <a:lnTo>
                    <a:pt x="963276" y="403422"/>
                  </a:lnTo>
                  <a:lnTo>
                    <a:pt x="67238" y="403422"/>
                  </a:lnTo>
                  <a:lnTo>
                    <a:pt x="41066" y="398139"/>
                  </a:lnTo>
                  <a:lnTo>
                    <a:pt x="19693" y="383729"/>
                  </a:lnTo>
                  <a:lnTo>
                    <a:pt x="5283" y="362356"/>
                  </a:lnTo>
                  <a:lnTo>
                    <a:pt x="0" y="336184"/>
                  </a:lnTo>
                  <a:lnTo>
                    <a:pt x="0" y="67238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783771" y="1946190"/>
            <a:ext cx="397510" cy="41275"/>
            <a:chOff x="783771" y="1946190"/>
            <a:chExt cx="397510" cy="41275"/>
          </a:xfrm>
        </p:grpSpPr>
        <p:sp>
          <p:nvSpPr>
            <p:cNvPr id="17" name="object 17"/>
            <p:cNvSpPr/>
            <p:nvPr/>
          </p:nvSpPr>
          <p:spPr>
            <a:xfrm>
              <a:off x="783771" y="1966686"/>
              <a:ext cx="349250" cy="0"/>
            </a:xfrm>
            <a:custGeom>
              <a:avLst/>
              <a:gdLst/>
              <a:ahLst/>
              <a:cxnLst/>
              <a:rect l="l" t="t" r="r" b="b"/>
              <a:pathLst>
                <a:path w="349250">
                  <a:moveTo>
                    <a:pt x="0" y="0"/>
                  </a:moveTo>
                  <a:lnTo>
                    <a:pt x="349249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133021" y="195095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133021" y="195095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73025" y="1831085"/>
            <a:ext cx="5689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Arial"/>
                <a:cs typeface="Arial"/>
              </a:rPr>
              <a:t>Master</a:t>
            </a:r>
            <a:endParaRPr sz="1400">
              <a:latin typeface="Arial"/>
              <a:cs typeface="Arial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sp>
        <p:nvSpPr>
          <p:cNvPr id="21" name="object 21"/>
          <p:cNvSpPr txBox="1"/>
          <p:nvPr/>
        </p:nvSpPr>
        <p:spPr>
          <a:xfrm>
            <a:off x="2555384" y="1560557"/>
            <a:ext cx="82613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Scheduler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97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15"/>
              </a:spcBef>
            </a:pPr>
            <a:r>
              <a:rPr dirty="0"/>
              <a:t>Cargo</a:t>
            </a:r>
            <a:r>
              <a:rPr spc="-15" dirty="0"/>
              <a:t> </a:t>
            </a:r>
            <a:r>
              <a:rPr dirty="0"/>
              <a:t>Ship</a:t>
            </a:r>
            <a:r>
              <a:rPr spc="-10" dirty="0"/>
              <a:t> Profiles</a:t>
            </a:r>
          </a:p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sz="1400" spc="-10" dirty="0">
                <a:solidFill>
                  <a:srgbClr val="595959"/>
                </a:solidFill>
              </a:rPr>
              <a:t>HA</a:t>
            </a:r>
            <a:r>
              <a:rPr sz="1400" spc="-90" dirty="0">
                <a:solidFill>
                  <a:srgbClr val="595959"/>
                </a:solidFill>
              </a:rPr>
              <a:t> </a:t>
            </a:r>
            <a:r>
              <a:rPr sz="1400" dirty="0">
                <a:solidFill>
                  <a:srgbClr val="595959"/>
                </a:solidFill>
              </a:rPr>
              <a:t>database</a:t>
            </a:r>
            <a:r>
              <a:rPr sz="1400" spc="-20" dirty="0">
                <a:solidFill>
                  <a:srgbClr val="595959"/>
                </a:solidFill>
              </a:rPr>
              <a:t> </a:t>
            </a:r>
            <a:r>
              <a:rPr sz="1400" dirty="0">
                <a:solidFill>
                  <a:srgbClr val="595959"/>
                </a:solidFill>
              </a:rPr>
              <a:t>~</a:t>
            </a:r>
            <a:r>
              <a:rPr sz="1400" spc="-15" dirty="0">
                <a:solidFill>
                  <a:srgbClr val="595959"/>
                </a:solidFill>
              </a:rPr>
              <a:t> </a:t>
            </a:r>
            <a:r>
              <a:rPr sz="1400" dirty="0">
                <a:solidFill>
                  <a:srgbClr val="595959"/>
                </a:solidFill>
              </a:rPr>
              <a:t>Which</a:t>
            </a:r>
            <a:r>
              <a:rPr sz="1400" spc="-20" dirty="0">
                <a:solidFill>
                  <a:srgbClr val="595959"/>
                </a:solidFill>
              </a:rPr>
              <a:t> </a:t>
            </a:r>
            <a:r>
              <a:rPr sz="1400" dirty="0">
                <a:solidFill>
                  <a:srgbClr val="595959"/>
                </a:solidFill>
              </a:rPr>
              <a:t>containers</a:t>
            </a:r>
            <a:r>
              <a:rPr sz="1400" spc="-15" dirty="0">
                <a:solidFill>
                  <a:srgbClr val="595959"/>
                </a:solidFill>
              </a:rPr>
              <a:t> </a:t>
            </a:r>
            <a:r>
              <a:rPr sz="1400" dirty="0">
                <a:solidFill>
                  <a:srgbClr val="595959"/>
                </a:solidFill>
              </a:rPr>
              <a:t>on</a:t>
            </a:r>
            <a:r>
              <a:rPr sz="1400" spc="-15" dirty="0">
                <a:solidFill>
                  <a:srgbClr val="595959"/>
                </a:solidFill>
              </a:rPr>
              <a:t> </a:t>
            </a:r>
            <a:r>
              <a:rPr sz="1400" dirty="0">
                <a:solidFill>
                  <a:srgbClr val="595959"/>
                </a:solidFill>
              </a:rPr>
              <a:t>which</a:t>
            </a:r>
            <a:r>
              <a:rPr sz="1400" spc="-20" dirty="0">
                <a:solidFill>
                  <a:srgbClr val="595959"/>
                </a:solidFill>
              </a:rPr>
              <a:t> </a:t>
            </a:r>
            <a:r>
              <a:rPr sz="1400" dirty="0">
                <a:solidFill>
                  <a:srgbClr val="595959"/>
                </a:solidFill>
              </a:rPr>
              <a:t>ships?</a:t>
            </a:r>
            <a:r>
              <a:rPr sz="1400" spc="-15" dirty="0">
                <a:solidFill>
                  <a:srgbClr val="595959"/>
                </a:solidFill>
              </a:rPr>
              <a:t> </a:t>
            </a:r>
            <a:r>
              <a:rPr sz="1400" dirty="0">
                <a:solidFill>
                  <a:srgbClr val="595959"/>
                </a:solidFill>
              </a:rPr>
              <a:t>When</a:t>
            </a:r>
            <a:r>
              <a:rPr sz="1400" spc="-20" dirty="0">
                <a:solidFill>
                  <a:srgbClr val="595959"/>
                </a:solidFill>
              </a:rPr>
              <a:t> </a:t>
            </a:r>
            <a:r>
              <a:rPr sz="1400" dirty="0">
                <a:solidFill>
                  <a:srgbClr val="595959"/>
                </a:solidFill>
              </a:rPr>
              <a:t>was</a:t>
            </a:r>
            <a:r>
              <a:rPr sz="1400" spc="-15" dirty="0">
                <a:solidFill>
                  <a:srgbClr val="595959"/>
                </a:solidFill>
              </a:rPr>
              <a:t> </a:t>
            </a:r>
            <a:r>
              <a:rPr sz="1400" dirty="0">
                <a:solidFill>
                  <a:srgbClr val="595959"/>
                </a:solidFill>
              </a:rPr>
              <a:t>it</a:t>
            </a:r>
            <a:r>
              <a:rPr sz="1400" spc="-15" dirty="0">
                <a:solidFill>
                  <a:srgbClr val="595959"/>
                </a:solidFill>
              </a:rPr>
              <a:t> </a:t>
            </a:r>
            <a:r>
              <a:rPr sz="1400" spc="-10" dirty="0">
                <a:solidFill>
                  <a:srgbClr val="595959"/>
                </a:solidFill>
              </a:rPr>
              <a:t>loaded?</a:t>
            </a:r>
            <a:endParaRPr sz="1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09480" y="1369219"/>
            <a:ext cx="6840514" cy="2652892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30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5"/>
              </a:spcBef>
            </a:pPr>
            <a:r>
              <a:rPr dirty="0"/>
              <a:t>Cargo</a:t>
            </a:r>
            <a:r>
              <a:rPr spc="-15" dirty="0"/>
              <a:t> </a:t>
            </a:r>
            <a:r>
              <a:rPr dirty="0"/>
              <a:t>Ship</a:t>
            </a:r>
            <a:r>
              <a:rPr spc="-10" dirty="0"/>
              <a:t> Profiles</a:t>
            </a:r>
          </a:p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sz="1600" dirty="0">
                <a:solidFill>
                  <a:srgbClr val="595959"/>
                </a:solidFill>
              </a:rPr>
              <a:t>HA</a:t>
            </a:r>
            <a:r>
              <a:rPr sz="1600" spc="-110" dirty="0">
                <a:solidFill>
                  <a:srgbClr val="595959"/>
                </a:solidFill>
              </a:rPr>
              <a:t> </a:t>
            </a:r>
            <a:r>
              <a:rPr sz="1600" dirty="0">
                <a:solidFill>
                  <a:srgbClr val="595959"/>
                </a:solidFill>
              </a:rPr>
              <a:t>database</a:t>
            </a:r>
            <a:r>
              <a:rPr sz="1600" spc="-15" dirty="0">
                <a:solidFill>
                  <a:srgbClr val="595959"/>
                </a:solidFill>
              </a:rPr>
              <a:t> </a:t>
            </a:r>
            <a:r>
              <a:rPr sz="1600" dirty="0">
                <a:solidFill>
                  <a:srgbClr val="595959"/>
                </a:solidFill>
              </a:rPr>
              <a:t>~</a:t>
            </a:r>
            <a:r>
              <a:rPr sz="1600" spc="-20" dirty="0">
                <a:solidFill>
                  <a:srgbClr val="595959"/>
                </a:solidFill>
              </a:rPr>
              <a:t> </a:t>
            </a:r>
            <a:r>
              <a:rPr sz="1600" dirty="0">
                <a:solidFill>
                  <a:srgbClr val="595959"/>
                </a:solidFill>
              </a:rPr>
              <a:t>Which</a:t>
            </a:r>
            <a:r>
              <a:rPr sz="1600" spc="-20" dirty="0">
                <a:solidFill>
                  <a:srgbClr val="595959"/>
                </a:solidFill>
              </a:rPr>
              <a:t> </a:t>
            </a:r>
            <a:r>
              <a:rPr sz="1600" dirty="0">
                <a:solidFill>
                  <a:srgbClr val="595959"/>
                </a:solidFill>
              </a:rPr>
              <a:t>containers</a:t>
            </a:r>
            <a:r>
              <a:rPr sz="1600" spc="-20" dirty="0">
                <a:solidFill>
                  <a:srgbClr val="595959"/>
                </a:solidFill>
              </a:rPr>
              <a:t> </a:t>
            </a:r>
            <a:r>
              <a:rPr sz="1600" dirty="0">
                <a:solidFill>
                  <a:srgbClr val="595959"/>
                </a:solidFill>
              </a:rPr>
              <a:t>on</a:t>
            </a:r>
            <a:r>
              <a:rPr sz="1600" spc="-15" dirty="0">
                <a:solidFill>
                  <a:srgbClr val="595959"/>
                </a:solidFill>
              </a:rPr>
              <a:t> </a:t>
            </a:r>
            <a:r>
              <a:rPr sz="1600" dirty="0">
                <a:solidFill>
                  <a:srgbClr val="595959"/>
                </a:solidFill>
              </a:rPr>
              <a:t>which</a:t>
            </a:r>
            <a:r>
              <a:rPr sz="1600" spc="-20" dirty="0">
                <a:solidFill>
                  <a:srgbClr val="595959"/>
                </a:solidFill>
              </a:rPr>
              <a:t> </a:t>
            </a:r>
            <a:r>
              <a:rPr sz="1600" dirty="0">
                <a:solidFill>
                  <a:srgbClr val="595959"/>
                </a:solidFill>
              </a:rPr>
              <a:t>ships?</a:t>
            </a:r>
            <a:r>
              <a:rPr sz="1600" spc="-20" dirty="0">
                <a:solidFill>
                  <a:srgbClr val="595959"/>
                </a:solidFill>
              </a:rPr>
              <a:t> </a:t>
            </a:r>
            <a:r>
              <a:rPr sz="1600" dirty="0">
                <a:solidFill>
                  <a:srgbClr val="595959"/>
                </a:solidFill>
              </a:rPr>
              <a:t>When</a:t>
            </a:r>
            <a:r>
              <a:rPr sz="1600" spc="-20" dirty="0">
                <a:solidFill>
                  <a:srgbClr val="595959"/>
                </a:solidFill>
              </a:rPr>
              <a:t> </a:t>
            </a:r>
            <a:r>
              <a:rPr sz="1600" dirty="0">
                <a:solidFill>
                  <a:srgbClr val="595959"/>
                </a:solidFill>
              </a:rPr>
              <a:t>was</a:t>
            </a:r>
            <a:r>
              <a:rPr sz="1600" spc="-15" dirty="0">
                <a:solidFill>
                  <a:srgbClr val="595959"/>
                </a:solidFill>
              </a:rPr>
              <a:t> </a:t>
            </a:r>
            <a:r>
              <a:rPr sz="1600" dirty="0">
                <a:solidFill>
                  <a:srgbClr val="595959"/>
                </a:solidFill>
              </a:rPr>
              <a:t>it</a:t>
            </a:r>
            <a:r>
              <a:rPr sz="1600" spc="-20" dirty="0">
                <a:solidFill>
                  <a:srgbClr val="595959"/>
                </a:solidFill>
              </a:rPr>
              <a:t> </a:t>
            </a:r>
            <a:r>
              <a:rPr sz="1600" dirty="0">
                <a:solidFill>
                  <a:srgbClr val="595959"/>
                </a:solidFill>
              </a:rPr>
              <a:t>loaded?</a:t>
            </a:r>
            <a:r>
              <a:rPr sz="1600" spc="-20" dirty="0">
                <a:solidFill>
                  <a:srgbClr val="595959"/>
                </a:solidFill>
              </a:rPr>
              <a:t> </a:t>
            </a:r>
            <a:r>
              <a:rPr sz="1600" dirty="0">
                <a:solidFill>
                  <a:srgbClr val="595959"/>
                </a:solidFill>
              </a:rPr>
              <a:t>~ </a:t>
            </a:r>
            <a:r>
              <a:rPr sz="1600" dirty="0">
                <a:solidFill>
                  <a:srgbClr val="FF0000"/>
                </a:solidFill>
              </a:rPr>
              <a:t>The</a:t>
            </a:r>
            <a:r>
              <a:rPr sz="1600" spc="-15" dirty="0">
                <a:solidFill>
                  <a:srgbClr val="FF0000"/>
                </a:solidFill>
              </a:rPr>
              <a:t> </a:t>
            </a:r>
            <a:r>
              <a:rPr sz="1600" dirty="0">
                <a:solidFill>
                  <a:srgbClr val="FF0000"/>
                </a:solidFill>
              </a:rPr>
              <a:t>ETCD</a:t>
            </a:r>
            <a:r>
              <a:rPr sz="1600" spc="-20" dirty="0">
                <a:solidFill>
                  <a:srgbClr val="FF0000"/>
                </a:solidFill>
              </a:rPr>
              <a:t> </a:t>
            </a:r>
            <a:r>
              <a:rPr sz="1600" spc="-10" dirty="0">
                <a:solidFill>
                  <a:srgbClr val="FF0000"/>
                </a:solidFill>
              </a:rPr>
              <a:t>Cluster</a:t>
            </a:r>
            <a:endParaRPr sz="16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1759" y="1303905"/>
            <a:ext cx="8030193" cy="311427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707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Overview</a:t>
            </a:r>
          </a:p>
        </p:txBody>
      </p:sp>
      <p:sp>
        <p:nvSpPr>
          <p:cNvPr id="3" name="object 3"/>
          <p:cNvSpPr/>
          <p:nvPr/>
        </p:nvSpPr>
        <p:spPr>
          <a:xfrm>
            <a:off x="5196113" y="1175657"/>
            <a:ext cx="1676400" cy="653415"/>
          </a:xfrm>
          <a:custGeom>
            <a:avLst/>
            <a:gdLst/>
            <a:ahLst/>
            <a:cxnLst/>
            <a:rect l="l" t="t" r="r" b="b"/>
            <a:pathLst>
              <a:path w="1676400" h="653414">
                <a:moveTo>
                  <a:pt x="0" y="108859"/>
                </a:moveTo>
                <a:lnTo>
                  <a:pt x="8554" y="66486"/>
                </a:lnTo>
                <a:lnTo>
                  <a:pt x="31884" y="31884"/>
                </a:lnTo>
                <a:lnTo>
                  <a:pt x="66486" y="8554"/>
                </a:lnTo>
                <a:lnTo>
                  <a:pt x="108859" y="0"/>
                </a:lnTo>
                <a:lnTo>
                  <a:pt x="1567540" y="0"/>
                </a:lnTo>
                <a:lnTo>
                  <a:pt x="1609199" y="8286"/>
                </a:lnTo>
                <a:lnTo>
                  <a:pt x="1644515" y="31884"/>
                </a:lnTo>
                <a:lnTo>
                  <a:pt x="1668113" y="67200"/>
                </a:lnTo>
                <a:lnTo>
                  <a:pt x="1676399" y="108859"/>
                </a:lnTo>
                <a:lnTo>
                  <a:pt x="1676399" y="544283"/>
                </a:lnTo>
                <a:lnTo>
                  <a:pt x="1667845" y="586656"/>
                </a:lnTo>
                <a:lnTo>
                  <a:pt x="1644515" y="621258"/>
                </a:lnTo>
                <a:lnTo>
                  <a:pt x="1609913" y="644588"/>
                </a:lnTo>
                <a:lnTo>
                  <a:pt x="1567540" y="653142"/>
                </a:lnTo>
                <a:lnTo>
                  <a:pt x="108859" y="653142"/>
                </a:lnTo>
                <a:lnTo>
                  <a:pt x="66486" y="644588"/>
                </a:lnTo>
                <a:lnTo>
                  <a:pt x="31884" y="621258"/>
                </a:lnTo>
                <a:lnTo>
                  <a:pt x="8554" y="586656"/>
                </a:lnTo>
                <a:lnTo>
                  <a:pt x="0" y="544283"/>
                </a:lnTo>
                <a:lnTo>
                  <a:pt x="0" y="108859"/>
                </a:lnTo>
                <a:close/>
              </a:path>
            </a:pathLst>
          </a:custGeom>
          <a:ln w="12699">
            <a:solidFill>
              <a:srgbClr val="127BB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6968760" y="1328646"/>
            <a:ext cx="598170" cy="41275"/>
            <a:chOff x="6968760" y="1328646"/>
            <a:chExt cx="598170" cy="41275"/>
          </a:xfrm>
        </p:grpSpPr>
        <p:sp>
          <p:nvSpPr>
            <p:cNvPr id="5" name="object 5"/>
            <p:cNvSpPr/>
            <p:nvPr/>
          </p:nvSpPr>
          <p:spPr>
            <a:xfrm>
              <a:off x="7016745" y="1342570"/>
              <a:ext cx="545465" cy="6985"/>
            </a:xfrm>
            <a:custGeom>
              <a:avLst/>
              <a:gdLst/>
              <a:ahLst/>
              <a:cxnLst/>
              <a:rect l="l" t="t" r="r" b="b"/>
              <a:pathLst>
                <a:path w="545465" h="6984">
                  <a:moveTo>
                    <a:pt x="545196" y="0"/>
                  </a:moveTo>
                  <a:lnTo>
                    <a:pt x="0" y="6569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973523" y="133340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411" y="31463"/>
                  </a:moveTo>
                  <a:lnTo>
                    <a:pt x="0" y="16252"/>
                  </a:lnTo>
                  <a:lnTo>
                    <a:pt x="43032" y="0"/>
                  </a:lnTo>
                  <a:lnTo>
                    <a:pt x="43411" y="31463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973523" y="133340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032" y="0"/>
                  </a:moveTo>
                  <a:lnTo>
                    <a:pt x="0" y="16252"/>
                  </a:lnTo>
                  <a:lnTo>
                    <a:pt x="43411" y="31463"/>
                  </a:lnTo>
                  <a:lnTo>
                    <a:pt x="43032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7823654" y="1193944"/>
            <a:ext cx="12274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Worker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Node-</a:t>
            </a:r>
            <a:r>
              <a:rPr sz="1400" spc="-50" dirty="0">
                <a:latin typeface="Arial"/>
                <a:cs typeface="Arial"/>
              </a:rPr>
              <a:t>1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196113" y="2002971"/>
            <a:ext cx="1676400" cy="1379220"/>
          </a:xfrm>
          <a:custGeom>
            <a:avLst/>
            <a:gdLst/>
            <a:ahLst/>
            <a:cxnLst/>
            <a:rect l="l" t="t" r="r" b="b"/>
            <a:pathLst>
              <a:path w="1676400" h="1379220">
                <a:moveTo>
                  <a:pt x="0" y="229814"/>
                </a:moveTo>
                <a:lnTo>
                  <a:pt x="4669" y="183498"/>
                </a:lnTo>
                <a:lnTo>
                  <a:pt x="18059" y="140360"/>
                </a:lnTo>
                <a:lnTo>
                  <a:pt x="39248" y="101322"/>
                </a:lnTo>
                <a:lnTo>
                  <a:pt x="67311" y="67310"/>
                </a:lnTo>
                <a:lnTo>
                  <a:pt x="101322" y="39248"/>
                </a:lnTo>
                <a:lnTo>
                  <a:pt x="140360" y="18059"/>
                </a:lnTo>
                <a:lnTo>
                  <a:pt x="183498" y="4669"/>
                </a:lnTo>
                <a:lnTo>
                  <a:pt x="229813" y="0"/>
                </a:lnTo>
                <a:lnTo>
                  <a:pt x="1446585" y="0"/>
                </a:lnTo>
                <a:lnTo>
                  <a:pt x="1491630" y="4456"/>
                </a:lnTo>
                <a:lnTo>
                  <a:pt x="1534532" y="17493"/>
                </a:lnTo>
                <a:lnTo>
                  <a:pt x="1574087" y="38611"/>
                </a:lnTo>
                <a:lnTo>
                  <a:pt x="1609088" y="67310"/>
                </a:lnTo>
                <a:lnTo>
                  <a:pt x="1637788" y="102313"/>
                </a:lnTo>
                <a:lnTo>
                  <a:pt x="1658906" y="141868"/>
                </a:lnTo>
                <a:lnTo>
                  <a:pt x="1671943" y="184770"/>
                </a:lnTo>
                <a:lnTo>
                  <a:pt x="1676399" y="229814"/>
                </a:lnTo>
                <a:lnTo>
                  <a:pt x="1676399" y="1149042"/>
                </a:lnTo>
                <a:lnTo>
                  <a:pt x="1671730" y="1195358"/>
                </a:lnTo>
                <a:lnTo>
                  <a:pt x="1658340" y="1238496"/>
                </a:lnTo>
                <a:lnTo>
                  <a:pt x="1637151" y="1277534"/>
                </a:lnTo>
                <a:lnTo>
                  <a:pt x="1609088" y="1311546"/>
                </a:lnTo>
                <a:lnTo>
                  <a:pt x="1575077" y="1339608"/>
                </a:lnTo>
                <a:lnTo>
                  <a:pt x="1536039" y="1360797"/>
                </a:lnTo>
                <a:lnTo>
                  <a:pt x="1492901" y="1374188"/>
                </a:lnTo>
                <a:lnTo>
                  <a:pt x="1446585" y="1378856"/>
                </a:lnTo>
                <a:lnTo>
                  <a:pt x="229813" y="1378856"/>
                </a:lnTo>
                <a:lnTo>
                  <a:pt x="183498" y="1374188"/>
                </a:lnTo>
                <a:lnTo>
                  <a:pt x="140360" y="1360797"/>
                </a:lnTo>
                <a:lnTo>
                  <a:pt x="101322" y="1339608"/>
                </a:lnTo>
                <a:lnTo>
                  <a:pt x="67311" y="1311546"/>
                </a:lnTo>
                <a:lnTo>
                  <a:pt x="39248" y="1277534"/>
                </a:lnTo>
                <a:lnTo>
                  <a:pt x="18059" y="1238496"/>
                </a:lnTo>
                <a:lnTo>
                  <a:pt x="4669" y="1195358"/>
                </a:lnTo>
                <a:lnTo>
                  <a:pt x="0" y="1149042"/>
                </a:lnTo>
                <a:lnTo>
                  <a:pt x="0" y="229814"/>
                </a:lnTo>
                <a:close/>
              </a:path>
            </a:pathLst>
          </a:custGeom>
          <a:ln w="12699">
            <a:solidFill>
              <a:srgbClr val="127BB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196113" y="3556001"/>
            <a:ext cx="1676400" cy="653415"/>
          </a:xfrm>
          <a:custGeom>
            <a:avLst/>
            <a:gdLst/>
            <a:ahLst/>
            <a:cxnLst/>
            <a:rect l="l" t="t" r="r" b="b"/>
            <a:pathLst>
              <a:path w="1676400" h="653414">
                <a:moveTo>
                  <a:pt x="0" y="108859"/>
                </a:moveTo>
                <a:lnTo>
                  <a:pt x="8554" y="66486"/>
                </a:lnTo>
                <a:lnTo>
                  <a:pt x="31884" y="31884"/>
                </a:lnTo>
                <a:lnTo>
                  <a:pt x="66486" y="8554"/>
                </a:lnTo>
                <a:lnTo>
                  <a:pt x="108859" y="0"/>
                </a:lnTo>
                <a:lnTo>
                  <a:pt x="1567540" y="0"/>
                </a:lnTo>
                <a:lnTo>
                  <a:pt x="1609199" y="8286"/>
                </a:lnTo>
                <a:lnTo>
                  <a:pt x="1644515" y="31883"/>
                </a:lnTo>
                <a:lnTo>
                  <a:pt x="1668113" y="67200"/>
                </a:lnTo>
                <a:lnTo>
                  <a:pt x="1676399" y="108859"/>
                </a:lnTo>
                <a:lnTo>
                  <a:pt x="1676399" y="544283"/>
                </a:lnTo>
                <a:lnTo>
                  <a:pt x="1667845" y="586656"/>
                </a:lnTo>
                <a:lnTo>
                  <a:pt x="1644515" y="621258"/>
                </a:lnTo>
                <a:lnTo>
                  <a:pt x="1609913" y="644588"/>
                </a:lnTo>
                <a:lnTo>
                  <a:pt x="1567540" y="653142"/>
                </a:lnTo>
                <a:lnTo>
                  <a:pt x="108859" y="653142"/>
                </a:lnTo>
                <a:lnTo>
                  <a:pt x="66486" y="644588"/>
                </a:lnTo>
                <a:lnTo>
                  <a:pt x="31884" y="621258"/>
                </a:lnTo>
                <a:lnTo>
                  <a:pt x="8554" y="586656"/>
                </a:lnTo>
                <a:lnTo>
                  <a:pt x="0" y="544283"/>
                </a:lnTo>
                <a:lnTo>
                  <a:pt x="0" y="108859"/>
                </a:lnTo>
                <a:close/>
              </a:path>
            </a:pathLst>
          </a:custGeom>
          <a:ln w="12699">
            <a:solidFill>
              <a:srgbClr val="127BB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1" name="object 11"/>
          <p:cNvGrpSpPr/>
          <p:nvPr/>
        </p:nvGrpSpPr>
        <p:grpSpPr>
          <a:xfrm>
            <a:off x="1303129" y="1216477"/>
            <a:ext cx="2501900" cy="2952115"/>
            <a:chOff x="1303129" y="1216477"/>
            <a:chExt cx="2501900" cy="2952115"/>
          </a:xfrm>
        </p:grpSpPr>
        <p:sp>
          <p:nvSpPr>
            <p:cNvPr id="12" name="object 12"/>
            <p:cNvSpPr/>
            <p:nvPr/>
          </p:nvSpPr>
          <p:spPr>
            <a:xfrm>
              <a:off x="1309479" y="1222827"/>
              <a:ext cx="2489200" cy="2939415"/>
            </a:xfrm>
            <a:custGeom>
              <a:avLst/>
              <a:gdLst/>
              <a:ahLst/>
              <a:cxnLst/>
              <a:rect l="l" t="t" r="r" b="b"/>
              <a:pathLst>
                <a:path w="2489200" h="2939415">
                  <a:moveTo>
                    <a:pt x="2074324" y="2939142"/>
                  </a:moveTo>
                  <a:lnTo>
                    <a:pt x="414874" y="2939142"/>
                  </a:lnTo>
                  <a:lnTo>
                    <a:pt x="366491" y="2936351"/>
                  </a:lnTo>
                  <a:lnTo>
                    <a:pt x="319747" y="2928185"/>
                  </a:lnTo>
                  <a:lnTo>
                    <a:pt x="274954" y="2914956"/>
                  </a:lnTo>
                  <a:lnTo>
                    <a:pt x="232423" y="2896974"/>
                  </a:lnTo>
                  <a:lnTo>
                    <a:pt x="192465" y="2874551"/>
                  </a:lnTo>
                  <a:lnTo>
                    <a:pt x="155391" y="2847999"/>
                  </a:lnTo>
                  <a:lnTo>
                    <a:pt x="121514" y="2817628"/>
                  </a:lnTo>
                  <a:lnTo>
                    <a:pt x="91143" y="2783751"/>
                  </a:lnTo>
                  <a:lnTo>
                    <a:pt x="64591" y="2746677"/>
                  </a:lnTo>
                  <a:lnTo>
                    <a:pt x="42168" y="2706719"/>
                  </a:lnTo>
                  <a:lnTo>
                    <a:pt x="24186" y="2664188"/>
                  </a:lnTo>
                  <a:lnTo>
                    <a:pt x="10957" y="2619394"/>
                  </a:lnTo>
                  <a:lnTo>
                    <a:pt x="2791" y="2572651"/>
                  </a:lnTo>
                  <a:lnTo>
                    <a:pt x="0" y="2524267"/>
                  </a:lnTo>
                  <a:lnTo>
                    <a:pt x="0" y="414874"/>
                  </a:lnTo>
                  <a:lnTo>
                    <a:pt x="2700" y="368062"/>
                  </a:lnTo>
                  <a:lnTo>
                    <a:pt x="10957" y="319747"/>
                  </a:lnTo>
                  <a:lnTo>
                    <a:pt x="24186" y="274954"/>
                  </a:lnTo>
                  <a:lnTo>
                    <a:pt x="42168" y="232423"/>
                  </a:lnTo>
                  <a:lnTo>
                    <a:pt x="64591" y="192465"/>
                  </a:lnTo>
                  <a:lnTo>
                    <a:pt x="91143" y="155391"/>
                  </a:lnTo>
                  <a:lnTo>
                    <a:pt x="121514" y="121514"/>
                  </a:lnTo>
                  <a:lnTo>
                    <a:pt x="155391" y="91143"/>
                  </a:lnTo>
                  <a:lnTo>
                    <a:pt x="192465" y="64591"/>
                  </a:lnTo>
                  <a:lnTo>
                    <a:pt x="232423" y="42168"/>
                  </a:lnTo>
                  <a:lnTo>
                    <a:pt x="274954" y="24186"/>
                  </a:lnTo>
                  <a:lnTo>
                    <a:pt x="319747" y="10957"/>
                  </a:lnTo>
                  <a:lnTo>
                    <a:pt x="366491" y="2791"/>
                  </a:lnTo>
                  <a:lnTo>
                    <a:pt x="414874" y="0"/>
                  </a:lnTo>
                  <a:lnTo>
                    <a:pt x="2074324" y="0"/>
                  </a:lnTo>
                  <a:lnTo>
                    <a:pt x="2121137" y="2648"/>
                  </a:lnTo>
                  <a:lnTo>
                    <a:pt x="2166992" y="10480"/>
                  </a:lnTo>
                  <a:lnTo>
                    <a:pt x="2211483" y="23328"/>
                  </a:lnTo>
                  <a:lnTo>
                    <a:pt x="2254204" y="41023"/>
                  </a:lnTo>
                  <a:lnTo>
                    <a:pt x="2294749" y="63398"/>
                  </a:lnTo>
                  <a:lnTo>
                    <a:pt x="2332711" y="90284"/>
                  </a:lnTo>
                  <a:lnTo>
                    <a:pt x="2367685" y="121514"/>
                  </a:lnTo>
                  <a:lnTo>
                    <a:pt x="2398915" y="156488"/>
                  </a:lnTo>
                  <a:lnTo>
                    <a:pt x="2425801" y="194450"/>
                  </a:lnTo>
                  <a:lnTo>
                    <a:pt x="2448176" y="234995"/>
                  </a:lnTo>
                  <a:lnTo>
                    <a:pt x="2465871" y="277716"/>
                  </a:lnTo>
                  <a:lnTo>
                    <a:pt x="2478719" y="322207"/>
                  </a:lnTo>
                  <a:lnTo>
                    <a:pt x="2486551" y="368062"/>
                  </a:lnTo>
                  <a:lnTo>
                    <a:pt x="2489199" y="414874"/>
                  </a:lnTo>
                  <a:lnTo>
                    <a:pt x="2489199" y="2524267"/>
                  </a:lnTo>
                  <a:lnTo>
                    <a:pt x="2486408" y="2572651"/>
                  </a:lnTo>
                  <a:lnTo>
                    <a:pt x="2478242" y="2619394"/>
                  </a:lnTo>
                  <a:lnTo>
                    <a:pt x="2465013" y="2664188"/>
                  </a:lnTo>
                  <a:lnTo>
                    <a:pt x="2447031" y="2706719"/>
                  </a:lnTo>
                  <a:lnTo>
                    <a:pt x="2424608" y="2746677"/>
                  </a:lnTo>
                  <a:lnTo>
                    <a:pt x="2398056" y="2783751"/>
                  </a:lnTo>
                  <a:lnTo>
                    <a:pt x="2367685" y="2817628"/>
                  </a:lnTo>
                  <a:lnTo>
                    <a:pt x="2333808" y="2847999"/>
                  </a:lnTo>
                  <a:lnTo>
                    <a:pt x="2296734" y="2874551"/>
                  </a:lnTo>
                  <a:lnTo>
                    <a:pt x="2256776" y="2896974"/>
                  </a:lnTo>
                  <a:lnTo>
                    <a:pt x="2214245" y="2914956"/>
                  </a:lnTo>
                  <a:lnTo>
                    <a:pt x="2169451" y="2928185"/>
                  </a:lnTo>
                  <a:lnTo>
                    <a:pt x="2122708" y="2936351"/>
                  </a:lnTo>
                  <a:lnTo>
                    <a:pt x="2074324" y="2939142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309479" y="1222827"/>
              <a:ext cx="2489200" cy="2939415"/>
            </a:xfrm>
            <a:custGeom>
              <a:avLst/>
              <a:gdLst/>
              <a:ahLst/>
              <a:cxnLst/>
              <a:rect l="l" t="t" r="r" b="b"/>
              <a:pathLst>
                <a:path w="2489200" h="2939415">
                  <a:moveTo>
                    <a:pt x="0" y="414874"/>
                  </a:moveTo>
                  <a:lnTo>
                    <a:pt x="2791" y="366491"/>
                  </a:lnTo>
                  <a:lnTo>
                    <a:pt x="10957" y="319747"/>
                  </a:lnTo>
                  <a:lnTo>
                    <a:pt x="24186" y="274954"/>
                  </a:lnTo>
                  <a:lnTo>
                    <a:pt x="42168" y="232423"/>
                  </a:lnTo>
                  <a:lnTo>
                    <a:pt x="64591" y="192465"/>
                  </a:lnTo>
                  <a:lnTo>
                    <a:pt x="91143" y="155391"/>
                  </a:lnTo>
                  <a:lnTo>
                    <a:pt x="121514" y="121514"/>
                  </a:lnTo>
                  <a:lnTo>
                    <a:pt x="155391" y="91143"/>
                  </a:lnTo>
                  <a:lnTo>
                    <a:pt x="192465" y="64591"/>
                  </a:lnTo>
                  <a:lnTo>
                    <a:pt x="232423" y="42168"/>
                  </a:lnTo>
                  <a:lnTo>
                    <a:pt x="274954" y="24186"/>
                  </a:lnTo>
                  <a:lnTo>
                    <a:pt x="319747" y="10957"/>
                  </a:lnTo>
                  <a:lnTo>
                    <a:pt x="366491" y="2791"/>
                  </a:lnTo>
                  <a:lnTo>
                    <a:pt x="414874" y="0"/>
                  </a:lnTo>
                  <a:lnTo>
                    <a:pt x="2074324" y="0"/>
                  </a:lnTo>
                  <a:lnTo>
                    <a:pt x="2121137" y="2648"/>
                  </a:lnTo>
                  <a:lnTo>
                    <a:pt x="2166992" y="10480"/>
                  </a:lnTo>
                  <a:lnTo>
                    <a:pt x="2211483" y="23328"/>
                  </a:lnTo>
                  <a:lnTo>
                    <a:pt x="2254204" y="41023"/>
                  </a:lnTo>
                  <a:lnTo>
                    <a:pt x="2294749" y="63398"/>
                  </a:lnTo>
                  <a:lnTo>
                    <a:pt x="2332711" y="90284"/>
                  </a:lnTo>
                  <a:lnTo>
                    <a:pt x="2367685" y="121514"/>
                  </a:lnTo>
                  <a:lnTo>
                    <a:pt x="2398915" y="156488"/>
                  </a:lnTo>
                  <a:lnTo>
                    <a:pt x="2425801" y="194450"/>
                  </a:lnTo>
                  <a:lnTo>
                    <a:pt x="2448176" y="234995"/>
                  </a:lnTo>
                  <a:lnTo>
                    <a:pt x="2465871" y="277716"/>
                  </a:lnTo>
                  <a:lnTo>
                    <a:pt x="2478719" y="322207"/>
                  </a:lnTo>
                  <a:lnTo>
                    <a:pt x="2486551" y="368062"/>
                  </a:lnTo>
                  <a:lnTo>
                    <a:pt x="2489199" y="414874"/>
                  </a:lnTo>
                  <a:lnTo>
                    <a:pt x="2489199" y="2524267"/>
                  </a:lnTo>
                  <a:lnTo>
                    <a:pt x="2486408" y="2572651"/>
                  </a:lnTo>
                  <a:lnTo>
                    <a:pt x="2478242" y="2619394"/>
                  </a:lnTo>
                  <a:lnTo>
                    <a:pt x="2465013" y="2664188"/>
                  </a:lnTo>
                  <a:lnTo>
                    <a:pt x="2447031" y="2706719"/>
                  </a:lnTo>
                  <a:lnTo>
                    <a:pt x="2424608" y="2746677"/>
                  </a:lnTo>
                  <a:lnTo>
                    <a:pt x="2398056" y="2783751"/>
                  </a:lnTo>
                  <a:lnTo>
                    <a:pt x="2367685" y="2817628"/>
                  </a:lnTo>
                  <a:lnTo>
                    <a:pt x="2333808" y="2847999"/>
                  </a:lnTo>
                  <a:lnTo>
                    <a:pt x="2296734" y="2874551"/>
                  </a:lnTo>
                  <a:lnTo>
                    <a:pt x="2256776" y="2896974"/>
                  </a:lnTo>
                  <a:lnTo>
                    <a:pt x="2214245" y="2914956"/>
                  </a:lnTo>
                  <a:lnTo>
                    <a:pt x="2169451" y="2928185"/>
                  </a:lnTo>
                  <a:lnTo>
                    <a:pt x="2122708" y="2936351"/>
                  </a:lnTo>
                  <a:lnTo>
                    <a:pt x="2074324" y="2939142"/>
                  </a:lnTo>
                  <a:lnTo>
                    <a:pt x="414874" y="2939142"/>
                  </a:lnTo>
                  <a:lnTo>
                    <a:pt x="366491" y="2936351"/>
                  </a:lnTo>
                  <a:lnTo>
                    <a:pt x="319747" y="2928185"/>
                  </a:lnTo>
                  <a:lnTo>
                    <a:pt x="274954" y="2914956"/>
                  </a:lnTo>
                  <a:lnTo>
                    <a:pt x="232423" y="2896974"/>
                  </a:lnTo>
                  <a:lnTo>
                    <a:pt x="192465" y="2874551"/>
                  </a:lnTo>
                  <a:lnTo>
                    <a:pt x="155391" y="2847999"/>
                  </a:lnTo>
                  <a:lnTo>
                    <a:pt x="121514" y="2817628"/>
                  </a:lnTo>
                  <a:lnTo>
                    <a:pt x="91143" y="2783751"/>
                  </a:lnTo>
                  <a:lnTo>
                    <a:pt x="64591" y="2746677"/>
                  </a:lnTo>
                  <a:lnTo>
                    <a:pt x="42168" y="2706719"/>
                  </a:lnTo>
                  <a:lnTo>
                    <a:pt x="24186" y="2664188"/>
                  </a:lnTo>
                  <a:lnTo>
                    <a:pt x="10957" y="2619394"/>
                  </a:lnTo>
                  <a:lnTo>
                    <a:pt x="2791" y="2572651"/>
                  </a:lnTo>
                  <a:lnTo>
                    <a:pt x="0" y="2524267"/>
                  </a:lnTo>
                  <a:lnTo>
                    <a:pt x="0" y="414874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554079" y="1599548"/>
              <a:ext cx="1082040" cy="521334"/>
            </a:xfrm>
            <a:custGeom>
              <a:avLst/>
              <a:gdLst/>
              <a:ahLst/>
              <a:cxnLst/>
              <a:rect l="l" t="t" r="r" b="b"/>
              <a:pathLst>
                <a:path w="1082039" h="521335">
                  <a:moveTo>
                    <a:pt x="994909" y="521024"/>
                  </a:moveTo>
                  <a:lnTo>
                    <a:pt x="86839" y="521024"/>
                  </a:lnTo>
                  <a:lnTo>
                    <a:pt x="53037" y="514200"/>
                  </a:lnTo>
                  <a:lnTo>
                    <a:pt x="25434" y="495590"/>
                  </a:lnTo>
                  <a:lnTo>
                    <a:pt x="6824" y="467987"/>
                  </a:lnTo>
                  <a:lnTo>
                    <a:pt x="0" y="434185"/>
                  </a:lnTo>
                  <a:lnTo>
                    <a:pt x="0" y="86839"/>
                  </a:lnTo>
                  <a:lnTo>
                    <a:pt x="6824" y="53037"/>
                  </a:lnTo>
                  <a:lnTo>
                    <a:pt x="25434" y="25434"/>
                  </a:lnTo>
                  <a:lnTo>
                    <a:pt x="53037" y="6824"/>
                  </a:lnTo>
                  <a:lnTo>
                    <a:pt x="86839" y="0"/>
                  </a:lnTo>
                  <a:lnTo>
                    <a:pt x="994909" y="0"/>
                  </a:lnTo>
                  <a:lnTo>
                    <a:pt x="1043088" y="14590"/>
                  </a:lnTo>
                  <a:lnTo>
                    <a:pt x="1075138" y="53607"/>
                  </a:lnTo>
                  <a:lnTo>
                    <a:pt x="1081748" y="86839"/>
                  </a:lnTo>
                  <a:lnTo>
                    <a:pt x="1081748" y="434185"/>
                  </a:lnTo>
                  <a:lnTo>
                    <a:pt x="1074924" y="467987"/>
                  </a:lnTo>
                  <a:lnTo>
                    <a:pt x="1056314" y="495590"/>
                  </a:lnTo>
                  <a:lnTo>
                    <a:pt x="1028711" y="514200"/>
                  </a:lnTo>
                  <a:lnTo>
                    <a:pt x="994909" y="521024"/>
                  </a:lnTo>
                  <a:close/>
                </a:path>
              </a:pathLst>
            </a:custGeom>
            <a:solidFill>
              <a:srgbClr val="00B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554079" y="1599548"/>
              <a:ext cx="1082040" cy="521334"/>
            </a:xfrm>
            <a:custGeom>
              <a:avLst/>
              <a:gdLst/>
              <a:ahLst/>
              <a:cxnLst/>
              <a:rect l="l" t="t" r="r" b="b"/>
              <a:pathLst>
                <a:path w="1082039" h="521335">
                  <a:moveTo>
                    <a:pt x="0" y="86839"/>
                  </a:moveTo>
                  <a:lnTo>
                    <a:pt x="6824" y="53037"/>
                  </a:lnTo>
                  <a:lnTo>
                    <a:pt x="25434" y="25434"/>
                  </a:lnTo>
                  <a:lnTo>
                    <a:pt x="53037" y="6824"/>
                  </a:lnTo>
                  <a:lnTo>
                    <a:pt x="86839" y="0"/>
                  </a:lnTo>
                  <a:lnTo>
                    <a:pt x="994909" y="0"/>
                  </a:lnTo>
                  <a:lnTo>
                    <a:pt x="1043088" y="14590"/>
                  </a:lnTo>
                  <a:lnTo>
                    <a:pt x="1075138" y="53607"/>
                  </a:lnTo>
                  <a:lnTo>
                    <a:pt x="1081748" y="86839"/>
                  </a:lnTo>
                  <a:lnTo>
                    <a:pt x="1081748" y="434185"/>
                  </a:lnTo>
                  <a:lnTo>
                    <a:pt x="1074924" y="467987"/>
                  </a:lnTo>
                  <a:lnTo>
                    <a:pt x="1056314" y="495590"/>
                  </a:lnTo>
                  <a:lnTo>
                    <a:pt x="1028711" y="514200"/>
                  </a:lnTo>
                  <a:lnTo>
                    <a:pt x="994909" y="521024"/>
                  </a:lnTo>
                  <a:lnTo>
                    <a:pt x="86839" y="521024"/>
                  </a:lnTo>
                  <a:lnTo>
                    <a:pt x="53037" y="514200"/>
                  </a:lnTo>
                  <a:lnTo>
                    <a:pt x="25434" y="495590"/>
                  </a:lnTo>
                  <a:lnTo>
                    <a:pt x="6824" y="467987"/>
                  </a:lnTo>
                  <a:lnTo>
                    <a:pt x="0" y="434185"/>
                  </a:lnTo>
                  <a:lnTo>
                    <a:pt x="0" y="86839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783771" y="1946190"/>
            <a:ext cx="397510" cy="41275"/>
            <a:chOff x="783771" y="1946190"/>
            <a:chExt cx="397510" cy="41275"/>
          </a:xfrm>
        </p:grpSpPr>
        <p:sp>
          <p:nvSpPr>
            <p:cNvPr id="17" name="object 17"/>
            <p:cNvSpPr/>
            <p:nvPr/>
          </p:nvSpPr>
          <p:spPr>
            <a:xfrm>
              <a:off x="783771" y="1966686"/>
              <a:ext cx="349250" cy="0"/>
            </a:xfrm>
            <a:custGeom>
              <a:avLst/>
              <a:gdLst/>
              <a:ahLst/>
              <a:cxnLst/>
              <a:rect l="l" t="t" r="r" b="b"/>
              <a:pathLst>
                <a:path w="349250">
                  <a:moveTo>
                    <a:pt x="0" y="0"/>
                  </a:moveTo>
                  <a:lnTo>
                    <a:pt x="349249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133021" y="195095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133021" y="195095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73025" y="1831085"/>
            <a:ext cx="5689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Arial"/>
                <a:cs typeface="Arial"/>
              </a:rPr>
              <a:t>Master</a:t>
            </a:r>
            <a:endParaRPr sz="14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682167" y="1735474"/>
            <a:ext cx="82613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Scheduler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387022" y="3105662"/>
            <a:ext cx="1010285" cy="522605"/>
            <a:chOff x="1387022" y="3105662"/>
            <a:chExt cx="1010285" cy="522605"/>
          </a:xfrm>
        </p:grpSpPr>
        <p:sp>
          <p:nvSpPr>
            <p:cNvPr id="23" name="object 23"/>
            <p:cNvSpPr/>
            <p:nvPr/>
          </p:nvSpPr>
          <p:spPr>
            <a:xfrm>
              <a:off x="1393372" y="3112012"/>
              <a:ext cx="997585" cy="509905"/>
            </a:xfrm>
            <a:custGeom>
              <a:avLst/>
              <a:gdLst/>
              <a:ahLst/>
              <a:cxnLst/>
              <a:rect l="l" t="t" r="r" b="b"/>
              <a:pathLst>
                <a:path w="997585" h="509904">
                  <a:moveTo>
                    <a:pt x="912104" y="509300"/>
                  </a:moveTo>
                  <a:lnTo>
                    <a:pt x="84885" y="509300"/>
                  </a:lnTo>
                  <a:lnTo>
                    <a:pt x="51844" y="502630"/>
                  </a:lnTo>
                  <a:lnTo>
                    <a:pt x="24862" y="484438"/>
                  </a:lnTo>
                  <a:lnTo>
                    <a:pt x="6670" y="457457"/>
                  </a:lnTo>
                  <a:lnTo>
                    <a:pt x="0" y="424415"/>
                  </a:lnTo>
                  <a:lnTo>
                    <a:pt x="0" y="84885"/>
                  </a:lnTo>
                  <a:lnTo>
                    <a:pt x="6670" y="51844"/>
                  </a:lnTo>
                  <a:lnTo>
                    <a:pt x="24862" y="24862"/>
                  </a:lnTo>
                  <a:lnTo>
                    <a:pt x="51844" y="6670"/>
                  </a:lnTo>
                  <a:lnTo>
                    <a:pt x="84885" y="0"/>
                  </a:lnTo>
                  <a:lnTo>
                    <a:pt x="912104" y="0"/>
                  </a:lnTo>
                  <a:lnTo>
                    <a:pt x="959199" y="14261"/>
                  </a:lnTo>
                  <a:lnTo>
                    <a:pt x="990528" y="52401"/>
                  </a:lnTo>
                  <a:lnTo>
                    <a:pt x="996989" y="84885"/>
                  </a:lnTo>
                  <a:lnTo>
                    <a:pt x="996989" y="424415"/>
                  </a:lnTo>
                  <a:lnTo>
                    <a:pt x="990319" y="457457"/>
                  </a:lnTo>
                  <a:lnTo>
                    <a:pt x="972127" y="484438"/>
                  </a:lnTo>
                  <a:lnTo>
                    <a:pt x="945145" y="502630"/>
                  </a:lnTo>
                  <a:lnTo>
                    <a:pt x="912104" y="5093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393372" y="3112012"/>
              <a:ext cx="997585" cy="509905"/>
            </a:xfrm>
            <a:custGeom>
              <a:avLst/>
              <a:gdLst/>
              <a:ahLst/>
              <a:cxnLst/>
              <a:rect l="l" t="t" r="r" b="b"/>
              <a:pathLst>
                <a:path w="997585" h="509904">
                  <a:moveTo>
                    <a:pt x="0" y="84885"/>
                  </a:moveTo>
                  <a:lnTo>
                    <a:pt x="6670" y="51844"/>
                  </a:lnTo>
                  <a:lnTo>
                    <a:pt x="24862" y="24862"/>
                  </a:lnTo>
                  <a:lnTo>
                    <a:pt x="51844" y="6670"/>
                  </a:lnTo>
                  <a:lnTo>
                    <a:pt x="84885" y="0"/>
                  </a:lnTo>
                  <a:lnTo>
                    <a:pt x="912104" y="0"/>
                  </a:lnTo>
                  <a:lnTo>
                    <a:pt x="959199" y="14261"/>
                  </a:lnTo>
                  <a:lnTo>
                    <a:pt x="990528" y="52401"/>
                  </a:lnTo>
                  <a:lnTo>
                    <a:pt x="996989" y="84885"/>
                  </a:lnTo>
                  <a:lnTo>
                    <a:pt x="996989" y="424415"/>
                  </a:lnTo>
                  <a:lnTo>
                    <a:pt x="990319" y="457457"/>
                  </a:lnTo>
                  <a:lnTo>
                    <a:pt x="972127" y="484438"/>
                  </a:lnTo>
                  <a:lnTo>
                    <a:pt x="945145" y="502630"/>
                  </a:lnTo>
                  <a:lnTo>
                    <a:pt x="912104" y="509300"/>
                  </a:lnTo>
                  <a:lnTo>
                    <a:pt x="84885" y="509300"/>
                  </a:lnTo>
                  <a:lnTo>
                    <a:pt x="51844" y="502630"/>
                  </a:lnTo>
                  <a:lnTo>
                    <a:pt x="24862" y="484438"/>
                  </a:lnTo>
                  <a:lnTo>
                    <a:pt x="6670" y="457457"/>
                  </a:lnTo>
                  <a:lnTo>
                    <a:pt x="0" y="424415"/>
                  </a:lnTo>
                  <a:lnTo>
                    <a:pt x="0" y="84885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1637301" y="3242076"/>
            <a:ext cx="50990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Arial"/>
                <a:cs typeface="Arial"/>
              </a:rPr>
              <a:t>ETCD</a:t>
            </a:r>
            <a:endParaRPr sz="1400">
              <a:latin typeface="Arial"/>
              <a:cs typeface="Arial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01625" y="249500"/>
            <a:ext cx="2477135" cy="4648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Offices</a:t>
            </a:r>
            <a:r>
              <a:rPr spc="5" dirty="0"/>
              <a:t> </a:t>
            </a:r>
            <a:r>
              <a:rPr dirty="0"/>
              <a:t>in</a:t>
            </a:r>
            <a:r>
              <a:rPr spc="20" dirty="0"/>
              <a:t> </a:t>
            </a:r>
            <a:r>
              <a:rPr spc="-20" dirty="0"/>
              <a:t>Dock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8486" y="1248076"/>
            <a:ext cx="7651343" cy="338424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01625" y="694042"/>
            <a:ext cx="8682990" cy="968375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297815" indent="-251460">
              <a:lnSpc>
                <a:spcPct val="100000"/>
              </a:lnSpc>
              <a:spcBef>
                <a:spcPts val="655"/>
              </a:spcBef>
              <a:buChar char="-"/>
              <a:tabLst>
                <a:tab pos="297815" algn="l"/>
              </a:tabLst>
            </a:pP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Operation</a:t>
            </a:r>
            <a:r>
              <a:rPr sz="1600" spc="-7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spc="-40" dirty="0">
                <a:solidFill>
                  <a:srgbClr val="595959"/>
                </a:solidFill>
                <a:latin typeface="Arial"/>
                <a:cs typeface="Arial"/>
              </a:rPr>
              <a:t>Team</a:t>
            </a:r>
            <a:r>
              <a:rPr sz="1600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Office</a:t>
            </a:r>
            <a:r>
              <a:rPr sz="160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~</a:t>
            </a:r>
            <a:r>
              <a:rPr sz="160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Ship</a:t>
            </a:r>
            <a:r>
              <a:rPr sz="1600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Handling,</a:t>
            </a:r>
            <a:r>
              <a:rPr sz="160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595959"/>
                </a:solidFill>
                <a:latin typeface="Arial"/>
                <a:cs typeface="Arial"/>
              </a:rPr>
              <a:t>Control</a:t>
            </a:r>
            <a:endParaRPr sz="1600">
              <a:latin typeface="Arial"/>
              <a:cs typeface="Arial"/>
            </a:endParaRPr>
          </a:p>
          <a:p>
            <a:pPr marL="297815" indent="-251460">
              <a:lnSpc>
                <a:spcPct val="100000"/>
              </a:lnSpc>
              <a:spcBef>
                <a:spcPts val="555"/>
              </a:spcBef>
              <a:buChar char="-"/>
              <a:tabLst>
                <a:tab pos="297815" algn="l"/>
              </a:tabLst>
            </a:pP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Cargo</a:t>
            </a:r>
            <a:r>
              <a:rPr sz="1600" spc="-5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spc="-40" dirty="0">
                <a:solidFill>
                  <a:srgbClr val="595959"/>
                </a:solidFill>
                <a:latin typeface="Arial"/>
                <a:cs typeface="Arial"/>
              </a:rPr>
              <a:t>Team</a:t>
            </a:r>
            <a:r>
              <a:rPr sz="16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Office</a:t>
            </a:r>
            <a:r>
              <a:rPr sz="16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~</a:t>
            </a:r>
            <a:r>
              <a:rPr sz="16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verify</a:t>
            </a:r>
            <a:r>
              <a:rPr sz="16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if</a:t>
            </a:r>
            <a:r>
              <a:rPr sz="16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containers</a:t>
            </a:r>
            <a:r>
              <a:rPr sz="16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are</a:t>
            </a:r>
            <a:r>
              <a:rPr sz="16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damaged,</a:t>
            </a:r>
            <a:r>
              <a:rPr sz="16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ensure</a:t>
            </a:r>
            <a:r>
              <a:rPr sz="16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that</a:t>
            </a:r>
            <a:r>
              <a:rPr sz="1600" spc="40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new</a:t>
            </a:r>
            <a:r>
              <a:rPr sz="16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containers</a:t>
            </a:r>
            <a:r>
              <a:rPr sz="16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are</a:t>
            </a:r>
            <a:r>
              <a:rPr sz="16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595959"/>
                </a:solidFill>
                <a:latin typeface="Arial"/>
                <a:cs typeface="Arial"/>
              </a:rPr>
              <a:t>rebuilt</a:t>
            </a:r>
            <a:endParaRPr sz="1600">
              <a:latin typeface="Arial"/>
              <a:cs typeface="Arial"/>
            </a:endParaRPr>
          </a:p>
          <a:p>
            <a:pPr marL="305435" indent="-292735">
              <a:lnSpc>
                <a:spcPct val="100000"/>
              </a:lnSpc>
              <a:spcBef>
                <a:spcPts val="555"/>
              </a:spcBef>
              <a:buChar char="-"/>
              <a:tabLst>
                <a:tab pos="305435" algn="l"/>
              </a:tabLst>
            </a:pP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IT</a:t>
            </a:r>
            <a:r>
              <a:rPr sz="1600" spc="-6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&amp;</a:t>
            </a:r>
            <a:r>
              <a:rPr sz="16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Communication</a:t>
            </a:r>
            <a:r>
              <a:rPr sz="16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Office</a:t>
            </a:r>
            <a:r>
              <a:rPr sz="16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–</a:t>
            </a:r>
            <a:r>
              <a:rPr sz="16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Communication</a:t>
            </a:r>
            <a:r>
              <a:rPr sz="16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in</a:t>
            </a:r>
            <a:r>
              <a:rPr sz="16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between</a:t>
            </a:r>
            <a:r>
              <a:rPr sz="16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various</a:t>
            </a:r>
            <a:r>
              <a:rPr sz="16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595959"/>
                </a:solidFill>
                <a:latin typeface="Arial"/>
                <a:cs typeface="Arial"/>
              </a:rPr>
              <a:t>ships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480353" y="2426804"/>
            <a:ext cx="1443355" cy="1034415"/>
            <a:chOff x="3480353" y="2426804"/>
            <a:chExt cx="1443355" cy="1034415"/>
          </a:xfrm>
        </p:grpSpPr>
        <p:sp>
          <p:nvSpPr>
            <p:cNvPr id="6" name="object 6"/>
            <p:cNvSpPr/>
            <p:nvPr/>
          </p:nvSpPr>
          <p:spPr>
            <a:xfrm>
              <a:off x="3518453" y="2464904"/>
              <a:ext cx="626745" cy="348615"/>
            </a:xfrm>
            <a:custGeom>
              <a:avLst/>
              <a:gdLst/>
              <a:ahLst/>
              <a:cxnLst/>
              <a:rect l="l" t="t" r="r" b="b"/>
              <a:pathLst>
                <a:path w="626745" h="348614">
                  <a:moveTo>
                    <a:pt x="626164" y="348040"/>
                  </a:moveTo>
                  <a:lnTo>
                    <a:pt x="0" y="348040"/>
                  </a:lnTo>
                  <a:lnTo>
                    <a:pt x="0" y="0"/>
                  </a:lnTo>
                  <a:lnTo>
                    <a:pt x="626164" y="0"/>
                  </a:lnTo>
                  <a:lnTo>
                    <a:pt x="626164" y="34804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518453" y="2464904"/>
              <a:ext cx="626745" cy="348615"/>
            </a:xfrm>
            <a:custGeom>
              <a:avLst/>
              <a:gdLst/>
              <a:ahLst/>
              <a:cxnLst/>
              <a:rect l="l" t="t" r="r" b="b"/>
              <a:pathLst>
                <a:path w="626745" h="348614">
                  <a:moveTo>
                    <a:pt x="0" y="0"/>
                  </a:moveTo>
                  <a:lnTo>
                    <a:pt x="626164" y="0"/>
                  </a:lnTo>
                  <a:lnTo>
                    <a:pt x="626164" y="348040"/>
                  </a:lnTo>
                  <a:lnTo>
                    <a:pt x="0" y="348040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518453" y="3074504"/>
              <a:ext cx="626745" cy="348615"/>
            </a:xfrm>
            <a:custGeom>
              <a:avLst/>
              <a:gdLst/>
              <a:ahLst/>
              <a:cxnLst/>
              <a:rect l="l" t="t" r="r" b="b"/>
              <a:pathLst>
                <a:path w="626745" h="348614">
                  <a:moveTo>
                    <a:pt x="626164" y="348039"/>
                  </a:moveTo>
                  <a:lnTo>
                    <a:pt x="0" y="348039"/>
                  </a:lnTo>
                  <a:lnTo>
                    <a:pt x="0" y="0"/>
                  </a:lnTo>
                  <a:lnTo>
                    <a:pt x="626164" y="0"/>
                  </a:lnTo>
                  <a:lnTo>
                    <a:pt x="626164" y="348039"/>
                  </a:lnTo>
                  <a:close/>
                </a:path>
              </a:pathLst>
            </a:custGeom>
            <a:solidFill>
              <a:srgbClr val="00B0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518453" y="3074504"/>
              <a:ext cx="626745" cy="348615"/>
            </a:xfrm>
            <a:custGeom>
              <a:avLst/>
              <a:gdLst/>
              <a:ahLst/>
              <a:cxnLst/>
              <a:rect l="l" t="t" r="r" b="b"/>
              <a:pathLst>
                <a:path w="626745" h="348614">
                  <a:moveTo>
                    <a:pt x="0" y="0"/>
                  </a:moveTo>
                  <a:lnTo>
                    <a:pt x="626164" y="0"/>
                  </a:lnTo>
                  <a:lnTo>
                    <a:pt x="626164" y="348039"/>
                  </a:lnTo>
                  <a:lnTo>
                    <a:pt x="0" y="348039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258918" y="3074504"/>
              <a:ext cx="626745" cy="348615"/>
            </a:xfrm>
            <a:custGeom>
              <a:avLst/>
              <a:gdLst/>
              <a:ahLst/>
              <a:cxnLst/>
              <a:rect l="l" t="t" r="r" b="b"/>
              <a:pathLst>
                <a:path w="626745" h="348614">
                  <a:moveTo>
                    <a:pt x="626163" y="348039"/>
                  </a:moveTo>
                  <a:lnTo>
                    <a:pt x="0" y="348039"/>
                  </a:lnTo>
                  <a:lnTo>
                    <a:pt x="0" y="0"/>
                  </a:lnTo>
                  <a:lnTo>
                    <a:pt x="626163" y="0"/>
                  </a:lnTo>
                  <a:lnTo>
                    <a:pt x="626163" y="348039"/>
                  </a:lnTo>
                  <a:close/>
                </a:path>
              </a:pathLst>
            </a:custGeom>
            <a:solidFill>
              <a:srgbClr val="2121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258918" y="3074504"/>
              <a:ext cx="626745" cy="348615"/>
            </a:xfrm>
            <a:custGeom>
              <a:avLst/>
              <a:gdLst/>
              <a:ahLst/>
              <a:cxnLst/>
              <a:rect l="l" t="t" r="r" b="b"/>
              <a:pathLst>
                <a:path w="626745" h="348614">
                  <a:moveTo>
                    <a:pt x="0" y="0"/>
                  </a:moveTo>
                  <a:lnTo>
                    <a:pt x="626163" y="0"/>
                  </a:lnTo>
                  <a:lnTo>
                    <a:pt x="626163" y="348039"/>
                  </a:lnTo>
                  <a:lnTo>
                    <a:pt x="0" y="348039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258918" y="2464904"/>
              <a:ext cx="626745" cy="348615"/>
            </a:xfrm>
            <a:custGeom>
              <a:avLst/>
              <a:gdLst/>
              <a:ahLst/>
              <a:cxnLst/>
              <a:rect l="l" t="t" r="r" b="b"/>
              <a:pathLst>
                <a:path w="626745" h="348614">
                  <a:moveTo>
                    <a:pt x="626163" y="348040"/>
                  </a:moveTo>
                  <a:lnTo>
                    <a:pt x="0" y="348040"/>
                  </a:lnTo>
                  <a:lnTo>
                    <a:pt x="0" y="0"/>
                  </a:lnTo>
                  <a:lnTo>
                    <a:pt x="626163" y="0"/>
                  </a:lnTo>
                  <a:lnTo>
                    <a:pt x="626163" y="348040"/>
                  </a:lnTo>
                  <a:close/>
                </a:path>
              </a:pathLst>
            </a:custGeom>
            <a:solidFill>
              <a:srgbClr val="7890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258918" y="2464904"/>
              <a:ext cx="626745" cy="348615"/>
            </a:xfrm>
            <a:custGeom>
              <a:avLst/>
              <a:gdLst/>
              <a:ahLst/>
              <a:cxnLst/>
              <a:rect l="l" t="t" r="r" b="b"/>
              <a:pathLst>
                <a:path w="626745" h="348614">
                  <a:moveTo>
                    <a:pt x="0" y="0"/>
                  </a:moveTo>
                  <a:lnTo>
                    <a:pt x="626163" y="0"/>
                  </a:lnTo>
                  <a:lnTo>
                    <a:pt x="626163" y="348040"/>
                  </a:lnTo>
                  <a:lnTo>
                    <a:pt x="0" y="348040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01625" y="249500"/>
            <a:ext cx="1793875" cy="4648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Controllers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8486" y="1248076"/>
            <a:ext cx="7651343" cy="338424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35574" y="764526"/>
            <a:ext cx="8213090" cy="1116965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264160" marR="270510" indent="-252095">
              <a:lnSpc>
                <a:spcPts val="1730"/>
              </a:lnSpc>
              <a:spcBef>
                <a:spcPts val="315"/>
              </a:spcBef>
              <a:buClr>
                <a:srgbClr val="EEFF41"/>
              </a:buClr>
              <a:buChar char="-"/>
              <a:tabLst>
                <a:tab pos="264160" algn="l"/>
              </a:tabLst>
            </a:pPr>
            <a:r>
              <a:rPr sz="1600" dirty="0">
                <a:solidFill>
                  <a:srgbClr val="BE9000"/>
                </a:solidFill>
                <a:latin typeface="Arial"/>
                <a:cs typeface="Arial"/>
              </a:rPr>
              <a:t>Node</a:t>
            </a:r>
            <a:r>
              <a:rPr sz="1600" spc="-25" dirty="0">
                <a:solidFill>
                  <a:srgbClr val="BE900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BE9000"/>
                </a:solidFill>
                <a:latin typeface="Arial"/>
                <a:cs typeface="Arial"/>
              </a:rPr>
              <a:t>Controllers</a:t>
            </a:r>
            <a:r>
              <a:rPr sz="1600" spc="-25" dirty="0">
                <a:solidFill>
                  <a:srgbClr val="BE900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–</a:t>
            </a:r>
            <a:r>
              <a:rPr sz="1600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spc="-20" dirty="0">
                <a:solidFill>
                  <a:srgbClr val="595959"/>
                </a:solidFill>
                <a:latin typeface="Arial"/>
                <a:cs typeface="Arial"/>
              </a:rPr>
              <a:t>Takes</a:t>
            </a:r>
            <a:r>
              <a:rPr sz="16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care</a:t>
            </a:r>
            <a:r>
              <a:rPr sz="16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of</a:t>
            </a:r>
            <a:r>
              <a:rPr sz="16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Nodes</a:t>
            </a:r>
            <a:r>
              <a:rPr sz="16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|</a:t>
            </a:r>
            <a:r>
              <a:rPr sz="16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Responsible</a:t>
            </a:r>
            <a:r>
              <a:rPr sz="16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for</a:t>
            </a:r>
            <a:r>
              <a:rPr sz="16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onboarding</a:t>
            </a:r>
            <a:r>
              <a:rPr sz="16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new</a:t>
            </a:r>
            <a:r>
              <a:rPr sz="16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nodes</a:t>
            </a:r>
            <a:r>
              <a:rPr sz="16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in</a:t>
            </a:r>
            <a:r>
              <a:rPr sz="16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spc="-5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cluster</a:t>
            </a:r>
            <a:r>
              <a:rPr sz="16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|</a:t>
            </a:r>
            <a:r>
              <a:rPr sz="1600" spc="-1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Availability</a:t>
            </a:r>
            <a:r>
              <a:rPr sz="16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of</a:t>
            </a:r>
            <a:r>
              <a:rPr sz="16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595959"/>
                </a:solidFill>
                <a:latin typeface="Arial"/>
                <a:cs typeface="Arial"/>
              </a:rPr>
              <a:t>Nodes</a:t>
            </a:r>
            <a:endParaRPr sz="1600">
              <a:latin typeface="Arial"/>
              <a:cs typeface="Arial"/>
            </a:endParaRPr>
          </a:p>
          <a:p>
            <a:pPr marL="264160" indent="-251460">
              <a:lnSpc>
                <a:spcPct val="100000"/>
              </a:lnSpc>
              <a:spcBef>
                <a:spcPts val="525"/>
              </a:spcBef>
              <a:buChar char="-"/>
              <a:tabLst>
                <a:tab pos="264160" algn="l"/>
              </a:tabLst>
            </a:pPr>
            <a:r>
              <a:rPr sz="1600" dirty="0">
                <a:solidFill>
                  <a:srgbClr val="212121"/>
                </a:solidFill>
                <a:latin typeface="Arial"/>
                <a:cs typeface="Arial"/>
              </a:rPr>
              <a:t>Replicas</a:t>
            </a:r>
            <a:r>
              <a:rPr sz="1600" spc="-2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212121"/>
                </a:solidFill>
                <a:latin typeface="Arial"/>
                <a:cs typeface="Arial"/>
              </a:rPr>
              <a:t>Controller</a:t>
            </a:r>
            <a:r>
              <a:rPr sz="1600" spc="-1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–</a:t>
            </a:r>
            <a:r>
              <a:rPr sz="16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Ensures</a:t>
            </a:r>
            <a:r>
              <a:rPr sz="16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that</a:t>
            </a:r>
            <a:r>
              <a:rPr sz="16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desired</a:t>
            </a:r>
            <a:r>
              <a:rPr sz="16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number</a:t>
            </a:r>
            <a:r>
              <a:rPr sz="16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of</a:t>
            </a:r>
            <a:r>
              <a:rPr sz="16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containers</a:t>
            </a:r>
            <a:r>
              <a:rPr sz="16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are</a:t>
            </a:r>
            <a:r>
              <a:rPr sz="16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running</a:t>
            </a:r>
            <a:r>
              <a:rPr sz="1600" spc="4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at</a:t>
            </a:r>
            <a:r>
              <a:rPr sz="16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all</a:t>
            </a:r>
            <a:r>
              <a:rPr sz="16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595959"/>
                </a:solidFill>
                <a:latin typeface="Arial"/>
                <a:cs typeface="Arial"/>
              </a:rPr>
              <a:t>times</a:t>
            </a:r>
            <a:endParaRPr sz="1600">
              <a:latin typeface="Arial"/>
              <a:cs typeface="Arial"/>
            </a:endParaRPr>
          </a:p>
          <a:p>
            <a:pPr marL="264160" indent="-251460">
              <a:lnSpc>
                <a:spcPct val="100000"/>
              </a:lnSpc>
              <a:spcBef>
                <a:spcPts val="555"/>
              </a:spcBef>
              <a:buChar char="-"/>
              <a:tabLst>
                <a:tab pos="264160" algn="l"/>
              </a:tabLst>
            </a:pPr>
            <a:r>
              <a:rPr sz="1600" dirty="0">
                <a:solidFill>
                  <a:srgbClr val="C00000"/>
                </a:solidFill>
                <a:latin typeface="Arial"/>
                <a:cs typeface="Arial"/>
              </a:rPr>
              <a:t>Controller</a:t>
            </a:r>
            <a:r>
              <a:rPr sz="1600" spc="-1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C00000"/>
                </a:solidFill>
                <a:latin typeface="Arial"/>
                <a:cs typeface="Arial"/>
              </a:rPr>
              <a:t>Manager</a:t>
            </a:r>
            <a:r>
              <a:rPr sz="1600" spc="-1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-</a:t>
            </a:r>
            <a:r>
              <a:rPr sz="1600" spc="434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Manages</a:t>
            </a:r>
            <a:r>
              <a:rPr sz="16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all</a:t>
            </a:r>
            <a:r>
              <a:rPr sz="16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these</a:t>
            </a:r>
            <a:r>
              <a:rPr sz="16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controllers</a:t>
            </a:r>
            <a:r>
              <a:rPr sz="16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in</a:t>
            </a:r>
            <a:r>
              <a:rPr sz="1600" spc="-10" dirty="0">
                <a:solidFill>
                  <a:srgbClr val="595959"/>
                </a:solidFill>
                <a:latin typeface="Arial"/>
                <a:cs typeface="Arial"/>
              </a:rPr>
              <a:t> place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480353" y="2426804"/>
            <a:ext cx="2012950" cy="1034415"/>
            <a:chOff x="3480353" y="2426804"/>
            <a:chExt cx="2012950" cy="1034415"/>
          </a:xfrm>
        </p:grpSpPr>
        <p:sp>
          <p:nvSpPr>
            <p:cNvPr id="6" name="object 6"/>
            <p:cNvSpPr/>
            <p:nvPr/>
          </p:nvSpPr>
          <p:spPr>
            <a:xfrm>
              <a:off x="3518453" y="2464904"/>
              <a:ext cx="626745" cy="348615"/>
            </a:xfrm>
            <a:custGeom>
              <a:avLst/>
              <a:gdLst/>
              <a:ahLst/>
              <a:cxnLst/>
              <a:rect l="l" t="t" r="r" b="b"/>
              <a:pathLst>
                <a:path w="626745" h="348614">
                  <a:moveTo>
                    <a:pt x="626164" y="348040"/>
                  </a:moveTo>
                  <a:lnTo>
                    <a:pt x="0" y="348040"/>
                  </a:lnTo>
                  <a:lnTo>
                    <a:pt x="0" y="0"/>
                  </a:lnTo>
                  <a:lnTo>
                    <a:pt x="626164" y="0"/>
                  </a:lnTo>
                  <a:lnTo>
                    <a:pt x="626164" y="34804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518453" y="2464904"/>
              <a:ext cx="626745" cy="348615"/>
            </a:xfrm>
            <a:custGeom>
              <a:avLst/>
              <a:gdLst/>
              <a:ahLst/>
              <a:cxnLst/>
              <a:rect l="l" t="t" r="r" b="b"/>
              <a:pathLst>
                <a:path w="626745" h="348614">
                  <a:moveTo>
                    <a:pt x="0" y="0"/>
                  </a:moveTo>
                  <a:lnTo>
                    <a:pt x="626164" y="0"/>
                  </a:lnTo>
                  <a:lnTo>
                    <a:pt x="626164" y="348040"/>
                  </a:lnTo>
                  <a:lnTo>
                    <a:pt x="0" y="348040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518453" y="3074504"/>
              <a:ext cx="626745" cy="348615"/>
            </a:xfrm>
            <a:custGeom>
              <a:avLst/>
              <a:gdLst/>
              <a:ahLst/>
              <a:cxnLst/>
              <a:rect l="l" t="t" r="r" b="b"/>
              <a:pathLst>
                <a:path w="626745" h="348614">
                  <a:moveTo>
                    <a:pt x="626164" y="348039"/>
                  </a:moveTo>
                  <a:lnTo>
                    <a:pt x="0" y="348039"/>
                  </a:lnTo>
                  <a:lnTo>
                    <a:pt x="0" y="0"/>
                  </a:lnTo>
                  <a:lnTo>
                    <a:pt x="626164" y="0"/>
                  </a:lnTo>
                  <a:lnTo>
                    <a:pt x="626164" y="348039"/>
                  </a:lnTo>
                  <a:close/>
                </a:path>
              </a:pathLst>
            </a:custGeom>
            <a:solidFill>
              <a:srgbClr val="00B0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518453" y="3074504"/>
              <a:ext cx="626745" cy="348615"/>
            </a:xfrm>
            <a:custGeom>
              <a:avLst/>
              <a:gdLst/>
              <a:ahLst/>
              <a:cxnLst/>
              <a:rect l="l" t="t" r="r" b="b"/>
              <a:pathLst>
                <a:path w="626745" h="348614">
                  <a:moveTo>
                    <a:pt x="0" y="0"/>
                  </a:moveTo>
                  <a:lnTo>
                    <a:pt x="626164" y="0"/>
                  </a:lnTo>
                  <a:lnTo>
                    <a:pt x="626164" y="348039"/>
                  </a:lnTo>
                  <a:lnTo>
                    <a:pt x="0" y="348039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258918" y="3074504"/>
              <a:ext cx="626745" cy="348615"/>
            </a:xfrm>
            <a:custGeom>
              <a:avLst/>
              <a:gdLst/>
              <a:ahLst/>
              <a:cxnLst/>
              <a:rect l="l" t="t" r="r" b="b"/>
              <a:pathLst>
                <a:path w="626745" h="348614">
                  <a:moveTo>
                    <a:pt x="626163" y="348039"/>
                  </a:moveTo>
                  <a:lnTo>
                    <a:pt x="0" y="348039"/>
                  </a:lnTo>
                  <a:lnTo>
                    <a:pt x="0" y="0"/>
                  </a:lnTo>
                  <a:lnTo>
                    <a:pt x="626163" y="0"/>
                  </a:lnTo>
                  <a:lnTo>
                    <a:pt x="626163" y="348039"/>
                  </a:lnTo>
                  <a:close/>
                </a:path>
              </a:pathLst>
            </a:custGeom>
            <a:solidFill>
              <a:srgbClr val="2121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258918" y="3074504"/>
              <a:ext cx="626745" cy="348615"/>
            </a:xfrm>
            <a:custGeom>
              <a:avLst/>
              <a:gdLst/>
              <a:ahLst/>
              <a:cxnLst/>
              <a:rect l="l" t="t" r="r" b="b"/>
              <a:pathLst>
                <a:path w="626745" h="348614">
                  <a:moveTo>
                    <a:pt x="0" y="0"/>
                  </a:moveTo>
                  <a:lnTo>
                    <a:pt x="626163" y="0"/>
                  </a:lnTo>
                  <a:lnTo>
                    <a:pt x="626163" y="348039"/>
                  </a:lnTo>
                  <a:lnTo>
                    <a:pt x="0" y="348039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258918" y="2464904"/>
              <a:ext cx="626745" cy="348615"/>
            </a:xfrm>
            <a:custGeom>
              <a:avLst/>
              <a:gdLst/>
              <a:ahLst/>
              <a:cxnLst/>
              <a:rect l="l" t="t" r="r" b="b"/>
              <a:pathLst>
                <a:path w="626745" h="348614">
                  <a:moveTo>
                    <a:pt x="626163" y="348040"/>
                  </a:moveTo>
                  <a:lnTo>
                    <a:pt x="0" y="348040"/>
                  </a:lnTo>
                  <a:lnTo>
                    <a:pt x="0" y="0"/>
                  </a:lnTo>
                  <a:lnTo>
                    <a:pt x="626163" y="0"/>
                  </a:lnTo>
                  <a:lnTo>
                    <a:pt x="626163" y="348040"/>
                  </a:lnTo>
                  <a:close/>
                </a:path>
              </a:pathLst>
            </a:custGeom>
            <a:solidFill>
              <a:srgbClr val="7890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258918" y="2464904"/>
              <a:ext cx="626745" cy="348615"/>
            </a:xfrm>
            <a:custGeom>
              <a:avLst/>
              <a:gdLst/>
              <a:ahLst/>
              <a:cxnLst/>
              <a:rect l="l" t="t" r="r" b="b"/>
              <a:pathLst>
                <a:path w="626745" h="348614">
                  <a:moveTo>
                    <a:pt x="0" y="0"/>
                  </a:moveTo>
                  <a:lnTo>
                    <a:pt x="626163" y="0"/>
                  </a:lnTo>
                  <a:lnTo>
                    <a:pt x="626163" y="348040"/>
                  </a:lnTo>
                  <a:lnTo>
                    <a:pt x="0" y="348040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075297" y="2686707"/>
              <a:ext cx="379730" cy="534035"/>
            </a:xfrm>
            <a:custGeom>
              <a:avLst/>
              <a:gdLst/>
              <a:ahLst/>
              <a:cxnLst/>
              <a:rect l="l" t="t" r="r" b="b"/>
              <a:pathLst>
                <a:path w="379729" h="534035">
                  <a:moveTo>
                    <a:pt x="379341" y="533569"/>
                  </a:moveTo>
                  <a:lnTo>
                    <a:pt x="0" y="533569"/>
                  </a:lnTo>
                  <a:lnTo>
                    <a:pt x="0" y="0"/>
                  </a:lnTo>
                  <a:lnTo>
                    <a:pt x="379341" y="0"/>
                  </a:lnTo>
                  <a:lnTo>
                    <a:pt x="379341" y="53356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075297" y="2686707"/>
              <a:ext cx="379730" cy="534035"/>
            </a:xfrm>
            <a:custGeom>
              <a:avLst/>
              <a:gdLst/>
              <a:ahLst/>
              <a:cxnLst/>
              <a:rect l="l" t="t" r="r" b="b"/>
              <a:pathLst>
                <a:path w="379729" h="534035">
                  <a:moveTo>
                    <a:pt x="0" y="0"/>
                  </a:moveTo>
                  <a:lnTo>
                    <a:pt x="379341" y="0"/>
                  </a:lnTo>
                  <a:lnTo>
                    <a:pt x="379341" y="533569"/>
                  </a:lnTo>
                  <a:lnTo>
                    <a:pt x="0" y="533569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90593" y="2643561"/>
              <a:ext cx="189451" cy="17412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88813" y="2948730"/>
              <a:ext cx="191246" cy="246278"/>
            </a:xfrm>
            <a:prstGeom prst="rect">
              <a:avLst/>
            </a:prstGeom>
          </p:spPr>
        </p:pic>
      </p:grp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707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Overview</a:t>
            </a:r>
          </a:p>
        </p:txBody>
      </p:sp>
      <p:sp>
        <p:nvSpPr>
          <p:cNvPr id="3" name="object 3"/>
          <p:cNvSpPr/>
          <p:nvPr/>
        </p:nvSpPr>
        <p:spPr>
          <a:xfrm>
            <a:off x="5196113" y="1175657"/>
            <a:ext cx="1676400" cy="653415"/>
          </a:xfrm>
          <a:custGeom>
            <a:avLst/>
            <a:gdLst/>
            <a:ahLst/>
            <a:cxnLst/>
            <a:rect l="l" t="t" r="r" b="b"/>
            <a:pathLst>
              <a:path w="1676400" h="653414">
                <a:moveTo>
                  <a:pt x="0" y="108859"/>
                </a:moveTo>
                <a:lnTo>
                  <a:pt x="8554" y="66486"/>
                </a:lnTo>
                <a:lnTo>
                  <a:pt x="31884" y="31884"/>
                </a:lnTo>
                <a:lnTo>
                  <a:pt x="66486" y="8554"/>
                </a:lnTo>
                <a:lnTo>
                  <a:pt x="108859" y="0"/>
                </a:lnTo>
                <a:lnTo>
                  <a:pt x="1567540" y="0"/>
                </a:lnTo>
                <a:lnTo>
                  <a:pt x="1609199" y="8286"/>
                </a:lnTo>
                <a:lnTo>
                  <a:pt x="1644515" y="31884"/>
                </a:lnTo>
                <a:lnTo>
                  <a:pt x="1668113" y="67200"/>
                </a:lnTo>
                <a:lnTo>
                  <a:pt x="1676399" y="108859"/>
                </a:lnTo>
                <a:lnTo>
                  <a:pt x="1676399" y="544283"/>
                </a:lnTo>
                <a:lnTo>
                  <a:pt x="1667845" y="586656"/>
                </a:lnTo>
                <a:lnTo>
                  <a:pt x="1644515" y="621258"/>
                </a:lnTo>
                <a:lnTo>
                  <a:pt x="1609913" y="644588"/>
                </a:lnTo>
                <a:lnTo>
                  <a:pt x="1567540" y="653142"/>
                </a:lnTo>
                <a:lnTo>
                  <a:pt x="108859" y="653142"/>
                </a:lnTo>
                <a:lnTo>
                  <a:pt x="66486" y="644588"/>
                </a:lnTo>
                <a:lnTo>
                  <a:pt x="31884" y="621258"/>
                </a:lnTo>
                <a:lnTo>
                  <a:pt x="8554" y="586656"/>
                </a:lnTo>
                <a:lnTo>
                  <a:pt x="0" y="544283"/>
                </a:lnTo>
                <a:lnTo>
                  <a:pt x="0" y="108859"/>
                </a:lnTo>
                <a:close/>
              </a:path>
            </a:pathLst>
          </a:custGeom>
          <a:ln w="12699">
            <a:solidFill>
              <a:srgbClr val="127BB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6968760" y="1328646"/>
            <a:ext cx="598170" cy="41275"/>
            <a:chOff x="6968760" y="1328646"/>
            <a:chExt cx="598170" cy="41275"/>
          </a:xfrm>
        </p:grpSpPr>
        <p:sp>
          <p:nvSpPr>
            <p:cNvPr id="5" name="object 5"/>
            <p:cNvSpPr/>
            <p:nvPr/>
          </p:nvSpPr>
          <p:spPr>
            <a:xfrm>
              <a:off x="7016745" y="1342570"/>
              <a:ext cx="545465" cy="6985"/>
            </a:xfrm>
            <a:custGeom>
              <a:avLst/>
              <a:gdLst/>
              <a:ahLst/>
              <a:cxnLst/>
              <a:rect l="l" t="t" r="r" b="b"/>
              <a:pathLst>
                <a:path w="545465" h="6984">
                  <a:moveTo>
                    <a:pt x="545196" y="0"/>
                  </a:moveTo>
                  <a:lnTo>
                    <a:pt x="0" y="6569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973523" y="133340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411" y="31463"/>
                  </a:moveTo>
                  <a:lnTo>
                    <a:pt x="0" y="16252"/>
                  </a:lnTo>
                  <a:lnTo>
                    <a:pt x="43032" y="0"/>
                  </a:lnTo>
                  <a:lnTo>
                    <a:pt x="43411" y="31463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973523" y="133340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032" y="0"/>
                  </a:moveTo>
                  <a:lnTo>
                    <a:pt x="0" y="16252"/>
                  </a:lnTo>
                  <a:lnTo>
                    <a:pt x="43411" y="31463"/>
                  </a:lnTo>
                  <a:lnTo>
                    <a:pt x="43032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7823654" y="1193944"/>
            <a:ext cx="12274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Worker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Node-</a:t>
            </a:r>
            <a:r>
              <a:rPr sz="1400" spc="-50" dirty="0">
                <a:latin typeface="Arial"/>
                <a:cs typeface="Arial"/>
              </a:rPr>
              <a:t>1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196113" y="2002971"/>
            <a:ext cx="1676400" cy="1379220"/>
          </a:xfrm>
          <a:custGeom>
            <a:avLst/>
            <a:gdLst/>
            <a:ahLst/>
            <a:cxnLst/>
            <a:rect l="l" t="t" r="r" b="b"/>
            <a:pathLst>
              <a:path w="1676400" h="1379220">
                <a:moveTo>
                  <a:pt x="0" y="229814"/>
                </a:moveTo>
                <a:lnTo>
                  <a:pt x="4669" y="183498"/>
                </a:lnTo>
                <a:lnTo>
                  <a:pt x="18059" y="140360"/>
                </a:lnTo>
                <a:lnTo>
                  <a:pt x="39248" y="101322"/>
                </a:lnTo>
                <a:lnTo>
                  <a:pt x="67311" y="67310"/>
                </a:lnTo>
                <a:lnTo>
                  <a:pt x="101322" y="39248"/>
                </a:lnTo>
                <a:lnTo>
                  <a:pt x="140360" y="18059"/>
                </a:lnTo>
                <a:lnTo>
                  <a:pt x="183498" y="4669"/>
                </a:lnTo>
                <a:lnTo>
                  <a:pt x="229813" y="0"/>
                </a:lnTo>
                <a:lnTo>
                  <a:pt x="1446585" y="0"/>
                </a:lnTo>
                <a:lnTo>
                  <a:pt x="1491630" y="4456"/>
                </a:lnTo>
                <a:lnTo>
                  <a:pt x="1534532" y="17493"/>
                </a:lnTo>
                <a:lnTo>
                  <a:pt x="1574087" y="38611"/>
                </a:lnTo>
                <a:lnTo>
                  <a:pt x="1609088" y="67310"/>
                </a:lnTo>
                <a:lnTo>
                  <a:pt x="1637788" y="102313"/>
                </a:lnTo>
                <a:lnTo>
                  <a:pt x="1658906" y="141868"/>
                </a:lnTo>
                <a:lnTo>
                  <a:pt x="1671943" y="184770"/>
                </a:lnTo>
                <a:lnTo>
                  <a:pt x="1676399" y="229814"/>
                </a:lnTo>
                <a:lnTo>
                  <a:pt x="1676399" y="1149042"/>
                </a:lnTo>
                <a:lnTo>
                  <a:pt x="1671730" y="1195358"/>
                </a:lnTo>
                <a:lnTo>
                  <a:pt x="1658340" y="1238496"/>
                </a:lnTo>
                <a:lnTo>
                  <a:pt x="1637151" y="1277534"/>
                </a:lnTo>
                <a:lnTo>
                  <a:pt x="1609088" y="1311546"/>
                </a:lnTo>
                <a:lnTo>
                  <a:pt x="1575077" y="1339608"/>
                </a:lnTo>
                <a:lnTo>
                  <a:pt x="1536039" y="1360797"/>
                </a:lnTo>
                <a:lnTo>
                  <a:pt x="1492901" y="1374188"/>
                </a:lnTo>
                <a:lnTo>
                  <a:pt x="1446585" y="1378856"/>
                </a:lnTo>
                <a:lnTo>
                  <a:pt x="229813" y="1378856"/>
                </a:lnTo>
                <a:lnTo>
                  <a:pt x="183498" y="1374188"/>
                </a:lnTo>
                <a:lnTo>
                  <a:pt x="140360" y="1360797"/>
                </a:lnTo>
                <a:lnTo>
                  <a:pt x="101322" y="1339608"/>
                </a:lnTo>
                <a:lnTo>
                  <a:pt x="67311" y="1311546"/>
                </a:lnTo>
                <a:lnTo>
                  <a:pt x="39248" y="1277534"/>
                </a:lnTo>
                <a:lnTo>
                  <a:pt x="18059" y="1238496"/>
                </a:lnTo>
                <a:lnTo>
                  <a:pt x="4669" y="1195358"/>
                </a:lnTo>
                <a:lnTo>
                  <a:pt x="0" y="1149042"/>
                </a:lnTo>
                <a:lnTo>
                  <a:pt x="0" y="229814"/>
                </a:lnTo>
                <a:close/>
              </a:path>
            </a:pathLst>
          </a:custGeom>
          <a:ln w="12699">
            <a:solidFill>
              <a:srgbClr val="127BB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196113" y="3556001"/>
            <a:ext cx="1676400" cy="653415"/>
          </a:xfrm>
          <a:custGeom>
            <a:avLst/>
            <a:gdLst/>
            <a:ahLst/>
            <a:cxnLst/>
            <a:rect l="l" t="t" r="r" b="b"/>
            <a:pathLst>
              <a:path w="1676400" h="653414">
                <a:moveTo>
                  <a:pt x="0" y="108859"/>
                </a:moveTo>
                <a:lnTo>
                  <a:pt x="8554" y="66486"/>
                </a:lnTo>
                <a:lnTo>
                  <a:pt x="31884" y="31884"/>
                </a:lnTo>
                <a:lnTo>
                  <a:pt x="66486" y="8554"/>
                </a:lnTo>
                <a:lnTo>
                  <a:pt x="108859" y="0"/>
                </a:lnTo>
                <a:lnTo>
                  <a:pt x="1567540" y="0"/>
                </a:lnTo>
                <a:lnTo>
                  <a:pt x="1609199" y="8286"/>
                </a:lnTo>
                <a:lnTo>
                  <a:pt x="1644515" y="31883"/>
                </a:lnTo>
                <a:lnTo>
                  <a:pt x="1668113" y="67200"/>
                </a:lnTo>
                <a:lnTo>
                  <a:pt x="1676399" y="108859"/>
                </a:lnTo>
                <a:lnTo>
                  <a:pt x="1676399" y="544283"/>
                </a:lnTo>
                <a:lnTo>
                  <a:pt x="1667845" y="586656"/>
                </a:lnTo>
                <a:lnTo>
                  <a:pt x="1644515" y="621258"/>
                </a:lnTo>
                <a:lnTo>
                  <a:pt x="1609913" y="644588"/>
                </a:lnTo>
                <a:lnTo>
                  <a:pt x="1567540" y="653142"/>
                </a:lnTo>
                <a:lnTo>
                  <a:pt x="108859" y="653142"/>
                </a:lnTo>
                <a:lnTo>
                  <a:pt x="66486" y="644588"/>
                </a:lnTo>
                <a:lnTo>
                  <a:pt x="31884" y="621258"/>
                </a:lnTo>
                <a:lnTo>
                  <a:pt x="8554" y="586656"/>
                </a:lnTo>
                <a:lnTo>
                  <a:pt x="0" y="544283"/>
                </a:lnTo>
                <a:lnTo>
                  <a:pt x="0" y="108859"/>
                </a:lnTo>
                <a:close/>
              </a:path>
            </a:pathLst>
          </a:custGeom>
          <a:ln w="12699">
            <a:solidFill>
              <a:srgbClr val="127BB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1" name="object 11"/>
          <p:cNvGrpSpPr/>
          <p:nvPr/>
        </p:nvGrpSpPr>
        <p:grpSpPr>
          <a:xfrm>
            <a:off x="1303129" y="1216477"/>
            <a:ext cx="2501900" cy="2952115"/>
            <a:chOff x="1303129" y="1216477"/>
            <a:chExt cx="2501900" cy="2952115"/>
          </a:xfrm>
        </p:grpSpPr>
        <p:sp>
          <p:nvSpPr>
            <p:cNvPr id="12" name="object 12"/>
            <p:cNvSpPr/>
            <p:nvPr/>
          </p:nvSpPr>
          <p:spPr>
            <a:xfrm>
              <a:off x="1309479" y="1222827"/>
              <a:ext cx="2489200" cy="2939415"/>
            </a:xfrm>
            <a:custGeom>
              <a:avLst/>
              <a:gdLst/>
              <a:ahLst/>
              <a:cxnLst/>
              <a:rect l="l" t="t" r="r" b="b"/>
              <a:pathLst>
                <a:path w="2489200" h="2939415">
                  <a:moveTo>
                    <a:pt x="2074324" y="2939142"/>
                  </a:moveTo>
                  <a:lnTo>
                    <a:pt x="414874" y="2939142"/>
                  </a:lnTo>
                  <a:lnTo>
                    <a:pt x="366491" y="2936351"/>
                  </a:lnTo>
                  <a:lnTo>
                    <a:pt x="319747" y="2928185"/>
                  </a:lnTo>
                  <a:lnTo>
                    <a:pt x="274954" y="2914956"/>
                  </a:lnTo>
                  <a:lnTo>
                    <a:pt x="232423" y="2896974"/>
                  </a:lnTo>
                  <a:lnTo>
                    <a:pt x="192465" y="2874551"/>
                  </a:lnTo>
                  <a:lnTo>
                    <a:pt x="155391" y="2847999"/>
                  </a:lnTo>
                  <a:lnTo>
                    <a:pt x="121514" y="2817628"/>
                  </a:lnTo>
                  <a:lnTo>
                    <a:pt x="91143" y="2783751"/>
                  </a:lnTo>
                  <a:lnTo>
                    <a:pt x="64591" y="2746677"/>
                  </a:lnTo>
                  <a:lnTo>
                    <a:pt x="42168" y="2706719"/>
                  </a:lnTo>
                  <a:lnTo>
                    <a:pt x="24186" y="2664188"/>
                  </a:lnTo>
                  <a:lnTo>
                    <a:pt x="10957" y="2619394"/>
                  </a:lnTo>
                  <a:lnTo>
                    <a:pt x="2791" y="2572651"/>
                  </a:lnTo>
                  <a:lnTo>
                    <a:pt x="0" y="2524267"/>
                  </a:lnTo>
                  <a:lnTo>
                    <a:pt x="0" y="414874"/>
                  </a:lnTo>
                  <a:lnTo>
                    <a:pt x="2700" y="368062"/>
                  </a:lnTo>
                  <a:lnTo>
                    <a:pt x="10957" y="319747"/>
                  </a:lnTo>
                  <a:lnTo>
                    <a:pt x="24186" y="274954"/>
                  </a:lnTo>
                  <a:lnTo>
                    <a:pt x="42168" y="232423"/>
                  </a:lnTo>
                  <a:lnTo>
                    <a:pt x="64591" y="192465"/>
                  </a:lnTo>
                  <a:lnTo>
                    <a:pt x="91143" y="155391"/>
                  </a:lnTo>
                  <a:lnTo>
                    <a:pt x="121514" y="121514"/>
                  </a:lnTo>
                  <a:lnTo>
                    <a:pt x="155391" y="91143"/>
                  </a:lnTo>
                  <a:lnTo>
                    <a:pt x="192465" y="64591"/>
                  </a:lnTo>
                  <a:lnTo>
                    <a:pt x="232423" y="42168"/>
                  </a:lnTo>
                  <a:lnTo>
                    <a:pt x="274954" y="24186"/>
                  </a:lnTo>
                  <a:lnTo>
                    <a:pt x="319747" y="10957"/>
                  </a:lnTo>
                  <a:lnTo>
                    <a:pt x="366491" y="2791"/>
                  </a:lnTo>
                  <a:lnTo>
                    <a:pt x="414874" y="0"/>
                  </a:lnTo>
                  <a:lnTo>
                    <a:pt x="2074324" y="0"/>
                  </a:lnTo>
                  <a:lnTo>
                    <a:pt x="2121137" y="2648"/>
                  </a:lnTo>
                  <a:lnTo>
                    <a:pt x="2166992" y="10480"/>
                  </a:lnTo>
                  <a:lnTo>
                    <a:pt x="2211483" y="23328"/>
                  </a:lnTo>
                  <a:lnTo>
                    <a:pt x="2254204" y="41023"/>
                  </a:lnTo>
                  <a:lnTo>
                    <a:pt x="2294749" y="63398"/>
                  </a:lnTo>
                  <a:lnTo>
                    <a:pt x="2332711" y="90284"/>
                  </a:lnTo>
                  <a:lnTo>
                    <a:pt x="2367685" y="121514"/>
                  </a:lnTo>
                  <a:lnTo>
                    <a:pt x="2398915" y="156488"/>
                  </a:lnTo>
                  <a:lnTo>
                    <a:pt x="2425801" y="194450"/>
                  </a:lnTo>
                  <a:lnTo>
                    <a:pt x="2448176" y="234995"/>
                  </a:lnTo>
                  <a:lnTo>
                    <a:pt x="2465871" y="277716"/>
                  </a:lnTo>
                  <a:lnTo>
                    <a:pt x="2478719" y="322207"/>
                  </a:lnTo>
                  <a:lnTo>
                    <a:pt x="2486551" y="368062"/>
                  </a:lnTo>
                  <a:lnTo>
                    <a:pt x="2489199" y="414874"/>
                  </a:lnTo>
                  <a:lnTo>
                    <a:pt x="2489199" y="2524267"/>
                  </a:lnTo>
                  <a:lnTo>
                    <a:pt x="2486408" y="2572651"/>
                  </a:lnTo>
                  <a:lnTo>
                    <a:pt x="2478242" y="2619394"/>
                  </a:lnTo>
                  <a:lnTo>
                    <a:pt x="2465013" y="2664188"/>
                  </a:lnTo>
                  <a:lnTo>
                    <a:pt x="2447031" y="2706719"/>
                  </a:lnTo>
                  <a:lnTo>
                    <a:pt x="2424608" y="2746677"/>
                  </a:lnTo>
                  <a:lnTo>
                    <a:pt x="2398056" y="2783751"/>
                  </a:lnTo>
                  <a:lnTo>
                    <a:pt x="2367685" y="2817628"/>
                  </a:lnTo>
                  <a:lnTo>
                    <a:pt x="2333808" y="2847999"/>
                  </a:lnTo>
                  <a:lnTo>
                    <a:pt x="2296734" y="2874551"/>
                  </a:lnTo>
                  <a:lnTo>
                    <a:pt x="2256776" y="2896974"/>
                  </a:lnTo>
                  <a:lnTo>
                    <a:pt x="2214245" y="2914956"/>
                  </a:lnTo>
                  <a:lnTo>
                    <a:pt x="2169451" y="2928185"/>
                  </a:lnTo>
                  <a:lnTo>
                    <a:pt x="2122708" y="2936351"/>
                  </a:lnTo>
                  <a:lnTo>
                    <a:pt x="2074324" y="2939142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309479" y="1222827"/>
              <a:ext cx="2489200" cy="2939415"/>
            </a:xfrm>
            <a:custGeom>
              <a:avLst/>
              <a:gdLst/>
              <a:ahLst/>
              <a:cxnLst/>
              <a:rect l="l" t="t" r="r" b="b"/>
              <a:pathLst>
                <a:path w="2489200" h="2939415">
                  <a:moveTo>
                    <a:pt x="0" y="414874"/>
                  </a:moveTo>
                  <a:lnTo>
                    <a:pt x="2791" y="366491"/>
                  </a:lnTo>
                  <a:lnTo>
                    <a:pt x="10957" y="319747"/>
                  </a:lnTo>
                  <a:lnTo>
                    <a:pt x="24186" y="274954"/>
                  </a:lnTo>
                  <a:lnTo>
                    <a:pt x="42168" y="232423"/>
                  </a:lnTo>
                  <a:lnTo>
                    <a:pt x="64591" y="192465"/>
                  </a:lnTo>
                  <a:lnTo>
                    <a:pt x="91143" y="155391"/>
                  </a:lnTo>
                  <a:lnTo>
                    <a:pt x="121514" y="121514"/>
                  </a:lnTo>
                  <a:lnTo>
                    <a:pt x="155391" y="91143"/>
                  </a:lnTo>
                  <a:lnTo>
                    <a:pt x="192465" y="64591"/>
                  </a:lnTo>
                  <a:lnTo>
                    <a:pt x="232423" y="42168"/>
                  </a:lnTo>
                  <a:lnTo>
                    <a:pt x="274954" y="24186"/>
                  </a:lnTo>
                  <a:lnTo>
                    <a:pt x="319747" y="10957"/>
                  </a:lnTo>
                  <a:lnTo>
                    <a:pt x="366491" y="2791"/>
                  </a:lnTo>
                  <a:lnTo>
                    <a:pt x="414874" y="0"/>
                  </a:lnTo>
                  <a:lnTo>
                    <a:pt x="2074324" y="0"/>
                  </a:lnTo>
                  <a:lnTo>
                    <a:pt x="2121137" y="2648"/>
                  </a:lnTo>
                  <a:lnTo>
                    <a:pt x="2166992" y="10480"/>
                  </a:lnTo>
                  <a:lnTo>
                    <a:pt x="2211483" y="23328"/>
                  </a:lnTo>
                  <a:lnTo>
                    <a:pt x="2254204" y="41023"/>
                  </a:lnTo>
                  <a:lnTo>
                    <a:pt x="2294749" y="63398"/>
                  </a:lnTo>
                  <a:lnTo>
                    <a:pt x="2332711" y="90284"/>
                  </a:lnTo>
                  <a:lnTo>
                    <a:pt x="2367685" y="121514"/>
                  </a:lnTo>
                  <a:lnTo>
                    <a:pt x="2398915" y="156488"/>
                  </a:lnTo>
                  <a:lnTo>
                    <a:pt x="2425801" y="194450"/>
                  </a:lnTo>
                  <a:lnTo>
                    <a:pt x="2448176" y="234995"/>
                  </a:lnTo>
                  <a:lnTo>
                    <a:pt x="2465871" y="277716"/>
                  </a:lnTo>
                  <a:lnTo>
                    <a:pt x="2478719" y="322207"/>
                  </a:lnTo>
                  <a:lnTo>
                    <a:pt x="2486551" y="368062"/>
                  </a:lnTo>
                  <a:lnTo>
                    <a:pt x="2489199" y="414874"/>
                  </a:lnTo>
                  <a:lnTo>
                    <a:pt x="2489199" y="2524267"/>
                  </a:lnTo>
                  <a:lnTo>
                    <a:pt x="2486408" y="2572651"/>
                  </a:lnTo>
                  <a:lnTo>
                    <a:pt x="2478242" y="2619394"/>
                  </a:lnTo>
                  <a:lnTo>
                    <a:pt x="2465013" y="2664188"/>
                  </a:lnTo>
                  <a:lnTo>
                    <a:pt x="2447031" y="2706719"/>
                  </a:lnTo>
                  <a:lnTo>
                    <a:pt x="2424608" y="2746677"/>
                  </a:lnTo>
                  <a:lnTo>
                    <a:pt x="2398056" y="2783751"/>
                  </a:lnTo>
                  <a:lnTo>
                    <a:pt x="2367685" y="2817628"/>
                  </a:lnTo>
                  <a:lnTo>
                    <a:pt x="2333808" y="2847999"/>
                  </a:lnTo>
                  <a:lnTo>
                    <a:pt x="2296734" y="2874551"/>
                  </a:lnTo>
                  <a:lnTo>
                    <a:pt x="2256776" y="2896974"/>
                  </a:lnTo>
                  <a:lnTo>
                    <a:pt x="2214245" y="2914956"/>
                  </a:lnTo>
                  <a:lnTo>
                    <a:pt x="2169451" y="2928185"/>
                  </a:lnTo>
                  <a:lnTo>
                    <a:pt x="2122708" y="2936351"/>
                  </a:lnTo>
                  <a:lnTo>
                    <a:pt x="2074324" y="2939142"/>
                  </a:lnTo>
                  <a:lnTo>
                    <a:pt x="414874" y="2939142"/>
                  </a:lnTo>
                  <a:lnTo>
                    <a:pt x="366491" y="2936351"/>
                  </a:lnTo>
                  <a:lnTo>
                    <a:pt x="319747" y="2928185"/>
                  </a:lnTo>
                  <a:lnTo>
                    <a:pt x="274954" y="2914956"/>
                  </a:lnTo>
                  <a:lnTo>
                    <a:pt x="232423" y="2896974"/>
                  </a:lnTo>
                  <a:lnTo>
                    <a:pt x="192465" y="2874551"/>
                  </a:lnTo>
                  <a:lnTo>
                    <a:pt x="155391" y="2847999"/>
                  </a:lnTo>
                  <a:lnTo>
                    <a:pt x="121514" y="2817628"/>
                  </a:lnTo>
                  <a:lnTo>
                    <a:pt x="91143" y="2783751"/>
                  </a:lnTo>
                  <a:lnTo>
                    <a:pt x="64591" y="2746677"/>
                  </a:lnTo>
                  <a:lnTo>
                    <a:pt x="42168" y="2706719"/>
                  </a:lnTo>
                  <a:lnTo>
                    <a:pt x="24186" y="2664188"/>
                  </a:lnTo>
                  <a:lnTo>
                    <a:pt x="10957" y="2619394"/>
                  </a:lnTo>
                  <a:lnTo>
                    <a:pt x="2791" y="2572651"/>
                  </a:lnTo>
                  <a:lnTo>
                    <a:pt x="0" y="2524267"/>
                  </a:lnTo>
                  <a:lnTo>
                    <a:pt x="0" y="414874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554079" y="1599548"/>
              <a:ext cx="1082040" cy="521334"/>
            </a:xfrm>
            <a:custGeom>
              <a:avLst/>
              <a:gdLst/>
              <a:ahLst/>
              <a:cxnLst/>
              <a:rect l="l" t="t" r="r" b="b"/>
              <a:pathLst>
                <a:path w="1082039" h="521335">
                  <a:moveTo>
                    <a:pt x="994909" y="521024"/>
                  </a:moveTo>
                  <a:lnTo>
                    <a:pt x="86839" y="521024"/>
                  </a:lnTo>
                  <a:lnTo>
                    <a:pt x="53037" y="514200"/>
                  </a:lnTo>
                  <a:lnTo>
                    <a:pt x="25434" y="495590"/>
                  </a:lnTo>
                  <a:lnTo>
                    <a:pt x="6824" y="467987"/>
                  </a:lnTo>
                  <a:lnTo>
                    <a:pt x="0" y="434185"/>
                  </a:lnTo>
                  <a:lnTo>
                    <a:pt x="0" y="86839"/>
                  </a:lnTo>
                  <a:lnTo>
                    <a:pt x="6824" y="53037"/>
                  </a:lnTo>
                  <a:lnTo>
                    <a:pt x="25434" y="25434"/>
                  </a:lnTo>
                  <a:lnTo>
                    <a:pt x="53037" y="6824"/>
                  </a:lnTo>
                  <a:lnTo>
                    <a:pt x="86839" y="0"/>
                  </a:lnTo>
                  <a:lnTo>
                    <a:pt x="994909" y="0"/>
                  </a:lnTo>
                  <a:lnTo>
                    <a:pt x="1043088" y="14590"/>
                  </a:lnTo>
                  <a:lnTo>
                    <a:pt x="1075138" y="53607"/>
                  </a:lnTo>
                  <a:lnTo>
                    <a:pt x="1081748" y="86839"/>
                  </a:lnTo>
                  <a:lnTo>
                    <a:pt x="1081748" y="434185"/>
                  </a:lnTo>
                  <a:lnTo>
                    <a:pt x="1074924" y="467987"/>
                  </a:lnTo>
                  <a:lnTo>
                    <a:pt x="1056314" y="495590"/>
                  </a:lnTo>
                  <a:lnTo>
                    <a:pt x="1028711" y="514200"/>
                  </a:lnTo>
                  <a:lnTo>
                    <a:pt x="994909" y="521024"/>
                  </a:lnTo>
                  <a:close/>
                </a:path>
              </a:pathLst>
            </a:custGeom>
            <a:solidFill>
              <a:srgbClr val="00B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554079" y="1599548"/>
              <a:ext cx="1082040" cy="521334"/>
            </a:xfrm>
            <a:custGeom>
              <a:avLst/>
              <a:gdLst/>
              <a:ahLst/>
              <a:cxnLst/>
              <a:rect l="l" t="t" r="r" b="b"/>
              <a:pathLst>
                <a:path w="1082039" h="521335">
                  <a:moveTo>
                    <a:pt x="0" y="86839"/>
                  </a:moveTo>
                  <a:lnTo>
                    <a:pt x="6824" y="53037"/>
                  </a:lnTo>
                  <a:lnTo>
                    <a:pt x="25434" y="25434"/>
                  </a:lnTo>
                  <a:lnTo>
                    <a:pt x="53037" y="6824"/>
                  </a:lnTo>
                  <a:lnTo>
                    <a:pt x="86839" y="0"/>
                  </a:lnTo>
                  <a:lnTo>
                    <a:pt x="994909" y="0"/>
                  </a:lnTo>
                  <a:lnTo>
                    <a:pt x="1043088" y="14590"/>
                  </a:lnTo>
                  <a:lnTo>
                    <a:pt x="1075138" y="53607"/>
                  </a:lnTo>
                  <a:lnTo>
                    <a:pt x="1081748" y="86839"/>
                  </a:lnTo>
                  <a:lnTo>
                    <a:pt x="1081748" y="434185"/>
                  </a:lnTo>
                  <a:lnTo>
                    <a:pt x="1074924" y="467987"/>
                  </a:lnTo>
                  <a:lnTo>
                    <a:pt x="1056314" y="495590"/>
                  </a:lnTo>
                  <a:lnTo>
                    <a:pt x="1028711" y="514200"/>
                  </a:lnTo>
                  <a:lnTo>
                    <a:pt x="994909" y="521024"/>
                  </a:lnTo>
                  <a:lnTo>
                    <a:pt x="86839" y="521024"/>
                  </a:lnTo>
                  <a:lnTo>
                    <a:pt x="53037" y="514200"/>
                  </a:lnTo>
                  <a:lnTo>
                    <a:pt x="25434" y="495590"/>
                  </a:lnTo>
                  <a:lnTo>
                    <a:pt x="6824" y="467987"/>
                  </a:lnTo>
                  <a:lnTo>
                    <a:pt x="0" y="434185"/>
                  </a:lnTo>
                  <a:lnTo>
                    <a:pt x="0" y="86839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783771" y="1946190"/>
            <a:ext cx="397510" cy="41275"/>
            <a:chOff x="783771" y="1946190"/>
            <a:chExt cx="397510" cy="41275"/>
          </a:xfrm>
        </p:grpSpPr>
        <p:sp>
          <p:nvSpPr>
            <p:cNvPr id="17" name="object 17"/>
            <p:cNvSpPr/>
            <p:nvPr/>
          </p:nvSpPr>
          <p:spPr>
            <a:xfrm>
              <a:off x="783771" y="1966686"/>
              <a:ext cx="349250" cy="0"/>
            </a:xfrm>
            <a:custGeom>
              <a:avLst/>
              <a:gdLst/>
              <a:ahLst/>
              <a:cxnLst/>
              <a:rect l="l" t="t" r="r" b="b"/>
              <a:pathLst>
                <a:path w="349250">
                  <a:moveTo>
                    <a:pt x="0" y="0"/>
                  </a:moveTo>
                  <a:lnTo>
                    <a:pt x="349249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133021" y="195095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133021" y="195095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73025" y="1831085"/>
            <a:ext cx="5689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Arial"/>
                <a:cs typeface="Arial"/>
              </a:rPr>
              <a:t>Master</a:t>
            </a:r>
            <a:endParaRPr sz="14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682167" y="1735474"/>
            <a:ext cx="82613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Scheduler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387022" y="3105662"/>
            <a:ext cx="1010285" cy="522605"/>
            <a:chOff x="1387022" y="3105662"/>
            <a:chExt cx="1010285" cy="522605"/>
          </a:xfrm>
        </p:grpSpPr>
        <p:sp>
          <p:nvSpPr>
            <p:cNvPr id="23" name="object 23"/>
            <p:cNvSpPr/>
            <p:nvPr/>
          </p:nvSpPr>
          <p:spPr>
            <a:xfrm>
              <a:off x="1393372" y="3112012"/>
              <a:ext cx="997585" cy="509905"/>
            </a:xfrm>
            <a:custGeom>
              <a:avLst/>
              <a:gdLst/>
              <a:ahLst/>
              <a:cxnLst/>
              <a:rect l="l" t="t" r="r" b="b"/>
              <a:pathLst>
                <a:path w="997585" h="509904">
                  <a:moveTo>
                    <a:pt x="912104" y="509300"/>
                  </a:moveTo>
                  <a:lnTo>
                    <a:pt x="84885" y="509300"/>
                  </a:lnTo>
                  <a:lnTo>
                    <a:pt x="51844" y="502630"/>
                  </a:lnTo>
                  <a:lnTo>
                    <a:pt x="24862" y="484438"/>
                  </a:lnTo>
                  <a:lnTo>
                    <a:pt x="6670" y="457457"/>
                  </a:lnTo>
                  <a:lnTo>
                    <a:pt x="0" y="424415"/>
                  </a:lnTo>
                  <a:lnTo>
                    <a:pt x="0" y="84885"/>
                  </a:lnTo>
                  <a:lnTo>
                    <a:pt x="6670" y="51844"/>
                  </a:lnTo>
                  <a:lnTo>
                    <a:pt x="24862" y="24862"/>
                  </a:lnTo>
                  <a:lnTo>
                    <a:pt x="51844" y="6670"/>
                  </a:lnTo>
                  <a:lnTo>
                    <a:pt x="84885" y="0"/>
                  </a:lnTo>
                  <a:lnTo>
                    <a:pt x="912104" y="0"/>
                  </a:lnTo>
                  <a:lnTo>
                    <a:pt x="959199" y="14261"/>
                  </a:lnTo>
                  <a:lnTo>
                    <a:pt x="990528" y="52401"/>
                  </a:lnTo>
                  <a:lnTo>
                    <a:pt x="996989" y="84885"/>
                  </a:lnTo>
                  <a:lnTo>
                    <a:pt x="996989" y="424415"/>
                  </a:lnTo>
                  <a:lnTo>
                    <a:pt x="990319" y="457457"/>
                  </a:lnTo>
                  <a:lnTo>
                    <a:pt x="972127" y="484438"/>
                  </a:lnTo>
                  <a:lnTo>
                    <a:pt x="945145" y="502630"/>
                  </a:lnTo>
                  <a:lnTo>
                    <a:pt x="912104" y="5093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393372" y="3112012"/>
              <a:ext cx="997585" cy="509905"/>
            </a:xfrm>
            <a:custGeom>
              <a:avLst/>
              <a:gdLst/>
              <a:ahLst/>
              <a:cxnLst/>
              <a:rect l="l" t="t" r="r" b="b"/>
              <a:pathLst>
                <a:path w="997585" h="509904">
                  <a:moveTo>
                    <a:pt x="0" y="84885"/>
                  </a:moveTo>
                  <a:lnTo>
                    <a:pt x="6670" y="51844"/>
                  </a:lnTo>
                  <a:lnTo>
                    <a:pt x="24862" y="24862"/>
                  </a:lnTo>
                  <a:lnTo>
                    <a:pt x="51844" y="6670"/>
                  </a:lnTo>
                  <a:lnTo>
                    <a:pt x="84885" y="0"/>
                  </a:lnTo>
                  <a:lnTo>
                    <a:pt x="912104" y="0"/>
                  </a:lnTo>
                  <a:lnTo>
                    <a:pt x="959199" y="14261"/>
                  </a:lnTo>
                  <a:lnTo>
                    <a:pt x="990528" y="52401"/>
                  </a:lnTo>
                  <a:lnTo>
                    <a:pt x="996989" y="84885"/>
                  </a:lnTo>
                  <a:lnTo>
                    <a:pt x="996989" y="424415"/>
                  </a:lnTo>
                  <a:lnTo>
                    <a:pt x="990319" y="457457"/>
                  </a:lnTo>
                  <a:lnTo>
                    <a:pt x="972127" y="484438"/>
                  </a:lnTo>
                  <a:lnTo>
                    <a:pt x="945145" y="502630"/>
                  </a:lnTo>
                  <a:lnTo>
                    <a:pt x="912104" y="509300"/>
                  </a:lnTo>
                  <a:lnTo>
                    <a:pt x="84885" y="509300"/>
                  </a:lnTo>
                  <a:lnTo>
                    <a:pt x="51844" y="502630"/>
                  </a:lnTo>
                  <a:lnTo>
                    <a:pt x="24862" y="484438"/>
                  </a:lnTo>
                  <a:lnTo>
                    <a:pt x="6670" y="457457"/>
                  </a:lnTo>
                  <a:lnTo>
                    <a:pt x="0" y="424415"/>
                  </a:lnTo>
                  <a:lnTo>
                    <a:pt x="0" y="84885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1637301" y="3242076"/>
            <a:ext cx="50990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Arial"/>
                <a:cs typeface="Arial"/>
              </a:rPr>
              <a:t>ETCD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2547729" y="3105661"/>
            <a:ext cx="1094740" cy="522605"/>
            <a:chOff x="2547729" y="3105661"/>
            <a:chExt cx="1094740" cy="522605"/>
          </a:xfrm>
        </p:grpSpPr>
        <p:sp>
          <p:nvSpPr>
            <p:cNvPr id="27" name="object 27"/>
            <p:cNvSpPr/>
            <p:nvPr/>
          </p:nvSpPr>
          <p:spPr>
            <a:xfrm>
              <a:off x="2554079" y="3112011"/>
              <a:ext cx="1082040" cy="509905"/>
            </a:xfrm>
            <a:custGeom>
              <a:avLst/>
              <a:gdLst/>
              <a:ahLst/>
              <a:cxnLst/>
              <a:rect l="l" t="t" r="r" b="b"/>
              <a:pathLst>
                <a:path w="1082039" h="509904">
                  <a:moveTo>
                    <a:pt x="996863" y="509301"/>
                  </a:moveTo>
                  <a:lnTo>
                    <a:pt x="84885" y="509301"/>
                  </a:lnTo>
                  <a:lnTo>
                    <a:pt x="51844" y="502631"/>
                  </a:lnTo>
                  <a:lnTo>
                    <a:pt x="24862" y="484439"/>
                  </a:lnTo>
                  <a:lnTo>
                    <a:pt x="6670" y="457457"/>
                  </a:lnTo>
                  <a:lnTo>
                    <a:pt x="0" y="424416"/>
                  </a:lnTo>
                  <a:lnTo>
                    <a:pt x="0" y="84885"/>
                  </a:lnTo>
                  <a:lnTo>
                    <a:pt x="6670" y="51844"/>
                  </a:lnTo>
                  <a:lnTo>
                    <a:pt x="24862" y="24862"/>
                  </a:lnTo>
                  <a:lnTo>
                    <a:pt x="51844" y="6670"/>
                  </a:lnTo>
                  <a:lnTo>
                    <a:pt x="84885" y="0"/>
                  </a:lnTo>
                  <a:lnTo>
                    <a:pt x="996863" y="0"/>
                  </a:lnTo>
                  <a:lnTo>
                    <a:pt x="1043958" y="14261"/>
                  </a:lnTo>
                  <a:lnTo>
                    <a:pt x="1075287" y="52401"/>
                  </a:lnTo>
                  <a:lnTo>
                    <a:pt x="1081748" y="84885"/>
                  </a:lnTo>
                  <a:lnTo>
                    <a:pt x="1081748" y="424416"/>
                  </a:lnTo>
                  <a:lnTo>
                    <a:pt x="1075078" y="457457"/>
                  </a:lnTo>
                  <a:lnTo>
                    <a:pt x="1056886" y="484439"/>
                  </a:lnTo>
                  <a:lnTo>
                    <a:pt x="1029904" y="502631"/>
                  </a:lnTo>
                  <a:lnTo>
                    <a:pt x="996863" y="509301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554079" y="3112011"/>
              <a:ext cx="1082040" cy="509905"/>
            </a:xfrm>
            <a:custGeom>
              <a:avLst/>
              <a:gdLst/>
              <a:ahLst/>
              <a:cxnLst/>
              <a:rect l="l" t="t" r="r" b="b"/>
              <a:pathLst>
                <a:path w="1082039" h="509904">
                  <a:moveTo>
                    <a:pt x="0" y="84885"/>
                  </a:moveTo>
                  <a:lnTo>
                    <a:pt x="6670" y="51844"/>
                  </a:lnTo>
                  <a:lnTo>
                    <a:pt x="24862" y="24862"/>
                  </a:lnTo>
                  <a:lnTo>
                    <a:pt x="51844" y="6670"/>
                  </a:lnTo>
                  <a:lnTo>
                    <a:pt x="84885" y="0"/>
                  </a:lnTo>
                  <a:lnTo>
                    <a:pt x="996863" y="0"/>
                  </a:lnTo>
                  <a:lnTo>
                    <a:pt x="1043958" y="14261"/>
                  </a:lnTo>
                  <a:lnTo>
                    <a:pt x="1075287" y="52401"/>
                  </a:lnTo>
                  <a:lnTo>
                    <a:pt x="1081748" y="84885"/>
                  </a:lnTo>
                  <a:lnTo>
                    <a:pt x="1081748" y="424416"/>
                  </a:lnTo>
                  <a:lnTo>
                    <a:pt x="1075078" y="457457"/>
                  </a:lnTo>
                  <a:lnTo>
                    <a:pt x="1056886" y="484439"/>
                  </a:lnTo>
                  <a:lnTo>
                    <a:pt x="1029904" y="502631"/>
                  </a:lnTo>
                  <a:lnTo>
                    <a:pt x="996863" y="509301"/>
                  </a:lnTo>
                  <a:lnTo>
                    <a:pt x="84885" y="509301"/>
                  </a:lnTo>
                  <a:lnTo>
                    <a:pt x="51844" y="502631"/>
                  </a:lnTo>
                  <a:lnTo>
                    <a:pt x="24862" y="484439"/>
                  </a:lnTo>
                  <a:lnTo>
                    <a:pt x="6670" y="457457"/>
                  </a:lnTo>
                  <a:lnTo>
                    <a:pt x="0" y="424416"/>
                  </a:lnTo>
                  <a:lnTo>
                    <a:pt x="0" y="84885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2697091" y="3137300"/>
            <a:ext cx="796290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46990" marR="5080" indent="-34925">
              <a:lnSpc>
                <a:spcPts val="1650"/>
              </a:lnSpc>
              <a:spcBef>
                <a:spcPts val="180"/>
              </a:spcBef>
            </a:pP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Controller Manager</a:t>
            </a:r>
            <a:endParaRPr sz="1400">
              <a:latin typeface="Arial"/>
              <a:cs typeface="Arial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08486" y="1248076"/>
            <a:ext cx="7651750" cy="3384550"/>
            <a:chOff x="608486" y="1248076"/>
            <a:chExt cx="7651750" cy="33845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8486" y="1248076"/>
              <a:ext cx="7651343" cy="338424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518452" y="2464905"/>
              <a:ext cx="626745" cy="348615"/>
            </a:xfrm>
            <a:custGeom>
              <a:avLst/>
              <a:gdLst/>
              <a:ahLst/>
              <a:cxnLst/>
              <a:rect l="l" t="t" r="r" b="b"/>
              <a:pathLst>
                <a:path w="626745" h="348614">
                  <a:moveTo>
                    <a:pt x="626164" y="348040"/>
                  </a:moveTo>
                  <a:lnTo>
                    <a:pt x="0" y="348040"/>
                  </a:lnTo>
                  <a:lnTo>
                    <a:pt x="0" y="0"/>
                  </a:lnTo>
                  <a:lnTo>
                    <a:pt x="626164" y="0"/>
                  </a:lnTo>
                  <a:lnTo>
                    <a:pt x="626164" y="34804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518452" y="2464905"/>
              <a:ext cx="626745" cy="348615"/>
            </a:xfrm>
            <a:custGeom>
              <a:avLst/>
              <a:gdLst/>
              <a:ahLst/>
              <a:cxnLst/>
              <a:rect l="l" t="t" r="r" b="b"/>
              <a:pathLst>
                <a:path w="626745" h="348614">
                  <a:moveTo>
                    <a:pt x="0" y="0"/>
                  </a:moveTo>
                  <a:lnTo>
                    <a:pt x="626164" y="0"/>
                  </a:lnTo>
                  <a:lnTo>
                    <a:pt x="626164" y="348040"/>
                  </a:lnTo>
                  <a:lnTo>
                    <a:pt x="0" y="348040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518452" y="3074504"/>
              <a:ext cx="626745" cy="348615"/>
            </a:xfrm>
            <a:custGeom>
              <a:avLst/>
              <a:gdLst/>
              <a:ahLst/>
              <a:cxnLst/>
              <a:rect l="l" t="t" r="r" b="b"/>
              <a:pathLst>
                <a:path w="626745" h="348614">
                  <a:moveTo>
                    <a:pt x="626164" y="348039"/>
                  </a:moveTo>
                  <a:lnTo>
                    <a:pt x="0" y="348039"/>
                  </a:lnTo>
                  <a:lnTo>
                    <a:pt x="0" y="0"/>
                  </a:lnTo>
                  <a:lnTo>
                    <a:pt x="626164" y="0"/>
                  </a:lnTo>
                  <a:lnTo>
                    <a:pt x="626164" y="348039"/>
                  </a:lnTo>
                  <a:close/>
                </a:path>
              </a:pathLst>
            </a:custGeom>
            <a:solidFill>
              <a:srgbClr val="00B0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518452" y="3074504"/>
              <a:ext cx="626745" cy="348615"/>
            </a:xfrm>
            <a:custGeom>
              <a:avLst/>
              <a:gdLst/>
              <a:ahLst/>
              <a:cxnLst/>
              <a:rect l="l" t="t" r="r" b="b"/>
              <a:pathLst>
                <a:path w="626745" h="348614">
                  <a:moveTo>
                    <a:pt x="0" y="0"/>
                  </a:moveTo>
                  <a:lnTo>
                    <a:pt x="626164" y="0"/>
                  </a:lnTo>
                  <a:lnTo>
                    <a:pt x="626164" y="348039"/>
                  </a:lnTo>
                  <a:lnTo>
                    <a:pt x="0" y="348039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258917" y="3074504"/>
              <a:ext cx="626745" cy="348615"/>
            </a:xfrm>
            <a:custGeom>
              <a:avLst/>
              <a:gdLst/>
              <a:ahLst/>
              <a:cxnLst/>
              <a:rect l="l" t="t" r="r" b="b"/>
              <a:pathLst>
                <a:path w="626745" h="348614">
                  <a:moveTo>
                    <a:pt x="626163" y="348039"/>
                  </a:moveTo>
                  <a:lnTo>
                    <a:pt x="0" y="348039"/>
                  </a:lnTo>
                  <a:lnTo>
                    <a:pt x="0" y="0"/>
                  </a:lnTo>
                  <a:lnTo>
                    <a:pt x="626163" y="0"/>
                  </a:lnTo>
                  <a:lnTo>
                    <a:pt x="626163" y="348039"/>
                  </a:lnTo>
                  <a:close/>
                </a:path>
              </a:pathLst>
            </a:custGeom>
            <a:solidFill>
              <a:srgbClr val="2121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258917" y="3074504"/>
              <a:ext cx="626745" cy="348615"/>
            </a:xfrm>
            <a:custGeom>
              <a:avLst/>
              <a:gdLst/>
              <a:ahLst/>
              <a:cxnLst/>
              <a:rect l="l" t="t" r="r" b="b"/>
              <a:pathLst>
                <a:path w="626745" h="348614">
                  <a:moveTo>
                    <a:pt x="0" y="0"/>
                  </a:moveTo>
                  <a:lnTo>
                    <a:pt x="626163" y="0"/>
                  </a:lnTo>
                  <a:lnTo>
                    <a:pt x="626163" y="348039"/>
                  </a:lnTo>
                  <a:lnTo>
                    <a:pt x="0" y="348039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258917" y="2464905"/>
              <a:ext cx="626745" cy="348615"/>
            </a:xfrm>
            <a:custGeom>
              <a:avLst/>
              <a:gdLst/>
              <a:ahLst/>
              <a:cxnLst/>
              <a:rect l="l" t="t" r="r" b="b"/>
              <a:pathLst>
                <a:path w="626745" h="348614">
                  <a:moveTo>
                    <a:pt x="626163" y="348040"/>
                  </a:moveTo>
                  <a:lnTo>
                    <a:pt x="0" y="348040"/>
                  </a:lnTo>
                  <a:lnTo>
                    <a:pt x="0" y="0"/>
                  </a:lnTo>
                  <a:lnTo>
                    <a:pt x="626163" y="0"/>
                  </a:lnTo>
                  <a:lnTo>
                    <a:pt x="626163" y="348040"/>
                  </a:lnTo>
                  <a:close/>
                </a:path>
              </a:pathLst>
            </a:custGeom>
            <a:solidFill>
              <a:srgbClr val="7890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258917" y="2464905"/>
              <a:ext cx="626745" cy="348615"/>
            </a:xfrm>
            <a:custGeom>
              <a:avLst/>
              <a:gdLst/>
              <a:ahLst/>
              <a:cxnLst/>
              <a:rect l="l" t="t" r="r" b="b"/>
              <a:pathLst>
                <a:path w="626745" h="348614">
                  <a:moveTo>
                    <a:pt x="0" y="0"/>
                  </a:moveTo>
                  <a:lnTo>
                    <a:pt x="626163" y="0"/>
                  </a:lnTo>
                  <a:lnTo>
                    <a:pt x="626163" y="348040"/>
                  </a:lnTo>
                  <a:lnTo>
                    <a:pt x="0" y="348040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733222" y="2726465"/>
              <a:ext cx="626745" cy="348615"/>
            </a:xfrm>
            <a:custGeom>
              <a:avLst/>
              <a:gdLst/>
              <a:ahLst/>
              <a:cxnLst/>
              <a:rect l="l" t="t" r="r" b="b"/>
              <a:pathLst>
                <a:path w="626745" h="348614">
                  <a:moveTo>
                    <a:pt x="626163" y="348039"/>
                  </a:moveTo>
                  <a:lnTo>
                    <a:pt x="0" y="348039"/>
                  </a:lnTo>
                  <a:lnTo>
                    <a:pt x="0" y="0"/>
                  </a:lnTo>
                  <a:lnTo>
                    <a:pt x="626163" y="0"/>
                  </a:lnTo>
                  <a:lnTo>
                    <a:pt x="626163" y="348039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733222" y="2726465"/>
              <a:ext cx="626745" cy="348615"/>
            </a:xfrm>
            <a:custGeom>
              <a:avLst/>
              <a:gdLst/>
              <a:ahLst/>
              <a:cxnLst/>
              <a:rect l="l" t="t" r="r" b="b"/>
              <a:pathLst>
                <a:path w="626745" h="348614">
                  <a:moveTo>
                    <a:pt x="0" y="0"/>
                  </a:moveTo>
                  <a:lnTo>
                    <a:pt x="626163" y="0"/>
                  </a:lnTo>
                  <a:lnTo>
                    <a:pt x="626163" y="348039"/>
                  </a:lnTo>
                  <a:lnTo>
                    <a:pt x="0" y="348039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301625" y="764527"/>
            <a:ext cx="581660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How</a:t>
            </a:r>
            <a:r>
              <a:rPr sz="16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does</a:t>
            </a:r>
            <a:r>
              <a:rPr sz="16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each</a:t>
            </a:r>
            <a:r>
              <a:rPr sz="16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of</a:t>
            </a:r>
            <a:r>
              <a:rPr sz="16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these</a:t>
            </a:r>
            <a:r>
              <a:rPr sz="16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services</a:t>
            </a:r>
            <a:r>
              <a:rPr sz="16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communicate</a:t>
            </a:r>
            <a:r>
              <a:rPr sz="16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with</a:t>
            </a:r>
            <a:r>
              <a:rPr sz="16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each</a:t>
            </a:r>
            <a:r>
              <a:rPr sz="16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595959"/>
                </a:solidFill>
                <a:latin typeface="Arial"/>
                <a:cs typeface="Arial"/>
              </a:rPr>
              <a:t>other?</a:t>
            </a:r>
            <a:endParaRPr sz="1600">
              <a:latin typeface="Arial"/>
              <a:cs typeface="Arial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01625" y="249500"/>
            <a:ext cx="2727960" cy="4648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>
                <a:solidFill>
                  <a:srgbClr val="92D050"/>
                </a:solidFill>
              </a:rPr>
              <a:t>Kube</a:t>
            </a:r>
            <a:r>
              <a:rPr spc="-150" dirty="0">
                <a:solidFill>
                  <a:srgbClr val="92D050"/>
                </a:solidFill>
              </a:rPr>
              <a:t> </a:t>
            </a:r>
            <a:r>
              <a:rPr dirty="0">
                <a:solidFill>
                  <a:srgbClr val="92D050"/>
                </a:solidFill>
              </a:rPr>
              <a:t>API</a:t>
            </a:r>
            <a:r>
              <a:rPr spc="15" dirty="0">
                <a:solidFill>
                  <a:srgbClr val="92D050"/>
                </a:solidFill>
              </a:rPr>
              <a:t> </a:t>
            </a:r>
            <a:r>
              <a:rPr spc="-10" dirty="0">
                <a:solidFill>
                  <a:srgbClr val="92D050"/>
                </a:solidFill>
              </a:rPr>
              <a:t>Server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08486" y="1248076"/>
            <a:ext cx="7651750" cy="3384550"/>
            <a:chOff x="608486" y="1248076"/>
            <a:chExt cx="7651750" cy="33845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8486" y="1248076"/>
              <a:ext cx="7651343" cy="338424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518452" y="2464905"/>
              <a:ext cx="626745" cy="348615"/>
            </a:xfrm>
            <a:custGeom>
              <a:avLst/>
              <a:gdLst/>
              <a:ahLst/>
              <a:cxnLst/>
              <a:rect l="l" t="t" r="r" b="b"/>
              <a:pathLst>
                <a:path w="626745" h="348614">
                  <a:moveTo>
                    <a:pt x="626164" y="348040"/>
                  </a:moveTo>
                  <a:lnTo>
                    <a:pt x="0" y="348040"/>
                  </a:lnTo>
                  <a:lnTo>
                    <a:pt x="0" y="0"/>
                  </a:lnTo>
                  <a:lnTo>
                    <a:pt x="626164" y="0"/>
                  </a:lnTo>
                  <a:lnTo>
                    <a:pt x="626164" y="34804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518452" y="2464905"/>
              <a:ext cx="626745" cy="348615"/>
            </a:xfrm>
            <a:custGeom>
              <a:avLst/>
              <a:gdLst/>
              <a:ahLst/>
              <a:cxnLst/>
              <a:rect l="l" t="t" r="r" b="b"/>
              <a:pathLst>
                <a:path w="626745" h="348614">
                  <a:moveTo>
                    <a:pt x="0" y="0"/>
                  </a:moveTo>
                  <a:lnTo>
                    <a:pt x="626164" y="0"/>
                  </a:lnTo>
                  <a:lnTo>
                    <a:pt x="626164" y="348040"/>
                  </a:lnTo>
                  <a:lnTo>
                    <a:pt x="0" y="348040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518452" y="3074504"/>
              <a:ext cx="626745" cy="348615"/>
            </a:xfrm>
            <a:custGeom>
              <a:avLst/>
              <a:gdLst/>
              <a:ahLst/>
              <a:cxnLst/>
              <a:rect l="l" t="t" r="r" b="b"/>
              <a:pathLst>
                <a:path w="626745" h="348614">
                  <a:moveTo>
                    <a:pt x="626164" y="348039"/>
                  </a:moveTo>
                  <a:lnTo>
                    <a:pt x="0" y="348039"/>
                  </a:lnTo>
                  <a:lnTo>
                    <a:pt x="0" y="0"/>
                  </a:lnTo>
                  <a:lnTo>
                    <a:pt x="626164" y="0"/>
                  </a:lnTo>
                  <a:lnTo>
                    <a:pt x="626164" y="348039"/>
                  </a:lnTo>
                  <a:close/>
                </a:path>
              </a:pathLst>
            </a:custGeom>
            <a:solidFill>
              <a:srgbClr val="00B0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518452" y="3074504"/>
              <a:ext cx="626745" cy="348615"/>
            </a:xfrm>
            <a:custGeom>
              <a:avLst/>
              <a:gdLst/>
              <a:ahLst/>
              <a:cxnLst/>
              <a:rect l="l" t="t" r="r" b="b"/>
              <a:pathLst>
                <a:path w="626745" h="348614">
                  <a:moveTo>
                    <a:pt x="0" y="0"/>
                  </a:moveTo>
                  <a:lnTo>
                    <a:pt x="626164" y="0"/>
                  </a:lnTo>
                  <a:lnTo>
                    <a:pt x="626164" y="348039"/>
                  </a:lnTo>
                  <a:lnTo>
                    <a:pt x="0" y="348039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258917" y="3074504"/>
              <a:ext cx="626745" cy="348615"/>
            </a:xfrm>
            <a:custGeom>
              <a:avLst/>
              <a:gdLst/>
              <a:ahLst/>
              <a:cxnLst/>
              <a:rect l="l" t="t" r="r" b="b"/>
              <a:pathLst>
                <a:path w="626745" h="348614">
                  <a:moveTo>
                    <a:pt x="626163" y="348039"/>
                  </a:moveTo>
                  <a:lnTo>
                    <a:pt x="0" y="348039"/>
                  </a:lnTo>
                  <a:lnTo>
                    <a:pt x="0" y="0"/>
                  </a:lnTo>
                  <a:lnTo>
                    <a:pt x="626163" y="0"/>
                  </a:lnTo>
                  <a:lnTo>
                    <a:pt x="626163" y="348039"/>
                  </a:lnTo>
                  <a:close/>
                </a:path>
              </a:pathLst>
            </a:custGeom>
            <a:solidFill>
              <a:srgbClr val="2121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258917" y="3074504"/>
              <a:ext cx="626745" cy="348615"/>
            </a:xfrm>
            <a:custGeom>
              <a:avLst/>
              <a:gdLst/>
              <a:ahLst/>
              <a:cxnLst/>
              <a:rect l="l" t="t" r="r" b="b"/>
              <a:pathLst>
                <a:path w="626745" h="348614">
                  <a:moveTo>
                    <a:pt x="0" y="0"/>
                  </a:moveTo>
                  <a:lnTo>
                    <a:pt x="626163" y="0"/>
                  </a:lnTo>
                  <a:lnTo>
                    <a:pt x="626163" y="348039"/>
                  </a:lnTo>
                  <a:lnTo>
                    <a:pt x="0" y="348039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258917" y="2464905"/>
              <a:ext cx="626745" cy="348615"/>
            </a:xfrm>
            <a:custGeom>
              <a:avLst/>
              <a:gdLst/>
              <a:ahLst/>
              <a:cxnLst/>
              <a:rect l="l" t="t" r="r" b="b"/>
              <a:pathLst>
                <a:path w="626745" h="348614">
                  <a:moveTo>
                    <a:pt x="626163" y="348040"/>
                  </a:moveTo>
                  <a:lnTo>
                    <a:pt x="0" y="348040"/>
                  </a:lnTo>
                  <a:lnTo>
                    <a:pt x="0" y="0"/>
                  </a:lnTo>
                  <a:lnTo>
                    <a:pt x="626163" y="0"/>
                  </a:lnTo>
                  <a:lnTo>
                    <a:pt x="626163" y="348040"/>
                  </a:lnTo>
                  <a:close/>
                </a:path>
              </a:pathLst>
            </a:custGeom>
            <a:solidFill>
              <a:srgbClr val="7890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258917" y="2464905"/>
              <a:ext cx="626745" cy="348615"/>
            </a:xfrm>
            <a:custGeom>
              <a:avLst/>
              <a:gdLst/>
              <a:ahLst/>
              <a:cxnLst/>
              <a:rect l="l" t="t" r="r" b="b"/>
              <a:pathLst>
                <a:path w="626745" h="348614">
                  <a:moveTo>
                    <a:pt x="0" y="0"/>
                  </a:moveTo>
                  <a:lnTo>
                    <a:pt x="626163" y="0"/>
                  </a:lnTo>
                  <a:lnTo>
                    <a:pt x="626163" y="348040"/>
                  </a:lnTo>
                  <a:lnTo>
                    <a:pt x="0" y="348040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733222" y="2726465"/>
              <a:ext cx="626745" cy="348615"/>
            </a:xfrm>
            <a:custGeom>
              <a:avLst/>
              <a:gdLst/>
              <a:ahLst/>
              <a:cxnLst/>
              <a:rect l="l" t="t" r="r" b="b"/>
              <a:pathLst>
                <a:path w="626745" h="348614">
                  <a:moveTo>
                    <a:pt x="626163" y="348039"/>
                  </a:moveTo>
                  <a:lnTo>
                    <a:pt x="0" y="348039"/>
                  </a:lnTo>
                  <a:lnTo>
                    <a:pt x="0" y="0"/>
                  </a:lnTo>
                  <a:lnTo>
                    <a:pt x="626163" y="0"/>
                  </a:lnTo>
                  <a:lnTo>
                    <a:pt x="626163" y="348039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733222" y="2726465"/>
              <a:ext cx="626745" cy="348615"/>
            </a:xfrm>
            <a:custGeom>
              <a:avLst/>
              <a:gdLst/>
              <a:ahLst/>
              <a:cxnLst/>
              <a:rect l="l" t="t" r="r" b="b"/>
              <a:pathLst>
                <a:path w="626745" h="348614">
                  <a:moveTo>
                    <a:pt x="0" y="0"/>
                  </a:moveTo>
                  <a:lnTo>
                    <a:pt x="626163" y="0"/>
                  </a:lnTo>
                  <a:lnTo>
                    <a:pt x="626163" y="348039"/>
                  </a:lnTo>
                  <a:lnTo>
                    <a:pt x="0" y="348039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231864" y="2306904"/>
              <a:ext cx="733425" cy="334645"/>
            </a:xfrm>
            <a:custGeom>
              <a:avLst/>
              <a:gdLst/>
              <a:ahLst/>
              <a:cxnLst/>
              <a:rect l="l" t="t" r="r" b="b"/>
              <a:pathLst>
                <a:path w="733425" h="334644">
                  <a:moveTo>
                    <a:pt x="733186" y="0"/>
                  </a:moveTo>
                  <a:lnTo>
                    <a:pt x="0" y="33411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192530" y="2626698"/>
              <a:ext cx="46355" cy="32384"/>
            </a:xfrm>
            <a:custGeom>
              <a:avLst/>
              <a:gdLst/>
              <a:ahLst/>
              <a:cxnLst/>
              <a:rect l="l" t="t" r="r" b="b"/>
              <a:pathLst>
                <a:path w="46354" h="32385">
                  <a:moveTo>
                    <a:pt x="0" y="32240"/>
                  </a:moveTo>
                  <a:lnTo>
                    <a:pt x="32809" y="0"/>
                  </a:lnTo>
                  <a:lnTo>
                    <a:pt x="45857" y="28632"/>
                  </a:lnTo>
                  <a:lnTo>
                    <a:pt x="0" y="32240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192530" y="2626698"/>
              <a:ext cx="46355" cy="32384"/>
            </a:xfrm>
            <a:custGeom>
              <a:avLst/>
              <a:gdLst/>
              <a:ahLst/>
              <a:cxnLst/>
              <a:rect l="l" t="t" r="r" b="b"/>
              <a:pathLst>
                <a:path w="46354" h="32385">
                  <a:moveTo>
                    <a:pt x="32809" y="0"/>
                  </a:moveTo>
                  <a:lnTo>
                    <a:pt x="0" y="32240"/>
                  </a:lnTo>
                  <a:lnTo>
                    <a:pt x="45857" y="28632"/>
                  </a:lnTo>
                  <a:lnTo>
                    <a:pt x="32809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514478" y="862098"/>
            <a:ext cx="7665720" cy="14262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4160" indent="-251460">
              <a:lnSpc>
                <a:spcPct val="100000"/>
              </a:lnSpc>
              <a:spcBef>
                <a:spcPts val="100"/>
              </a:spcBef>
              <a:buChar char="-"/>
              <a:tabLst>
                <a:tab pos="264160" algn="l"/>
              </a:tabLst>
            </a:pPr>
            <a:r>
              <a:rPr sz="1600" dirty="0">
                <a:latin typeface="Arial"/>
                <a:cs typeface="Arial"/>
              </a:rPr>
              <a:t>A</a:t>
            </a:r>
            <a:r>
              <a:rPr sz="1600" spc="-114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primary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management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component</a:t>
            </a:r>
            <a:r>
              <a:rPr sz="1600" spc="39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of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k8s</a:t>
            </a:r>
            <a:endParaRPr sz="1600">
              <a:latin typeface="Arial"/>
              <a:cs typeface="Arial"/>
            </a:endParaRPr>
          </a:p>
          <a:p>
            <a:pPr marL="264160" indent="-251460">
              <a:lnSpc>
                <a:spcPct val="100000"/>
              </a:lnSpc>
              <a:spcBef>
                <a:spcPts val="30"/>
              </a:spcBef>
              <a:buChar char="-"/>
              <a:tabLst>
                <a:tab pos="264160" algn="l"/>
              </a:tabLst>
            </a:pPr>
            <a:r>
              <a:rPr sz="1600" dirty="0">
                <a:latin typeface="Arial"/>
                <a:cs typeface="Arial"/>
              </a:rPr>
              <a:t>Responsible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for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orchestrating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all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operations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within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cluster</a:t>
            </a:r>
            <a:endParaRPr sz="1600">
              <a:latin typeface="Arial"/>
              <a:cs typeface="Arial"/>
            </a:endParaRPr>
          </a:p>
          <a:p>
            <a:pPr marL="264160" marR="338455" indent="-252095">
              <a:lnSpc>
                <a:spcPct val="101600"/>
              </a:lnSpc>
              <a:buChar char="-"/>
              <a:tabLst>
                <a:tab pos="264160" algn="l"/>
              </a:tabLst>
            </a:pPr>
            <a:r>
              <a:rPr sz="1600" dirty="0">
                <a:latin typeface="Arial"/>
                <a:cs typeface="Arial"/>
              </a:rPr>
              <a:t>Exposes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K8s</a:t>
            </a:r>
            <a:r>
              <a:rPr sz="1600" spc="-10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API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,used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by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external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users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to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perform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management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operation</a:t>
            </a:r>
            <a:r>
              <a:rPr sz="1600" spc="-25" dirty="0">
                <a:latin typeface="Arial"/>
                <a:cs typeface="Arial"/>
              </a:rPr>
              <a:t> in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cluster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and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number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of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controller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to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monitor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state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of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cluster</a:t>
            </a:r>
            <a:endParaRPr sz="160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  <a:spcBef>
                <a:spcPts val="1095"/>
              </a:spcBef>
            </a:pPr>
            <a:r>
              <a:rPr sz="1800" dirty="0">
                <a:latin typeface="Arial"/>
                <a:cs typeface="Arial"/>
              </a:rPr>
              <a:t>API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Server</a:t>
            </a:r>
            <a:endParaRPr sz="1800">
              <a:latin typeface="Arial"/>
              <a:cs typeface="Arial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707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Overview</a:t>
            </a:r>
          </a:p>
        </p:txBody>
      </p:sp>
      <p:sp>
        <p:nvSpPr>
          <p:cNvPr id="3" name="object 3"/>
          <p:cNvSpPr/>
          <p:nvPr/>
        </p:nvSpPr>
        <p:spPr>
          <a:xfrm>
            <a:off x="5196113" y="1175657"/>
            <a:ext cx="1676400" cy="653415"/>
          </a:xfrm>
          <a:custGeom>
            <a:avLst/>
            <a:gdLst/>
            <a:ahLst/>
            <a:cxnLst/>
            <a:rect l="l" t="t" r="r" b="b"/>
            <a:pathLst>
              <a:path w="1676400" h="653414">
                <a:moveTo>
                  <a:pt x="0" y="108859"/>
                </a:moveTo>
                <a:lnTo>
                  <a:pt x="8554" y="66486"/>
                </a:lnTo>
                <a:lnTo>
                  <a:pt x="31884" y="31884"/>
                </a:lnTo>
                <a:lnTo>
                  <a:pt x="66486" y="8554"/>
                </a:lnTo>
                <a:lnTo>
                  <a:pt x="108859" y="0"/>
                </a:lnTo>
                <a:lnTo>
                  <a:pt x="1567540" y="0"/>
                </a:lnTo>
                <a:lnTo>
                  <a:pt x="1609199" y="8286"/>
                </a:lnTo>
                <a:lnTo>
                  <a:pt x="1644515" y="31884"/>
                </a:lnTo>
                <a:lnTo>
                  <a:pt x="1668113" y="67200"/>
                </a:lnTo>
                <a:lnTo>
                  <a:pt x="1676399" y="108859"/>
                </a:lnTo>
                <a:lnTo>
                  <a:pt x="1676399" y="544283"/>
                </a:lnTo>
                <a:lnTo>
                  <a:pt x="1667845" y="586656"/>
                </a:lnTo>
                <a:lnTo>
                  <a:pt x="1644515" y="621258"/>
                </a:lnTo>
                <a:lnTo>
                  <a:pt x="1609913" y="644588"/>
                </a:lnTo>
                <a:lnTo>
                  <a:pt x="1567540" y="653142"/>
                </a:lnTo>
                <a:lnTo>
                  <a:pt x="108859" y="653142"/>
                </a:lnTo>
                <a:lnTo>
                  <a:pt x="66486" y="644588"/>
                </a:lnTo>
                <a:lnTo>
                  <a:pt x="31884" y="621258"/>
                </a:lnTo>
                <a:lnTo>
                  <a:pt x="8554" y="586656"/>
                </a:lnTo>
                <a:lnTo>
                  <a:pt x="0" y="544283"/>
                </a:lnTo>
                <a:lnTo>
                  <a:pt x="0" y="108859"/>
                </a:lnTo>
                <a:close/>
              </a:path>
            </a:pathLst>
          </a:custGeom>
          <a:ln w="12699">
            <a:solidFill>
              <a:srgbClr val="127BB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410653" y="4247715"/>
            <a:ext cx="11582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Worker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Nodes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196113" y="2002971"/>
            <a:ext cx="1676400" cy="1379220"/>
          </a:xfrm>
          <a:custGeom>
            <a:avLst/>
            <a:gdLst/>
            <a:ahLst/>
            <a:cxnLst/>
            <a:rect l="l" t="t" r="r" b="b"/>
            <a:pathLst>
              <a:path w="1676400" h="1379220">
                <a:moveTo>
                  <a:pt x="0" y="229814"/>
                </a:moveTo>
                <a:lnTo>
                  <a:pt x="4669" y="183498"/>
                </a:lnTo>
                <a:lnTo>
                  <a:pt x="18059" y="140360"/>
                </a:lnTo>
                <a:lnTo>
                  <a:pt x="39248" y="101322"/>
                </a:lnTo>
                <a:lnTo>
                  <a:pt x="67311" y="67310"/>
                </a:lnTo>
                <a:lnTo>
                  <a:pt x="101322" y="39248"/>
                </a:lnTo>
                <a:lnTo>
                  <a:pt x="140360" y="18059"/>
                </a:lnTo>
                <a:lnTo>
                  <a:pt x="183498" y="4669"/>
                </a:lnTo>
                <a:lnTo>
                  <a:pt x="229813" y="0"/>
                </a:lnTo>
                <a:lnTo>
                  <a:pt x="1446585" y="0"/>
                </a:lnTo>
                <a:lnTo>
                  <a:pt x="1491630" y="4456"/>
                </a:lnTo>
                <a:lnTo>
                  <a:pt x="1534532" y="17493"/>
                </a:lnTo>
                <a:lnTo>
                  <a:pt x="1574087" y="38611"/>
                </a:lnTo>
                <a:lnTo>
                  <a:pt x="1609088" y="67310"/>
                </a:lnTo>
                <a:lnTo>
                  <a:pt x="1637788" y="102313"/>
                </a:lnTo>
                <a:lnTo>
                  <a:pt x="1658906" y="141868"/>
                </a:lnTo>
                <a:lnTo>
                  <a:pt x="1671943" y="184770"/>
                </a:lnTo>
                <a:lnTo>
                  <a:pt x="1676399" y="229814"/>
                </a:lnTo>
                <a:lnTo>
                  <a:pt x="1676399" y="1149042"/>
                </a:lnTo>
                <a:lnTo>
                  <a:pt x="1671730" y="1195358"/>
                </a:lnTo>
                <a:lnTo>
                  <a:pt x="1658340" y="1238496"/>
                </a:lnTo>
                <a:lnTo>
                  <a:pt x="1637151" y="1277534"/>
                </a:lnTo>
                <a:lnTo>
                  <a:pt x="1609088" y="1311546"/>
                </a:lnTo>
                <a:lnTo>
                  <a:pt x="1575077" y="1339608"/>
                </a:lnTo>
                <a:lnTo>
                  <a:pt x="1536039" y="1360797"/>
                </a:lnTo>
                <a:lnTo>
                  <a:pt x="1492901" y="1374188"/>
                </a:lnTo>
                <a:lnTo>
                  <a:pt x="1446585" y="1378856"/>
                </a:lnTo>
                <a:lnTo>
                  <a:pt x="229813" y="1378856"/>
                </a:lnTo>
                <a:lnTo>
                  <a:pt x="183498" y="1374188"/>
                </a:lnTo>
                <a:lnTo>
                  <a:pt x="140360" y="1360797"/>
                </a:lnTo>
                <a:lnTo>
                  <a:pt x="101322" y="1339608"/>
                </a:lnTo>
                <a:lnTo>
                  <a:pt x="67311" y="1311546"/>
                </a:lnTo>
                <a:lnTo>
                  <a:pt x="39248" y="1277534"/>
                </a:lnTo>
                <a:lnTo>
                  <a:pt x="18059" y="1238496"/>
                </a:lnTo>
                <a:lnTo>
                  <a:pt x="4669" y="1195358"/>
                </a:lnTo>
                <a:lnTo>
                  <a:pt x="0" y="1149042"/>
                </a:lnTo>
                <a:lnTo>
                  <a:pt x="0" y="229814"/>
                </a:lnTo>
                <a:close/>
              </a:path>
            </a:pathLst>
          </a:custGeom>
          <a:ln w="12699">
            <a:solidFill>
              <a:srgbClr val="127BB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196113" y="3556001"/>
            <a:ext cx="1676400" cy="653415"/>
          </a:xfrm>
          <a:custGeom>
            <a:avLst/>
            <a:gdLst/>
            <a:ahLst/>
            <a:cxnLst/>
            <a:rect l="l" t="t" r="r" b="b"/>
            <a:pathLst>
              <a:path w="1676400" h="653414">
                <a:moveTo>
                  <a:pt x="0" y="108859"/>
                </a:moveTo>
                <a:lnTo>
                  <a:pt x="8554" y="66486"/>
                </a:lnTo>
                <a:lnTo>
                  <a:pt x="31884" y="31884"/>
                </a:lnTo>
                <a:lnTo>
                  <a:pt x="66486" y="8554"/>
                </a:lnTo>
                <a:lnTo>
                  <a:pt x="108859" y="0"/>
                </a:lnTo>
                <a:lnTo>
                  <a:pt x="1567540" y="0"/>
                </a:lnTo>
                <a:lnTo>
                  <a:pt x="1609199" y="8286"/>
                </a:lnTo>
                <a:lnTo>
                  <a:pt x="1644515" y="31883"/>
                </a:lnTo>
                <a:lnTo>
                  <a:pt x="1668113" y="67200"/>
                </a:lnTo>
                <a:lnTo>
                  <a:pt x="1676399" y="108859"/>
                </a:lnTo>
                <a:lnTo>
                  <a:pt x="1676399" y="544283"/>
                </a:lnTo>
                <a:lnTo>
                  <a:pt x="1667845" y="586656"/>
                </a:lnTo>
                <a:lnTo>
                  <a:pt x="1644515" y="621258"/>
                </a:lnTo>
                <a:lnTo>
                  <a:pt x="1609913" y="644588"/>
                </a:lnTo>
                <a:lnTo>
                  <a:pt x="1567540" y="653142"/>
                </a:lnTo>
                <a:lnTo>
                  <a:pt x="108859" y="653142"/>
                </a:lnTo>
                <a:lnTo>
                  <a:pt x="66486" y="644588"/>
                </a:lnTo>
                <a:lnTo>
                  <a:pt x="31884" y="621258"/>
                </a:lnTo>
                <a:lnTo>
                  <a:pt x="8554" y="586656"/>
                </a:lnTo>
                <a:lnTo>
                  <a:pt x="0" y="544283"/>
                </a:lnTo>
                <a:lnTo>
                  <a:pt x="0" y="108859"/>
                </a:lnTo>
                <a:close/>
              </a:path>
            </a:pathLst>
          </a:custGeom>
          <a:ln w="12699">
            <a:solidFill>
              <a:srgbClr val="127BB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1303129" y="1216477"/>
            <a:ext cx="2501900" cy="2952115"/>
            <a:chOff x="1303129" y="1216477"/>
            <a:chExt cx="2501900" cy="2952115"/>
          </a:xfrm>
        </p:grpSpPr>
        <p:sp>
          <p:nvSpPr>
            <p:cNvPr id="8" name="object 8"/>
            <p:cNvSpPr/>
            <p:nvPr/>
          </p:nvSpPr>
          <p:spPr>
            <a:xfrm>
              <a:off x="1309479" y="1222827"/>
              <a:ext cx="2489200" cy="2939415"/>
            </a:xfrm>
            <a:custGeom>
              <a:avLst/>
              <a:gdLst/>
              <a:ahLst/>
              <a:cxnLst/>
              <a:rect l="l" t="t" r="r" b="b"/>
              <a:pathLst>
                <a:path w="2489200" h="2939415">
                  <a:moveTo>
                    <a:pt x="2074324" y="2939142"/>
                  </a:moveTo>
                  <a:lnTo>
                    <a:pt x="414874" y="2939142"/>
                  </a:lnTo>
                  <a:lnTo>
                    <a:pt x="366491" y="2936351"/>
                  </a:lnTo>
                  <a:lnTo>
                    <a:pt x="319747" y="2928185"/>
                  </a:lnTo>
                  <a:lnTo>
                    <a:pt x="274954" y="2914956"/>
                  </a:lnTo>
                  <a:lnTo>
                    <a:pt x="232423" y="2896974"/>
                  </a:lnTo>
                  <a:lnTo>
                    <a:pt x="192465" y="2874551"/>
                  </a:lnTo>
                  <a:lnTo>
                    <a:pt x="155391" y="2847999"/>
                  </a:lnTo>
                  <a:lnTo>
                    <a:pt x="121514" y="2817628"/>
                  </a:lnTo>
                  <a:lnTo>
                    <a:pt x="91143" y="2783751"/>
                  </a:lnTo>
                  <a:lnTo>
                    <a:pt x="64591" y="2746677"/>
                  </a:lnTo>
                  <a:lnTo>
                    <a:pt x="42168" y="2706719"/>
                  </a:lnTo>
                  <a:lnTo>
                    <a:pt x="24186" y="2664188"/>
                  </a:lnTo>
                  <a:lnTo>
                    <a:pt x="10957" y="2619394"/>
                  </a:lnTo>
                  <a:lnTo>
                    <a:pt x="2791" y="2572651"/>
                  </a:lnTo>
                  <a:lnTo>
                    <a:pt x="0" y="2524267"/>
                  </a:lnTo>
                  <a:lnTo>
                    <a:pt x="0" y="414874"/>
                  </a:lnTo>
                  <a:lnTo>
                    <a:pt x="2700" y="368062"/>
                  </a:lnTo>
                  <a:lnTo>
                    <a:pt x="10957" y="319747"/>
                  </a:lnTo>
                  <a:lnTo>
                    <a:pt x="24186" y="274954"/>
                  </a:lnTo>
                  <a:lnTo>
                    <a:pt x="42168" y="232423"/>
                  </a:lnTo>
                  <a:lnTo>
                    <a:pt x="64591" y="192465"/>
                  </a:lnTo>
                  <a:lnTo>
                    <a:pt x="91143" y="155391"/>
                  </a:lnTo>
                  <a:lnTo>
                    <a:pt x="121514" y="121514"/>
                  </a:lnTo>
                  <a:lnTo>
                    <a:pt x="155391" y="91143"/>
                  </a:lnTo>
                  <a:lnTo>
                    <a:pt x="192465" y="64591"/>
                  </a:lnTo>
                  <a:lnTo>
                    <a:pt x="232423" y="42168"/>
                  </a:lnTo>
                  <a:lnTo>
                    <a:pt x="274954" y="24186"/>
                  </a:lnTo>
                  <a:lnTo>
                    <a:pt x="319747" y="10957"/>
                  </a:lnTo>
                  <a:lnTo>
                    <a:pt x="366491" y="2791"/>
                  </a:lnTo>
                  <a:lnTo>
                    <a:pt x="414874" y="0"/>
                  </a:lnTo>
                  <a:lnTo>
                    <a:pt x="2074324" y="0"/>
                  </a:lnTo>
                  <a:lnTo>
                    <a:pt x="2121137" y="2648"/>
                  </a:lnTo>
                  <a:lnTo>
                    <a:pt x="2166992" y="10480"/>
                  </a:lnTo>
                  <a:lnTo>
                    <a:pt x="2211483" y="23328"/>
                  </a:lnTo>
                  <a:lnTo>
                    <a:pt x="2254204" y="41023"/>
                  </a:lnTo>
                  <a:lnTo>
                    <a:pt x="2294749" y="63398"/>
                  </a:lnTo>
                  <a:lnTo>
                    <a:pt x="2332711" y="90284"/>
                  </a:lnTo>
                  <a:lnTo>
                    <a:pt x="2367685" y="121514"/>
                  </a:lnTo>
                  <a:lnTo>
                    <a:pt x="2398915" y="156488"/>
                  </a:lnTo>
                  <a:lnTo>
                    <a:pt x="2425801" y="194450"/>
                  </a:lnTo>
                  <a:lnTo>
                    <a:pt x="2448176" y="234995"/>
                  </a:lnTo>
                  <a:lnTo>
                    <a:pt x="2465871" y="277716"/>
                  </a:lnTo>
                  <a:lnTo>
                    <a:pt x="2478719" y="322207"/>
                  </a:lnTo>
                  <a:lnTo>
                    <a:pt x="2486551" y="368062"/>
                  </a:lnTo>
                  <a:lnTo>
                    <a:pt x="2489199" y="414874"/>
                  </a:lnTo>
                  <a:lnTo>
                    <a:pt x="2489199" y="2524267"/>
                  </a:lnTo>
                  <a:lnTo>
                    <a:pt x="2486408" y="2572651"/>
                  </a:lnTo>
                  <a:lnTo>
                    <a:pt x="2478242" y="2619394"/>
                  </a:lnTo>
                  <a:lnTo>
                    <a:pt x="2465013" y="2664188"/>
                  </a:lnTo>
                  <a:lnTo>
                    <a:pt x="2447031" y="2706719"/>
                  </a:lnTo>
                  <a:lnTo>
                    <a:pt x="2424608" y="2746677"/>
                  </a:lnTo>
                  <a:lnTo>
                    <a:pt x="2398056" y="2783751"/>
                  </a:lnTo>
                  <a:lnTo>
                    <a:pt x="2367685" y="2817628"/>
                  </a:lnTo>
                  <a:lnTo>
                    <a:pt x="2333808" y="2847999"/>
                  </a:lnTo>
                  <a:lnTo>
                    <a:pt x="2296734" y="2874551"/>
                  </a:lnTo>
                  <a:lnTo>
                    <a:pt x="2256776" y="2896974"/>
                  </a:lnTo>
                  <a:lnTo>
                    <a:pt x="2214245" y="2914956"/>
                  </a:lnTo>
                  <a:lnTo>
                    <a:pt x="2169451" y="2928185"/>
                  </a:lnTo>
                  <a:lnTo>
                    <a:pt x="2122708" y="2936351"/>
                  </a:lnTo>
                  <a:lnTo>
                    <a:pt x="2074324" y="2939142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309479" y="1222827"/>
              <a:ext cx="2489200" cy="2939415"/>
            </a:xfrm>
            <a:custGeom>
              <a:avLst/>
              <a:gdLst/>
              <a:ahLst/>
              <a:cxnLst/>
              <a:rect l="l" t="t" r="r" b="b"/>
              <a:pathLst>
                <a:path w="2489200" h="2939415">
                  <a:moveTo>
                    <a:pt x="0" y="414874"/>
                  </a:moveTo>
                  <a:lnTo>
                    <a:pt x="2791" y="366491"/>
                  </a:lnTo>
                  <a:lnTo>
                    <a:pt x="10957" y="319747"/>
                  </a:lnTo>
                  <a:lnTo>
                    <a:pt x="24186" y="274954"/>
                  </a:lnTo>
                  <a:lnTo>
                    <a:pt x="42168" y="232423"/>
                  </a:lnTo>
                  <a:lnTo>
                    <a:pt x="64591" y="192465"/>
                  </a:lnTo>
                  <a:lnTo>
                    <a:pt x="91143" y="155391"/>
                  </a:lnTo>
                  <a:lnTo>
                    <a:pt x="121514" y="121514"/>
                  </a:lnTo>
                  <a:lnTo>
                    <a:pt x="155391" y="91143"/>
                  </a:lnTo>
                  <a:lnTo>
                    <a:pt x="192465" y="64591"/>
                  </a:lnTo>
                  <a:lnTo>
                    <a:pt x="232423" y="42168"/>
                  </a:lnTo>
                  <a:lnTo>
                    <a:pt x="274954" y="24186"/>
                  </a:lnTo>
                  <a:lnTo>
                    <a:pt x="319747" y="10957"/>
                  </a:lnTo>
                  <a:lnTo>
                    <a:pt x="366491" y="2791"/>
                  </a:lnTo>
                  <a:lnTo>
                    <a:pt x="414874" y="0"/>
                  </a:lnTo>
                  <a:lnTo>
                    <a:pt x="2074324" y="0"/>
                  </a:lnTo>
                  <a:lnTo>
                    <a:pt x="2121137" y="2648"/>
                  </a:lnTo>
                  <a:lnTo>
                    <a:pt x="2166992" y="10480"/>
                  </a:lnTo>
                  <a:lnTo>
                    <a:pt x="2211483" y="23328"/>
                  </a:lnTo>
                  <a:lnTo>
                    <a:pt x="2254204" y="41023"/>
                  </a:lnTo>
                  <a:lnTo>
                    <a:pt x="2294749" y="63398"/>
                  </a:lnTo>
                  <a:lnTo>
                    <a:pt x="2332711" y="90284"/>
                  </a:lnTo>
                  <a:lnTo>
                    <a:pt x="2367685" y="121514"/>
                  </a:lnTo>
                  <a:lnTo>
                    <a:pt x="2398915" y="156488"/>
                  </a:lnTo>
                  <a:lnTo>
                    <a:pt x="2425801" y="194450"/>
                  </a:lnTo>
                  <a:lnTo>
                    <a:pt x="2448176" y="234995"/>
                  </a:lnTo>
                  <a:lnTo>
                    <a:pt x="2465871" y="277716"/>
                  </a:lnTo>
                  <a:lnTo>
                    <a:pt x="2478719" y="322207"/>
                  </a:lnTo>
                  <a:lnTo>
                    <a:pt x="2486551" y="368062"/>
                  </a:lnTo>
                  <a:lnTo>
                    <a:pt x="2489199" y="414874"/>
                  </a:lnTo>
                  <a:lnTo>
                    <a:pt x="2489199" y="2524267"/>
                  </a:lnTo>
                  <a:lnTo>
                    <a:pt x="2486408" y="2572651"/>
                  </a:lnTo>
                  <a:lnTo>
                    <a:pt x="2478242" y="2619394"/>
                  </a:lnTo>
                  <a:lnTo>
                    <a:pt x="2465013" y="2664188"/>
                  </a:lnTo>
                  <a:lnTo>
                    <a:pt x="2447031" y="2706719"/>
                  </a:lnTo>
                  <a:lnTo>
                    <a:pt x="2424608" y="2746677"/>
                  </a:lnTo>
                  <a:lnTo>
                    <a:pt x="2398056" y="2783751"/>
                  </a:lnTo>
                  <a:lnTo>
                    <a:pt x="2367685" y="2817628"/>
                  </a:lnTo>
                  <a:lnTo>
                    <a:pt x="2333808" y="2847999"/>
                  </a:lnTo>
                  <a:lnTo>
                    <a:pt x="2296734" y="2874551"/>
                  </a:lnTo>
                  <a:lnTo>
                    <a:pt x="2256776" y="2896974"/>
                  </a:lnTo>
                  <a:lnTo>
                    <a:pt x="2214245" y="2914956"/>
                  </a:lnTo>
                  <a:lnTo>
                    <a:pt x="2169451" y="2928185"/>
                  </a:lnTo>
                  <a:lnTo>
                    <a:pt x="2122708" y="2936351"/>
                  </a:lnTo>
                  <a:lnTo>
                    <a:pt x="2074324" y="2939142"/>
                  </a:lnTo>
                  <a:lnTo>
                    <a:pt x="414874" y="2939142"/>
                  </a:lnTo>
                  <a:lnTo>
                    <a:pt x="366491" y="2936351"/>
                  </a:lnTo>
                  <a:lnTo>
                    <a:pt x="319747" y="2928185"/>
                  </a:lnTo>
                  <a:lnTo>
                    <a:pt x="274954" y="2914956"/>
                  </a:lnTo>
                  <a:lnTo>
                    <a:pt x="232423" y="2896974"/>
                  </a:lnTo>
                  <a:lnTo>
                    <a:pt x="192465" y="2874551"/>
                  </a:lnTo>
                  <a:lnTo>
                    <a:pt x="155391" y="2847999"/>
                  </a:lnTo>
                  <a:lnTo>
                    <a:pt x="121514" y="2817628"/>
                  </a:lnTo>
                  <a:lnTo>
                    <a:pt x="91143" y="2783751"/>
                  </a:lnTo>
                  <a:lnTo>
                    <a:pt x="64591" y="2746677"/>
                  </a:lnTo>
                  <a:lnTo>
                    <a:pt x="42168" y="2706719"/>
                  </a:lnTo>
                  <a:lnTo>
                    <a:pt x="24186" y="2664188"/>
                  </a:lnTo>
                  <a:lnTo>
                    <a:pt x="10957" y="2619394"/>
                  </a:lnTo>
                  <a:lnTo>
                    <a:pt x="2791" y="2572651"/>
                  </a:lnTo>
                  <a:lnTo>
                    <a:pt x="0" y="2524267"/>
                  </a:lnTo>
                  <a:lnTo>
                    <a:pt x="0" y="414874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554079" y="1599548"/>
              <a:ext cx="1082040" cy="521334"/>
            </a:xfrm>
            <a:custGeom>
              <a:avLst/>
              <a:gdLst/>
              <a:ahLst/>
              <a:cxnLst/>
              <a:rect l="l" t="t" r="r" b="b"/>
              <a:pathLst>
                <a:path w="1082039" h="521335">
                  <a:moveTo>
                    <a:pt x="994909" y="521024"/>
                  </a:moveTo>
                  <a:lnTo>
                    <a:pt x="86839" y="521024"/>
                  </a:lnTo>
                  <a:lnTo>
                    <a:pt x="53037" y="514200"/>
                  </a:lnTo>
                  <a:lnTo>
                    <a:pt x="25434" y="495590"/>
                  </a:lnTo>
                  <a:lnTo>
                    <a:pt x="6824" y="467987"/>
                  </a:lnTo>
                  <a:lnTo>
                    <a:pt x="0" y="434185"/>
                  </a:lnTo>
                  <a:lnTo>
                    <a:pt x="0" y="86839"/>
                  </a:lnTo>
                  <a:lnTo>
                    <a:pt x="6824" y="53037"/>
                  </a:lnTo>
                  <a:lnTo>
                    <a:pt x="25434" y="25434"/>
                  </a:lnTo>
                  <a:lnTo>
                    <a:pt x="53037" y="6824"/>
                  </a:lnTo>
                  <a:lnTo>
                    <a:pt x="86839" y="0"/>
                  </a:lnTo>
                  <a:lnTo>
                    <a:pt x="994909" y="0"/>
                  </a:lnTo>
                  <a:lnTo>
                    <a:pt x="1043088" y="14590"/>
                  </a:lnTo>
                  <a:lnTo>
                    <a:pt x="1075138" y="53607"/>
                  </a:lnTo>
                  <a:lnTo>
                    <a:pt x="1081748" y="86839"/>
                  </a:lnTo>
                  <a:lnTo>
                    <a:pt x="1081748" y="434185"/>
                  </a:lnTo>
                  <a:lnTo>
                    <a:pt x="1074924" y="467987"/>
                  </a:lnTo>
                  <a:lnTo>
                    <a:pt x="1056314" y="495590"/>
                  </a:lnTo>
                  <a:lnTo>
                    <a:pt x="1028711" y="514200"/>
                  </a:lnTo>
                  <a:lnTo>
                    <a:pt x="994909" y="521024"/>
                  </a:lnTo>
                  <a:close/>
                </a:path>
              </a:pathLst>
            </a:custGeom>
            <a:solidFill>
              <a:srgbClr val="00B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554079" y="1599548"/>
              <a:ext cx="1082040" cy="521334"/>
            </a:xfrm>
            <a:custGeom>
              <a:avLst/>
              <a:gdLst/>
              <a:ahLst/>
              <a:cxnLst/>
              <a:rect l="l" t="t" r="r" b="b"/>
              <a:pathLst>
                <a:path w="1082039" h="521335">
                  <a:moveTo>
                    <a:pt x="0" y="86839"/>
                  </a:moveTo>
                  <a:lnTo>
                    <a:pt x="6824" y="53037"/>
                  </a:lnTo>
                  <a:lnTo>
                    <a:pt x="25434" y="25434"/>
                  </a:lnTo>
                  <a:lnTo>
                    <a:pt x="53037" y="6824"/>
                  </a:lnTo>
                  <a:lnTo>
                    <a:pt x="86839" y="0"/>
                  </a:lnTo>
                  <a:lnTo>
                    <a:pt x="994909" y="0"/>
                  </a:lnTo>
                  <a:lnTo>
                    <a:pt x="1043088" y="14590"/>
                  </a:lnTo>
                  <a:lnTo>
                    <a:pt x="1075138" y="53607"/>
                  </a:lnTo>
                  <a:lnTo>
                    <a:pt x="1081748" y="86839"/>
                  </a:lnTo>
                  <a:lnTo>
                    <a:pt x="1081748" y="434185"/>
                  </a:lnTo>
                  <a:lnTo>
                    <a:pt x="1074924" y="467987"/>
                  </a:lnTo>
                  <a:lnTo>
                    <a:pt x="1056314" y="495590"/>
                  </a:lnTo>
                  <a:lnTo>
                    <a:pt x="1028711" y="514200"/>
                  </a:lnTo>
                  <a:lnTo>
                    <a:pt x="994909" y="521024"/>
                  </a:lnTo>
                  <a:lnTo>
                    <a:pt x="86839" y="521024"/>
                  </a:lnTo>
                  <a:lnTo>
                    <a:pt x="53037" y="514200"/>
                  </a:lnTo>
                  <a:lnTo>
                    <a:pt x="25434" y="495590"/>
                  </a:lnTo>
                  <a:lnTo>
                    <a:pt x="6824" y="467987"/>
                  </a:lnTo>
                  <a:lnTo>
                    <a:pt x="0" y="434185"/>
                  </a:lnTo>
                  <a:lnTo>
                    <a:pt x="0" y="86839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246132" y="4216198"/>
            <a:ext cx="5689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Arial"/>
                <a:cs typeface="Arial"/>
              </a:rPr>
              <a:t>Master</a:t>
            </a:r>
            <a:endParaRPr sz="14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682167" y="1735474"/>
            <a:ext cx="82613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Scheduler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387022" y="3105662"/>
            <a:ext cx="1010285" cy="522605"/>
            <a:chOff x="1387022" y="3105662"/>
            <a:chExt cx="1010285" cy="522605"/>
          </a:xfrm>
        </p:grpSpPr>
        <p:sp>
          <p:nvSpPr>
            <p:cNvPr id="15" name="object 15"/>
            <p:cNvSpPr/>
            <p:nvPr/>
          </p:nvSpPr>
          <p:spPr>
            <a:xfrm>
              <a:off x="1393372" y="3112012"/>
              <a:ext cx="997585" cy="509905"/>
            </a:xfrm>
            <a:custGeom>
              <a:avLst/>
              <a:gdLst/>
              <a:ahLst/>
              <a:cxnLst/>
              <a:rect l="l" t="t" r="r" b="b"/>
              <a:pathLst>
                <a:path w="997585" h="509904">
                  <a:moveTo>
                    <a:pt x="912104" y="509300"/>
                  </a:moveTo>
                  <a:lnTo>
                    <a:pt x="84885" y="509300"/>
                  </a:lnTo>
                  <a:lnTo>
                    <a:pt x="51844" y="502630"/>
                  </a:lnTo>
                  <a:lnTo>
                    <a:pt x="24862" y="484438"/>
                  </a:lnTo>
                  <a:lnTo>
                    <a:pt x="6670" y="457457"/>
                  </a:lnTo>
                  <a:lnTo>
                    <a:pt x="0" y="424415"/>
                  </a:lnTo>
                  <a:lnTo>
                    <a:pt x="0" y="84885"/>
                  </a:lnTo>
                  <a:lnTo>
                    <a:pt x="6670" y="51844"/>
                  </a:lnTo>
                  <a:lnTo>
                    <a:pt x="24862" y="24862"/>
                  </a:lnTo>
                  <a:lnTo>
                    <a:pt x="51844" y="6670"/>
                  </a:lnTo>
                  <a:lnTo>
                    <a:pt x="84885" y="0"/>
                  </a:lnTo>
                  <a:lnTo>
                    <a:pt x="912104" y="0"/>
                  </a:lnTo>
                  <a:lnTo>
                    <a:pt x="959199" y="14261"/>
                  </a:lnTo>
                  <a:lnTo>
                    <a:pt x="990528" y="52401"/>
                  </a:lnTo>
                  <a:lnTo>
                    <a:pt x="996989" y="84885"/>
                  </a:lnTo>
                  <a:lnTo>
                    <a:pt x="996989" y="424415"/>
                  </a:lnTo>
                  <a:lnTo>
                    <a:pt x="990319" y="457457"/>
                  </a:lnTo>
                  <a:lnTo>
                    <a:pt x="972127" y="484438"/>
                  </a:lnTo>
                  <a:lnTo>
                    <a:pt x="945145" y="502630"/>
                  </a:lnTo>
                  <a:lnTo>
                    <a:pt x="912104" y="5093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393372" y="3112012"/>
              <a:ext cx="997585" cy="509905"/>
            </a:xfrm>
            <a:custGeom>
              <a:avLst/>
              <a:gdLst/>
              <a:ahLst/>
              <a:cxnLst/>
              <a:rect l="l" t="t" r="r" b="b"/>
              <a:pathLst>
                <a:path w="997585" h="509904">
                  <a:moveTo>
                    <a:pt x="0" y="84885"/>
                  </a:moveTo>
                  <a:lnTo>
                    <a:pt x="6670" y="51844"/>
                  </a:lnTo>
                  <a:lnTo>
                    <a:pt x="24862" y="24862"/>
                  </a:lnTo>
                  <a:lnTo>
                    <a:pt x="51844" y="6670"/>
                  </a:lnTo>
                  <a:lnTo>
                    <a:pt x="84885" y="0"/>
                  </a:lnTo>
                  <a:lnTo>
                    <a:pt x="912104" y="0"/>
                  </a:lnTo>
                  <a:lnTo>
                    <a:pt x="959199" y="14261"/>
                  </a:lnTo>
                  <a:lnTo>
                    <a:pt x="990528" y="52401"/>
                  </a:lnTo>
                  <a:lnTo>
                    <a:pt x="996989" y="84885"/>
                  </a:lnTo>
                  <a:lnTo>
                    <a:pt x="996989" y="424415"/>
                  </a:lnTo>
                  <a:lnTo>
                    <a:pt x="990319" y="457457"/>
                  </a:lnTo>
                  <a:lnTo>
                    <a:pt x="972127" y="484438"/>
                  </a:lnTo>
                  <a:lnTo>
                    <a:pt x="945145" y="502630"/>
                  </a:lnTo>
                  <a:lnTo>
                    <a:pt x="912104" y="509300"/>
                  </a:lnTo>
                  <a:lnTo>
                    <a:pt x="84885" y="509300"/>
                  </a:lnTo>
                  <a:lnTo>
                    <a:pt x="51844" y="502630"/>
                  </a:lnTo>
                  <a:lnTo>
                    <a:pt x="24862" y="484438"/>
                  </a:lnTo>
                  <a:lnTo>
                    <a:pt x="6670" y="457457"/>
                  </a:lnTo>
                  <a:lnTo>
                    <a:pt x="0" y="424415"/>
                  </a:lnTo>
                  <a:lnTo>
                    <a:pt x="0" y="84885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637301" y="3242076"/>
            <a:ext cx="50990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Arial"/>
                <a:cs typeface="Arial"/>
              </a:rPr>
              <a:t>ETCD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2547729" y="3105661"/>
            <a:ext cx="1094740" cy="522605"/>
            <a:chOff x="2547729" y="3105661"/>
            <a:chExt cx="1094740" cy="522605"/>
          </a:xfrm>
        </p:grpSpPr>
        <p:sp>
          <p:nvSpPr>
            <p:cNvPr id="19" name="object 19"/>
            <p:cNvSpPr/>
            <p:nvPr/>
          </p:nvSpPr>
          <p:spPr>
            <a:xfrm>
              <a:off x="2554079" y="3112011"/>
              <a:ext cx="1082040" cy="509905"/>
            </a:xfrm>
            <a:custGeom>
              <a:avLst/>
              <a:gdLst/>
              <a:ahLst/>
              <a:cxnLst/>
              <a:rect l="l" t="t" r="r" b="b"/>
              <a:pathLst>
                <a:path w="1082039" h="509904">
                  <a:moveTo>
                    <a:pt x="996863" y="509301"/>
                  </a:moveTo>
                  <a:lnTo>
                    <a:pt x="84885" y="509301"/>
                  </a:lnTo>
                  <a:lnTo>
                    <a:pt x="51844" y="502631"/>
                  </a:lnTo>
                  <a:lnTo>
                    <a:pt x="24862" y="484439"/>
                  </a:lnTo>
                  <a:lnTo>
                    <a:pt x="6670" y="457457"/>
                  </a:lnTo>
                  <a:lnTo>
                    <a:pt x="0" y="424416"/>
                  </a:lnTo>
                  <a:lnTo>
                    <a:pt x="0" y="84885"/>
                  </a:lnTo>
                  <a:lnTo>
                    <a:pt x="6670" y="51844"/>
                  </a:lnTo>
                  <a:lnTo>
                    <a:pt x="24862" y="24862"/>
                  </a:lnTo>
                  <a:lnTo>
                    <a:pt x="51844" y="6670"/>
                  </a:lnTo>
                  <a:lnTo>
                    <a:pt x="84885" y="0"/>
                  </a:lnTo>
                  <a:lnTo>
                    <a:pt x="996863" y="0"/>
                  </a:lnTo>
                  <a:lnTo>
                    <a:pt x="1043958" y="14261"/>
                  </a:lnTo>
                  <a:lnTo>
                    <a:pt x="1075287" y="52401"/>
                  </a:lnTo>
                  <a:lnTo>
                    <a:pt x="1081748" y="84885"/>
                  </a:lnTo>
                  <a:lnTo>
                    <a:pt x="1081748" y="424416"/>
                  </a:lnTo>
                  <a:lnTo>
                    <a:pt x="1075078" y="457457"/>
                  </a:lnTo>
                  <a:lnTo>
                    <a:pt x="1056886" y="484439"/>
                  </a:lnTo>
                  <a:lnTo>
                    <a:pt x="1029904" y="502631"/>
                  </a:lnTo>
                  <a:lnTo>
                    <a:pt x="996863" y="509301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554079" y="3112011"/>
              <a:ext cx="1082040" cy="509905"/>
            </a:xfrm>
            <a:custGeom>
              <a:avLst/>
              <a:gdLst/>
              <a:ahLst/>
              <a:cxnLst/>
              <a:rect l="l" t="t" r="r" b="b"/>
              <a:pathLst>
                <a:path w="1082039" h="509904">
                  <a:moveTo>
                    <a:pt x="0" y="84885"/>
                  </a:moveTo>
                  <a:lnTo>
                    <a:pt x="6670" y="51844"/>
                  </a:lnTo>
                  <a:lnTo>
                    <a:pt x="24862" y="24862"/>
                  </a:lnTo>
                  <a:lnTo>
                    <a:pt x="51844" y="6670"/>
                  </a:lnTo>
                  <a:lnTo>
                    <a:pt x="84885" y="0"/>
                  </a:lnTo>
                  <a:lnTo>
                    <a:pt x="996863" y="0"/>
                  </a:lnTo>
                  <a:lnTo>
                    <a:pt x="1043958" y="14261"/>
                  </a:lnTo>
                  <a:lnTo>
                    <a:pt x="1075287" y="52401"/>
                  </a:lnTo>
                  <a:lnTo>
                    <a:pt x="1081748" y="84885"/>
                  </a:lnTo>
                  <a:lnTo>
                    <a:pt x="1081748" y="424416"/>
                  </a:lnTo>
                  <a:lnTo>
                    <a:pt x="1075078" y="457457"/>
                  </a:lnTo>
                  <a:lnTo>
                    <a:pt x="1056886" y="484439"/>
                  </a:lnTo>
                  <a:lnTo>
                    <a:pt x="1029904" y="502631"/>
                  </a:lnTo>
                  <a:lnTo>
                    <a:pt x="996863" y="509301"/>
                  </a:lnTo>
                  <a:lnTo>
                    <a:pt x="84885" y="509301"/>
                  </a:lnTo>
                  <a:lnTo>
                    <a:pt x="51844" y="502631"/>
                  </a:lnTo>
                  <a:lnTo>
                    <a:pt x="24862" y="484439"/>
                  </a:lnTo>
                  <a:lnTo>
                    <a:pt x="6670" y="457457"/>
                  </a:lnTo>
                  <a:lnTo>
                    <a:pt x="0" y="424416"/>
                  </a:lnTo>
                  <a:lnTo>
                    <a:pt x="0" y="84885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2697091" y="3137300"/>
            <a:ext cx="796290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46990" marR="5080" indent="-34925">
              <a:lnSpc>
                <a:spcPts val="1650"/>
              </a:lnSpc>
              <a:spcBef>
                <a:spcPts val="180"/>
              </a:spcBef>
            </a:pP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Controller Manager</a:t>
            </a:r>
            <a:endParaRPr sz="14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554079" y="2315029"/>
            <a:ext cx="1082040" cy="501015"/>
          </a:xfrm>
          <a:prstGeom prst="rect">
            <a:avLst/>
          </a:prstGeom>
          <a:solidFill>
            <a:srgbClr val="92D050"/>
          </a:solidFill>
          <a:ln w="12699">
            <a:solidFill>
              <a:srgbClr val="127BB4"/>
            </a:solidFill>
          </a:ln>
        </p:spPr>
        <p:txBody>
          <a:bodyPr vert="horz" wrap="square" lIns="0" tIns="138430" rIns="0" bIns="0" rtlCol="0">
            <a:spAutoFit/>
          </a:bodyPr>
          <a:lstStyle/>
          <a:p>
            <a:pPr marL="111125">
              <a:lnSpc>
                <a:spcPct val="100000"/>
              </a:lnSpc>
              <a:spcBef>
                <a:spcPts val="1090"/>
              </a:spcBef>
            </a:pP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API</a:t>
            </a:r>
            <a:r>
              <a:rPr sz="14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Server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473745" y="1798313"/>
            <a:ext cx="568325" cy="996315"/>
            <a:chOff x="473745" y="1798313"/>
            <a:chExt cx="568325" cy="996315"/>
          </a:xfrm>
        </p:grpSpPr>
        <p:sp>
          <p:nvSpPr>
            <p:cNvPr id="24" name="object 24"/>
            <p:cNvSpPr/>
            <p:nvPr/>
          </p:nvSpPr>
          <p:spPr>
            <a:xfrm>
              <a:off x="483816" y="1803075"/>
              <a:ext cx="178435" cy="415290"/>
            </a:xfrm>
            <a:custGeom>
              <a:avLst/>
              <a:gdLst/>
              <a:ahLst/>
              <a:cxnLst/>
              <a:rect l="l" t="t" r="r" b="b"/>
              <a:pathLst>
                <a:path w="178434" h="415289">
                  <a:moveTo>
                    <a:pt x="0" y="0"/>
                  </a:moveTo>
                  <a:lnTo>
                    <a:pt x="178150" y="414987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47509" y="2211857"/>
              <a:ext cx="31750" cy="46355"/>
            </a:xfrm>
            <a:custGeom>
              <a:avLst/>
              <a:gdLst/>
              <a:ahLst/>
              <a:cxnLst/>
              <a:rect l="l" t="t" r="r" b="b"/>
              <a:pathLst>
                <a:path w="31750" h="46355">
                  <a:moveTo>
                    <a:pt x="31508" y="45926"/>
                  </a:moveTo>
                  <a:lnTo>
                    <a:pt x="0" y="12412"/>
                  </a:lnTo>
                  <a:lnTo>
                    <a:pt x="28913" y="0"/>
                  </a:lnTo>
                  <a:lnTo>
                    <a:pt x="31508" y="45926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47509" y="2211857"/>
              <a:ext cx="31750" cy="46355"/>
            </a:xfrm>
            <a:custGeom>
              <a:avLst/>
              <a:gdLst/>
              <a:ahLst/>
              <a:cxnLst/>
              <a:rect l="l" t="t" r="r" b="b"/>
              <a:pathLst>
                <a:path w="31750" h="46355">
                  <a:moveTo>
                    <a:pt x="0" y="12412"/>
                  </a:moveTo>
                  <a:lnTo>
                    <a:pt x="31508" y="45926"/>
                  </a:lnTo>
                  <a:lnTo>
                    <a:pt x="28913" y="0"/>
                  </a:lnTo>
                  <a:lnTo>
                    <a:pt x="0" y="12412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80095" y="2274206"/>
              <a:ext cx="555625" cy="513715"/>
            </a:xfrm>
            <a:custGeom>
              <a:avLst/>
              <a:gdLst/>
              <a:ahLst/>
              <a:cxnLst/>
              <a:rect l="l" t="t" r="r" b="b"/>
              <a:pathLst>
                <a:path w="555625" h="513714">
                  <a:moveTo>
                    <a:pt x="277585" y="513442"/>
                  </a:moveTo>
                  <a:lnTo>
                    <a:pt x="227689" y="509306"/>
                  </a:lnTo>
                  <a:lnTo>
                    <a:pt x="180726" y="497381"/>
                  </a:lnTo>
                  <a:lnTo>
                    <a:pt x="137482" y="478393"/>
                  </a:lnTo>
                  <a:lnTo>
                    <a:pt x="98740" y="453065"/>
                  </a:lnTo>
                  <a:lnTo>
                    <a:pt x="65284" y="422123"/>
                  </a:lnTo>
                  <a:lnTo>
                    <a:pt x="37898" y="386293"/>
                  </a:lnTo>
                  <a:lnTo>
                    <a:pt x="17366" y="346299"/>
                  </a:lnTo>
                  <a:lnTo>
                    <a:pt x="4472" y="302867"/>
                  </a:lnTo>
                  <a:lnTo>
                    <a:pt x="0" y="256721"/>
                  </a:lnTo>
                  <a:lnTo>
                    <a:pt x="4472" y="210575"/>
                  </a:lnTo>
                  <a:lnTo>
                    <a:pt x="17366" y="167143"/>
                  </a:lnTo>
                  <a:lnTo>
                    <a:pt x="37898" y="127149"/>
                  </a:lnTo>
                  <a:lnTo>
                    <a:pt x="65284" y="91319"/>
                  </a:lnTo>
                  <a:lnTo>
                    <a:pt x="98740" y="60377"/>
                  </a:lnTo>
                  <a:lnTo>
                    <a:pt x="137482" y="35050"/>
                  </a:lnTo>
                  <a:lnTo>
                    <a:pt x="180726" y="16061"/>
                  </a:lnTo>
                  <a:lnTo>
                    <a:pt x="227689" y="4136"/>
                  </a:lnTo>
                  <a:lnTo>
                    <a:pt x="277585" y="0"/>
                  </a:lnTo>
                  <a:lnTo>
                    <a:pt x="327481" y="4136"/>
                  </a:lnTo>
                  <a:lnTo>
                    <a:pt x="374444" y="16061"/>
                  </a:lnTo>
                  <a:lnTo>
                    <a:pt x="417688" y="35050"/>
                  </a:lnTo>
                  <a:lnTo>
                    <a:pt x="456430" y="60377"/>
                  </a:lnTo>
                  <a:lnTo>
                    <a:pt x="489886" y="91319"/>
                  </a:lnTo>
                  <a:lnTo>
                    <a:pt x="517272" y="127149"/>
                  </a:lnTo>
                  <a:lnTo>
                    <a:pt x="537804" y="167143"/>
                  </a:lnTo>
                  <a:lnTo>
                    <a:pt x="550698" y="210575"/>
                  </a:lnTo>
                  <a:lnTo>
                    <a:pt x="555170" y="256721"/>
                  </a:lnTo>
                  <a:lnTo>
                    <a:pt x="550698" y="302867"/>
                  </a:lnTo>
                  <a:lnTo>
                    <a:pt x="537804" y="346299"/>
                  </a:lnTo>
                  <a:lnTo>
                    <a:pt x="517272" y="386293"/>
                  </a:lnTo>
                  <a:lnTo>
                    <a:pt x="489886" y="422123"/>
                  </a:lnTo>
                  <a:lnTo>
                    <a:pt x="456430" y="453065"/>
                  </a:lnTo>
                  <a:lnTo>
                    <a:pt x="417688" y="478393"/>
                  </a:lnTo>
                  <a:lnTo>
                    <a:pt x="374444" y="497381"/>
                  </a:lnTo>
                  <a:lnTo>
                    <a:pt x="327481" y="509306"/>
                  </a:lnTo>
                  <a:lnTo>
                    <a:pt x="277585" y="513442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80095" y="2274206"/>
              <a:ext cx="555625" cy="513715"/>
            </a:xfrm>
            <a:custGeom>
              <a:avLst/>
              <a:gdLst/>
              <a:ahLst/>
              <a:cxnLst/>
              <a:rect l="l" t="t" r="r" b="b"/>
              <a:pathLst>
                <a:path w="555625" h="513714">
                  <a:moveTo>
                    <a:pt x="0" y="256721"/>
                  </a:moveTo>
                  <a:lnTo>
                    <a:pt x="4472" y="210575"/>
                  </a:lnTo>
                  <a:lnTo>
                    <a:pt x="17366" y="167143"/>
                  </a:lnTo>
                  <a:lnTo>
                    <a:pt x="37898" y="127149"/>
                  </a:lnTo>
                  <a:lnTo>
                    <a:pt x="65284" y="91319"/>
                  </a:lnTo>
                  <a:lnTo>
                    <a:pt x="98740" y="60377"/>
                  </a:lnTo>
                  <a:lnTo>
                    <a:pt x="137482" y="35050"/>
                  </a:lnTo>
                  <a:lnTo>
                    <a:pt x="180726" y="16061"/>
                  </a:lnTo>
                  <a:lnTo>
                    <a:pt x="227689" y="4136"/>
                  </a:lnTo>
                  <a:lnTo>
                    <a:pt x="277585" y="0"/>
                  </a:lnTo>
                  <a:lnTo>
                    <a:pt x="327481" y="4136"/>
                  </a:lnTo>
                  <a:lnTo>
                    <a:pt x="374444" y="16061"/>
                  </a:lnTo>
                  <a:lnTo>
                    <a:pt x="417688" y="35050"/>
                  </a:lnTo>
                  <a:lnTo>
                    <a:pt x="456430" y="60377"/>
                  </a:lnTo>
                  <a:lnTo>
                    <a:pt x="489886" y="91319"/>
                  </a:lnTo>
                  <a:lnTo>
                    <a:pt x="517272" y="127149"/>
                  </a:lnTo>
                  <a:lnTo>
                    <a:pt x="537804" y="167143"/>
                  </a:lnTo>
                  <a:lnTo>
                    <a:pt x="550698" y="210575"/>
                  </a:lnTo>
                  <a:lnTo>
                    <a:pt x="555170" y="256721"/>
                  </a:lnTo>
                  <a:lnTo>
                    <a:pt x="550698" y="302867"/>
                  </a:lnTo>
                  <a:lnTo>
                    <a:pt x="537804" y="346299"/>
                  </a:lnTo>
                  <a:lnTo>
                    <a:pt x="517272" y="386293"/>
                  </a:lnTo>
                  <a:lnTo>
                    <a:pt x="489886" y="422123"/>
                  </a:lnTo>
                  <a:lnTo>
                    <a:pt x="456430" y="453065"/>
                  </a:lnTo>
                  <a:lnTo>
                    <a:pt x="417688" y="478393"/>
                  </a:lnTo>
                  <a:lnTo>
                    <a:pt x="374444" y="497381"/>
                  </a:lnTo>
                  <a:lnTo>
                    <a:pt x="327481" y="509306"/>
                  </a:lnTo>
                  <a:lnTo>
                    <a:pt x="277585" y="513442"/>
                  </a:lnTo>
                  <a:lnTo>
                    <a:pt x="227689" y="509306"/>
                  </a:lnTo>
                  <a:lnTo>
                    <a:pt x="180726" y="497381"/>
                  </a:lnTo>
                  <a:lnTo>
                    <a:pt x="137482" y="478393"/>
                  </a:lnTo>
                  <a:lnTo>
                    <a:pt x="98740" y="453065"/>
                  </a:lnTo>
                  <a:lnTo>
                    <a:pt x="65284" y="422123"/>
                  </a:lnTo>
                  <a:lnTo>
                    <a:pt x="37898" y="386293"/>
                  </a:lnTo>
                  <a:lnTo>
                    <a:pt x="17366" y="346299"/>
                  </a:lnTo>
                  <a:lnTo>
                    <a:pt x="4472" y="302867"/>
                  </a:lnTo>
                  <a:lnTo>
                    <a:pt x="0" y="25672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642670" y="2436948"/>
            <a:ext cx="22987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5" dirty="0">
                <a:solidFill>
                  <a:srgbClr val="FFFFFF"/>
                </a:solidFill>
                <a:latin typeface="Arial"/>
                <a:cs typeface="Arial"/>
              </a:rPr>
              <a:t>API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1098434" y="2516781"/>
            <a:ext cx="1336675" cy="41275"/>
            <a:chOff x="1098434" y="2516781"/>
            <a:chExt cx="1336675" cy="41275"/>
          </a:xfrm>
        </p:grpSpPr>
        <p:sp>
          <p:nvSpPr>
            <p:cNvPr id="31" name="object 31"/>
            <p:cNvSpPr/>
            <p:nvPr/>
          </p:nvSpPr>
          <p:spPr>
            <a:xfrm>
              <a:off x="1098434" y="2537276"/>
              <a:ext cx="1289050" cy="0"/>
            </a:xfrm>
            <a:custGeom>
              <a:avLst/>
              <a:gdLst/>
              <a:ahLst/>
              <a:cxnLst/>
              <a:rect l="l" t="t" r="r" b="b"/>
              <a:pathLst>
                <a:path w="1289050">
                  <a:moveTo>
                    <a:pt x="0" y="0"/>
                  </a:moveTo>
                  <a:lnTo>
                    <a:pt x="1288615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387050" y="252154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387050" y="252154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4" name="object 34"/>
          <p:cNvGrpSpPr/>
          <p:nvPr/>
        </p:nvGrpSpPr>
        <p:grpSpPr>
          <a:xfrm>
            <a:off x="452389" y="2858584"/>
            <a:ext cx="231775" cy="315595"/>
            <a:chOff x="452389" y="2858584"/>
            <a:chExt cx="231775" cy="315595"/>
          </a:xfrm>
        </p:grpSpPr>
        <p:sp>
          <p:nvSpPr>
            <p:cNvPr id="35" name="object 35"/>
            <p:cNvSpPr/>
            <p:nvPr/>
          </p:nvSpPr>
          <p:spPr>
            <a:xfrm>
              <a:off x="457151" y="2898326"/>
              <a:ext cx="196850" cy="271145"/>
            </a:xfrm>
            <a:custGeom>
              <a:avLst/>
              <a:gdLst/>
              <a:ahLst/>
              <a:cxnLst/>
              <a:rect l="l" t="t" r="r" b="b"/>
              <a:pathLst>
                <a:path w="196850" h="271144">
                  <a:moveTo>
                    <a:pt x="0" y="271032"/>
                  </a:moveTo>
                  <a:lnTo>
                    <a:pt x="196766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41187" y="2863346"/>
              <a:ext cx="38735" cy="44450"/>
            </a:xfrm>
            <a:custGeom>
              <a:avLst/>
              <a:gdLst/>
              <a:ahLst/>
              <a:cxnLst/>
              <a:rect l="l" t="t" r="r" b="b"/>
              <a:pathLst>
                <a:path w="38734" h="44450">
                  <a:moveTo>
                    <a:pt x="25462" y="44222"/>
                  </a:moveTo>
                  <a:lnTo>
                    <a:pt x="0" y="25736"/>
                  </a:lnTo>
                  <a:lnTo>
                    <a:pt x="38125" y="0"/>
                  </a:lnTo>
                  <a:lnTo>
                    <a:pt x="25462" y="44222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41187" y="2863346"/>
              <a:ext cx="38735" cy="44450"/>
            </a:xfrm>
            <a:custGeom>
              <a:avLst/>
              <a:gdLst/>
              <a:ahLst/>
              <a:cxnLst/>
              <a:rect l="l" t="t" r="r" b="b"/>
              <a:pathLst>
                <a:path w="38734" h="44450">
                  <a:moveTo>
                    <a:pt x="25462" y="44222"/>
                  </a:moveTo>
                  <a:lnTo>
                    <a:pt x="38125" y="0"/>
                  </a:lnTo>
                  <a:lnTo>
                    <a:pt x="0" y="25736"/>
                  </a:lnTo>
                  <a:lnTo>
                    <a:pt x="25462" y="44222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167798" y="1522752"/>
            <a:ext cx="5886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Arial"/>
                <a:cs typeface="Arial"/>
              </a:rPr>
              <a:t>kubectl</a:t>
            </a:r>
            <a:endParaRPr sz="1400">
              <a:latin typeface="Arial"/>
              <a:cs typeface="Arial"/>
            </a:endParaRPr>
          </a:p>
        </p:txBody>
      </p:sp>
      <p:sp>
        <p:nvSpPr>
          <p:cNvPr id="40" name="object 4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  <p:sp>
        <p:nvSpPr>
          <p:cNvPr id="39" name="object 39"/>
          <p:cNvSpPr txBox="1"/>
          <p:nvPr/>
        </p:nvSpPr>
        <p:spPr>
          <a:xfrm>
            <a:off x="230890" y="3201248"/>
            <a:ext cx="2032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"/>
                <a:cs typeface="Arial"/>
              </a:rPr>
              <a:t>UI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707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In</a:t>
            </a:r>
            <a:r>
              <a:rPr spc="15" dirty="0"/>
              <a:t> </a:t>
            </a:r>
            <a:r>
              <a:rPr spc="-10" dirty="0"/>
              <a:t>nutshell…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23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301625" y="1360075"/>
            <a:ext cx="3399154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$kubectl</a:t>
            </a:r>
            <a:r>
              <a:rPr sz="2000" spc="-6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get</a:t>
            </a:r>
            <a:r>
              <a:rPr sz="2000" spc="-6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Arial"/>
                <a:cs typeface="Arial"/>
              </a:rPr>
              <a:t>componentstatus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00625" y="2014077"/>
            <a:ext cx="3236595" cy="4292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Arial"/>
                <a:cs typeface="Arial"/>
              </a:rPr>
              <a:t>[node1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install]$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kubectl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get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nodes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-</a:t>
            </a:r>
            <a:r>
              <a:rPr sz="900" dirty="0">
                <a:latin typeface="Arial"/>
                <a:cs typeface="Arial"/>
              </a:rPr>
              <a:t>o</a:t>
            </a:r>
            <a:r>
              <a:rPr sz="900" spc="-20" dirty="0">
                <a:latin typeface="Arial"/>
                <a:cs typeface="Arial"/>
              </a:rPr>
              <a:t> wide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19"/>
              </a:spcBef>
              <a:tabLst>
                <a:tab pos="1060450" algn="l"/>
              </a:tabLst>
            </a:pPr>
            <a:r>
              <a:rPr sz="900" dirty="0">
                <a:latin typeface="Arial"/>
                <a:cs typeface="Arial"/>
              </a:rPr>
              <a:t>NAME</a:t>
            </a:r>
            <a:r>
              <a:rPr sz="900" spc="240" dirty="0">
                <a:latin typeface="Arial"/>
                <a:cs typeface="Arial"/>
              </a:rPr>
              <a:t>  </a:t>
            </a:r>
            <a:r>
              <a:rPr sz="900" spc="-10" dirty="0">
                <a:latin typeface="Arial"/>
                <a:cs typeface="Arial"/>
              </a:rPr>
              <a:t>STATUS</a:t>
            </a:r>
            <a:r>
              <a:rPr sz="900" dirty="0">
                <a:latin typeface="Arial"/>
                <a:cs typeface="Arial"/>
              </a:rPr>
              <a:t>	ROLES</a:t>
            </a:r>
            <a:r>
              <a:rPr sz="900" spc="215" dirty="0">
                <a:latin typeface="Arial"/>
                <a:cs typeface="Arial"/>
              </a:rPr>
              <a:t>  </a:t>
            </a:r>
            <a:r>
              <a:rPr sz="900" dirty="0">
                <a:latin typeface="Arial"/>
                <a:cs typeface="Arial"/>
              </a:rPr>
              <a:t>AGE</a:t>
            </a:r>
            <a:r>
              <a:rPr sz="900" spc="49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VERSION</a:t>
            </a:r>
            <a:r>
              <a:rPr sz="900" spc="49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INTERNAL-</a:t>
            </a:r>
            <a:r>
              <a:rPr sz="900" spc="-25" dirty="0">
                <a:latin typeface="Arial"/>
                <a:cs typeface="Arial"/>
              </a:rPr>
              <a:t>IP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25913" y="2280777"/>
            <a:ext cx="143764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Arial"/>
                <a:cs typeface="Arial"/>
              </a:rPr>
              <a:t>EXTERNAL-</a:t>
            </a:r>
            <a:r>
              <a:rPr sz="900" dirty="0">
                <a:latin typeface="Arial"/>
                <a:cs typeface="Arial"/>
              </a:rPr>
              <a:t>IP</a:t>
            </a:r>
            <a:r>
              <a:rPr sz="900" spc="140" dirty="0">
                <a:latin typeface="Arial"/>
                <a:cs typeface="Arial"/>
              </a:rPr>
              <a:t>  </a:t>
            </a:r>
            <a:r>
              <a:rPr sz="900" spc="-10" dirty="0">
                <a:latin typeface="Arial"/>
                <a:cs typeface="Arial"/>
              </a:rPr>
              <a:t>OS-IMAGE</a:t>
            </a:r>
            <a:endParaRPr sz="9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944298" y="2280777"/>
            <a:ext cx="10350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Arial"/>
                <a:cs typeface="Arial"/>
              </a:rPr>
              <a:t>KERNEL-VERSION</a:t>
            </a:r>
            <a:endParaRPr sz="9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143887" y="2280777"/>
            <a:ext cx="124714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latin typeface="Arial"/>
                <a:cs typeface="Arial"/>
              </a:rPr>
              <a:t>CONTAINER-</a:t>
            </a:r>
            <a:r>
              <a:rPr sz="900" spc="-10" dirty="0">
                <a:latin typeface="Arial"/>
                <a:cs typeface="Arial"/>
              </a:rPr>
              <a:t>RUNTIME</a:t>
            </a:r>
            <a:endParaRPr sz="9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00625" y="2547477"/>
            <a:ext cx="343535" cy="562610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 marR="5080" algn="just">
              <a:lnSpc>
                <a:spcPts val="1050"/>
              </a:lnSpc>
              <a:spcBef>
                <a:spcPts val="160"/>
              </a:spcBef>
            </a:pPr>
            <a:r>
              <a:rPr sz="900" spc="-10" dirty="0">
                <a:solidFill>
                  <a:srgbClr val="C00000"/>
                </a:solidFill>
                <a:latin typeface="Arial"/>
                <a:cs typeface="Arial"/>
              </a:rPr>
              <a:t>node1 node2 node3 node4</a:t>
            </a:r>
            <a:endParaRPr sz="9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13362" y="2547477"/>
            <a:ext cx="534035" cy="562610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 marR="5080">
              <a:lnSpc>
                <a:spcPts val="1050"/>
              </a:lnSpc>
              <a:spcBef>
                <a:spcPts val="160"/>
              </a:spcBef>
            </a:pPr>
            <a:r>
              <a:rPr sz="900" spc="-10" dirty="0">
                <a:solidFill>
                  <a:srgbClr val="C00000"/>
                </a:solidFill>
                <a:latin typeface="Arial"/>
                <a:cs typeface="Arial"/>
              </a:rPr>
              <a:t>Ready Ready NotReady NotReady</a:t>
            </a:r>
            <a:endParaRPr sz="9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16612" y="2547477"/>
            <a:ext cx="424815" cy="562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765">
              <a:lnSpc>
                <a:spcPts val="1065"/>
              </a:lnSpc>
              <a:spcBef>
                <a:spcPts val="100"/>
              </a:spcBef>
            </a:pPr>
            <a:r>
              <a:rPr sz="900" spc="-10" dirty="0">
                <a:solidFill>
                  <a:srgbClr val="C00000"/>
                </a:solidFill>
                <a:latin typeface="Arial"/>
                <a:cs typeface="Arial"/>
              </a:rPr>
              <a:t>master</a:t>
            </a:r>
            <a:endParaRPr sz="900">
              <a:latin typeface="Arial"/>
              <a:cs typeface="Arial"/>
            </a:endParaRPr>
          </a:p>
          <a:p>
            <a:pPr marL="24765">
              <a:lnSpc>
                <a:spcPts val="1050"/>
              </a:lnSpc>
            </a:pPr>
            <a:r>
              <a:rPr sz="900" spc="-10" dirty="0">
                <a:solidFill>
                  <a:srgbClr val="C00000"/>
                </a:solidFill>
                <a:latin typeface="Arial"/>
                <a:cs typeface="Arial"/>
              </a:rPr>
              <a:t>&lt;none&gt;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ts val="1050"/>
              </a:lnSpc>
            </a:pPr>
            <a:r>
              <a:rPr sz="900" spc="-10" dirty="0">
                <a:solidFill>
                  <a:srgbClr val="C00000"/>
                </a:solidFill>
                <a:latin typeface="Arial"/>
                <a:cs typeface="Arial"/>
              </a:rPr>
              <a:t>&lt;none&gt;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ts val="1065"/>
              </a:lnSpc>
            </a:pPr>
            <a:r>
              <a:rPr sz="900" spc="-10" dirty="0">
                <a:solidFill>
                  <a:srgbClr val="C00000"/>
                </a:solidFill>
                <a:latin typeface="Arial"/>
                <a:cs typeface="Arial"/>
              </a:rPr>
              <a:t>&lt;none&gt;</a:t>
            </a:r>
            <a:endParaRPr sz="9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93675" y="2547477"/>
            <a:ext cx="692150" cy="562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">
              <a:lnSpc>
                <a:spcPts val="1065"/>
              </a:lnSpc>
              <a:spcBef>
                <a:spcPts val="100"/>
              </a:spcBef>
            </a:pPr>
            <a:r>
              <a:rPr sz="900" dirty="0">
                <a:solidFill>
                  <a:srgbClr val="C00000"/>
                </a:solidFill>
                <a:latin typeface="Arial"/>
                <a:cs typeface="Arial"/>
              </a:rPr>
              <a:t>92s</a:t>
            </a:r>
            <a:r>
              <a:rPr sz="900" spc="49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00000"/>
                </a:solidFill>
                <a:latin typeface="Arial"/>
                <a:cs typeface="Arial"/>
              </a:rPr>
              <a:t>v1.14.2</a:t>
            </a:r>
            <a:endParaRPr sz="900">
              <a:latin typeface="Arial"/>
              <a:cs typeface="Arial"/>
            </a:endParaRPr>
          </a:p>
          <a:p>
            <a:pPr marL="24765">
              <a:lnSpc>
                <a:spcPts val="1050"/>
              </a:lnSpc>
            </a:pPr>
            <a:r>
              <a:rPr sz="900" dirty="0">
                <a:solidFill>
                  <a:srgbClr val="C00000"/>
                </a:solidFill>
                <a:latin typeface="Arial"/>
                <a:cs typeface="Arial"/>
              </a:rPr>
              <a:t>57s</a:t>
            </a:r>
            <a:r>
              <a:rPr sz="900" spc="49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00000"/>
                </a:solidFill>
                <a:latin typeface="Arial"/>
                <a:cs typeface="Arial"/>
              </a:rPr>
              <a:t>v1.14.2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ts val="1050"/>
              </a:lnSpc>
            </a:pPr>
            <a:r>
              <a:rPr sz="900" dirty="0">
                <a:solidFill>
                  <a:srgbClr val="C00000"/>
                </a:solidFill>
                <a:latin typeface="Arial"/>
                <a:cs typeface="Arial"/>
              </a:rPr>
              <a:t>39s</a:t>
            </a:r>
            <a:r>
              <a:rPr sz="900" spc="49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00000"/>
                </a:solidFill>
                <a:latin typeface="Arial"/>
                <a:cs typeface="Arial"/>
              </a:rPr>
              <a:t>v1.14.2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ts val="1065"/>
              </a:lnSpc>
            </a:pPr>
            <a:r>
              <a:rPr sz="900" dirty="0">
                <a:solidFill>
                  <a:srgbClr val="C00000"/>
                </a:solidFill>
                <a:latin typeface="Arial"/>
                <a:cs typeface="Arial"/>
              </a:rPr>
              <a:t>32s</a:t>
            </a:r>
            <a:r>
              <a:rPr sz="900" spc="49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00000"/>
                </a:solidFill>
                <a:latin typeface="Arial"/>
                <a:cs typeface="Arial"/>
              </a:rPr>
              <a:t>v1.14.2</a:t>
            </a:r>
            <a:endParaRPr sz="9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842742" y="2547477"/>
            <a:ext cx="1186815" cy="562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">
              <a:lnSpc>
                <a:spcPts val="1065"/>
              </a:lnSpc>
              <a:spcBef>
                <a:spcPts val="100"/>
              </a:spcBef>
            </a:pPr>
            <a:r>
              <a:rPr sz="900" dirty="0">
                <a:solidFill>
                  <a:srgbClr val="C00000"/>
                </a:solidFill>
                <a:latin typeface="Arial"/>
                <a:cs typeface="Arial"/>
              </a:rPr>
              <a:t>192.168.0.18</a:t>
            </a:r>
            <a:r>
              <a:rPr sz="900" spc="44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00000"/>
                </a:solidFill>
                <a:latin typeface="Arial"/>
                <a:cs typeface="Arial"/>
              </a:rPr>
              <a:t>&lt;none&gt;</a:t>
            </a:r>
            <a:endParaRPr sz="900">
              <a:latin typeface="Arial"/>
              <a:cs typeface="Arial"/>
            </a:endParaRPr>
          </a:p>
          <a:p>
            <a:pPr marL="24765">
              <a:lnSpc>
                <a:spcPts val="1050"/>
              </a:lnSpc>
            </a:pPr>
            <a:r>
              <a:rPr sz="900" dirty="0">
                <a:solidFill>
                  <a:srgbClr val="C00000"/>
                </a:solidFill>
                <a:latin typeface="Arial"/>
                <a:cs typeface="Arial"/>
              </a:rPr>
              <a:t>192.168.0.17</a:t>
            </a:r>
            <a:r>
              <a:rPr sz="900" spc="44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00000"/>
                </a:solidFill>
                <a:latin typeface="Arial"/>
                <a:cs typeface="Arial"/>
              </a:rPr>
              <a:t>&lt;none&gt;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ts val="1050"/>
              </a:lnSpc>
            </a:pPr>
            <a:r>
              <a:rPr sz="900" dirty="0">
                <a:solidFill>
                  <a:srgbClr val="C00000"/>
                </a:solidFill>
                <a:latin typeface="Arial"/>
                <a:cs typeface="Arial"/>
              </a:rPr>
              <a:t>192.168.0.16</a:t>
            </a:r>
            <a:r>
              <a:rPr sz="900" spc="44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00000"/>
                </a:solidFill>
                <a:latin typeface="Arial"/>
                <a:cs typeface="Arial"/>
              </a:rPr>
              <a:t>&lt;none&gt;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ts val="1065"/>
              </a:lnSpc>
            </a:pPr>
            <a:r>
              <a:rPr sz="900" dirty="0">
                <a:solidFill>
                  <a:srgbClr val="C00000"/>
                </a:solidFill>
                <a:latin typeface="Arial"/>
                <a:cs typeface="Arial"/>
              </a:rPr>
              <a:t>192.168.0.15</a:t>
            </a:r>
            <a:r>
              <a:rPr sz="900" spc="44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00000"/>
                </a:solidFill>
                <a:latin typeface="Arial"/>
                <a:cs typeface="Arial"/>
              </a:rPr>
              <a:t>&lt;none&gt;</a:t>
            </a:r>
            <a:endParaRPr sz="9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150301" y="2547477"/>
            <a:ext cx="1199515" cy="562610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 marR="5080" indent="5715" algn="just">
              <a:lnSpc>
                <a:spcPts val="1050"/>
              </a:lnSpc>
              <a:spcBef>
                <a:spcPts val="160"/>
              </a:spcBef>
            </a:pPr>
            <a:r>
              <a:rPr sz="900" dirty="0">
                <a:solidFill>
                  <a:srgbClr val="C00000"/>
                </a:solidFill>
                <a:latin typeface="Arial"/>
                <a:cs typeface="Arial"/>
              </a:rPr>
              <a:t>CentOS</a:t>
            </a:r>
            <a:r>
              <a:rPr sz="900" spc="-1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00000"/>
                </a:solidFill>
                <a:latin typeface="Arial"/>
                <a:cs typeface="Arial"/>
              </a:rPr>
              <a:t>Linux</a:t>
            </a:r>
            <a:r>
              <a:rPr sz="900" spc="-1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00000"/>
                </a:solidFill>
                <a:latin typeface="Arial"/>
                <a:cs typeface="Arial"/>
              </a:rPr>
              <a:t>7</a:t>
            </a:r>
            <a:r>
              <a:rPr sz="900" spc="-10" dirty="0">
                <a:solidFill>
                  <a:srgbClr val="C00000"/>
                </a:solidFill>
                <a:latin typeface="Arial"/>
                <a:cs typeface="Arial"/>
              </a:rPr>
              <a:t> (Core) </a:t>
            </a:r>
            <a:r>
              <a:rPr sz="900" dirty="0">
                <a:solidFill>
                  <a:srgbClr val="C00000"/>
                </a:solidFill>
                <a:latin typeface="Arial"/>
                <a:cs typeface="Arial"/>
              </a:rPr>
              <a:t>CentOS</a:t>
            </a:r>
            <a:r>
              <a:rPr sz="900" spc="-1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00000"/>
                </a:solidFill>
                <a:latin typeface="Arial"/>
                <a:cs typeface="Arial"/>
              </a:rPr>
              <a:t>Linux</a:t>
            </a:r>
            <a:r>
              <a:rPr sz="900" spc="-1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00000"/>
                </a:solidFill>
                <a:latin typeface="Arial"/>
                <a:cs typeface="Arial"/>
              </a:rPr>
              <a:t>7</a:t>
            </a:r>
            <a:r>
              <a:rPr sz="900" spc="-10" dirty="0">
                <a:solidFill>
                  <a:srgbClr val="C00000"/>
                </a:solidFill>
                <a:latin typeface="Arial"/>
                <a:cs typeface="Arial"/>
              </a:rPr>
              <a:t> (Core) </a:t>
            </a:r>
            <a:r>
              <a:rPr sz="900" dirty="0">
                <a:solidFill>
                  <a:srgbClr val="C00000"/>
                </a:solidFill>
                <a:latin typeface="Arial"/>
                <a:cs typeface="Arial"/>
              </a:rPr>
              <a:t>CentOS</a:t>
            </a:r>
            <a:r>
              <a:rPr sz="900" spc="-1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00000"/>
                </a:solidFill>
                <a:latin typeface="Arial"/>
                <a:cs typeface="Arial"/>
              </a:rPr>
              <a:t>Linux</a:t>
            </a:r>
            <a:r>
              <a:rPr sz="900" spc="-1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00000"/>
                </a:solidFill>
                <a:latin typeface="Arial"/>
                <a:cs typeface="Arial"/>
              </a:rPr>
              <a:t>7</a:t>
            </a:r>
            <a:r>
              <a:rPr sz="900" spc="-10" dirty="0">
                <a:solidFill>
                  <a:srgbClr val="C00000"/>
                </a:solidFill>
                <a:latin typeface="Arial"/>
                <a:cs typeface="Arial"/>
              </a:rPr>
              <a:t> (Core) </a:t>
            </a:r>
            <a:r>
              <a:rPr sz="900" dirty="0">
                <a:solidFill>
                  <a:srgbClr val="C00000"/>
                </a:solidFill>
                <a:latin typeface="Arial"/>
                <a:cs typeface="Arial"/>
              </a:rPr>
              <a:t>CentOS</a:t>
            </a:r>
            <a:r>
              <a:rPr sz="900" spc="-1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00000"/>
                </a:solidFill>
                <a:latin typeface="Arial"/>
                <a:cs typeface="Arial"/>
              </a:rPr>
              <a:t>Linux</a:t>
            </a:r>
            <a:r>
              <a:rPr sz="900" spc="-1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00000"/>
                </a:solidFill>
                <a:latin typeface="Arial"/>
                <a:cs typeface="Arial"/>
              </a:rPr>
              <a:t>7</a:t>
            </a:r>
            <a:r>
              <a:rPr sz="900" spc="-10" dirty="0">
                <a:solidFill>
                  <a:srgbClr val="C00000"/>
                </a:solidFill>
                <a:latin typeface="Arial"/>
                <a:cs typeface="Arial"/>
              </a:rPr>
              <a:t> (Core)</a:t>
            </a:r>
            <a:endParaRPr sz="9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406829" y="2547477"/>
            <a:ext cx="933450" cy="562610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 marR="5080" indent="5715" algn="just">
              <a:lnSpc>
                <a:spcPts val="1050"/>
              </a:lnSpc>
              <a:spcBef>
                <a:spcPts val="160"/>
              </a:spcBef>
            </a:pPr>
            <a:r>
              <a:rPr sz="900" dirty="0">
                <a:solidFill>
                  <a:srgbClr val="C00000"/>
                </a:solidFill>
                <a:latin typeface="Arial"/>
                <a:cs typeface="Arial"/>
              </a:rPr>
              <a:t>4.4.0-141-</a:t>
            </a:r>
            <a:r>
              <a:rPr sz="900" spc="-10" dirty="0">
                <a:solidFill>
                  <a:srgbClr val="C00000"/>
                </a:solidFill>
                <a:latin typeface="Arial"/>
                <a:cs typeface="Arial"/>
              </a:rPr>
              <a:t>generic </a:t>
            </a:r>
            <a:r>
              <a:rPr sz="900" dirty="0">
                <a:solidFill>
                  <a:srgbClr val="C00000"/>
                </a:solidFill>
                <a:latin typeface="Arial"/>
                <a:cs typeface="Arial"/>
              </a:rPr>
              <a:t>4.4.0-141-</a:t>
            </a:r>
            <a:r>
              <a:rPr sz="900" spc="-10" dirty="0">
                <a:solidFill>
                  <a:srgbClr val="C00000"/>
                </a:solidFill>
                <a:latin typeface="Arial"/>
                <a:cs typeface="Arial"/>
              </a:rPr>
              <a:t>generic </a:t>
            </a:r>
            <a:r>
              <a:rPr sz="900" dirty="0">
                <a:solidFill>
                  <a:srgbClr val="C00000"/>
                </a:solidFill>
                <a:latin typeface="Arial"/>
                <a:cs typeface="Arial"/>
              </a:rPr>
              <a:t>4.4.0-141-</a:t>
            </a:r>
            <a:r>
              <a:rPr sz="900" spc="-10" dirty="0">
                <a:solidFill>
                  <a:srgbClr val="C00000"/>
                </a:solidFill>
                <a:latin typeface="Arial"/>
                <a:cs typeface="Arial"/>
              </a:rPr>
              <a:t>generic </a:t>
            </a:r>
            <a:r>
              <a:rPr sz="900" dirty="0">
                <a:solidFill>
                  <a:srgbClr val="C00000"/>
                </a:solidFill>
                <a:latin typeface="Arial"/>
                <a:cs typeface="Arial"/>
              </a:rPr>
              <a:t>4.4.0-141-</a:t>
            </a:r>
            <a:r>
              <a:rPr sz="900" spc="-10" dirty="0">
                <a:solidFill>
                  <a:srgbClr val="C00000"/>
                </a:solidFill>
                <a:latin typeface="Arial"/>
                <a:cs typeface="Arial"/>
              </a:rPr>
              <a:t>generic</a:t>
            </a:r>
            <a:endParaRPr sz="9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397739" y="2547477"/>
            <a:ext cx="793750" cy="562610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 marR="5080" indent="5715" algn="just">
              <a:lnSpc>
                <a:spcPts val="1050"/>
              </a:lnSpc>
              <a:spcBef>
                <a:spcPts val="160"/>
              </a:spcBef>
            </a:pPr>
            <a:r>
              <a:rPr sz="900" spc="-10" dirty="0">
                <a:solidFill>
                  <a:srgbClr val="C00000"/>
                </a:solidFill>
                <a:latin typeface="Arial"/>
                <a:cs typeface="Arial"/>
              </a:rPr>
              <a:t>docker://18.9.6 docker://18.9.6 docker://18.9.6 docker://18.9.6</a:t>
            </a:r>
            <a:endParaRPr sz="9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00625" y="3347577"/>
            <a:ext cx="228028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Arial"/>
                <a:cs typeface="Arial"/>
              </a:rPr>
              <a:t>[node1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install]$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kubectl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get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componentstatus</a:t>
            </a:r>
            <a:endParaRPr sz="9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00625" y="3614277"/>
            <a:ext cx="984885" cy="562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065"/>
              </a:lnSpc>
              <a:spcBef>
                <a:spcPts val="100"/>
              </a:spcBef>
            </a:pPr>
            <a:r>
              <a:rPr sz="900" spc="-20" dirty="0">
                <a:solidFill>
                  <a:srgbClr val="C00000"/>
                </a:solidFill>
                <a:latin typeface="Arial"/>
                <a:cs typeface="Arial"/>
              </a:rPr>
              <a:t>NAME</a:t>
            </a:r>
            <a:endParaRPr sz="900">
              <a:latin typeface="Arial"/>
              <a:cs typeface="Arial"/>
            </a:endParaRPr>
          </a:p>
          <a:p>
            <a:pPr marL="12700" marR="5080">
              <a:lnSpc>
                <a:spcPts val="1050"/>
              </a:lnSpc>
              <a:spcBef>
                <a:spcPts val="45"/>
              </a:spcBef>
            </a:pPr>
            <a:r>
              <a:rPr sz="900" spc="-10" dirty="0">
                <a:solidFill>
                  <a:srgbClr val="C00000"/>
                </a:solidFill>
                <a:latin typeface="Arial"/>
                <a:cs typeface="Arial"/>
              </a:rPr>
              <a:t>scheduler </a:t>
            </a:r>
            <a:r>
              <a:rPr sz="900" dirty="0">
                <a:solidFill>
                  <a:srgbClr val="C00000"/>
                </a:solidFill>
                <a:latin typeface="Arial"/>
                <a:cs typeface="Arial"/>
              </a:rPr>
              <a:t>controller-</a:t>
            </a:r>
            <a:r>
              <a:rPr sz="900" spc="-10" dirty="0">
                <a:solidFill>
                  <a:srgbClr val="C00000"/>
                </a:solidFill>
                <a:latin typeface="Arial"/>
                <a:cs typeface="Arial"/>
              </a:rPr>
              <a:t>manager etcd-</a:t>
            </a:r>
            <a:r>
              <a:rPr sz="900" spc="-50" dirty="0">
                <a:solidFill>
                  <a:srgbClr val="C00000"/>
                </a:solidFill>
                <a:latin typeface="Arial"/>
                <a:cs typeface="Arial"/>
              </a:rPr>
              <a:t>0</a:t>
            </a:r>
            <a:endParaRPr sz="9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558607" y="3614277"/>
            <a:ext cx="114998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C00000"/>
                </a:solidFill>
                <a:latin typeface="Arial"/>
                <a:cs typeface="Arial"/>
              </a:rPr>
              <a:t>STATUS</a:t>
            </a:r>
            <a:r>
              <a:rPr sz="900" spc="170" dirty="0">
                <a:solidFill>
                  <a:srgbClr val="C00000"/>
                </a:solidFill>
                <a:latin typeface="Arial"/>
                <a:cs typeface="Arial"/>
              </a:rPr>
              <a:t>  </a:t>
            </a:r>
            <a:r>
              <a:rPr sz="900" spc="-10" dirty="0">
                <a:solidFill>
                  <a:srgbClr val="C00000"/>
                </a:solidFill>
                <a:latin typeface="Arial"/>
                <a:cs typeface="Arial"/>
              </a:rPr>
              <a:t>MESSAGE</a:t>
            </a:r>
            <a:endParaRPr sz="9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094689" y="3614277"/>
            <a:ext cx="4381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C00000"/>
                </a:solidFill>
                <a:latin typeface="Arial"/>
                <a:cs typeface="Arial"/>
              </a:rPr>
              <a:t>ERROR</a:t>
            </a:r>
            <a:endParaRPr sz="9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546399" y="3747627"/>
            <a:ext cx="433070" cy="429259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 marR="5080" indent="19685" algn="just">
              <a:lnSpc>
                <a:spcPts val="1050"/>
              </a:lnSpc>
              <a:spcBef>
                <a:spcPts val="160"/>
              </a:spcBef>
            </a:pPr>
            <a:r>
              <a:rPr sz="900" spc="-10" dirty="0">
                <a:solidFill>
                  <a:srgbClr val="C00000"/>
                </a:solidFill>
                <a:latin typeface="Arial"/>
                <a:cs typeface="Arial"/>
              </a:rPr>
              <a:t>Healthy Healthy Healthy</a:t>
            </a:r>
            <a:endParaRPr sz="9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028931" y="3747627"/>
            <a:ext cx="802640" cy="429259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20955" marR="641350" indent="10795">
              <a:lnSpc>
                <a:spcPts val="1050"/>
              </a:lnSpc>
              <a:spcBef>
                <a:spcPts val="160"/>
              </a:spcBef>
            </a:pPr>
            <a:r>
              <a:rPr sz="900" spc="-25" dirty="0">
                <a:solidFill>
                  <a:srgbClr val="C00000"/>
                </a:solidFill>
                <a:latin typeface="Arial"/>
                <a:cs typeface="Arial"/>
              </a:rPr>
              <a:t>ok ok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ts val="1019"/>
              </a:lnSpc>
            </a:pPr>
            <a:r>
              <a:rPr sz="900" spc="-10" dirty="0">
                <a:solidFill>
                  <a:srgbClr val="C00000"/>
                </a:solidFill>
                <a:latin typeface="Arial"/>
                <a:cs typeface="Arial"/>
              </a:rPr>
              <a:t>{"health":"true"}</a:t>
            </a:r>
            <a:endParaRPr sz="9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2730" cy="5143500"/>
            <a:chOff x="0" y="0"/>
            <a:chExt cx="9142730" cy="5143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54" y="0"/>
              <a:ext cx="9141290" cy="410870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4175999" cy="514349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193024" y="4326076"/>
              <a:ext cx="722375" cy="604028"/>
            </a:xfrm>
            <a:prstGeom prst="rect">
              <a:avLst/>
            </a:prstGeom>
          </p:spPr>
        </p:pic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136196" y="1319152"/>
            <a:ext cx="5276850" cy="136271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 marR="5080">
              <a:lnSpc>
                <a:spcPts val="5250"/>
              </a:lnSpc>
              <a:spcBef>
                <a:spcPts val="229"/>
              </a:spcBef>
            </a:pPr>
            <a:r>
              <a:rPr sz="4400" dirty="0">
                <a:solidFill>
                  <a:srgbClr val="FFFFFF"/>
                </a:solidFill>
                <a:latin typeface="Calibri"/>
                <a:cs typeface="Calibri"/>
              </a:rPr>
              <a:t>Let’s</a:t>
            </a:r>
            <a:r>
              <a:rPr sz="4400" spc="-1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400" dirty="0">
                <a:solidFill>
                  <a:srgbClr val="FFFFFF"/>
                </a:solidFill>
                <a:latin typeface="Calibri"/>
                <a:cs typeface="Calibri"/>
              </a:rPr>
              <a:t>talk</a:t>
            </a:r>
            <a:r>
              <a:rPr sz="4400" spc="-1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400" dirty="0">
                <a:solidFill>
                  <a:srgbClr val="FFFFFF"/>
                </a:solidFill>
                <a:latin typeface="Calibri"/>
                <a:cs typeface="Calibri"/>
              </a:rPr>
              <a:t>about</a:t>
            </a:r>
            <a:r>
              <a:rPr sz="4400" spc="-1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400" spc="-40" dirty="0">
                <a:solidFill>
                  <a:srgbClr val="FFFFFF"/>
                </a:solidFill>
                <a:latin typeface="Calibri"/>
                <a:cs typeface="Calibri"/>
              </a:rPr>
              <a:t>Worker </a:t>
            </a:r>
            <a:r>
              <a:rPr sz="4400" spc="-10" dirty="0">
                <a:solidFill>
                  <a:srgbClr val="FFFFFF"/>
                </a:solidFill>
                <a:latin typeface="Calibri"/>
                <a:cs typeface="Calibri"/>
              </a:rPr>
              <a:t>Components..</a:t>
            </a:r>
            <a:endParaRPr sz="44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707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Overview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89197" y="4363320"/>
            <a:ext cx="12274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A</a:t>
            </a:r>
            <a:r>
              <a:rPr sz="1400" spc="-10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Worker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Node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120347" y="1139370"/>
            <a:ext cx="2957195" cy="3128010"/>
          </a:xfrm>
          <a:custGeom>
            <a:avLst/>
            <a:gdLst/>
            <a:ahLst/>
            <a:cxnLst/>
            <a:rect l="l" t="t" r="r" b="b"/>
            <a:pathLst>
              <a:path w="2957195" h="3128010">
                <a:moveTo>
                  <a:pt x="0" y="492818"/>
                </a:moveTo>
                <a:lnTo>
                  <a:pt x="2255" y="445356"/>
                </a:lnTo>
                <a:lnTo>
                  <a:pt x="8886" y="399171"/>
                </a:lnTo>
                <a:lnTo>
                  <a:pt x="19684" y="354469"/>
                </a:lnTo>
                <a:lnTo>
                  <a:pt x="34443" y="311456"/>
                </a:lnTo>
                <a:lnTo>
                  <a:pt x="52957" y="270339"/>
                </a:lnTo>
                <a:lnTo>
                  <a:pt x="75019" y="231325"/>
                </a:lnTo>
                <a:lnTo>
                  <a:pt x="100423" y="194619"/>
                </a:lnTo>
                <a:lnTo>
                  <a:pt x="128962" y="160430"/>
                </a:lnTo>
                <a:lnTo>
                  <a:pt x="160430" y="128962"/>
                </a:lnTo>
                <a:lnTo>
                  <a:pt x="194619" y="100423"/>
                </a:lnTo>
                <a:lnTo>
                  <a:pt x="231325" y="75019"/>
                </a:lnTo>
                <a:lnTo>
                  <a:pt x="270339" y="52957"/>
                </a:lnTo>
                <a:lnTo>
                  <a:pt x="311456" y="34443"/>
                </a:lnTo>
                <a:lnTo>
                  <a:pt x="354469" y="19684"/>
                </a:lnTo>
                <a:lnTo>
                  <a:pt x="399171" y="8886"/>
                </a:lnTo>
                <a:lnTo>
                  <a:pt x="445356" y="2255"/>
                </a:lnTo>
                <a:lnTo>
                  <a:pt x="492818" y="0"/>
                </a:lnTo>
                <a:lnTo>
                  <a:pt x="2464034" y="0"/>
                </a:lnTo>
                <a:lnTo>
                  <a:pt x="2512743" y="2411"/>
                </a:lnTo>
                <a:lnTo>
                  <a:pt x="2560627" y="9556"/>
                </a:lnTo>
                <a:lnTo>
                  <a:pt x="2607362" y="21302"/>
                </a:lnTo>
                <a:lnTo>
                  <a:pt x="2652627" y="37513"/>
                </a:lnTo>
                <a:lnTo>
                  <a:pt x="2696097" y="58057"/>
                </a:lnTo>
                <a:lnTo>
                  <a:pt x="2737449" y="82799"/>
                </a:lnTo>
                <a:lnTo>
                  <a:pt x="2776361" y="111605"/>
                </a:lnTo>
                <a:lnTo>
                  <a:pt x="2812509" y="144343"/>
                </a:lnTo>
                <a:lnTo>
                  <a:pt x="2845246" y="180490"/>
                </a:lnTo>
                <a:lnTo>
                  <a:pt x="2874053" y="219402"/>
                </a:lnTo>
                <a:lnTo>
                  <a:pt x="2898795" y="260755"/>
                </a:lnTo>
                <a:lnTo>
                  <a:pt x="2919339" y="304225"/>
                </a:lnTo>
                <a:lnTo>
                  <a:pt x="2935550" y="349489"/>
                </a:lnTo>
                <a:lnTo>
                  <a:pt x="2947296" y="396225"/>
                </a:lnTo>
                <a:lnTo>
                  <a:pt x="2954441" y="444109"/>
                </a:lnTo>
                <a:lnTo>
                  <a:pt x="2956852" y="492818"/>
                </a:lnTo>
                <a:lnTo>
                  <a:pt x="2956852" y="2635010"/>
                </a:lnTo>
                <a:lnTo>
                  <a:pt x="2954596" y="2682472"/>
                </a:lnTo>
                <a:lnTo>
                  <a:pt x="2947966" y="2728657"/>
                </a:lnTo>
                <a:lnTo>
                  <a:pt x="2937168" y="2773359"/>
                </a:lnTo>
                <a:lnTo>
                  <a:pt x="2922409" y="2816372"/>
                </a:lnTo>
                <a:lnTo>
                  <a:pt x="2903895" y="2857489"/>
                </a:lnTo>
                <a:lnTo>
                  <a:pt x="2881833" y="2896503"/>
                </a:lnTo>
                <a:lnTo>
                  <a:pt x="2856429" y="2933209"/>
                </a:lnTo>
                <a:lnTo>
                  <a:pt x="2827890" y="2967398"/>
                </a:lnTo>
                <a:lnTo>
                  <a:pt x="2796422" y="2998866"/>
                </a:lnTo>
                <a:lnTo>
                  <a:pt x="2762232" y="3027405"/>
                </a:lnTo>
                <a:lnTo>
                  <a:pt x="2725527" y="3052809"/>
                </a:lnTo>
                <a:lnTo>
                  <a:pt x="2686513" y="3074871"/>
                </a:lnTo>
                <a:lnTo>
                  <a:pt x="2645396" y="3093385"/>
                </a:lnTo>
                <a:lnTo>
                  <a:pt x="2602383" y="3108144"/>
                </a:lnTo>
                <a:lnTo>
                  <a:pt x="2557681" y="3118942"/>
                </a:lnTo>
                <a:lnTo>
                  <a:pt x="2511495" y="3125573"/>
                </a:lnTo>
                <a:lnTo>
                  <a:pt x="2464034" y="3127828"/>
                </a:lnTo>
                <a:lnTo>
                  <a:pt x="492818" y="3127828"/>
                </a:lnTo>
                <a:lnTo>
                  <a:pt x="445356" y="3125573"/>
                </a:lnTo>
                <a:lnTo>
                  <a:pt x="399171" y="3118942"/>
                </a:lnTo>
                <a:lnTo>
                  <a:pt x="354469" y="3108144"/>
                </a:lnTo>
                <a:lnTo>
                  <a:pt x="311456" y="3093385"/>
                </a:lnTo>
                <a:lnTo>
                  <a:pt x="270339" y="3074871"/>
                </a:lnTo>
                <a:lnTo>
                  <a:pt x="231325" y="3052809"/>
                </a:lnTo>
                <a:lnTo>
                  <a:pt x="194619" y="3027405"/>
                </a:lnTo>
                <a:lnTo>
                  <a:pt x="160430" y="2998866"/>
                </a:lnTo>
                <a:lnTo>
                  <a:pt x="128962" y="2967398"/>
                </a:lnTo>
                <a:lnTo>
                  <a:pt x="100423" y="2933209"/>
                </a:lnTo>
                <a:lnTo>
                  <a:pt x="75019" y="2896503"/>
                </a:lnTo>
                <a:lnTo>
                  <a:pt x="52957" y="2857489"/>
                </a:lnTo>
                <a:lnTo>
                  <a:pt x="34443" y="2816372"/>
                </a:lnTo>
                <a:lnTo>
                  <a:pt x="19684" y="2773359"/>
                </a:lnTo>
                <a:lnTo>
                  <a:pt x="8886" y="2728657"/>
                </a:lnTo>
                <a:lnTo>
                  <a:pt x="2255" y="2682472"/>
                </a:lnTo>
                <a:lnTo>
                  <a:pt x="0" y="2635010"/>
                </a:lnTo>
                <a:lnTo>
                  <a:pt x="0" y="492818"/>
                </a:lnTo>
                <a:close/>
              </a:path>
            </a:pathLst>
          </a:custGeom>
          <a:ln w="12699">
            <a:solidFill>
              <a:srgbClr val="127BB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1303129" y="1216477"/>
            <a:ext cx="2501900" cy="2952115"/>
            <a:chOff x="1303129" y="1216477"/>
            <a:chExt cx="2501900" cy="2952115"/>
          </a:xfrm>
        </p:grpSpPr>
        <p:sp>
          <p:nvSpPr>
            <p:cNvPr id="6" name="object 6"/>
            <p:cNvSpPr/>
            <p:nvPr/>
          </p:nvSpPr>
          <p:spPr>
            <a:xfrm>
              <a:off x="1309479" y="1222827"/>
              <a:ext cx="2489200" cy="2939415"/>
            </a:xfrm>
            <a:custGeom>
              <a:avLst/>
              <a:gdLst/>
              <a:ahLst/>
              <a:cxnLst/>
              <a:rect l="l" t="t" r="r" b="b"/>
              <a:pathLst>
                <a:path w="2489200" h="2939415">
                  <a:moveTo>
                    <a:pt x="2074324" y="2939142"/>
                  </a:moveTo>
                  <a:lnTo>
                    <a:pt x="414874" y="2939142"/>
                  </a:lnTo>
                  <a:lnTo>
                    <a:pt x="366491" y="2936351"/>
                  </a:lnTo>
                  <a:lnTo>
                    <a:pt x="319747" y="2928185"/>
                  </a:lnTo>
                  <a:lnTo>
                    <a:pt x="274954" y="2914956"/>
                  </a:lnTo>
                  <a:lnTo>
                    <a:pt x="232423" y="2896974"/>
                  </a:lnTo>
                  <a:lnTo>
                    <a:pt x="192465" y="2874551"/>
                  </a:lnTo>
                  <a:lnTo>
                    <a:pt x="155391" y="2847999"/>
                  </a:lnTo>
                  <a:lnTo>
                    <a:pt x="121514" y="2817628"/>
                  </a:lnTo>
                  <a:lnTo>
                    <a:pt x="91143" y="2783751"/>
                  </a:lnTo>
                  <a:lnTo>
                    <a:pt x="64591" y="2746677"/>
                  </a:lnTo>
                  <a:lnTo>
                    <a:pt x="42168" y="2706719"/>
                  </a:lnTo>
                  <a:lnTo>
                    <a:pt x="24186" y="2664188"/>
                  </a:lnTo>
                  <a:lnTo>
                    <a:pt x="10957" y="2619394"/>
                  </a:lnTo>
                  <a:lnTo>
                    <a:pt x="2791" y="2572651"/>
                  </a:lnTo>
                  <a:lnTo>
                    <a:pt x="0" y="2524267"/>
                  </a:lnTo>
                  <a:lnTo>
                    <a:pt x="0" y="414874"/>
                  </a:lnTo>
                  <a:lnTo>
                    <a:pt x="2700" y="368062"/>
                  </a:lnTo>
                  <a:lnTo>
                    <a:pt x="10957" y="319747"/>
                  </a:lnTo>
                  <a:lnTo>
                    <a:pt x="24186" y="274954"/>
                  </a:lnTo>
                  <a:lnTo>
                    <a:pt x="42168" y="232423"/>
                  </a:lnTo>
                  <a:lnTo>
                    <a:pt x="64591" y="192465"/>
                  </a:lnTo>
                  <a:lnTo>
                    <a:pt x="91143" y="155391"/>
                  </a:lnTo>
                  <a:lnTo>
                    <a:pt x="121514" y="121514"/>
                  </a:lnTo>
                  <a:lnTo>
                    <a:pt x="155391" y="91143"/>
                  </a:lnTo>
                  <a:lnTo>
                    <a:pt x="192465" y="64591"/>
                  </a:lnTo>
                  <a:lnTo>
                    <a:pt x="232423" y="42168"/>
                  </a:lnTo>
                  <a:lnTo>
                    <a:pt x="274954" y="24186"/>
                  </a:lnTo>
                  <a:lnTo>
                    <a:pt x="319747" y="10957"/>
                  </a:lnTo>
                  <a:lnTo>
                    <a:pt x="366491" y="2791"/>
                  </a:lnTo>
                  <a:lnTo>
                    <a:pt x="414874" y="0"/>
                  </a:lnTo>
                  <a:lnTo>
                    <a:pt x="2074324" y="0"/>
                  </a:lnTo>
                  <a:lnTo>
                    <a:pt x="2121137" y="2648"/>
                  </a:lnTo>
                  <a:lnTo>
                    <a:pt x="2166992" y="10480"/>
                  </a:lnTo>
                  <a:lnTo>
                    <a:pt x="2211483" y="23328"/>
                  </a:lnTo>
                  <a:lnTo>
                    <a:pt x="2254204" y="41023"/>
                  </a:lnTo>
                  <a:lnTo>
                    <a:pt x="2294749" y="63398"/>
                  </a:lnTo>
                  <a:lnTo>
                    <a:pt x="2332711" y="90284"/>
                  </a:lnTo>
                  <a:lnTo>
                    <a:pt x="2367685" y="121514"/>
                  </a:lnTo>
                  <a:lnTo>
                    <a:pt x="2398915" y="156488"/>
                  </a:lnTo>
                  <a:lnTo>
                    <a:pt x="2425801" y="194450"/>
                  </a:lnTo>
                  <a:lnTo>
                    <a:pt x="2448176" y="234995"/>
                  </a:lnTo>
                  <a:lnTo>
                    <a:pt x="2465871" y="277716"/>
                  </a:lnTo>
                  <a:lnTo>
                    <a:pt x="2478719" y="322207"/>
                  </a:lnTo>
                  <a:lnTo>
                    <a:pt x="2486551" y="368062"/>
                  </a:lnTo>
                  <a:lnTo>
                    <a:pt x="2489199" y="414874"/>
                  </a:lnTo>
                  <a:lnTo>
                    <a:pt x="2489199" y="2524267"/>
                  </a:lnTo>
                  <a:lnTo>
                    <a:pt x="2486408" y="2572651"/>
                  </a:lnTo>
                  <a:lnTo>
                    <a:pt x="2478242" y="2619394"/>
                  </a:lnTo>
                  <a:lnTo>
                    <a:pt x="2465013" y="2664188"/>
                  </a:lnTo>
                  <a:lnTo>
                    <a:pt x="2447031" y="2706719"/>
                  </a:lnTo>
                  <a:lnTo>
                    <a:pt x="2424608" y="2746677"/>
                  </a:lnTo>
                  <a:lnTo>
                    <a:pt x="2398056" y="2783751"/>
                  </a:lnTo>
                  <a:lnTo>
                    <a:pt x="2367685" y="2817628"/>
                  </a:lnTo>
                  <a:lnTo>
                    <a:pt x="2333808" y="2847999"/>
                  </a:lnTo>
                  <a:lnTo>
                    <a:pt x="2296734" y="2874551"/>
                  </a:lnTo>
                  <a:lnTo>
                    <a:pt x="2256776" y="2896974"/>
                  </a:lnTo>
                  <a:lnTo>
                    <a:pt x="2214245" y="2914956"/>
                  </a:lnTo>
                  <a:lnTo>
                    <a:pt x="2169451" y="2928185"/>
                  </a:lnTo>
                  <a:lnTo>
                    <a:pt x="2122708" y="2936351"/>
                  </a:lnTo>
                  <a:lnTo>
                    <a:pt x="2074324" y="2939142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309479" y="1222827"/>
              <a:ext cx="2489200" cy="2939415"/>
            </a:xfrm>
            <a:custGeom>
              <a:avLst/>
              <a:gdLst/>
              <a:ahLst/>
              <a:cxnLst/>
              <a:rect l="l" t="t" r="r" b="b"/>
              <a:pathLst>
                <a:path w="2489200" h="2939415">
                  <a:moveTo>
                    <a:pt x="0" y="414874"/>
                  </a:moveTo>
                  <a:lnTo>
                    <a:pt x="2791" y="366491"/>
                  </a:lnTo>
                  <a:lnTo>
                    <a:pt x="10957" y="319747"/>
                  </a:lnTo>
                  <a:lnTo>
                    <a:pt x="24186" y="274954"/>
                  </a:lnTo>
                  <a:lnTo>
                    <a:pt x="42168" y="232423"/>
                  </a:lnTo>
                  <a:lnTo>
                    <a:pt x="64591" y="192465"/>
                  </a:lnTo>
                  <a:lnTo>
                    <a:pt x="91143" y="155391"/>
                  </a:lnTo>
                  <a:lnTo>
                    <a:pt x="121514" y="121514"/>
                  </a:lnTo>
                  <a:lnTo>
                    <a:pt x="155391" y="91143"/>
                  </a:lnTo>
                  <a:lnTo>
                    <a:pt x="192465" y="64591"/>
                  </a:lnTo>
                  <a:lnTo>
                    <a:pt x="232423" y="42168"/>
                  </a:lnTo>
                  <a:lnTo>
                    <a:pt x="274954" y="24186"/>
                  </a:lnTo>
                  <a:lnTo>
                    <a:pt x="319747" y="10957"/>
                  </a:lnTo>
                  <a:lnTo>
                    <a:pt x="366491" y="2791"/>
                  </a:lnTo>
                  <a:lnTo>
                    <a:pt x="414874" y="0"/>
                  </a:lnTo>
                  <a:lnTo>
                    <a:pt x="2074324" y="0"/>
                  </a:lnTo>
                  <a:lnTo>
                    <a:pt x="2121137" y="2648"/>
                  </a:lnTo>
                  <a:lnTo>
                    <a:pt x="2166992" y="10480"/>
                  </a:lnTo>
                  <a:lnTo>
                    <a:pt x="2211483" y="23328"/>
                  </a:lnTo>
                  <a:lnTo>
                    <a:pt x="2254204" y="41023"/>
                  </a:lnTo>
                  <a:lnTo>
                    <a:pt x="2294749" y="63398"/>
                  </a:lnTo>
                  <a:lnTo>
                    <a:pt x="2332711" y="90284"/>
                  </a:lnTo>
                  <a:lnTo>
                    <a:pt x="2367685" y="121514"/>
                  </a:lnTo>
                  <a:lnTo>
                    <a:pt x="2398915" y="156488"/>
                  </a:lnTo>
                  <a:lnTo>
                    <a:pt x="2425801" y="194450"/>
                  </a:lnTo>
                  <a:lnTo>
                    <a:pt x="2448176" y="234995"/>
                  </a:lnTo>
                  <a:lnTo>
                    <a:pt x="2465871" y="277716"/>
                  </a:lnTo>
                  <a:lnTo>
                    <a:pt x="2478719" y="322207"/>
                  </a:lnTo>
                  <a:lnTo>
                    <a:pt x="2486551" y="368062"/>
                  </a:lnTo>
                  <a:lnTo>
                    <a:pt x="2489199" y="414874"/>
                  </a:lnTo>
                  <a:lnTo>
                    <a:pt x="2489199" y="2524267"/>
                  </a:lnTo>
                  <a:lnTo>
                    <a:pt x="2486408" y="2572651"/>
                  </a:lnTo>
                  <a:lnTo>
                    <a:pt x="2478242" y="2619394"/>
                  </a:lnTo>
                  <a:lnTo>
                    <a:pt x="2465013" y="2664188"/>
                  </a:lnTo>
                  <a:lnTo>
                    <a:pt x="2447031" y="2706719"/>
                  </a:lnTo>
                  <a:lnTo>
                    <a:pt x="2424608" y="2746677"/>
                  </a:lnTo>
                  <a:lnTo>
                    <a:pt x="2398056" y="2783751"/>
                  </a:lnTo>
                  <a:lnTo>
                    <a:pt x="2367685" y="2817628"/>
                  </a:lnTo>
                  <a:lnTo>
                    <a:pt x="2333808" y="2847999"/>
                  </a:lnTo>
                  <a:lnTo>
                    <a:pt x="2296734" y="2874551"/>
                  </a:lnTo>
                  <a:lnTo>
                    <a:pt x="2256776" y="2896974"/>
                  </a:lnTo>
                  <a:lnTo>
                    <a:pt x="2214245" y="2914956"/>
                  </a:lnTo>
                  <a:lnTo>
                    <a:pt x="2169451" y="2928185"/>
                  </a:lnTo>
                  <a:lnTo>
                    <a:pt x="2122708" y="2936351"/>
                  </a:lnTo>
                  <a:lnTo>
                    <a:pt x="2074324" y="2939142"/>
                  </a:lnTo>
                  <a:lnTo>
                    <a:pt x="414874" y="2939142"/>
                  </a:lnTo>
                  <a:lnTo>
                    <a:pt x="366491" y="2936351"/>
                  </a:lnTo>
                  <a:lnTo>
                    <a:pt x="319747" y="2928185"/>
                  </a:lnTo>
                  <a:lnTo>
                    <a:pt x="274954" y="2914956"/>
                  </a:lnTo>
                  <a:lnTo>
                    <a:pt x="232423" y="2896974"/>
                  </a:lnTo>
                  <a:lnTo>
                    <a:pt x="192465" y="2874551"/>
                  </a:lnTo>
                  <a:lnTo>
                    <a:pt x="155391" y="2847999"/>
                  </a:lnTo>
                  <a:lnTo>
                    <a:pt x="121514" y="2817628"/>
                  </a:lnTo>
                  <a:lnTo>
                    <a:pt x="91143" y="2783751"/>
                  </a:lnTo>
                  <a:lnTo>
                    <a:pt x="64591" y="2746677"/>
                  </a:lnTo>
                  <a:lnTo>
                    <a:pt x="42168" y="2706719"/>
                  </a:lnTo>
                  <a:lnTo>
                    <a:pt x="24186" y="2664188"/>
                  </a:lnTo>
                  <a:lnTo>
                    <a:pt x="10957" y="2619394"/>
                  </a:lnTo>
                  <a:lnTo>
                    <a:pt x="2791" y="2572651"/>
                  </a:lnTo>
                  <a:lnTo>
                    <a:pt x="0" y="2524267"/>
                  </a:lnTo>
                  <a:lnTo>
                    <a:pt x="0" y="414874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554079" y="1599548"/>
              <a:ext cx="1082040" cy="521334"/>
            </a:xfrm>
            <a:custGeom>
              <a:avLst/>
              <a:gdLst/>
              <a:ahLst/>
              <a:cxnLst/>
              <a:rect l="l" t="t" r="r" b="b"/>
              <a:pathLst>
                <a:path w="1082039" h="521335">
                  <a:moveTo>
                    <a:pt x="994909" y="521024"/>
                  </a:moveTo>
                  <a:lnTo>
                    <a:pt x="86839" y="521024"/>
                  </a:lnTo>
                  <a:lnTo>
                    <a:pt x="53037" y="514200"/>
                  </a:lnTo>
                  <a:lnTo>
                    <a:pt x="25434" y="495590"/>
                  </a:lnTo>
                  <a:lnTo>
                    <a:pt x="6824" y="467987"/>
                  </a:lnTo>
                  <a:lnTo>
                    <a:pt x="0" y="434185"/>
                  </a:lnTo>
                  <a:lnTo>
                    <a:pt x="0" y="86839"/>
                  </a:lnTo>
                  <a:lnTo>
                    <a:pt x="6824" y="53037"/>
                  </a:lnTo>
                  <a:lnTo>
                    <a:pt x="25434" y="25434"/>
                  </a:lnTo>
                  <a:lnTo>
                    <a:pt x="53037" y="6824"/>
                  </a:lnTo>
                  <a:lnTo>
                    <a:pt x="86839" y="0"/>
                  </a:lnTo>
                  <a:lnTo>
                    <a:pt x="994909" y="0"/>
                  </a:lnTo>
                  <a:lnTo>
                    <a:pt x="1043088" y="14590"/>
                  </a:lnTo>
                  <a:lnTo>
                    <a:pt x="1075138" y="53607"/>
                  </a:lnTo>
                  <a:lnTo>
                    <a:pt x="1081748" y="86839"/>
                  </a:lnTo>
                  <a:lnTo>
                    <a:pt x="1081748" y="434185"/>
                  </a:lnTo>
                  <a:lnTo>
                    <a:pt x="1074924" y="467987"/>
                  </a:lnTo>
                  <a:lnTo>
                    <a:pt x="1056314" y="495590"/>
                  </a:lnTo>
                  <a:lnTo>
                    <a:pt x="1028711" y="514200"/>
                  </a:lnTo>
                  <a:lnTo>
                    <a:pt x="994909" y="521024"/>
                  </a:lnTo>
                  <a:close/>
                </a:path>
              </a:pathLst>
            </a:custGeom>
            <a:solidFill>
              <a:srgbClr val="00B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554079" y="1599548"/>
              <a:ext cx="1082040" cy="521334"/>
            </a:xfrm>
            <a:custGeom>
              <a:avLst/>
              <a:gdLst/>
              <a:ahLst/>
              <a:cxnLst/>
              <a:rect l="l" t="t" r="r" b="b"/>
              <a:pathLst>
                <a:path w="1082039" h="521335">
                  <a:moveTo>
                    <a:pt x="0" y="86839"/>
                  </a:moveTo>
                  <a:lnTo>
                    <a:pt x="6824" y="53037"/>
                  </a:lnTo>
                  <a:lnTo>
                    <a:pt x="25434" y="25434"/>
                  </a:lnTo>
                  <a:lnTo>
                    <a:pt x="53037" y="6824"/>
                  </a:lnTo>
                  <a:lnTo>
                    <a:pt x="86839" y="0"/>
                  </a:lnTo>
                  <a:lnTo>
                    <a:pt x="994909" y="0"/>
                  </a:lnTo>
                  <a:lnTo>
                    <a:pt x="1043088" y="14590"/>
                  </a:lnTo>
                  <a:lnTo>
                    <a:pt x="1075138" y="53607"/>
                  </a:lnTo>
                  <a:lnTo>
                    <a:pt x="1081748" y="86839"/>
                  </a:lnTo>
                  <a:lnTo>
                    <a:pt x="1081748" y="434185"/>
                  </a:lnTo>
                  <a:lnTo>
                    <a:pt x="1074924" y="467987"/>
                  </a:lnTo>
                  <a:lnTo>
                    <a:pt x="1056314" y="495590"/>
                  </a:lnTo>
                  <a:lnTo>
                    <a:pt x="1028711" y="514200"/>
                  </a:lnTo>
                  <a:lnTo>
                    <a:pt x="994909" y="521024"/>
                  </a:lnTo>
                  <a:lnTo>
                    <a:pt x="86839" y="521024"/>
                  </a:lnTo>
                  <a:lnTo>
                    <a:pt x="53037" y="514200"/>
                  </a:lnTo>
                  <a:lnTo>
                    <a:pt x="25434" y="495590"/>
                  </a:lnTo>
                  <a:lnTo>
                    <a:pt x="6824" y="467987"/>
                  </a:lnTo>
                  <a:lnTo>
                    <a:pt x="0" y="434185"/>
                  </a:lnTo>
                  <a:lnTo>
                    <a:pt x="0" y="86839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199775" y="4267365"/>
            <a:ext cx="5689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Arial"/>
                <a:cs typeface="Arial"/>
              </a:rPr>
              <a:t>Master</a:t>
            </a:r>
            <a:endParaRPr sz="14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682167" y="1735474"/>
            <a:ext cx="82613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Scheduler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387022" y="3105662"/>
            <a:ext cx="1010285" cy="522605"/>
            <a:chOff x="1387022" y="3105662"/>
            <a:chExt cx="1010285" cy="522605"/>
          </a:xfrm>
        </p:grpSpPr>
        <p:sp>
          <p:nvSpPr>
            <p:cNvPr id="13" name="object 13"/>
            <p:cNvSpPr/>
            <p:nvPr/>
          </p:nvSpPr>
          <p:spPr>
            <a:xfrm>
              <a:off x="1393372" y="3112012"/>
              <a:ext cx="997585" cy="509905"/>
            </a:xfrm>
            <a:custGeom>
              <a:avLst/>
              <a:gdLst/>
              <a:ahLst/>
              <a:cxnLst/>
              <a:rect l="l" t="t" r="r" b="b"/>
              <a:pathLst>
                <a:path w="997585" h="509904">
                  <a:moveTo>
                    <a:pt x="912104" y="509300"/>
                  </a:moveTo>
                  <a:lnTo>
                    <a:pt x="84885" y="509300"/>
                  </a:lnTo>
                  <a:lnTo>
                    <a:pt x="51844" y="502630"/>
                  </a:lnTo>
                  <a:lnTo>
                    <a:pt x="24862" y="484438"/>
                  </a:lnTo>
                  <a:lnTo>
                    <a:pt x="6670" y="457457"/>
                  </a:lnTo>
                  <a:lnTo>
                    <a:pt x="0" y="424415"/>
                  </a:lnTo>
                  <a:lnTo>
                    <a:pt x="0" y="84885"/>
                  </a:lnTo>
                  <a:lnTo>
                    <a:pt x="6670" y="51844"/>
                  </a:lnTo>
                  <a:lnTo>
                    <a:pt x="24862" y="24862"/>
                  </a:lnTo>
                  <a:lnTo>
                    <a:pt x="51844" y="6670"/>
                  </a:lnTo>
                  <a:lnTo>
                    <a:pt x="84885" y="0"/>
                  </a:lnTo>
                  <a:lnTo>
                    <a:pt x="912104" y="0"/>
                  </a:lnTo>
                  <a:lnTo>
                    <a:pt x="959199" y="14261"/>
                  </a:lnTo>
                  <a:lnTo>
                    <a:pt x="990528" y="52401"/>
                  </a:lnTo>
                  <a:lnTo>
                    <a:pt x="996989" y="84885"/>
                  </a:lnTo>
                  <a:lnTo>
                    <a:pt x="996989" y="424415"/>
                  </a:lnTo>
                  <a:lnTo>
                    <a:pt x="990319" y="457457"/>
                  </a:lnTo>
                  <a:lnTo>
                    <a:pt x="972127" y="484438"/>
                  </a:lnTo>
                  <a:lnTo>
                    <a:pt x="945145" y="502630"/>
                  </a:lnTo>
                  <a:lnTo>
                    <a:pt x="912104" y="5093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393372" y="3112012"/>
              <a:ext cx="997585" cy="509905"/>
            </a:xfrm>
            <a:custGeom>
              <a:avLst/>
              <a:gdLst/>
              <a:ahLst/>
              <a:cxnLst/>
              <a:rect l="l" t="t" r="r" b="b"/>
              <a:pathLst>
                <a:path w="997585" h="509904">
                  <a:moveTo>
                    <a:pt x="0" y="84885"/>
                  </a:moveTo>
                  <a:lnTo>
                    <a:pt x="6670" y="51844"/>
                  </a:lnTo>
                  <a:lnTo>
                    <a:pt x="24862" y="24862"/>
                  </a:lnTo>
                  <a:lnTo>
                    <a:pt x="51844" y="6670"/>
                  </a:lnTo>
                  <a:lnTo>
                    <a:pt x="84885" y="0"/>
                  </a:lnTo>
                  <a:lnTo>
                    <a:pt x="912104" y="0"/>
                  </a:lnTo>
                  <a:lnTo>
                    <a:pt x="959199" y="14261"/>
                  </a:lnTo>
                  <a:lnTo>
                    <a:pt x="990528" y="52401"/>
                  </a:lnTo>
                  <a:lnTo>
                    <a:pt x="996989" y="84885"/>
                  </a:lnTo>
                  <a:lnTo>
                    <a:pt x="996989" y="424415"/>
                  </a:lnTo>
                  <a:lnTo>
                    <a:pt x="990319" y="457457"/>
                  </a:lnTo>
                  <a:lnTo>
                    <a:pt x="972127" y="484438"/>
                  </a:lnTo>
                  <a:lnTo>
                    <a:pt x="945145" y="502630"/>
                  </a:lnTo>
                  <a:lnTo>
                    <a:pt x="912104" y="509300"/>
                  </a:lnTo>
                  <a:lnTo>
                    <a:pt x="84885" y="509300"/>
                  </a:lnTo>
                  <a:lnTo>
                    <a:pt x="51844" y="502630"/>
                  </a:lnTo>
                  <a:lnTo>
                    <a:pt x="24862" y="484438"/>
                  </a:lnTo>
                  <a:lnTo>
                    <a:pt x="6670" y="457457"/>
                  </a:lnTo>
                  <a:lnTo>
                    <a:pt x="0" y="424415"/>
                  </a:lnTo>
                  <a:lnTo>
                    <a:pt x="0" y="84885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637301" y="3242076"/>
            <a:ext cx="50990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Arial"/>
                <a:cs typeface="Arial"/>
              </a:rPr>
              <a:t>ETCD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2547729" y="3105661"/>
            <a:ext cx="1094740" cy="522605"/>
            <a:chOff x="2547729" y="3105661"/>
            <a:chExt cx="1094740" cy="522605"/>
          </a:xfrm>
        </p:grpSpPr>
        <p:sp>
          <p:nvSpPr>
            <p:cNvPr id="17" name="object 17"/>
            <p:cNvSpPr/>
            <p:nvPr/>
          </p:nvSpPr>
          <p:spPr>
            <a:xfrm>
              <a:off x="2554079" y="3112011"/>
              <a:ext cx="1082040" cy="509905"/>
            </a:xfrm>
            <a:custGeom>
              <a:avLst/>
              <a:gdLst/>
              <a:ahLst/>
              <a:cxnLst/>
              <a:rect l="l" t="t" r="r" b="b"/>
              <a:pathLst>
                <a:path w="1082039" h="509904">
                  <a:moveTo>
                    <a:pt x="996863" y="509301"/>
                  </a:moveTo>
                  <a:lnTo>
                    <a:pt x="84885" y="509301"/>
                  </a:lnTo>
                  <a:lnTo>
                    <a:pt x="51844" y="502631"/>
                  </a:lnTo>
                  <a:lnTo>
                    <a:pt x="24862" y="484439"/>
                  </a:lnTo>
                  <a:lnTo>
                    <a:pt x="6670" y="457457"/>
                  </a:lnTo>
                  <a:lnTo>
                    <a:pt x="0" y="424416"/>
                  </a:lnTo>
                  <a:lnTo>
                    <a:pt x="0" y="84885"/>
                  </a:lnTo>
                  <a:lnTo>
                    <a:pt x="6670" y="51844"/>
                  </a:lnTo>
                  <a:lnTo>
                    <a:pt x="24862" y="24862"/>
                  </a:lnTo>
                  <a:lnTo>
                    <a:pt x="51844" y="6670"/>
                  </a:lnTo>
                  <a:lnTo>
                    <a:pt x="84885" y="0"/>
                  </a:lnTo>
                  <a:lnTo>
                    <a:pt x="996863" y="0"/>
                  </a:lnTo>
                  <a:lnTo>
                    <a:pt x="1043958" y="14261"/>
                  </a:lnTo>
                  <a:lnTo>
                    <a:pt x="1075287" y="52401"/>
                  </a:lnTo>
                  <a:lnTo>
                    <a:pt x="1081748" y="84885"/>
                  </a:lnTo>
                  <a:lnTo>
                    <a:pt x="1081748" y="424416"/>
                  </a:lnTo>
                  <a:lnTo>
                    <a:pt x="1075078" y="457457"/>
                  </a:lnTo>
                  <a:lnTo>
                    <a:pt x="1056886" y="484439"/>
                  </a:lnTo>
                  <a:lnTo>
                    <a:pt x="1029904" y="502631"/>
                  </a:lnTo>
                  <a:lnTo>
                    <a:pt x="996863" y="509301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554079" y="3112011"/>
              <a:ext cx="1082040" cy="509905"/>
            </a:xfrm>
            <a:custGeom>
              <a:avLst/>
              <a:gdLst/>
              <a:ahLst/>
              <a:cxnLst/>
              <a:rect l="l" t="t" r="r" b="b"/>
              <a:pathLst>
                <a:path w="1082039" h="509904">
                  <a:moveTo>
                    <a:pt x="0" y="84885"/>
                  </a:moveTo>
                  <a:lnTo>
                    <a:pt x="6670" y="51844"/>
                  </a:lnTo>
                  <a:lnTo>
                    <a:pt x="24862" y="24862"/>
                  </a:lnTo>
                  <a:lnTo>
                    <a:pt x="51844" y="6670"/>
                  </a:lnTo>
                  <a:lnTo>
                    <a:pt x="84885" y="0"/>
                  </a:lnTo>
                  <a:lnTo>
                    <a:pt x="996863" y="0"/>
                  </a:lnTo>
                  <a:lnTo>
                    <a:pt x="1043958" y="14261"/>
                  </a:lnTo>
                  <a:lnTo>
                    <a:pt x="1075287" y="52401"/>
                  </a:lnTo>
                  <a:lnTo>
                    <a:pt x="1081748" y="84885"/>
                  </a:lnTo>
                  <a:lnTo>
                    <a:pt x="1081748" y="424416"/>
                  </a:lnTo>
                  <a:lnTo>
                    <a:pt x="1075078" y="457457"/>
                  </a:lnTo>
                  <a:lnTo>
                    <a:pt x="1056886" y="484439"/>
                  </a:lnTo>
                  <a:lnTo>
                    <a:pt x="1029904" y="502631"/>
                  </a:lnTo>
                  <a:lnTo>
                    <a:pt x="996863" y="509301"/>
                  </a:lnTo>
                  <a:lnTo>
                    <a:pt x="84885" y="509301"/>
                  </a:lnTo>
                  <a:lnTo>
                    <a:pt x="51844" y="502631"/>
                  </a:lnTo>
                  <a:lnTo>
                    <a:pt x="24862" y="484439"/>
                  </a:lnTo>
                  <a:lnTo>
                    <a:pt x="6670" y="457457"/>
                  </a:lnTo>
                  <a:lnTo>
                    <a:pt x="0" y="424416"/>
                  </a:lnTo>
                  <a:lnTo>
                    <a:pt x="0" y="84885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2697091" y="3137300"/>
            <a:ext cx="796290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46990" marR="5080" indent="-34925">
              <a:lnSpc>
                <a:spcPts val="1650"/>
              </a:lnSpc>
              <a:spcBef>
                <a:spcPts val="180"/>
              </a:spcBef>
            </a:pP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Controller Manager</a:t>
            </a:r>
            <a:endParaRPr sz="14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554079" y="2315029"/>
            <a:ext cx="1082040" cy="501015"/>
          </a:xfrm>
          <a:prstGeom prst="rect">
            <a:avLst/>
          </a:prstGeom>
          <a:solidFill>
            <a:srgbClr val="92D050"/>
          </a:solidFill>
          <a:ln w="12699">
            <a:solidFill>
              <a:srgbClr val="127BB4"/>
            </a:solidFill>
          </a:ln>
        </p:spPr>
        <p:txBody>
          <a:bodyPr vert="horz" wrap="square" lIns="0" tIns="138430" rIns="0" bIns="0" rtlCol="0">
            <a:spAutoFit/>
          </a:bodyPr>
          <a:lstStyle/>
          <a:p>
            <a:pPr marL="111125">
              <a:lnSpc>
                <a:spcPct val="100000"/>
              </a:lnSpc>
              <a:spcBef>
                <a:spcPts val="1090"/>
              </a:spcBef>
            </a:pP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API</a:t>
            </a:r>
            <a:r>
              <a:rPr sz="14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Server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473745" y="1798313"/>
            <a:ext cx="568325" cy="996315"/>
            <a:chOff x="473745" y="1798313"/>
            <a:chExt cx="568325" cy="996315"/>
          </a:xfrm>
        </p:grpSpPr>
        <p:sp>
          <p:nvSpPr>
            <p:cNvPr id="22" name="object 22"/>
            <p:cNvSpPr/>
            <p:nvPr/>
          </p:nvSpPr>
          <p:spPr>
            <a:xfrm>
              <a:off x="483816" y="1803075"/>
              <a:ext cx="178435" cy="415290"/>
            </a:xfrm>
            <a:custGeom>
              <a:avLst/>
              <a:gdLst/>
              <a:ahLst/>
              <a:cxnLst/>
              <a:rect l="l" t="t" r="r" b="b"/>
              <a:pathLst>
                <a:path w="178434" h="415289">
                  <a:moveTo>
                    <a:pt x="0" y="0"/>
                  </a:moveTo>
                  <a:lnTo>
                    <a:pt x="178150" y="414987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47509" y="2211857"/>
              <a:ext cx="31750" cy="46355"/>
            </a:xfrm>
            <a:custGeom>
              <a:avLst/>
              <a:gdLst/>
              <a:ahLst/>
              <a:cxnLst/>
              <a:rect l="l" t="t" r="r" b="b"/>
              <a:pathLst>
                <a:path w="31750" h="46355">
                  <a:moveTo>
                    <a:pt x="31508" y="45926"/>
                  </a:moveTo>
                  <a:lnTo>
                    <a:pt x="0" y="12412"/>
                  </a:lnTo>
                  <a:lnTo>
                    <a:pt x="28913" y="0"/>
                  </a:lnTo>
                  <a:lnTo>
                    <a:pt x="31508" y="45926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47509" y="2211857"/>
              <a:ext cx="31750" cy="46355"/>
            </a:xfrm>
            <a:custGeom>
              <a:avLst/>
              <a:gdLst/>
              <a:ahLst/>
              <a:cxnLst/>
              <a:rect l="l" t="t" r="r" b="b"/>
              <a:pathLst>
                <a:path w="31750" h="46355">
                  <a:moveTo>
                    <a:pt x="0" y="12412"/>
                  </a:moveTo>
                  <a:lnTo>
                    <a:pt x="31508" y="45926"/>
                  </a:lnTo>
                  <a:lnTo>
                    <a:pt x="28913" y="0"/>
                  </a:lnTo>
                  <a:lnTo>
                    <a:pt x="0" y="12412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80095" y="2274206"/>
              <a:ext cx="555625" cy="513715"/>
            </a:xfrm>
            <a:custGeom>
              <a:avLst/>
              <a:gdLst/>
              <a:ahLst/>
              <a:cxnLst/>
              <a:rect l="l" t="t" r="r" b="b"/>
              <a:pathLst>
                <a:path w="555625" h="513714">
                  <a:moveTo>
                    <a:pt x="277585" y="513442"/>
                  </a:moveTo>
                  <a:lnTo>
                    <a:pt x="227689" y="509306"/>
                  </a:lnTo>
                  <a:lnTo>
                    <a:pt x="180726" y="497381"/>
                  </a:lnTo>
                  <a:lnTo>
                    <a:pt x="137482" y="478393"/>
                  </a:lnTo>
                  <a:lnTo>
                    <a:pt x="98740" y="453065"/>
                  </a:lnTo>
                  <a:lnTo>
                    <a:pt x="65284" y="422123"/>
                  </a:lnTo>
                  <a:lnTo>
                    <a:pt x="37898" y="386293"/>
                  </a:lnTo>
                  <a:lnTo>
                    <a:pt x="17366" y="346299"/>
                  </a:lnTo>
                  <a:lnTo>
                    <a:pt x="4472" y="302867"/>
                  </a:lnTo>
                  <a:lnTo>
                    <a:pt x="0" y="256721"/>
                  </a:lnTo>
                  <a:lnTo>
                    <a:pt x="4472" y="210575"/>
                  </a:lnTo>
                  <a:lnTo>
                    <a:pt x="17366" y="167143"/>
                  </a:lnTo>
                  <a:lnTo>
                    <a:pt x="37898" y="127149"/>
                  </a:lnTo>
                  <a:lnTo>
                    <a:pt x="65284" y="91319"/>
                  </a:lnTo>
                  <a:lnTo>
                    <a:pt x="98740" y="60377"/>
                  </a:lnTo>
                  <a:lnTo>
                    <a:pt x="137482" y="35050"/>
                  </a:lnTo>
                  <a:lnTo>
                    <a:pt x="180726" y="16061"/>
                  </a:lnTo>
                  <a:lnTo>
                    <a:pt x="227689" y="4136"/>
                  </a:lnTo>
                  <a:lnTo>
                    <a:pt x="277585" y="0"/>
                  </a:lnTo>
                  <a:lnTo>
                    <a:pt x="327481" y="4136"/>
                  </a:lnTo>
                  <a:lnTo>
                    <a:pt x="374444" y="16061"/>
                  </a:lnTo>
                  <a:lnTo>
                    <a:pt x="417688" y="35050"/>
                  </a:lnTo>
                  <a:lnTo>
                    <a:pt x="456430" y="60377"/>
                  </a:lnTo>
                  <a:lnTo>
                    <a:pt x="489886" y="91319"/>
                  </a:lnTo>
                  <a:lnTo>
                    <a:pt x="517272" y="127149"/>
                  </a:lnTo>
                  <a:lnTo>
                    <a:pt x="537804" y="167143"/>
                  </a:lnTo>
                  <a:lnTo>
                    <a:pt x="550698" y="210575"/>
                  </a:lnTo>
                  <a:lnTo>
                    <a:pt x="555170" y="256721"/>
                  </a:lnTo>
                  <a:lnTo>
                    <a:pt x="550698" y="302867"/>
                  </a:lnTo>
                  <a:lnTo>
                    <a:pt x="537804" y="346299"/>
                  </a:lnTo>
                  <a:lnTo>
                    <a:pt x="517272" y="386293"/>
                  </a:lnTo>
                  <a:lnTo>
                    <a:pt x="489886" y="422123"/>
                  </a:lnTo>
                  <a:lnTo>
                    <a:pt x="456430" y="453065"/>
                  </a:lnTo>
                  <a:lnTo>
                    <a:pt x="417688" y="478393"/>
                  </a:lnTo>
                  <a:lnTo>
                    <a:pt x="374444" y="497381"/>
                  </a:lnTo>
                  <a:lnTo>
                    <a:pt x="327481" y="509306"/>
                  </a:lnTo>
                  <a:lnTo>
                    <a:pt x="277585" y="513442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80095" y="2274206"/>
              <a:ext cx="555625" cy="513715"/>
            </a:xfrm>
            <a:custGeom>
              <a:avLst/>
              <a:gdLst/>
              <a:ahLst/>
              <a:cxnLst/>
              <a:rect l="l" t="t" r="r" b="b"/>
              <a:pathLst>
                <a:path w="555625" h="513714">
                  <a:moveTo>
                    <a:pt x="0" y="256721"/>
                  </a:moveTo>
                  <a:lnTo>
                    <a:pt x="4472" y="210575"/>
                  </a:lnTo>
                  <a:lnTo>
                    <a:pt x="17366" y="167143"/>
                  </a:lnTo>
                  <a:lnTo>
                    <a:pt x="37898" y="127149"/>
                  </a:lnTo>
                  <a:lnTo>
                    <a:pt x="65284" y="91319"/>
                  </a:lnTo>
                  <a:lnTo>
                    <a:pt x="98740" y="60377"/>
                  </a:lnTo>
                  <a:lnTo>
                    <a:pt x="137482" y="35050"/>
                  </a:lnTo>
                  <a:lnTo>
                    <a:pt x="180726" y="16061"/>
                  </a:lnTo>
                  <a:lnTo>
                    <a:pt x="227689" y="4136"/>
                  </a:lnTo>
                  <a:lnTo>
                    <a:pt x="277585" y="0"/>
                  </a:lnTo>
                  <a:lnTo>
                    <a:pt x="327481" y="4136"/>
                  </a:lnTo>
                  <a:lnTo>
                    <a:pt x="374444" y="16061"/>
                  </a:lnTo>
                  <a:lnTo>
                    <a:pt x="417688" y="35050"/>
                  </a:lnTo>
                  <a:lnTo>
                    <a:pt x="456430" y="60377"/>
                  </a:lnTo>
                  <a:lnTo>
                    <a:pt x="489886" y="91319"/>
                  </a:lnTo>
                  <a:lnTo>
                    <a:pt x="517272" y="127149"/>
                  </a:lnTo>
                  <a:lnTo>
                    <a:pt x="537804" y="167143"/>
                  </a:lnTo>
                  <a:lnTo>
                    <a:pt x="550698" y="210575"/>
                  </a:lnTo>
                  <a:lnTo>
                    <a:pt x="555170" y="256721"/>
                  </a:lnTo>
                  <a:lnTo>
                    <a:pt x="550698" y="302867"/>
                  </a:lnTo>
                  <a:lnTo>
                    <a:pt x="537804" y="346299"/>
                  </a:lnTo>
                  <a:lnTo>
                    <a:pt x="517272" y="386293"/>
                  </a:lnTo>
                  <a:lnTo>
                    <a:pt x="489886" y="422123"/>
                  </a:lnTo>
                  <a:lnTo>
                    <a:pt x="456430" y="453065"/>
                  </a:lnTo>
                  <a:lnTo>
                    <a:pt x="417688" y="478393"/>
                  </a:lnTo>
                  <a:lnTo>
                    <a:pt x="374444" y="497381"/>
                  </a:lnTo>
                  <a:lnTo>
                    <a:pt x="327481" y="509306"/>
                  </a:lnTo>
                  <a:lnTo>
                    <a:pt x="277585" y="513442"/>
                  </a:lnTo>
                  <a:lnTo>
                    <a:pt x="227689" y="509306"/>
                  </a:lnTo>
                  <a:lnTo>
                    <a:pt x="180726" y="497381"/>
                  </a:lnTo>
                  <a:lnTo>
                    <a:pt x="137482" y="478393"/>
                  </a:lnTo>
                  <a:lnTo>
                    <a:pt x="98740" y="453065"/>
                  </a:lnTo>
                  <a:lnTo>
                    <a:pt x="65284" y="422123"/>
                  </a:lnTo>
                  <a:lnTo>
                    <a:pt x="37898" y="386293"/>
                  </a:lnTo>
                  <a:lnTo>
                    <a:pt x="17366" y="346299"/>
                  </a:lnTo>
                  <a:lnTo>
                    <a:pt x="4472" y="302867"/>
                  </a:lnTo>
                  <a:lnTo>
                    <a:pt x="0" y="25672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642670" y="2436948"/>
            <a:ext cx="22987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5" dirty="0">
                <a:solidFill>
                  <a:srgbClr val="FFFFFF"/>
                </a:solidFill>
                <a:latin typeface="Arial"/>
                <a:cs typeface="Arial"/>
              </a:rPr>
              <a:t>API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1098434" y="2516781"/>
            <a:ext cx="1336675" cy="41275"/>
            <a:chOff x="1098434" y="2516781"/>
            <a:chExt cx="1336675" cy="41275"/>
          </a:xfrm>
        </p:grpSpPr>
        <p:sp>
          <p:nvSpPr>
            <p:cNvPr id="29" name="object 29"/>
            <p:cNvSpPr/>
            <p:nvPr/>
          </p:nvSpPr>
          <p:spPr>
            <a:xfrm>
              <a:off x="1098434" y="2537276"/>
              <a:ext cx="1289050" cy="0"/>
            </a:xfrm>
            <a:custGeom>
              <a:avLst/>
              <a:gdLst/>
              <a:ahLst/>
              <a:cxnLst/>
              <a:rect l="l" t="t" r="r" b="b"/>
              <a:pathLst>
                <a:path w="1289050">
                  <a:moveTo>
                    <a:pt x="0" y="0"/>
                  </a:moveTo>
                  <a:lnTo>
                    <a:pt x="1288615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387050" y="252154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387050" y="252154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2" name="object 32"/>
          <p:cNvGrpSpPr/>
          <p:nvPr/>
        </p:nvGrpSpPr>
        <p:grpSpPr>
          <a:xfrm>
            <a:off x="452389" y="2858584"/>
            <a:ext cx="231775" cy="315595"/>
            <a:chOff x="452389" y="2858584"/>
            <a:chExt cx="231775" cy="315595"/>
          </a:xfrm>
        </p:grpSpPr>
        <p:sp>
          <p:nvSpPr>
            <p:cNvPr id="33" name="object 33"/>
            <p:cNvSpPr/>
            <p:nvPr/>
          </p:nvSpPr>
          <p:spPr>
            <a:xfrm>
              <a:off x="457151" y="2898326"/>
              <a:ext cx="196850" cy="271145"/>
            </a:xfrm>
            <a:custGeom>
              <a:avLst/>
              <a:gdLst/>
              <a:ahLst/>
              <a:cxnLst/>
              <a:rect l="l" t="t" r="r" b="b"/>
              <a:pathLst>
                <a:path w="196850" h="271144">
                  <a:moveTo>
                    <a:pt x="0" y="271032"/>
                  </a:moveTo>
                  <a:lnTo>
                    <a:pt x="196766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41187" y="2863346"/>
              <a:ext cx="38735" cy="44450"/>
            </a:xfrm>
            <a:custGeom>
              <a:avLst/>
              <a:gdLst/>
              <a:ahLst/>
              <a:cxnLst/>
              <a:rect l="l" t="t" r="r" b="b"/>
              <a:pathLst>
                <a:path w="38734" h="44450">
                  <a:moveTo>
                    <a:pt x="25462" y="44222"/>
                  </a:moveTo>
                  <a:lnTo>
                    <a:pt x="0" y="25736"/>
                  </a:lnTo>
                  <a:lnTo>
                    <a:pt x="38125" y="0"/>
                  </a:lnTo>
                  <a:lnTo>
                    <a:pt x="25462" y="44222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41187" y="2863346"/>
              <a:ext cx="38735" cy="44450"/>
            </a:xfrm>
            <a:custGeom>
              <a:avLst/>
              <a:gdLst/>
              <a:ahLst/>
              <a:cxnLst/>
              <a:rect l="l" t="t" r="r" b="b"/>
              <a:pathLst>
                <a:path w="38734" h="44450">
                  <a:moveTo>
                    <a:pt x="25462" y="44222"/>
                  </a:moveTo>
                  <a:lnTo>
                    <a:pt x="38125" y="0"/>
                  </a:lnTo>
                  <a:lnTo>
                    <a:pt x="0" y="25736"/>
                  </a:lnTo>
                  <a:lnTo>
                    <a:pt x="25462" y="44222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167798" y="1522752"/>
            <a:ext cx="5886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Arial"/>
                <a:cs typeface="Arial"/>
              </a:rPr>
              <a:t>kubectl</a:t>
            </a:r>
            <a:endParaRPr sz="1400">
              <a:latin typeface="Arial"/>
              <a:cs typeface="Arial"/>
            </a:endParaRPr>
          </a:p>
        </p:txBody>
      </p:sp>
      <p:sp>
        <p:nvSpPr>
          <p:cNvPr id="38" name="object 3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25</a:t>
            </a:fld>
            <a:endParaRPr spc="-25" dirty="0"/>
          </a:p>
        </p:txBody>
      </p:sp>
      <p:sp>
        <p:nvSpPr>
          <p:cNvPr id="37" name="object 37"/>
          <p:cNvSpPr txBox="1"/>
          <p:nvPr/>
        </p:nvSpPr>
        <p:spPr>
          <a:xfrm>
            <a:off x="230890" y="3201248"/>
            <a:ext cx="2032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"/>
                <a:cs typeface="Arial"/>
              </a:rPr>
              <a:t>UI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272571" y="1469915"/>
            <a:ext cx="3349625" cy="1287145"/>
            <a:chOff x="5272571" y="1469915"/>
            <a:chExt cx="3349625" cy="128714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96609" y="1469915"/>
              <a:ext cx="2625063" cy="1286913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72571" y="1791642"/>
              <a:ext cx="724037" cy="724037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301625" y="249500"/>
            <a:ext cx="3134360" cy="4648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Captain of</a:t>
            </a:r>
            <a:r>
              <a:rPr spc="5" dirty="0"/>
              <a:t> </a:t>
            </a:r>
            <a:r>
              <a:rPr dirty="0"/>
              <a:t>the</a:t>
            </a:r>
            <a:r>
              <a:rPr spc="15" dirty="0"/>
              <a:t> </a:t>
            </a:r>
            <a:r>
              <a:rPr spc="-20" dirty="0"/>
              <a:t>Ship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35574" y="694042"/>
            <a:ext cx="5651500" cy="1282700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321310" indent="-308610">
              <a:lnSpc>
                <a:spcPct val="100000"/>
              </a:lnSpc>
              <a:spcBef>
                <a:spcPts val="655"/>
              </a:spcBef>
              <a:buChar char="-"/>
              <a:tabLst>
                <a:tab pos="321310" algn="l"/>
              </a:tabLst>
            </a:pP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Manages</a:t>
            </a:r>
            <a:r>
              <a:rPr sz="16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all</a:t>
            </a:r>
            <a:r>
              <a:rPr sz="16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sort</a:t>
            </a:r>
            <a:r>
              <a:rPr sz="16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of</a:t>
            </a:r>
            <a:r>
              <a:rPr sz="16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activity</a:t>
            </a:r>
            <a:r>
              <a:rPr sz="16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on</a:t>
            </a:r>
            <a:r>
              <a:rPr sz="16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sz="1600" spc="-20" dirty="0">
                <a:solidFill>
                  <a:srgbClr val="595959"/>
                </a:solidFill>
                <a:latin typeface="Arial"/>
                <a:cs typeface="Arial"/>
              </a:rPr>
              <a:t> ship</a:t>
            </a:r>
            <a:endParaRPr sz="1600">
              <a:latin typeface="Arial"/>
              <a:cs typeface="Arial"/>
            </a:endParaRPr>
          </a:p>
          <a:p>
            <a:pPr marL="321310" indent="-308610">
              <a:lnSpc>
                <a:spcPct val="100000"/>
              </a:lnSpc>
              <a:spcBef>
                <a:spcPts val="555"/>
              </a:spcBef>
              <a:buChar char="-"/>
              <a:tabLst>
                <a:tab pos="321310" algn="l"/>
              </a:tabLst>
            </a:pP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Let</a:t>
            </a:r>
            <a:r>
              <a:rPr sz="16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master</a:t>
            </a:r>
            <a:r>
              <a:rPr sz="16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ship</a:t>
            </a:r>
            <a:r>
              <a:rPr sz="16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knows</a:t>
            </a:r>
            <a:r>
              <a:rPr sz="16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they</a:t>
            </a:r>
            <a:r>
              <a:rPr sz="16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are</a:t>
            </a:r>
            <a:r>
              <a:rPr sz="16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interested</a:t>
            </a:r>
            <a:r>
              <a:rPr sz="16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to</a:t>
            </a:r>
            <a:r>
              <a:rPr sz="16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spc="-20" dirty="0">
                <a:solidFill>
                  <a:srgbClr val="595959"/>
                </a:solidFill>
                <a:latin typeface="Arial"/>
                <a:cs typeface="Arial"/>
              </a:rPr>
              <a:t>join</a:t>
            </a:r>
            <a:endParaRPr sz="1600">
              <a:latin typeface="Arial"/>
              <a:cs typeface="Arial"/>
            </a:endParaRPr>
          </a:p>
          <a:p>
            <a:pPr marL="321310" indent="-308610">
              <a:lnSpc>
                <a:spcPct val="100000"/>
              </a:lnSpc>
              <a:spcBef>
                <a:spcPts val="555"/>
              </a:spcBef>
              <a:buChar char="-"/>
              <a:tabLst>
                <a:tab pos="321310" algn="l"/>
              </a:tabLst>
            </a:pP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Sending</a:t>
            </a:r>
            <a:r>
              <a:rPr sz="16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reports</a:t>
            </a:r>
            <a:r>
              <a:rPr sz="16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back</a:t>
            </a:r>
            <a:r>
              <a:rPr sz="16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to</a:t>
            </a:r>
            <a:r>
              <a:rPr sz="16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master</a:t>
            </a:r>
            <a:r>
              <a:rPr sz="16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about</a:t>
            </a:r>
            <a:r>
              <a:rPr sz="16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sz="16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status</a:t>
            </a:r>
            <a:r>
              <a:rPr sz="16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of</a:t>
            </a:r>
            <a:r>
              <a:rPr sz="16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sz="16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spc="-20" dirty="0">
                <a:solidFill>
                  <a:srgbClr val="595959"/>
                </a:solidFill>
                <a:latin typeface="Arial"/>
                <a:cs typeface="Arial"/>
              </a:rPr>
              <a:t>ship</a:t>
            </a:r>
            <a:endParaRPr sz="1600">
              <a:latin typeface="Arial"/>
              <a:cs typeface="Arial"/>
            </a:endParaRPr>
          </a:p>
          <a:p>
            <a:pPr marL="321310" indent="-308610">
              <a:lnSpc>
                <a:spcPct val="100000"/>
              </a:lnSpc>
              <a:spcBef>
                <a:spcPts val="555"/>
              </a:spcBef>
              <a:buChar char="-"/>
              <a:tabLst>
                <a:tab pos="321310" algn="l"/>
              </a:tabLst>
            </a:pP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Sending</a:t>
            </a:r>
            <a:r>
              <a:rPr sz="160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reports</a:t>
            </a:r>
            <a:r>
              <a:rPr sz="16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about</a:t>
            </a:r>
            <a:r>
              <a:rPr sz="160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sz="16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status</a:t>
            </a:r>
            <a:r>
              <a:rPr sz="160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of</a:t>
            </a:r>
            <a:r>
              <a:rPr sz="16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sz="160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595959"/>
                </a:solidFill>
                <a:latin typeface="Arial"/>
                <a:cs typeface="Arial"/>
              </a:rPr>
              <a:t>containers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272571" y="2991668"/>
            <a:ext cx="3349625" cy="1287145"/>
            <a:chOff x="5272571" y="2991668"/>
            <a:chExt cx="3349625" cy="1287145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96609" y="2991668"/>
              <a:ext cx="2625063" cy="128691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72571" y="3233110"/>
              <a:ext cx="724037" cy="724037"/>
            </a:xfrm>
            <a:prstGeom prst="rect">
              <a:avLst/>
            </a:prstGeom>
          </p:spPr>
        </p:pic>
      </p:grp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1471" y="2528713"/>
            <a:ext cx="4086851" cy="927512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26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189745" y="1473215"/>
            <a:ext cx="3349625" cy="1287145"/>
            <a:chOff x="5189745" y="1473215"/>
            <a:chExt cx="3349625" cy="128714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13783" y="1473215"/>
              <a:ext cx="2625064" cy="1286913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89745" y="1769165"/>
              <a:ext cx="724037" cy="724037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30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5"/>
              </a:spcBef>
            </a:pPr>
            <a:r>
              <a:rPr dirty="0"/>
              <a:t>Captain</a:t>
            </a:r>
            <a:r>
              <a:rPr spc="10" dirty="0"/>
              <a:t> </a:t>
            </a:r>
            <a:r>
              <a:rPr dirty="0"/>
              <a:t>of</a:t>
            </a:r>
            <a:r>
              <a:rPr spc="5" dirty="0"/>
              <a:t> </a:t>
            </a:r>
            <a:r>
              <a:rPr dirty="0"/>
              <a:t>the</a:t>
            </a:r>
            <a:r>
              <a:rPr spc="5" dirty="0"/>
              <a:t> </a:t>
            </a:r>
            <a:r>
              <a:rPr dirty="0"/>
              <a:t>Ship</a:t>
            </a:r>
            <a:r>
              <a:rPr spc="10" dirty="0"/>
              <a:t> </a:t>
            </a:r>
            <a:r>
              <a:rPr dirty="0"/>
              <a:t>~</a:t>
            </a:r>
            <a:r>
              <a:rPr spc="25" dirty="0"/>
              <a:t> </a:t>
            </a:r>
            <a:r>
              <a:rPr spc="-10" dirty="0">
                <a:solidFill>
                  <a:srgbClr val="4008FF"/>
                </a:solidFill>
              </a:rPr>
              <a:t>Kubelet</a:t>
            </a:r>
          </a:p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sz="1600" dirty="0">
                <a:solidFill>
                  <a:srgbClr val="595959"/>
                </a:solidFill>
              </a:rPr>
              <a:t>Agent</a:t>
            </a:r>
            <a:r>
              <a:rPr sz="1600" spc="-20" dirty="0">
                <a:solidFill>
                  <a:srgbClr val="595959"/>
                </a:solidFill>
              </a:rPr>
              <a:t> </a:t>
            </a:r>
            <a:r>
              <a:rPr sz="1600" dirty="0">
                <a:solidFill>
                  <a:srgbClr val="595959"/>
                </a:solidFill>
              </a:rPr>
              <a:t>which</a:t>
            </a:r>
            <a:r>
              <a:rPr sz="1600" spc="-20" dirty="0">
                <a:solidFill>
                  <a:srgbClr val="595959"/>
                </a:solidFill>
              </a:rPr>
              <a:t> </a:t>
            </a:r>
            <a:r>
              <a:rPr sz="1600" dirty="0">
                <a:solidFill>
                  <a:srgbClr val="595959"/>
                </a:solidFill>
              </a:rPr>
              <a:t>runs</a:t>
            </a:r>
            <a:r>
              <a:rPr sz="1600" spc="-20" dirty="0">
                <a:solidFill>
                  <a:srgbClr val="595959"/>
                </a:solidFill>
              </a:rPr>
              <a:t> </a:t>
            </a:r>
            <a:r>
              <a:rPr sz="1600" dirty="0">
                <a:solidFill>
                  <a:srgbClr val="595959"/>
                </a:solidFill>
              </a:rPr>
              <a:t>on</a:t>
            </a:r>
            <a:r>
              <a:rPr sz="1600" spc="-20" dirty="0">
                <a:solidFill>
                  <a:srgbClr val="595959"/>
                </a:solidFill>
              </a:rPr>
              <a:t> </a:t>
            </a:r>
            <a:r>
              <a:rPr sz="1600" dirty="0">
                <a:solidFill>
                  <a:srgbClr val="595959"/>
                </a:solidFill>
              </a:rPr>
              <a:t>each</a:t>
            </a:r>
            <a:r>
              <a:rPr sz="1600" spc="-15" dirty="0">
                <a:solidFill>
                  <a:srgbClr val="595959"/>
                </a:solidFill>
              </a:rPr>
              <a:t> </a:t>
            </a:r>
            <a:r>
              <a:rPr sz="1600" dirty="0">
                <a:solidFill>
                  <a:srgbClr val="595959"/>
                </a:solidFill>
              </a:rPr>
              <a:t>nodes</a:t>
            </a:r>
            <a:r>
              <a:rPr sz="1600" spc="-20" dirty="0">
                <a:solidFill>
                  <a:srgbClr val="595959"/>
                </a:solidFill>
              </a:rPr>
              <a:t> </a:t>
            </a:r>
            <a:r>
              <a:rPr sz="1600" dirty="0">
                <a:solidFill>
                  <a:srgbClr val="595959"/>
                </a:solidFill>
              </a:rPr>
              <a:t>of</a:t>
            </a:r>
            <a:r>
              <a:rPr sz="1600" spc="-20" dirty="0">
                <a:solidFill>
                  <a:srgbClr val="595959"/>
                </a:solidFill>
              </a:rPr>
              <a:t> </a:t>
            </a:r>
            <a:r>
              <a:rPr sz="1600" dirty="0">
                <a:solidFill>
                  <a:srgbClr val="595959"/>
                </a:solidFill>
              </a:rPr>
              <a:t>the</a:t>
            </a:r>
            <a:r>
              <a:rPr sz="1600" spc="-20" dirty="0">
                <a:solidFill>
                  <a:srgbClr val="595959"/>
                </a:solidFill>
              </a:rPr>
              <a:t> </a:t>
            </a:r>
            <a:r>
              <a:rPr sz="1600" spc="-10" dirty="0">
                <a:solidFill>
                  <a:srgbClr val="595959"/>
                </a:solidFill>
              </a:rPr>
              <a:t>container</a:t>
            </a:r>
            <a:endParaRPr sz="1600"/>
          </a:p>
        </p:txBody>
      </p:sp>
      <p:grpSp>
        <p:nvGrpSpPr>
          <p:cNvPr id="6" name="object 6"/>
          <p:cNvGrpSpPr/>
          <p:nvPr/>
        </p:nvGrpSpPr>
        <p:grpSpPr>
          <a:xfrm>
            <a:off x="5272571" y="2998271"/>
            <a:ext cx="3349625" cy="1287145"/>
            <a:chOff x="5272571" y="2998271"/>
            <a:chExt cx="3349625" cy="128714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96609" y="2998271"/>
              <a:ext cx="2625063" cy="128691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72571" y="3233111"/>
              <a:ext cx="724037" cy="724037"/>
            </a:xfrm>
            <a:prstGeom prst="rect">
              <a:avLst/>
            </a:prstGeom>
          </p:spPr>
        </p:pic>
      </p:grp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1471" y="2528713"/>
            <a:ext cx="4086851" cy="927512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27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707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Overview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27510" y="4085495"/>
            <a:ext cx="12274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Worker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Node-</a:t>
            </a:r>
            <a:r>
              <a:rPr sz="1400" spc="-50" dirty="0">
                <a:latin typeface="Arial"/>
                <a:cs typeface="Arial"/>
              </a:rPr>
              <a:t>1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303129" y="1133020"/>
            <a:ext cx="6751955" cy="3035300"/>
            <a:chOff x="1303129" y="1133020"/>
            <a:chExt cx="6751955" cy="3035300"/>
          </a:xfrm>
        </p:grpSpPr>
        <p:sp>
          <p:nvSpPr>
            <p:cNvPr id="5" name="object 5"/>
            <p:cNvSpPr/>
            <p:nvPr/>
          </p:nvSpPr>
          <p:spPr>
            <a:xfrm>
              <a:off x="5120346" y="1139370"/>
              <a:ext cx="2927985" cy="2881630"/>
            </a:xfrm>
            <a:custGeom>
              <a:avLst/>
              <a:gdLst/>
              <a:ahLst/>
              <a:cxnLst/>
              <a:rect l="l" t="t" r="r" b="b"/>
              <a:pathLst>
                <a:path w="2927984" h="2881629">
                  <a:moveTo>
                    <a:pt x="0" y="480190"/>
                  </a:moveTo>
                  <a:lnTo>
                    <a:pt x="2479" y="431093"/>
                  </a:lnTo>
                  <a:lnTo>
                    <a:pt x="9755" y="383415"/>
                  </a:lnTo>
                  <a:lnTo>
                    <a:pt x="21588" y="337396"/>
                  </a:lnTo>
                  <a:lnTo>
                    <a:pt x="37735" y="293278"/>
                  </a:lnTo>
                  <a:lnTo>
                    <a:pt x="57956" y="251303"/>
                  </a:lnTo>
                  <a:lnTo>
                    <a:pt x="82008" y="211711"/>
                  </a:lnTo>
                  <a:lnTo>
                    <a:pt x="109652" y="174744"/>
                  </a:lnTo>
                  <a:lnTo>
                    <a:pt x="140644" y="140644"/>
                  </a:lnTo>
                  <a:lnTo>
                    <a:pt x="174744" y="109652"/>
                  </a:lnTo>
                  <a:lnTo>
                    <a:pt x="211711" y="82008"/>
                  </a:lnTo>
                  <a:lnTo>
                    <a:pt x="251303" y="57956"/>
                  </a:lnTo>
                  <a:lnTo>
                    <a:pt x="293278" y="37735"/>
                  </a:lnTo>
                  <a:lnTo>
                    <a:pt x="337396" y="21588"/>
                  </a:lnTo>
                  <a:lnTo>
                    <a:pt x="383415" y="9755"/>
                  </a:lnTo>
                  <a:lnTo>
                    <a:pt x="431093" y="2479"/>
                  </a:lnTo>
                  <a:lnTo>
                    <a:pt x="480190" y="0"/>
                  </a:lnTo>
                  <a:lnTo>
                    <a:pt x="2447632" y="0"/>
                  </a:lnTo>
                  <a:lnTo>
                    <a:pt x="2495093" y="2349"/>
                  </a:lnTo>
                  <a:lnTo>
                    <a:pt x="2541750" y="9311"/>
                  </a:lnTo>
                  <a:lnTo>
                    <a:pt x="2587288" y="20756"/>
                  </a:lnTo>
                  <a:lnTo>
                    <a:pt x="2631393" y="36552"/>
                  </a:lnTo>
                  <a:lnTo>
                    <a:pt x="2673749" y="56569"/>
                  </a:lnTo>
                  <a:lnTo>
                    <a:pt x="2714042" y="80677"/>
                  </a:lnTo>
                  <a:lnTo>
                    <a:pt x="2751956" y="108746"/>
                  </a:lnTo>
                  <a:lnTo>
                    <a:pt x="2787177" y="140644"/>
                  </a:lnTo>
                  <a:lnTo>
                    <a:pt x="2819076" y="175865"/>
                  </a:lnTo>
                  <a:lnTo>
                    <a:pt x="2847145" y="213780"/>
                  </a:lnTo>
                  <a:lnTo>
                    <a:pt x="2871253" y="254073"/>
                  </a:lnTo>
                  <a:lnTo>
                    <a:pt x="2891270" y="296429"/>
                  </a:lnTo>
                  <a:lnTo>
                    <a:pt x="2907066" y="340534"/>
                  </a:lnTo>
                  <a:lnTo>
                    <a:pt x="2918510" y="386072"/>
                  </a:lnTo>
                  <a:lnTo>
                    <a:pt x="2925472" y="432729"/>
                  </a:lnTo>
                  <a:lnTo>
                    <a:pt x="2927822" y="480190"/>
                  </a:lnTo>
                  <a:lnTo>
                    <a:pt x="2927822" y="2400894"/>
                  </a:lnTo>
                  <a:lnTo>
                    <a:pt x="2925343" y="2449991"/>
                  </a:lnTo>
                  <a:lnTo>
                    <a:pt x="2918066" y="2497669"/>
                  </a:lnTo>
                  <a:lnTo>
                    <a:pt x="2906234" y="2543688"/>
                  </a:lnTo>
                  <a:lnTo>
                    <a:pt x="2890086" y="2587806"/>
                  </a:lnTo>
                  <a:lnTo>
                    <a:pt x="2869866" y="2629781"/>
                  </a:lnTo>
                  <a:lnTo>
                    <a:pt x="2845813" y="2669373"/>
                  </a:lnTo>
                  <a:lnTo>
                    <a:pt x="2818170" y="2706340"/>
                  </a:lnTo>
                  <a:lnTo>
                    <a:pt x="2787178" y="2740440"/>
                  </a:lnTo>
                  <a:lnTo>
                    <a:pt x="2753078" y="2771432"/>
                  </a:lnTo>
                  <a:lnTo>
                    <a:pt x="2716111" y="2799075"/>
                  </a:lnTo>
                  <a:lnTo>
                    <a:pt x="2676519" y="2823128"/>
                  </a:lnTo>
                  <a:lnTo>
                    <a:pt x="2634544" y="2843349"/>
                  </a:lnTo>
                  <a:lnTo>
                    <a:pt x="2590426" y="2859496"/>
                  </a:lnTo>
                  <a:lnTo>
                    <a:pt x="2544407" y="2871328"/>
                  </a:lnTo>
                  <a:lnTo>
                    <a:pt x="2496729" y="2878605"/>
                  </a:lnTo>
                  <a:lnTo>
                    <a:pt x="2447632" y="2881084"/>
                  </a:lnTo>
                  <a:lnTo>
                    <a:pt x="480190" y="2881084"/>
                  </a:lnTo>
                  <a:lnTo>
                    <a:pt x="431093" y="2878605"/>
                  </a:lnTo>
                  <a:lnTo>
                    <a:pt x="383415" y="2871328"/>
                  </a:lnTo>
                  <a:lnTo>
                    <a:pt x="337396" y="2859496"/>
                  </a:lnTo>
                  <a:lnTo>
                    <a:pt x="293278" y="2843349"/>
                  </a:lnTo>
                  <a:lnTo>
                    <a:pt x="251303" y="2823128"/>
                  </a:lnTo>
                  <a:lnTo>
                    <a:pt x="211711" y="2799075"/>
                  </a:lnTo>
                  <a:lnTo>
                    <a:pt x="174744" y="2771432"/>
                  </a:lnTo>
                  <a:lnTo>
                    <a:pt x="140644" y="2740440"/>
                  </a:lnTo>
                  <a:lnTo>
                    <a:pt x="109652" y="2706340"/>
                  </a:lnTo>
                  <a:lnTo>
                    <a:pt x="82008" y="2669373"/>
                  </a:lnTo>
                  <a:lnTo>
                    <a:pt x="57956" y="2629781"/>
                  </a:lnTo>
                  <a:lnTo>
                    <a:pt x="37735" y="2587806"/>
                  </a:lnTo>
                  <a:lnTo>
                    <a:pt x="21588" y="2543688"/>
                  </a:lnTo>
                  <a:lnTo>
                    <a:pt x="9755" y="2497669"/>
                  </a:lnTo>
                  <a:lnTo>
                    <a:pt x="2479" y="2449991"/>
                  </a:lnTo>
                  <a:lnTo>
                    <a:pt x="0" y="2400894"/>
                  </a:lnTo>
                  <a:lnTo>
                    <a:pt x="0" y="48019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309479" y="1222827"/>
              <a:ext cx="2489200" cy="2939415"/>
            </a:xfrm>
            <a:custGeom>
              <a:avLst/>
              <a:gdLst/>
              <a:ahLst/>
              <a:cxnLst/>
              <a:rect l="l" t="t" r="r" b="b"/>
              <a:pathLst>
                <a:path w="2489200" h="2939415">
                  <a:moveTo>
                    <a:pt x="2074324" y="2939142"/>
                  </a:moveTo>
                  <a:lnTo>
                    <a:pt x="414874" y="2939142"/>
                  </a:lnTo>
                  <a:lnTo>
                    <a:pt x="366491" y="2936351"/>
                  </a:lnTo>
                  <a:lnTo>
                    <a:pt x="319747" y="2928185"/>
                  </a:lnTo>
                  <a:lnTo>
                    <a:pt x="274954" y="2914956"/>
                  </a:lnTo>
                  <a:lnTo>
                    <a:pt x="232423" y="2896974"/>
                  </a:lnTo>
                  <a:lnTo>
                    <a:pt x="192465" y="2874551"/>
                  </a:lnTo>
                  <a:lnTo>
                    <a:pt x="155391" y="2847999"/>
                  </a:lnTo>
                  <a:lnTo>
                    <a:pt x="121514" y="2817628"/>
                  </a:lnTo>
                  <a:lnTo>
                    <a:pt x="91143" y="2783751"/>
                  </a:lnTo>
                  <a:lnTo>
                    <a:pt x="64591" y="2746677"/>
                  </a:lnTo>
                  <a:lnTo>
                    <a:pt x="42168" y="2706719"/>
                  </a:lnTo>
                  <a:lnTo>
                    <a:pt x="24186" y="2664188"/>
                  </a:lnTo>
                  <a:lnTo>
                    <a:pt x="10957" y="2619394"/>
                  </a:lnTo>
                  <a:lnTo>
                    <a:pt x="2791" y="2572651"/>
                  </a:lnTo>
                  <a:lnTo>
                    <a:pt x="0" y="2524267"/>
                  </a:lnTo>
                  <a:lnTo>
                    <a:pt x="0" y="414874"/>
                  </a:lnTo>
                  <a:lnTo>
                    <a:pt x="2700" y="368062"/>
                  </a:lnTo>
                  <a:lnTo>
                    <a:pt x="10957" y="319747"/>
                  </a:lnTo>
                  <a:lnTo>
                    <a:pt x="24186" y="274954"/>
                  </a:lnTo>
                  <a:lnTo>
                    <a:pt x="42168" y="232423"/>
                  </a:lnTo>
                  <a:lnTo>
                    <a:pt x="64591" y="192465"/>
                  </a:lnTo>
                  <a:lnTo>
                    <a:pt x="91143" y="155391"/>
                  </a:lnTo>
                  <a:lnTo>
                    <a:pt x="121514" y="121514"/>
                  </a:lnTo>
                  <a:lnTo>
                    <a:pt x="155391" y="91143"/>
                  </a:lnTo>
                  <a:lnTo>
                    <a:pt x="192465" y="64591"/>
                  </a:lnTo>
                  <a:lnTo>
                    <a:pt x="232423" y="42168"/>
                  </a:lnTo>
                  <a:lnTo>
                    <a:pt x="274954" y="24186"/>
                  </a:lnTo>
                  <a:lnTo>
                    <a:pt x="319747" y="10957"/>
                  </a:lnTo>
                  <a:lnTo>
                    <a:pt x="366491" y="2791"/>
                  </a:lnTo>
                  <a:lnTo>
                    <a:pt x="414874" y="0"/>
                  </a:lnTo>
                  <a:lnTo>
                    <a:pt x="2074324" y="0"/>
                  </a:lnTo>
                  <a:lnTo>
                    <a:pt x="2121137" y="2648"/>
                  </a:lnTo>
                  <a:lnTo>
                    <a:pt x="2166992" y="10480"/>
                  </a:lnTo>
                  <a:lnTo>
                    <a:pt x="2211483" y="23328"/>
                  </a:lnTo>
                  <a:lnTo>
                    <a:pt x="2254204" y="41023"/>
                  </a:lnTo>
                  <a:lnTo>
                    <a:pt x="2294749" y="63398"/>
                  </a:lnTo>
                  <a:lnTo>
                    <a:pt x="2332711" y="90284"/>
                  </a:lnTo>
                  <a:lnTo>
                    <a:pt x="2367685" y="121514"/>
                  </a:lnTo>
                  <a:lnTo>
                    <a:pt x="2398915" y="156488"/>
                  </a:lnTo>
                  <a:lnTo>
                    <a:pt x="2425801" y="194450"/>
                  </a:lnTo>
                  <a:lnTo>
                    <a:pt x="2448176" y="234995"/>
                  </a:lnTo>
                  <a:lnTo>
                    <a:pt x="2465871" y="277716"/>
                  </a:lnTo>
                  <a:lnTo>
                    <a:pt x="2478719" y="322207"/>
                  </a:lnTo>
                  <a:lnTo>
                    <a:pt x="2486551" y="368062"/>
                  </a:lnTo>
                  <a:lnTo>
                    <a:pt x="2489199" y="414874"/>
                  </a:lnTo>
                  <a:lnTo>
                    <a:pt x="2489199" y="2524267"/>
                  </a:lnTo>
                  <a:lnTo>
                    <a:pt x="2486408" y="2572651"/>
                  </a:lnTo>
                  <a:lnTo>
                    <a:pt x="2478242" y="2619394"/>
                  </a:lnTo>
                  <a:lnTo>
                    <a:pt x="2465013" y="2664188"/>
                  </a:lnTo>
                  <a:lnTo>
                    <a:pt x="2447031" y="2706719"/>
                  </a:lnTo>
                  <a:lnTo>
                    <a:pt x="2424608" y="2746677"/>
                  </a:lnTo>
                  <a:lnTo>
                    <a:pt x="2398056" y="2783751"/>
                  </a:lnTo>
                  <a:lnTo>
                    <a:pt x="2367685" y="2817628"/>
                  </a:lnTo>
                  <a:lnTo>
                    <a:pt x="2333808" y="2847999"/>
                  </a:lnTo>
                  <a:lnTo>
                    <a:pt x="2296734" y="2874551"/>
                  </a:lnTo>
                  <a:lnTo>
                    <a:pt x="2256776" y="2896974"/>
                  </a:lnTo>
                  <a:lnTo>
                    <a:pt x="2214245" y="2914956"/>
                  </a:lnTo>
                  <a:lnTo>
                    <a:pt x="2169451" y="2928185"/>
                  </a:lnTo>
                  <a:lnTo>
                    <a:pt x="2122708" y="2936351"/>
                  </a:lnTo>
                  <a:lnTo>
                    <a:pt x="2074324" y="2939142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309479" y="1222827"/>
              <a:ext cx="2489200" cy="2939415"/>
            </a:xfrm>
            <a:custGeom>
              <a:avLst/>
              <a:gdLst/>
              <a:ahLst/>
              <a:cxnLst/>
              <a:rect l="l" t="t" r="r" b="b"/>
              <a:pathLst>
                <a:path w="2489200" h="2939415">
                  <a:moveTo>
                    <a:pt x="0" y="414874"/>
                  </a:moveTo>
                  <a:lnTo>
                    <a:pt x="2791" y="366491"/>
                  </a:lnTo>
                  <a:lnTo>
                    <a:pt x="10957" y="319747"/>
                  </a:lnTo>
                  <a:lnTo>
                    <a:pt x="24186" y="274954"/>
                  </a:lnTo>
                  <a:lnTo>
                    <a:pt x="42168" y="232423"/>
                  </a:lnTo>
                  <a:lnTo>
                    <a:pt x="64591" y="192465"/>
                  </a:lnTo>
                  <a:lnTo>
                    <a:pt x="91143" y="155391"/>
                  </a:lnTo>
                  <a:lnTo>
                    <a:pt x="121514" y="121514"/>
                  </a:lnTo>
                  <a:lnTo>
                    <a:pt x="155391" y="91143"/>
                  </a:lnTo>
                  <a:lnTo>
                    <a:pt x="192465" y="64591"/>
                  </a:lnTo>
                  <a:lnTo>
                    <a:pt x="232423" y="42168"/>
                  </a:lnTo>
                  <a:lnTo>
                    <a:pt x="274954" y="24186"/>
                  </a:lnTo>
                  <a:lnTo>
                    <a:pt x="319747" y="10957"/>
                  </a:lnTo>
                  <a:lnTo>
                    <a:pt x="366491" y="2791"/>
                  </a:lnTo>
                  <a:lnTo>
                    <a:pt x="414874" y="0"/>
                  </a:lnTo>
                  <a:lnTo>
                    <a:pt x="2074324" y="0"/>
                  </a:lnTo>
                  <a:lnTo>
                    <a:pt x="2121137" y="2648"/>
                  </a:lnTo>
                  <a:lnTo>
                    <a:pt x="2166992" y="10480"/>
                  </a:lnTo>
                  <a:lnTo>
                    <a:pt x="2211483" y="23328"/>
                  </a:lnTo>
                  <a:lnTo>
                    <a:pt x="2254204" y="41023"/>
                  </a:lnTo>
                  <a:lnTo>
                    <a:pt x="2294749" y="63398"/>
                  </a:lnTo>
                  <a:lnTo>
                    <a:pt x="2332711" y="90284"/>
                  </a:lnTo>
                  <a:lnTo>
                    <a:pt x="2367685" y="121514"/>
                  </a:lnTo>
                  <a:lnTo>
                    <a:pt x="2398915" y="156488"/>
                  </a:lnTo>
                  <a:lnTo>
                    <a:pt x="2425801" y="194450"/>
                  </a:lnTo>
                  <a:lnTo>
                    <a:pt x="2448176" y="234995"/>
                  </a:lnTo>
                  <a:lnTo>
                    <a:pt x="2465871" y="277716"/>
                  </a:lnTo>
                  <a:lnTo>
                    <a:pt x="2478719" y="322207"/>
                  </a:lnTo>
                  <a:lnTo>
                    <a:pt x="2486551" y="368062"/>
                  </a:lnTo>
                  <a:lnTo>
                    <a:pt x="2489199" y="414874"/>
                  </a:lnTo>
                  <a:lnTo>
                    <a:pt x="2489199" y="2524267"/>
                  </a:lnTo>
                  <a:lnTo>
                    <a:pt x="2486408" y="2572651"/>
                  </a:lnTo>
                  <a:lnTo>
                    <a:pt x="2478242" y="2619394"/>
                  </a:lnTo>
                  <a:lnTo>
                    <a:pt x="2465013" y="2664188"/>
                  </a:lnTo>
                  <a:lnTo>
                    <a:pt x="2447031" y="2706719"/>
                  </a:lnTo>
                  <a:lnTo>
                    <a:pt x="2424608" y="2746677"/>
                  </a:lnTo>
                  <a:lnTo>
                    <a:pt x="2398056" y="2783751"/>
                  </a:lnTo>
                  <a:lnTo>
                    <a:pt x="2367685" y="2817628"/>
                  </a:lnTo>
                  <a:lnTo>
                    <a:pt x="2333808" y="2847999"/>
                  </a:lnTo>
                  <a:lnTo>
                    <a:pt x="2296734" y="2874551"/>
                  </a:lnTo>
                  <a:lnTo>
                    <a:pt x="2256776" y="2896974"/>
                  </a:lnTo>
                  <a:lnTo>
                    <a:pt x="2214245" y="2914956"/>
                  </a:lnTo>
                  <a:lnTo>
                    <a:pt x="2169451" y="2928185"/>
                  </a:lnTo>
                  <a:lnTo>
                    <a:pt x="2122708" y="2936351"/>
                  </a:lnTo>
                  <a:lnTo>
                    <a:pt x="2074324" y="2939142"/>
                  </a:lnTo>
                  <a:lnTo>
                    <a:pt x="414874" y="2939142"/>
                  </a:lnTo>
                  <a:lnTo>
                    <a:pt x="366491" y="2936351"/>
                  </a:lnTo>
                  <a:lnTo>
                    <a:pt x="319747" y="2928185"/>
                  </a:lnTo>
                  <a:lnTo>
                    <a:pt x="274954" y="2914956"/>
                  </a:lnTo>
                  <a:lnTo>
                    <a:pt x="232423" y="2896974"/>
                  </a:lnTo>
                  <a:lnTo>
                    <a:pt x="192465" y="2874551"/>
                  </a:lnTo>
                  <a:lnTo>
                    <a:pt x="155391" y="2847999"/>
                  </a:lnTo>
                  <a:lnTo>
                    <a:pt x="121514" y="2817628"/>
                  </a:lnTo>
                  <a:lnTo>
                    <a:pt x="91143" y="2783751"/>
                  </a:lnTo>
                  <a:lnTo>
                    <a:pt x="64591" y="2746677"/>
                  </a:lnTo>
                  <a:lnTo>
                    <a:pt x="42168" y="2706719"/>
                  </a:lnTo>
                  <a:lnTo>
                    <a:pt x="24186" y="2664188"/>
                  </a:lnTo>
                  <a:lnTo>
                    <a:pt x="10957" y="2619394"/>
                  </a:lnTo>
                  <a:lnTo>
                    <a:pt x="2791" y="2572651"/>
                  </a:lnTo>
                  <a:lnTo>
                    <a:pt x="0" y="2524267"/>
                  </a:lnTo>
                  <a:lnTo>
                    <a:pt x="0" y="414874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554079" y="1599548"/>
              <a:ext cx="1082040" cy="521334"/>
            </a:xfrm>
            <a:custGeom>
              <a:avLst/>
              <a:gdLst/>
              <a:ahLst/>
              <a:cxnLst/>
              <a:rect l="l" t="t" r="r" b="b"/>
              <a:pathLst>
                <a:path w="1082039" h="521335">
                  <a:moveTo>
                    <a:pt x="994909" y="521024"/>
                  </a:moveTo>
                  <a:lnTo>
                    <a:pt x="86839" y="521024"/>
                  </a:lnTo>
                  <a:lnTo>
                    <a:pt x="53037" y="514200"/>
                  </a:lnTo>
                  <a:lnTo>
                    <a:pt x="25434" y="495590"/>
                  </a:lnTo>
                  <a:lnTo>
                    <a:pt x="6824" y="467987"/>
                  </a:lnTo>
                  <a:lnTo>
                    <a:pt x="0" y="434185"/>
                  </a:lnTo>
                  <a:lnTo>
                    <a:pt x="0" y="86839"/>
                  </a:lnTo>
                  <a:lnTo>
                    <a:pt x="6824" y="53037"/>
                  </a:lnTo>
                  <a:lnTo>
                    <a:pt x="25434" y="25434"/>
                  </a:lnTo>
                  <a:lnTo>
                    <a:pt x="53037" y="6824"/>
                  </a:lnTo>
                  <a:lnTo>
                    <a:pt x="86839" y="0"/>
                  </a:lnTo>
                  <a:lnTo>
                    <a:pt x="994909" y="0"/>
                  </a:lnTo>
                  <a:lnTo>
                    <a:pt x="1043088" y="14590"/>
                  </a:lnTo>
                  <a:lnTo>
                    <a:pt x="1075138" y="53607"/>
                  </a:lnTo>
                  <a:lnTo>
                    <a:pt x="1081748" y="86839"/>
                  </a:lnTo>
                  <a:lnTo>
                    <a:pt x="1081748" y="434185"/>
                  </a:lnTo>
                  <a:lnTo>
                    <a:pt x="1074924" y="467987"/>
                  </a:lnTo>
                  <a:lnTo>
                    <a:pt x="1056314" y="495590"/>
                  </a:lnTo>
                  <a:lnTo>
                    <a:pt x="1028711" y="514200"/>
                  </a:lnTo>
                  <a:lnTo>
                    <a:pt x="994909" y="521024"/>
                  </a:lnTo>
                  <a:close/>
                </a:path>
              </a:pathLst>
            </a:custGeom>
            <a:solidFill>
              <a:srgbClr val="00B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554079" y="1599548"/>
              <a:ext cx="1082040" cy="521334"/>
            </a:xfrm>
            <a:custGeom>
              <a:avLst/>
              <a:gdLst/>
              <a:ahLst/>
              <a:cxnLst/>
              <a:rect l="l" t="t" r="r" b="b"/>
              <a:pathLst>
                <a:path w="1082039" h="521335">
                  <a:moveTo>
                    <a:pt x="0" y="86839"/>
                  </a:moveTo>
                  <a:lnTo>
                    <a:pt x="6824" y="53037"/>
                  </a:lnTo>
                  <a:lnTo>
                    <a:pt x="25434" y="25434"/>
                  </a:lnTo>
                  <a:lnTo>
                    <a:pt x="53037" y="6824"/>
                  </a:lnTo>
                  <a:lnTo>
                    <a:pt x="86839" y="0"/>
                  </a:lnTo>
                  <a:lnTo>
                    <a:pt x="994909" y="0"/>
                  </a:lnTo>
                  <a:lnTo>
                    <a:pt x="1043088" y="14590"/>
                  </a:lnTo>
                  <a:lnTo>
                    <a:pt x="1075138" y="53607"/>
                  </a:lnTo>
                  <a:lnTo>
                    <a:pt x="1081748" y="86839"/>
                  </a:lnTo>
                  <a:lnTo>
                    <a:pt x="1081748" y="434185"/>
                  </a:lnTo>
                  <a:lnTo>
                    <a:pt x="1074924" y="467987"/>
                  </a:lnTo>
                  <a:lnTo>
                    <a:pt x="1056314" y="495590"/>
                  </a:lnTo>
                  <a:lnTo>
                    <a:pt x="1028711" y="514200"/>
                  </a:lnTo>
                  <a:lnTo>
                    <a:pt x="994909" y="521024"/>
                  </a:lnTo>
                  <a:lnTo>
                    <a:pt x="86839" y="521024"/>
                  </a:lnTo>
                  <a:lnTo>
                    <a:pt x="53037" y="514200"/>
                  </a:lnTo>
                  <a:lnTo>
                    <a:pt x="25434" y="495590"/>
                  </a:lnTo>
                  <a:lnTo>
                    <a:pt x="6824" y="467987"/>
                  </a:lnTo>
                  <a:lnTo>
                    <a:pt x="0" y="434185"/>
                  </a:lnTo>
                  <a:lnTo>
                    <a:pt x="0" y="86839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315483" y="4249203"/>
            <a:ext cx="5689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Arial"/>
                <a:cs typeface="Arial"/>
              </a:rPr>
              <a:t>Master</a:t>
            </a:r>
            <a:endParaRPr sz="14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682167" y="1735474"/>
            <a:ext cx="82613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Scheduler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387022" y="3105662"/>
            <a:ext cx="1010285" cy="522605"/>
            <a:chOff x="1387022" y="3105662"/>
            <a:chExt cx="1010285" cy="522605"/>
          </a:xfrm>
        </p:grpSpPr>
        <p:sp>
          <p:nvSpPr>
            <p:cNvPr id="13" name="object 13"/>
            <p:cNvSpPr/>
            <p:nvPr/>
          </p:nvSpPr>
          <p:spPr>
            <a:xfrm>
              <a:off x="1393372" y="3112012"/>
              <a:ext cx="997585" cy="509905"/>
            </a:xfrm>
            <a:custGeom>
              <a:avLst/>
              <a:gdLst/>
              <a:ahLst/>
              <a:cxnLst/>
              <a:rect l="l" t="t" r="r" b="b"/>
              <a:pathLst>
                <a:path w="997585" h="509904">
                  <a:moveTo>
                    <a:pt x="912104" y="509300"/>
                  </a:moveTo>
                  <a:lnTo>
                    <a:pt x="84885" y="509300"/>
                  </a:lnTo>
                  <a:lnTo>
                    <a:pt x="51844" y="502630"/>
                  </a:lnTo>
                  <a:lnTo>
                    <a:pt x="24862" y="484438"/>
                  </a:lnTo>
                  <a:lnTo>
                    <a:pt x="6670" y="457457"/>
                  </a:lnTo>
                  <a:lnTo>
                    <a:pt x="0" y="424415"/>
                  </a:lnTo>
                  <a:lnTo>
                    <a:pt x="0" y="84885"/>
                  </a:lnTo>
                  <a:lnTo>
                    <a:pt x="6670" y="51844"/>
                  </a:lnTo>
                  <a:lnTo>
                    <a:pt x="24862" y="24862"/>
                  </a:lnTo>
                  <a:lnTo>
                    <a:pt x="51844" y="6670"/>
                  </a:lnTo>
                  <a:lnTo>
                    <a:pt x="84885" y="0"/>
                  </a:lnTo>
                  <a:lnTo>
                    <a:pt x="912104" y="0"/>
                  </a:lnTo>
                  <a:lnTo>
                    <a:pt x="959199" y="14261"/>
                  </a:lnTo>
                  <a:lnTo>
                    <a:pt x="990528" y="52401"/>
                  </a:lnTo>
                  <a:lnTo>
                    <a:pt x="996989" y="84885"/>
                  </a:lnTo>
                  <a:lnTo>
                    <a:pt x="996989" y="424415"/>
                  </a:lnTo>
                  <a:lnTo>
                    <a:pt x="990319" y="457457"/>
                  </a:lnTo>
                  <a:lnTo>
                    <a:pt x="972127" y="484438"/>
                  </a:lnTo>
                  <a:lnTo>
                    <a:pt x="945145" y="502630"/>
                  </a:lnTo>
                  <a:lnTo>
                    <a:pt x="912104" y="5093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393372" y="3112012"/>
              <a:ext cx="997585" cy="509905"/>
            </a:xfrm>
            <a:custGeom>
              <a:avLst/>
              <a:gdLst/>
              <a:ahLst/>
              <a:cxnLst/>
              <a:rect l="l" t="t" r="r" b="b"/>
              <a:pathLst>
                <a:path w="997585" h="509904">
                  <a:moveTo>
                    <a:pt x="0" y="84885"/>
                  </a:moveTo>
                  <a:lnTo>
                    <a:pt x="6670" y="51844"/>
                  </a:lnTo>
                  <a:lnTo>
                    <a:pt x="24862" y="24862"/>
                  </a:lnTo>
                  <a:lnTo>
                    <a:pt x="51844" y="6670"/>
                  </a:lnTo>
                  <a:lnTo>
                    <a:pt x="84885" y="0"/>
                  </a:lnTo>
                  <a:lnTo>
                    <a:pt x="912104" y="0"/>
                  </a:lnTo>
                  <a:lnTo>
                    <a:pt x="959199" y="14261"/>
                  </a:lnTo>
                  <a:lnTo>
                    <a:pt x="990528" y="52401"/>
                  </a:lnTo>
                  <a:lnTo>
                    <a:pt x="996989" y="84885"/>
                  </a:lnTo>
                  <a:lnTo>
                    <a:pt x="996989" y="424415"/>
                  </a:lnTo>
                  <a:lnTo>
                    <a:pt x="990319" y="457457"/>
                  </a:lnTo>
                  <a:lnTo>
                    <a:pt x="972127" y="484438"/>
                  </a:lnTo>
                  <a:lnTo>
                    <a:pt x="945145" y="502630"/>
                  </a:lnTo>
                  <a:lnTo>
                    <a:pt x="912104" y="509300"/>
                  </a:lnTo>
                  <a:lnTo>
                    <a:pt x="84885" y="509300"/>
                  </a:lnTo>
                  <a:lnTo>
                    <a:pt x="51844" y="502630"/>
                  </a:lnTo>
                  <a:lnTo>
                    <a:pt x="24862" y="484438"/>
                  </a:lnTo>
                  <a:lnTo>
                    <a:pt x="6670" y="457457"/>
                  </a:lnTo>
                  <a:lnTo>
                    <a:pt x="0" y="424415"/>
                  </a:lnTo>
                  <a:lnTo>
                    <a:pt x="0" y="84885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637301" y="3242076"/>
            <a:ext cx="50990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Arial"/>
                <a:cs typeface="Arial"/>
              </a:rPr>
              <a:t>ETCD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2547729" y="3105661"/>
            <a:ext cx="1094740" cy="522605"/>
            <a:chOff x="2547729" y="3105661"/>
            <a:chExt cx="1094740" cy="522605"/>
          </a:xfrm>
        </p:grpSpPr>
        <p:sp>
          <p:nvSpPr>
            <p:cNvPr id="17" name="object 17"/>
            <p:cNvSpPr/>
            <p:nvPr/>
          </p:nvSpPr>
          <p:spPr>
            <a:xfrm>
              <a:off x="2554079" y="3112011"/>
              <a:ext cx="1082040" cy="509905"/>
            </a:xfrm>
            <a:custGeom>
              <a:avLst/>
              <a:gdLst/>
              <a:ahLst/>
              <a:cxnLst/>
              <a:rect l="l" t="t" r="r" b="b"/>
              <a:pathLst>
                <a:path w="1082039" h="509904">
                  <a:moveTo>
                    <a:pt x="996863" y="509301"/>
                  </a:moveTo>
                  <a:lnTo>
                    <a:pt x="84885" y="509301"/>
                  </a:lnTo>
                  <a:lnTo>
                    <a:pt x="51844" y="502631"/>
                  </a:lnTo>
                  <a:lnTo>
                    <a:pt x="24862" y="484439"/>
                  </a:lnTo>
                  <a:lnTo>
                    <a:pt x="6670" y="457457"/>
                  </a:lnTo>
                  <a:lnTo>
                    <a:pt x="0" y="424416"/>
                  </a:lnTo>
                  <a:lnTo>
                    <a:pt x="0" y="84885"/>
                  </a:lnTo>
                  <a:lnTo>
                    <a:pt x="6670" y="51844"/>
                  </a:lnTo>
                  <a:lnTo>
                    <a:pt x="24862" y="24862"/>
                  </a:lnTo>
                  <a:lnTo>
                    <a:pt x="51844" y="6670"/>
                  </a:lnTo>
                  <a:lnTo>
                    <a:pt x="84885" y="0"/>
                  </a:lnTo>
                  <a:lnTo>
                    <a:pt x="996863" y="0"/>
                  </a:lnTo>
                  <a:lnTo>
                    <a:pt x="1043958" y="14261"/>
                  </a:lnTo>
                  <a:lnTo>
                    <a:pt x="1075287" y="52401"/>
                  </a:lnTo>
                  <a:lnTo>
                    <a:pt x="1081748" y="84885"/>
                  </a:lnTo>
                  <a:lnTo>
                    <a:pt x="1081748" y="424416"/>
                  </a:lnTo>
                  <a:lnTo>
                    <a:pt x="1075078" y="457457"/>
                  </a:lnTo>
                  <a:lnTo>
                    <a:pt x="1056886" y="484439"/>
                  </a:lnTo>
                  <a:lnTo>
                    <a:pt x="1029904" y="502631"/>
                  </a:lnTo>
                  <a:lnTo>
                    <a:pt x="996863" y="509301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554079" y="3112011"/>
              <a:ext cx="1082040" cy="509905"/>
            </a:xfrm>
            <a:custGeom>
              <a:avLst/>
              <a:gdLst/>
              <a:ahLst/>
              <a:cxnLst/>
              <a:rect l="l" t="t" r="r" b="b"/>
              <a:pathLst>
                <a:path w="1082039" h="509904">
                  <a:moveTo>
                    <a:pt x="0" y="84885"/>
                  </a:moveTo>
                  <a:lnTo>
                    <a:pt x="6670" y="51844"/>
                  </a:lnTo>
                  <a:lnTo>
                    <a:pt x="24862" y="24862"/>
                  </a:lnTo>
                  <a:lnTo>
                    <a:pt x="51844" y="6670"/>
                  </a:lnTo>
                  <a:lnTo>
                    <a:pt x="84885" y="0"/>
                  </a:lnTo>
                  <a:lnTo>
                    <a:pt x="996863" y="0"/>
                  </a:lnTo>
                  <a:lnTo>
                    <a:pt x="1043958" y="14261"/>
                  </a:lnTo>
                  <a:lnTo>
                    <a:pt x="1075287" y="52401"/>
                  </a:lnTo>
                  <a:lnTo>
                    <a:pt x="1081748" y="84885"/>
                  </a:lnTo>
                  <a:lnTo>
                    <a:pt x="1081748" y="424416"/>
                  </a:lnTo>
                  <a:lnTo>
                    <a:pt x="1075078" y="457457"/>
                  </a:lnTo>
                  <a:lnTo>
                    <a:pt x="1056886" y="484439"/>
                  </a:lnTo>
                  <a:lnTo>
                    <a:pt x="1029904" y="502631"/>
                  </a:lnTo>
                  <a:lnTo>
                    <a:pt x="996863" y="509301"/>
                  </a:lnTo>
                  <a:lnTo>
                    <a:pt x="84885" y="509301"/>
                  </a:lnTo>
                  <a:lnTo>
                    <a:pt x="51844" y="502631"/>
                  </a:lnTo>
                  <a:lnTo>
                    <a:pt x="24862" y="484439"/>
                  </a:lnTo>
                  <a:lnTo>
                    <a:pt x="6670" y="457457"/>
                  </a:lnTo>
                  <a:lnTo>
                    <a:pt x="0" y="424416"/>
                  </a:lnTo>
                  <a:lnTo>
                    <a:pt x="0" y="84885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2697091" y="3137300"/>
            <a:ext cx="796290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46990" marR="5080" indent="-34925">
              <a:lnSpc>
                <a:spcPts val="1650"/>
              </a:lnSpc>
              <a:spcBef>
                <a:spcPts val="180"/>
              </a:spcBef>
            </a:pP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Controller Manager</a:t>
            </a:r>
            <a:endParaRPr sz="14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554079" y="2315029"/>
            <a:ext cx="1082040" cy="501015"/>
          </a:xfrm>
          <a:prstGeom prst="rect">
            <a:avLst/>
          </a:prstGeom>
          <a:solidFill>
            <a:srgbClr val="92D050"/>
          </a:solidFill>
          <a:ln w="12699">
            <a:solidFill>
              <a:srgbClr val="127BB4"/>
            </a:solidFill>
          </a:ln>
        </p:spPr>
        <p:txBody>
          <a:bodyPr vert="horz" wrap="square" lIns="0" tIns="138430" rIns="0" bIns="0" rtlCol="0">
            <a:spAutoFit/>
          </a:bodyPr>
          <a:lstStyle/>
          <a:p>
            <a:pPr marL="111125">
              <a:lnSpc>
                <a:spcPct val="100000"/>
              </a:lnSpc>
              <a:spcBef>
                <a:spcPts val="1090"/>
              </a:spcBef>
            </a:pP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API</a:t>
            </a:r>
            <a:r>
              <a:rPr sz="14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Server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5320393" y="1490108"/>
            <a:ext cx="930910" cy="387350"/>
            <a:chOff x="5320393" y="1490108"/>
            <a:chExt cx="930910" cy="387350"/>
          </a:xfrm>
        </p:grpSpPr>
        <p:sp>
          <p:nvSpPr>
            <p:cNvPr id="22" name="object 22"/>
            <p:cNvSpPr/>
            <p:nvPr/>
          </p:nvSpPr>
          <p:spPr>
            <a:xfrm>
              <a:off x="5326743" y="1496458"/>
              <a:ext cx="918210" cy="374650"/>
            </a:xfrm>
            <a:custGeom>
              <a:avLst/>
              <a:gdLst/>
              <a:ahLst/>
              <a:cxnLst/>
              <a:rect l="l" t="t" r="r" b="b"/>
              <a:pathLst>
                <a:path w="918210" h="374650">
                  <a:moveTo>
                    <a:pt x="855192" y="374394"/>
                  </a:moveTo>
                  <a:lnTo>
                    <a:pt x="62400" y="374394"/>
                  </a:lnTo>
                  <a:lnTo>
                    <a:pt x="38111" y="369491"/>
                  </a:lnTo>
                  <a:lnTo>
                    <a:pt x="18276" y="356118"/>
                  </a:lnTo>
                  <a:lnTo>
                    <a:pt x="4903" y="336283"/>
                  </a:lnTo>
                  <a:lnTo>
                    <a:pt x="0" y="311994"/>
                  </a:lnTo>
                  <a:lnTo>
                    <a:pt x="0" y="62400"/>
                  </a:lnTo>
                  <a:lnTo>
                    <a:pt x="4821" y="38520"/>
                  </a:lnTo>
                  <a:lnTo>
                    <a:pt x="4903" y="38111"/>
                  </a:lnTo>
                  <a:lnTo>
                    <a:pt x="18276" y="18276"/>
                  </a:lnTo>
                  <a:lnTo>
                    <a:pt x="38111" y="4903"/>
                  </a:lnTo>
                  <a:lnTo>
                    <a:pt x="62400" y="0"/>
                  </a:lnTo>
                  <a:lnTo>
                    <a:pt x="855192" y="0"/>
                  </a:lnTo>
                  <a:lnTo>
                    <a:pt x="899316" y="18276"/>
                  </a:lnTo>
                  <a:lnTo>
                    <a:pt x="917592" y="62400"/>
                  </a:lnTo>
                  <a:lnTo>
                    <a:pt x="917592" y="311994"/>
                  </a:lnTo>
                  <a:lnTo>
                    <a:pt x="912689" y="336283"/>
                  </a:lnTo>
                  <a:lnTo>
                    <a:pt x="899316" y="356118"/>
                  </a:lnTo>
                  <a:lnTo>
                    <a:pt x="879481" y="369491"/>
                  </a:lnTo>
                  <a:lnTo>
                    <a:pt x="855192" y="374394"/>
                  </a:lnTo>
                  <a:close/>
                </a:path>
              </a:pathLst>
            </a:custGeom>
            <a:solidFill>
              <a:srgbClr val="4008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326743" y="1496458"/>
              <a:ext cx="918210" cy="374650"/>
            </a:xfrm>
            <a:custGeom>
              <a:avLst/>
              <a:gdLst/>
              <a:ahLst/>
              <a:cxnLst/>
              <a:rect l="l" t="t" r="r" b="b"/>
              <a:pathLst>
                <a:path w="918210" h="374650">
                  <a:moveTo>
                    <a:pt x="0" y="62400"/>
                  </a:moveTo>
                  <a:lnTo>
                    <a:pt x="4903" y="38111"/>
                  </a:lnTo>
                  <a:lnTo>
                    <a:pt x="18276" y="18276"/>
                  </a:lnTo>
                  <a:lnTo>
                    <a:pt x="38111" y="4903"/>
                  </a:lnTo>
                  <a:lnTo>
                    <a:pt x="62400" y="0"/>
                  </a:lnTo>
                  <a:lnTo>
                    <a:pt x="855192" y="0"/>
                  </a:lnTo>
                  <a:lnTo>
                    <a:pt x="899316" y="18276"/>
                  </a:lnTo>
                  <a:lnTo>
                    <a:pt x="917592" y="62400"/>
                  </a:lnTo>
                  <a:lnTo>
                    <a:pt x="917592" y="311994"/>
                  </a:lnTo>
                  <a:lnTo>
                    <a:pt x="912689" y="336283"/>
                  </a:lnTo>
                  <a:lnTo>
                    <a:pt x="899316" y="356118"/>
                  </a:lnTo>
                  <a:lnTo>
                    <a:pt x="879481" y="369491"/>
                  </a:lnTo>
                  <a:lnTo>
                    <a:pt x="855192" y="374394"/>
                  </a:lnTo>
                  <a:lnTo>
                    <a:pt x="62400" y="374394"/>
                  </a:lnTo>
                  <a:lnTo>
                    <a:pt x="38111" y="369491"/>
                  </a:lnTo>
                  <a:lnTo>
                    <a:pt x="18276" y="356118"/>
                  </a:lnTo>
                  <a:lnTo>
                    <a:pt x="4903" y="336283"/>
                  </a:lnTo>
                  <a:lnTo>
                    <a:pt x="0" y="311994"/>
                  </a:lnTo>
                  <a:lnTo>
                    <a:pt x="0" y="6240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5428336" y="1539003"/>
            <a:ext cx="71374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solidFill>
                  <a:srgbClr val="FFFFFF"/>
                </a:solidFill>
                <a:latin typeface="Arial"/>
                <a:cs typeface="Arial"/>
              </a:rPr>
              <a:t>Kubelet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1098434" y="1629904"/>
            <a:ext cx="6774815" cy="2295525"/>
            <a:chOff x="1098434" y="1629904"/>
            <a:chExt cx="6774815" cy="2295525"/>
          </a:xfrm>
        </p:grpSpPr>
        <p:sp>
          <p:nvSpPr>
            <p:cNvPr id="26" name="object 26"/>
            <p:cNvSpPr/>
            <p:nvPr/>
          </p:nvSpPr>
          <p:spPr>
            <a:xfrm>
              <a:off x="3686628" y="1650400"/>
              <a:ext cx="1532255" cy="838835"/>
            </a:xfrm>
            <a:custGeom>
              <a:avLst/>
              <a:gdLst/>
              <a:ahLst/>
              <a:cxnLst/>
              <a:rect l="l" t="t" r="r" b="b"/>
              <a:pathLst>
                <a:path w="1532254" h="838835">
                  <a:moveTo>
                    <a:pt x="0" y="838799"/>
                  </a:moveTo>
                  <a:lnTo>
                    <a:pt x="794699" y="838799"/>
                  </a:lnTo>
                  <a:lnTo>
                    <a:pt x="794699" y="0"/>
                  </a:lnTo>
                  <a:lnTo>
                    <a:pt x="1532249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218879" y="163466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218879" y="163466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435599" y="2579913"/>
              <a:ext cx="2431415" cy="1339215"/>
            </a:xfrm>
            <a:custGeom>
              <a:avLst/>
              <a:gdLst/>
              <a:ahLst/>
              <a:cxnLst/>
              <a:rect l="l" t="t" r="r" b="b"/>
              <a:pathLst>
                <a:path w="2431415" h="1339214">
                  <a:moveTo>
                    <a:pt x="0" y="223161"/>
                  </a:moveTo>
                  <a:lnTo>
                    <a:pt x="4533" y="178186"/>
                  </a:lnTo>
                  <a:lnTo>
                    <a:pt x="17537" y="136296"/>
                  </a:lnTo>
                  <a:lnTo>
                    <a:pt x="38112" y="98389"/>
                  </a:lnTo>
                  <a:lnTo>
                    <a:pt x="65362" y="65362"/>
                  </a:lnTo>
                  <a:lnTo>
                    <a:pt x="98389" y="38112"/>
                  </a:lnTo>
                  <a:lnTo>
                    <a:pt x="136296" y="17537"/>
                  </a:lnTo>
                  <a:lnTo>
                    <a:pt x="178186" y="4533"/>
                  </a:lnTo>
                  <a:lnTo>
                    <a:pt x="223161" y="0"/>
                  </a:lnTo>
                  <a:lnTo>
                    <a:pt x="2207981" y="0"/>
                  </a:lnTo>
                  <a:lnTo>
                    <a:pt x="2251721" y="4327"/>
                  </a:lnTo>
                  <a:lnTo>
                    <a:pt x="2293381" y="16987"/>
                  </a:lnTo>
                  <a:lnTo>
                    <a:pt x="2331791" y="37493"/>
                  </a:lnTo>
                  <a:lnTo>
                    <a:pt x="2365780" y="65362"/>
                  </a:lnTo>
                  <a:lnTo>
                    <a:pt x="2393649" y="99351"/>
                  </a:lnTo>
                  <a:lnTo>
                    <a:pt x="2414155" y="137761"/>
                  </a:lnTo>
                  <a:lnTo>
                    <a:pt x="2426815" y="179421"/>
                  </a:lnTo>
                  <a:lnTo>
                    <a:pt x="2431142" y="223161"/>
                  </a:lnTo>
                  <a:lnTo>
                    <a:pt x="2431142" y="1115780"/>
                  </a:lnTo>
                  <a:lnTo>
                    <a:pt x="2426609" y="1160755"/>
                  </a:lnTo>
                  <a:lnTo>
                    <a:pt x="2413605" y="1202645"/>
                  </a:lnTo>
                  <a:lnTo>
                    <a:pt x="2393030" y="1240552"/>
                  </a:lnTo>
                  <a:lnTo>
                    <a:pt x="2365780" y="1273579"/>
                  </a:lnTo>
                  <a:lnTo>
                    <a:pt x="2332753" y="1300829"/>
                  </a:lnTo>
                  <a:lnTo>
                    <a:pt x="2294846" y="1321404"/>
                  </a:lnTo>
                  <a:lnTo>
                    <a:pt x="2252956" y="1334408"/>
                  </a:lnTo>
                  <a:lnTo>
                    <a:pt x="2207981" y="1338941"/>
                  </a:lnTo>
                  <a:lnTo>
                    <a:pt x="223161" y="1338941"/>
                  </a:lnTo>
                  <a:lnTo>
                    <a:pt x="178186" y="1334408"/>
                  </a:lnTo>
                  <a:lnTo>
                    <a:pt x="136296" y="1321404"/>
                  </a:lnTo>
                  <a:lnTo>
                    <a:pt x="98389" y="1300829"/>
                  </a:lnTo>
                  <a:lnTo>
                    <a:pt x="65362" y="1273579"/>
                  </a:lnTo>
                  <a:lnTo>
                    <a:pt x="38112" y="1240552"/>
                  </a:lnTo>
                  <a:lnTo>
                    <a:pt x="17537" y="1202645"/>
                  </a:lnTo>
                  <a:lnTo>
                    <a:pt x="4533" y="1160755"/>
                  </a:lnTo>
                  <a:lnTo>
                    <a:pt x="0" y="1115780"/>
                  </a:lnTo>
                  <a:lnTo>
                    <a:pt x="0" y="22316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098434" y="2537277"/>
              <a:ext cx="1289050" cy="0"/>
            </a:xfrm>
            <a:custGeom>
              <a:avLst/>
              <a:gdLst/>
              <a:ahLst/>
              <a:cxnLst/>
              <a:rect l="l" t="t" r="r" b="b"/>
              <a:pathLst>
                <a:path w="1289050">
                  <a:moveTo>
                    <a:pt x="0" y="0"/>
                  </a:moveTo>
                  <a:lnTo>
                    <a:pt x="1288615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387050" y="252154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387050" y="252154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3" name="object 33"/>
          <p:cNvGrpSpPr/>
          <p:nvPr/>
        </p:nvGrpSpPr>
        <p:grpSpPr>
          <a:xfrm>
            <a:off x="473745" y="1798313"/>
            <a:ext cx="568325" cy="996315"/>
            <a:chOff x="473745" y="1798313"/>
            <a:chExt cx="568325" cy="996315"/>
          </a:xfrm>
        </p:grpSpPr>
        <p:sp>
          <p:nvSpPr>
            <p:cNvPr id="34" name="object 34"/>
            <p:cNvSpPr/>
            <p:nvPr/>
          </p:nvSpPr>
          <p:spPr>
            <a:xfrm>
              <a:off x="483816" y="1803075"/>
              <a:ext cx="178435" cy="415290"/>
            </a:xfrm>
            <a:custGeom>
              <a:avLst/>
              <a:gdLst/>
              <a:ahLst/>
              <a:cxnLst/>
              <a:rect l="l" t="t" r="r" b="b"/>
              <a:pathLst>
                <a:path w="178434" h="415289">
                  <a:moveTo>
                    <a:pt x="0" y="0"/>
                  </a:moveTo>
                  <a:lnTo>
                    <a:pt x="178150" y="414987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47509" y="2211857"/>
              <a:ext cx="31750" cy="46355"/>
            </a:xfrm>
            <a:custGeom>
              <a:avLst/>
              <a:gdLst/>
              <a:ahLst/>
              <a:cxnLst/>
              <a:rect l="l" t="t" r="r" b="b"/>
              <a:pathLst>
                <a:path w="31750" h="46355">
                  <a:moveTo>
                    <a:pt x="31508" y="45926"/>
                  </a:moveTo>
                  <a:lnTo>
                    <a:pt x="0" y="12412"/>
                  </a:lnTo>
                  <a:lnTo>
                    <a:pt x="28913" y="0"/>
                  </a:lnTo>
                  <a:lnTo>
                    <a:pt x="31508" y="45926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47509" y="2211857"/>
              <a:ext cx="31750" cy="46355"/>
            </a:xfrm>
            <a:custGeom>
              <a:avLst/>
              <a:gdLst/>
              <a:ahLst/>
              <a:cxnLst/>
              <a:rect l="l" t="t" r="r" b="b"/>
              <a:pathLst>
                <a:path w="31750" h="46355">
                  <a:moveTo>
                    <a:pt x="0" y="12412"/>
                  </a:moveTo>
                  <a:lnTo>
                    <a:pt x="31508" y="45926"/>
                  </a:lnTo>
                  <a:lnTo>
                    <a:pt x="28913" y="0"/>
                  </a:lnTo>
                  <a:lnTo>
                    <a:pt x="0" y="12412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80095" y="2274206"/>
              <a:ext cx="555625" cy="513715"/>
            </a:xfrm>
            <a:custGeom>
              <a:avLst/>
              <a:gdLst/>
              <a:ahLst/>
              <a:cxnLst/>
              <a:rect l="l" t="t" r="r" b="b"/>
              <a:pathLst>
                <a:path w="555625" h="513714">
                  <a:moveTo>
                    <a:pt x="277585" y="513442"/>
                  </a:moveTo>
                  <a:lnTo>
                    <a:pt x="227689" y="509306"/>
                  </a:lnTo>
                  <a:lnTo>
                    <a:pt x="180726" y="497381"/>
                  </a:lnTo>
                  <a:lnTo>
                    <a:pt x="137482" y="478393"/>
                  </a:lnTo>
                  <a:lnTo>
                    <a:pt x="98740" y="453065"/>
                  </a:lnTo>
                  <a:lnTo>
                    <a:pt x="65284" y="422123"/>
                  </a:lnTo>
                  <a:lnTo>
                    <a:pt x="37898" y="386293"/>
                  </a:lnTo>
                  <a:lnTo>
                    <a:pt x="17366" y="346299"/>
                  </a:lnTo>
                  <a:lnTo>
                    <a:pt x="4472" y="302867"/>
                  </a:lnTo>
                  <a:lnTo>
                    <a:pt x="0" y="256721"/>
                  </a:lnTo>
                  <a:lnTo>
                    <a:pt x="4472" y="210575"/>
                  </a:lnTo>
                  <a:lnTo>
                    <a:pt x="17366" y="167143"/>
                  </a:lnTo>
                  <a:lnTo>
                    <a:pt x="37898" y="127149"/>
                  </a:lnTo>
                  <a:lnTo>
                    <a:pt x="65284" y="91319"/>
                  </a:lnTo>
                  <a:lnTo>
                    <a:pt x="98740" y="60377"/>
                  </a:lnTo>
                  <a:lnTo>
                    <a:pt x="137482" y="35050"/>
                  </a:lnTo>
                  <a:lnTo>
                    <a:pt x="180726" y="16061"/>
                  </a:lnTo>
                  <a:lnTo>
                    <a:pt x="227689" y="4136"/>
                  </a:lnTo>
                  <a:lnTo>
                    <a:pt x="277585" y="0"/>
                  </a:lnTo>
                  <a:lnTo>
                    <a:pt x="327481" y="4136"/>
                  </a:lnTo>
                  <a:lnTo>
                    <a:pt x="374444" y="16061"/>
                  </a:lnTo>
                  <a:lnTo>
                    <a:pt x="417688" y="35050"/>
                  </a:lnTo>
                  <a:lnTo>
                    <a:pt x="456430" y="60377"/>
                  </a:lnTo>
                  <a:lnTo>
                    <a:pt x="489886" y="91319"/>
                  </a:lnTo>
                  <a:lnTo>
                    <a:pt x="517272" y="127149"/>
                  </a:lnTo>
                  <a:lnTo>
                    <a:pt x="537804" y="167143"/>
                  </a:lnTo>
                  <a:lnTo>
                    <a:pt x="550698" y="210575"/>
                  </a:lnTo>
                  <a:lnTo>
                    <a:pt x="555170" y="256721"/>
                  </a:lnTo>
                  <a:lnTo>
                    <a:pt x="550698" y="302867"/>
                  </a:lnTo>
                  <a:lnTo>
                    <a:pt x="537804" y="346299"/>
                  </a:lnTo>
                  <a:lnTo>
                    <a:pt x="517272" y="386293"/>
                  </a:lnTo>
                  <a:lnTo>
                    <a:pt x="489886" y="422123"/>
                  </a:lnTo>
                  <a:lnTo>
                    <a:pt x="456430" y="453065"/>
                  </a:lnTo>
                  <a:lnTo>
                    <a:pt x="417688" y="478393"/>
                  </a:lnTo>
                  <a:lnTo>
                    <a:pt x="374444" y="497381"/>
                  </a:lnTo>
                  <a:lnTo>
                    <a:pt x="327481" y="509306"/>
                  </a:lnTo>
                  <a:lnTo>
                    <a:pt x="277585" y="513442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80095" y="2274206"/>
              <a:ext cx="555625" cy="513715"/>
            </a:xfrm>
            <a:custGeom>
              <a:avLst/>
              <a:gdLst/>
              <a:ahLst/>
              <a:cxnLst/>
              <a:rect l="l" t="t" r="r" b="b"/>
              <a:pathLst>
                <a:path w="555625" h="513714">
                  <a:moveTo>
                    <a:pt x="0" y="256721"/>
                  </a:moveTo>
                  <a:lnTo>
                    <a:pt x="4472" y="210575"/>
                  </a:lnTo>
                  <a:lnTo>
                    <a:pt x="17366" y="167143"/>
                  </a:lnTo>
                  <a:lnTo>
                    <a:pt x="37898" y="127149"/>
                  </a:lnTo>
                  <a:lnTo>
                    <a:pt x="65284" y="91319"/>
                  </a:lnTo>
                  <a:lnTo>
                    <a:pt x="98740" y="60377"/>
                  </a:lnTo>
                  <a:lnTo>
                    <a:pt x="137482" y="35050"/>
                  </a:lnTo>
                  <a:lnTo>
                    <a:pt x="180726" y="16061"/>
                  </a:lnTo>
                  <a:lnTo>
                    <a:pt x="227689" y="4136"/>
                  </a:lnTo>
                  <a:lnTo>
                    <a:pt x="277585" y="0"/>
                  </a:lnTo>
                  <a:lnTo>
                    <a:pt x="327481" y="4136"/>
                  </a:lnTo>
                  <a:lnTo>
                    <a:pt x="374444" y="16061"/>
                  </a:lnTo>
                  <a:lnTo>
                    <a:pt x="417688" y="35050"/>
                  </a:lnTo>
                  <a:lnTo>
                    <a:pt x="456430" y="60377"/>
                  </a:lnTo>
                  <a:lnTo>
                    <a:pt x="489886" y="91319"/>
                  </a:lnTo>
                  <a:lnTo>
                    <a:pt x="517272" y="127149"/>
                  </a:lnTo>
                  <a:lnTo>
                    <a:pt x="537804" y="167143"/>
                  </a:lnTo>
                  <a:lnTo>
                    <a:pt x="550698" y="210575"/>
                  </a:lnTo>
                  <a:lnTo>
                    <a:pt x="555170" y="256721"/>
                  </a:lnTo>
                  <a:lnTo>
                    <a:pt x="550698" y="302867"/>
                  </a:lnTo>
                  <a:lnTo>
                    <a:pt x="537804" y="346299"/>
                  </a:lnTo>
                  <a:lnTo>
                    <a:pt x="517272" y="386293"/>
                  </a:lnTo>
                  <a:lnTo>
                    <a:pt x="489886" y="422123"/>
                  </a:lnTo>
                  <a:lnTo>
                    <a:pt x="456430" y="453065"/>
                  </a:lnTo>
                  <a:lnTo>
                    <a:pt x="417688" y="478393"/>
                  </a:lnTo>
                  <a:lnTo>
                    <a:pt x="374444" y="497381"/>
                  </a:lnTo>
                  <a:lnTo>
                    <a:pt x="327481" y="509306"/>
                  </a:lnTo>
                  <a:lnTo>
                    <a:pt x="277585" y="513442"/>
                  </a:lnTo>
                  <a:lnTo>
                    <a:pt x="227689" y="509306"/>
                  </a:lnTo>
                  <a:lnTo>
                    <a:pt x="180726" y="497381"/>
                  </a:lnTo>
                  <a:lnTo>
                    <a:pt x="137482" y="478393"/>
                  </a:lnTo>
                  <a:lnTo>
                    <a:pt x="98740" y="453065"/>
                  </a:lnTo>
                  <a:lnTo>
                    <a:pt x="65284" y="422123"/>
                  </a:lnTo>
                  <a:lnTo>
                    <a:pt x="37898" y="386293"/>
                  </a:lnTo>
                  <a:lnTo>
                    <a:pt x="17366" y="346299"/>
                  </a:lnTo>
                  <a:lnTo>
                    <a:pt x="4472" y="302867"/>
                  </a:lnTo>
                  <a:lnTo>
                    <a:pt x="0" y="25672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642670" y="2436948"/>
            <a:ext cx="22987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5" dirty="0">
                <a:solidFill>
                  <a:srgbClr val="FFFFFF"/>
                </a:solidFill>
                <a:latin typeface="Arial"/>
                <a:cs typeface="Arial"/>
              </a:rPr>
              <a:t>API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452389" y="2858584"/>
            <a:ext cx="231775" cy="315595"/>
            <a:chOff x="452389" y="2858584"/>
            <a:chExt cx="231775" cy="315595"/>
          </a:xfrm>
        </p:grpSpPr>
        <p:sp>
          <p:nvSpPr>
            <p:cNvPr id="41" name="object 41"/>
            <p:cNvSpPr/>
            <p:nvPr/>
          </p:nvSpPr>
          <p:spPr>
            <a:xfrm>
              <a:off x="457151" y="2898326"/>
              <a:ext cx="196850" cy="271145"/>
            </a:xfrm>
            <a:custGeom>
              <a:avLst/>
              <a:gdLst/>
              <a:ahLst/>
              <a:cxnLst/>
              <a:rect l="l" t="t" r="r" b="b"/>
              <a:pathLst>
                <a:path w="196850" h="271144">
                  <a:moveTo>
                    <a:pt x="0" y="271032"/>
                  </a:moveTo>
                  <a:lnTo>
                    <a:pt x="196766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641187" y="2863346"/>
              <a:ext cx="38735" cy="44450"/>
            </a:xfrm>
            <a:custGeom>
              <a:avLst/>
              <a:gdLst/>
              <a:ahLst/>
              <a:cxnLst/>
              <a:rect l="l" t="t" r="r" b="b"/>
              <a:pathLst>
                <a:path w="38734" h="44450">
                  <a:moveTo>
                    <a:pt x="25462" y="44222"/>
                  </a:moveTo>
                  <a:lnTo>
                    <a:pt x="0" y="25736"/>
                  </a:lnTo>
                  <a:lnTo>
                    <a:pt x="38125" y="0"/>
                  </a:lnTo>
                  <a:lnTo>
                    <a:pt x="25462" y="44222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641187" y="2863346"/>
              <a:ext cx="38735" cy="44450"/>
            </a:xfrm>
            <a:custGeom>
              <a:avLst/>
              <a:gdLst/>
              <a:ahLst/>
              <a:cxnLst/>
              <a:rect l="l" t="t" r="r" b="b"/>
              <a:pathLst>
                <a:path w="38734" h="44450">
                  <a:moveTo>
                    <a:pt x="25462" y="44222"/>
                  </a:moveTo>
                  <a:lnTo>
                    <a:pt x="38125" y="0"/>
                  </a:lnTo>
                  <a:lnTo>
                    <a:pt x="0" y="25736"/>
                  </a:lnTo>
                  <a:lnTo>
                    <a:pt x="25462" y="44222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167798" y="1522752"/>
            <a:ext cx="5886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Arial"/>
                <a:cs typeface="Arial"/>
              </a:rPr>
              <a:t>kubectl</a:t>
            </a:r>
            <a:endParaRPr sz="1400">
              <a:latin typeface="Arial"/>
              <a:cs typeface="Arial"/>
            </a:endParaRPr>
          </a:p>
        </p:txBody>
      </p:sp>
      <p:sp>
        <p:nvSpPr>
          <p:cNvPr id="46" name="object 4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28</a:t>
            </a:fld>
            <a:endParaRPr spc="-25" dirty="0"/>
          </a:p>
        </p:txBody>
      </p:sp>
      <p:sp>
        <p:nvSpPr>
          <p:cNvPr id="45" name="object 45"/>
          <p:cNvSpPr txBox="1"/>
          <p:nvPr/>
        </p:nvSpPr>
        <p:spPr>
          <a:xfrm>
            <a:off x="230890" y="3201248"/>
            <a:ext cx="2032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"/>
                <a:cs typeface="Arial"/>
              </a:rPr>
              <a:t>UI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30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5"/>
              </a:spcBef>
            </a:pPr>
            <a:r>
              <a:rPr dirty="0"/>
              <a:t>Communication</a:t>
            </a:r>
            <a:r>
              <a:rPr spc="-35" dirty="0"/>
              <a:t> </a:t>
            </a:r>
            <a:r>
              <a:rPr dirty="0"/>
              <a:t>between</a:t>
            </a:r>
            <a:r>
              <a:rPr spc="-30" dirty="0"/>
              <a:t> </a:t>
            </a:r>
            <a:r>
              <a:rPr dirty="0"/>
              <a:t>Cargo</a:t>
            </a:r>
            <a:r>
              <a:rPr spc="-30" dirty="0"/>
              <a:t> </a:t>
            </a:r>
            <a:r>
              <a:rPr spc="-10" dirty="0"/>
              <a:t>Ships</a:t>
            </a:r>
          </a:p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sz="1600" dirty="0">
                <a:solidFill>
                  <a:srgbClr val="595959"/>
                </a:solidFill>
              </a:rPr>
              <a:t>How</a:t>
            </a:r>
            <a:r>
              <a:rPr sz="1600" spc="-30" dirty="0">
                <a:solidFill>
                  <a:srgbClr val="595959"/>
                </a:solidFill>
              </a:rPr>
              <a:t> </a:t>
            </a:r>
            <a:r>
              <a:rPr sz="1600" dirty="0">
                <a:solidFill>
                  <a:srgbClr val="595959"/>
                </a:solidFill>
              </a:rPr>
              <a:t>does</a:t>
            </a:r>
            <a:r>
              <a:rPr sz="1600" spc="-20" dirty="0">
                <a:solidFill>
                  <a:srgbClr val="595959"/>
                </a:solidFill>
              </a:rPr>
              <a:t> </a:t>
            </a:r>
            <a:r>
              <a:rPr sz="1600" dirty="0">
                <a:solidFill>
                  <a:srgbClr val="595959"/>
                </a:solidFill>
              </a:rPr>
              <a:t>two</a:t>
            </a:r>
            <a:r>
              <a:rPr sz="1600" spc="-20" dirty="0">
                <a:solidFill>
                  <a:srgbClr val="595959"/>
                </a:solidFill>
              </a:rPr>
              <a:t> </a:t>
            </a:r>
            <a:r>
              <a:rPr sz="1600" dirty="0">
                <a:solidFill>
                  <a:srgbClr val="595959"/>
                </a:solidFill>
              </a:rPr>
              <a:t>cargo</a:t>
            </a:r>
            <a:r>
              <a:rPr sz="1600" spc="-20" dirty="0">
                <a:solidFill>
                  <a:srgbClr val="595959"/>
                </a:solidFill>
              </a:rPr>
              <a:t> </a:t>
            </a:r>
            <a:r>
              <a:rPr sz="1600" dirty="0">
                <a:solidFill>
                  <a:srgbClr val="595959"/>
                </a:solidFill>
              </a:rPr>
              <a:t>ships</a:t>
            </a:r>
            <a:r>
              <a:rPr sz="1600" spc="-20" dirty="0">
                <a:solidFill>
                  <a:srgbClr val="595959"/>
                </a:solidFill>
              </a:rPr>
              <a:t> </a:t>
            </a:r>
            <a:r>
              <a:rPr sz="1600" dirty="0">
                <a:solidFill>
                  <a:srgbClr val="595959"/>
                </a:solidFill>
              </a:rPr>
              <a:t>communicate</a:t>
            </a:r>
            <a:r>
              <a:rPr sz="1600" spc="-20" dirty="0">
                <a:solidFill>
                  <a:srgbClr val="595959"/>
                </a:solidFill>
              </a:rPr>
              <a:t> </a:t>
            </a:r>
            <a:r>
              <a:rPr sz="1600" dirty="0">
                <a:solidFill>
                  <a:srgbClr val="595959"/>
                </a:solidFill>
              </a:rPr>
              <a:t>with</a:t>
            </a:r>
            <a:r>
              <a:rPr sz="1600" spc="-20" dirty="0">
                <a:solidFill>
                  <a:srgbClr val="595959"/>
                </a:solidFill>
              </a:rPr>
              <a:t> </a:t>
            </a:r>
            <a:r>
              <a:rPr sz="1600" dirty="0">
                <a:solidFill>
                  <a:srgbClr val="595959"/>
                </a:solidFill>
              </a:rPr>
              <a:t>each</a:t>
            </a:r>
            <a:r>
              <a:rPr sz="1600" spc="-20" dirty="0">
                <a:solidFill>
                  <a:srgbClr val="595959"/>
                </a:solidFill>
              </a:rPr>
              <a:t> </a:t>
            </a:r>
            <a:r>
              <a:rPr sz="1600" spc="-10" dirty="0">
                <a:solidFill>
                  <a:srgbClr val="595959"/>
                </a:solidFill>
              </a:rPr>
              <a:t>other?</a:t>
            </a:r>
            <a:endParaRPr sz="1600"/>
          </a:p>
        </p:txBody>
      </p:sp>
      <p:grpSp>
        <p:nvGrpSpPr>
          <p:cNvPr id="3" name="object 3"/>
          <p:cNvGrpSpPr/>
          <p:nvPr/>
        </p:nvGrpSpPr>
        <p:grpSpPr>
          <a:xfrm>
            <a:off x="5996609" y="1478667"/>
            <a:ext cx="2625090" cy="2806700"/>
            <a:chOff x="5996609" y="1478667"/>
            <a:chExt cx="2625090" cy="28067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96609" y="1478667"/>
              <a:ext cx="2625063" cy="128691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96609" y="2998271"/>
              <a:ext cx="2625063" cy="128691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647353" y="2513755"/>
              <a:ext cx="626745" cy="855344"/>
            </a:xfrm>
            <a:custGeom>
              <a:avLst/>
              <a:gdLst/>
              <a:ahLst/>
              <a:cxnLst/>
              <a:rect l="l" t="t" r="r" b="b"/>
              <a:pathLst>
                <a:path w="626745" h="855345">
                  <a:moveTo>
                    <a:pt x="313082" y="854764"/>
                  </a:moveTo>
                  <a:lnTo>
                    <a:pt x="0" y="541682"/>
                  </a:lnTo>
                  <a:lnTo>
                    <a:pt x="156540" y="541682"/>
                  </a:lnTo>
                  <a:lnTo>
                    <a:pt x="156540" y="0"/>
                  </a:lnTo>
                  <a:lnTo>
                    <a:pt x="469623" y="0"/>
                  </a:lnTo>
                  <a:lnTo>
                    <a:pt x="469623" y="541682"/>
                  </a:lnTo>
                  <a:lnTo>
                    <a:pt x="626164" y="541682"/>
                  </a:lnTo>
                  <a:lnTo>
                    <a:pt x="313082" y="854764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647353" y="2513755"/>
              <a:ext cx="626745" cy="855344"/>
            </a:xfrm>
            <a:custGeom>
              <a:avLst/>
              <a:gdLst/>
              <a:ahLst/>
              <a:cxnLst/>
              <a:rect l="l" t="t" r="r" b="b"/>
              <a:pathLst>
                <a:path w="626745" h="855345">
                  <a:moveTo>
                    <a:pt x="0" y="541682"/>
                  </a:moveTo>
                  <a:lnTo>
                    <a:pt x="156540" y="541682"/>
                  </a:lnTo>
                  <a:lnTo>
                    <a:pt x="156540" y="0"/>
                  </a:lnTo>
                  <a:lnTo>
                    <a:pt x="469623" y="0"/>
                  </a:lnTo>
                  <a:lnTo>
                    <a:pt x="469623" y="541682"/>
                  </a:lnTo>
                  <a:lnTo>
                    <a:pt x="626164" y="541682"/>
                  </a:lnTo>
                  <a:lnTo>
                    <a:pt x="313082" y="854764"/>
                  </a:lnTo>
                  <a:lnTo>
                    <a:pt x="0" y="541682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682975" y="2405270"/>
              <a:ext cx="626745" cy="855344"/>
            </a:xfrm>
            <a:custGeom>
              <a:avLst/>
              <a:gdLst/>
              <a:ahLst/>
              <a:cxnLst/>
              <a:rect l="l" t="t" r="r" b="b"/>
              <a:pathLst>
                <a:path w="626745" h="855345">
                  <a:moveTo>
                    <a:pt x="469623" y="854764"/>
                  </a:moveTo>
                  <a:lnTo>
                    <a:pt x="156541" y="854764"/>
                  </a:lnTo>
                  <a:lnTo>
                    <a:pt x="156541" y="313082"/>
                  </a:lnTo>
                  <a:lnTo>
                    <a:pt x="0" y="313082"/>
                  </a:lnTo>
                  <a:lnTo>
                    <a:pt x="313081" y="0"/>
                  </a:lnTo>
                  <a:lnTo>
                    <a:pt x="626164" y="313082"/>
                  </a:lnTo>
                  <a:lnTo>
                    <a:pt x="469623" y="313082"/>
                  </a:lnTo>
                  <a:lnTo>
                    <a:pt x="469623" y="854764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682975" y="2405270"/>
              <a:ext cx="626745" cy="855344"/>
            </a:xfrm>
            <a:custGeom>
              <a:avLst/>
              <a:gdLst/>
              <a:ahLst/>
              <a:cxnLst/>
              <a:rect l="l" t="t" r="r" b="b"/>
              <a:pathLst>
                <a:path w="626745" h="855345">
                  <a:moveTo>
                    <a:pt x="626164" y="313082"/>
                  </a:moveTo>
                  <a:lnTo>
                    <a:pt x="469623" y="313082"/>
                  </a:lnTo>
                  <a:lnTo>
                    <a:pt x="469623" y="854764"/>
                  </a:lnTo>
                  <a:lnTo>
                    <a:pt x="156541" y="854764"/>
                  </a:lnTo>
                  <a:lnTo>
                    <a:pt x="156541" y="313082"/>
                  </a:lnTo>
                  <a:lnTo>
                    <a:pt x="0" y="313082"/>
                  </a:lnTo>
                  <a:lnTo>
                    <a:pt x="313081" y="0"/>
                  </a:lnTo>
                  <a:lnTo>
                    <a:pt x="626164" y="313082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29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01625" y="249500"/>
            <a:ext cx="3216910" cy="4648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Kube-proxy</a:t>
            </a:r>
            <a:r>
              <a:rPr spc="5" dirty="0"/>
              <a:t> </a:t>
            </a:r>
            <a:r>
              <a:rPr spc="-10" dirty="0"/>
              <a:t>Service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1625" y="855691"/>
            <a:ext cx="8514080" cy="63119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 marR="5080">
              <a:lnSpc>
                <a:spcPts val="2250"/>
              </a:lnSpc>
              <a:spcBef>
                <a:spcPts val="400"/>
              </a:spcBef>
            </a:pP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How</a:t>
            </a:r>
            <a:r>
              <a:rPr sz="21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will</a:t>
            </a:r>
            <a:r>
              <a:rPr sz="21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web</a:t>
            </a:r>
            <a:r>
              <a:rPr sz="21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server</a:t>
            </a:r>
            <a:r>
              <a:rPr sz="21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running</a:t>
            </a:r>
            <a:r>
              <a:rPr sz="21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on</a:t>
            </a:r>
            <a:r>
              <a:rPr sz="21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one</a:t>
            </a:r>
            <a:r>
              <a:rPr sz="21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worker</a:t>
            </a:r>
            <a:r>
              <a:rPr sz="21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node</a:t>
            </a:r>
            <a:r>
              <a:rPr sz="21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reach</a:t>
            </a:r>
            <a:r>
              <a:rPr sz="21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out</a:t>
            </a:r>
            <a:r>
              <a:rPr sz="21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to</a:t>
            </a:r>
            <a:r>
              <a:rPr sz="21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DB</a:t>
            </a:r>
            <a:r>
              <a:rPr sz="21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spc="-10" dirty="0">
                <a:solidFill>
                  <a:srgbClr val="595959"/>
                </a:solidFill>
                <a:latin typeface="Arial"/>
                <a:cs typeface="Arial"/>
              </a:rPr>
              <a:t>server 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on</a:t>
            </a:r>
            <a:r>
              <a:rPr sz="21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another</a:t>
            </a:r>
            <a:r>
              <a:rPr sz="2100" spc="-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worker</a:t>
            </a:r>
            <a:r>
              <a:rPr sz="2100" spc="-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spc="-10" dirty="0">
                <a:solidFill>
                  <a:srgbClr val="595959"/>
                </a:solidFill>
                <a:latin typeface="Arial"/>
                <a:cs typeface="Arial"/>
              </a:rPr>
              <a:t>node?</a:t>
            </a:r>
            <a:endParaRPr sz="21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1625" y="2284441"/>
            <a:ext cx="463486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Communication</a:t>
            </a:r>
            <a:r>
              <a:rPr sz="21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between</a:t>
            </a:r>
            <a:r>
              <a:rPr sz="21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worker</a:t>
            </a:r>
            <a:r>
              <a:rPr sz="21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spc="-10" dirty="0">
                <a:solidFill>
                  <a:srgbClr val="595959"/>
                </a:solidFill>
                <a:latin typeface="Arial"/>
                <a:cs typeface="Arial"/>
              </a:rPr>
              <a:t>nodes</a:t>
            </a:r>
            <a:endParaRPr sz="21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996609" y="1478667"/>
            <a:ext cx="2625090" cy="2806700"/>
            <a:chOff x="5996609" y="1478667"/>
            <a:chExt cx="2625090" cy="280670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96609" y="1478667"/>
              <a:ext cx="2625063" cy="128691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96609" y="2998271"/>
              <a:ext cx="2625063" cy="1286913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647353" y="2513755"/>
              <a:ext cx="626745" cy="855344"/>
            </a:xfrm>
            <a:custGeom>
              <a:avLst/>
              <a:gdLst/>
              <a:ahLst/>
              <a:cxnLst/>
              <a:rect l="l" t="t" r="r" b="b"/>
              <a:pathLst>
                <a:path w="626745" h="855345">
                  <a:moveTo>
                    <a:pt x="313082" y="854764"/>
                  </a:moveTo>
                  <a:lnTo>
                    <a:pt x="0" y="541682"/>
                  </a:lnTo>
                  <a:lnTo>
                    <a:pt x="156540" y="541682"/>
                  </a:lnTo>
                  <a:lnTo>
                    <a:pt x="156540" y="0"/>
                  </a:lnTo>
                  <a:lnTo>
                    <a:pt x="469623" y="0"/>
                  </a:lnTo>
                  <a:lnTo>
                    <a:pt x="469623" y="541682"/>
                  </a:lnTo>
                  <a:lnTo>
                    <a:pt x="626164" y="541682"/>
                  </a:lnTo>
                  <a:lnTo>
                    <a:pt x="313082" y="854764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647353" y="2513755"/>
              <a:ext cx="626745" cy="855344"/>
            </a:xfrm>
            <a:custGeom>
              <a:avLst/>
              <a:gdLst/>
              <a:ahLst/>
              <a:cxnLst/>
              <a:rect l="l" t="t" r="r" b="b"/>
              <a:pathLst>
                <a:path w="626745" h="855345">
                  <a:moveTo>
                    <a:pt x="0" y="541682"/>
                  </a:moveTo>
                  <a:lnTo>
                    <a:pt x="156540" y="541682"/>
                  </a:lnTo>
                  <a:lnTo>
                    <a:pt x="156540" y="0"/>
                  </a:lnTo>
                  <a:lnTo>
                    <a:pt x="469623" y="0"/>
                  </a:lnTo>
                  <a:lnTo>
                    <a:pt x="469623" y="541682"/>
                  </a:lnTo>
                  <a:lnTo>
                    <a:pt x="626164" y="541682"/>
                  </a:lnTo>
                  <a:lnTo>
                    <a:pt x="313082" y="854764"/>
                  </a:lnTo>
                  <a:lnTo>
                    <a:pt x="0" y="541682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682975" y="2405270"/>
              <a:ext cx="626745" cy="855344"/>
            </a:xfrm>
            <a:custGeom>
              <a:avLst/>
              <a:gdLst/>
              <a:ahLst/>
              <a:cxnLst/>
              <a:rect l="l" t="t" r="r" b="b"/>
              <a:pathLst>
                <a:path w="626745" h="855345">
                  <a:moveTo>
                    <a:pt x="469623" y="854764"/>
                  </a:moveTo>
                  <a:lnTo>
                    <a:pt x="156541" y="854764"/>
                  </a:lnTo>
                  <a:lnTo>
                    <a:pt x="156541" y="313082"/>
                  </a:lnTo>
                  <a:lnTo>
                    <a:pt x="0" y="313082"/>
                  </a:lnTo>
                  <a:lnTo>
                    <a:pt x="313081" y="0"/>
                  </a:lnTo>
                  <a:lnTo>
                    <a:pt x="626164" y="313082"/>
                  </a:lnTo>
                  <a:lnTo>
                    <a:pt x="469623" y="313082"/>
                  </a:lnTo>
                  <a:lnTo>
                    <a:pt x="469623" y="854764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682975" y="2405270"/>
              <a:ext cx="626745" cy="855344"/>
            </a:xfrm>
            <a:custGeom>
              <a:avLst/>
              <a:gdLst/>
              <a:ahLst/>
              <a:cxnLst/>
              <a:rect l="l" t="t" r="r" b="b"/>
              <a:pathLst>
                <a:path w="626745" h="855345">
                  <a:moveTo>
                    <a:pt x="626164" y="313082"/>
                  </a:moveTo>
                  <a:lnTo>
                    <a:pt x="469623" y="313082"/>
                  </a:lnTo>
                  <a:lnTo>
                    <a:pt x="469623" y="854764"/>
                  </a:lnTo>
                  <a:lnTo>
                    <a:pt x="156541" y="854764"/>
                  </a:lnTo>
                  <a:lnTo>
                    <a:pt x="156541" y="313082"/>
                  </a:lnTo>
                  <a:lnTo>
                    <a:pt x="0" y="313082"/>
                  </a:lnTo>
                  <a:lnTo>
                    <a:pt x="313081" y="0"/>
                  </a:lnTo>
                  <a:lnTo>
                    <a:pt x="626164" y="313082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342437" y="2796401"/>
            <a:ext cx="1828800" cy="369570"/>
          </a:xfrm>
          <a:prstGeom prst="rect">
            <a:avLst/>
          </a:prstGeom>
          <a:ln w="57149">
            <a:solidFill>
              <a:srgbClr val="00B0F0"/>
            </a:solidFill>
          </a:ln>
        </p:spPr>
        <p:txBody>
          <a:bodyPr vert="horz" wrap="square" lIns="0" tIns="2857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25"/>
              </a:spcBef>
            </a:pPr>
            <a:r>
              <a:rPr sz="1800" dirty="0">
                <a:latin typeface="Arial"/>
                <a:cs typeface="Arial"/>
              </a:rPr>
              <a:t>Kube-</a:t>
            </a:r>
            <a:r>
              <a:rPr sz="1800" spc="-10" dirty="0">
                <a:latin typeface="Arial"/>
                <a:cs typeface="Arial"/>
              </a:rPr>
              <a:t>proxy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30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01625" y="249500"/>
            <a:ext cx="1549400" cy="4648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Overview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23655" y="544917"/>
            <a:ext cx="12274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Worker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Node-</a:t>
            </a:r>
            <a:r>
              <a:rPr sz="1400" spc="-50" dirty="0">
                <a:latin typeface="Arial"/>
                <a:cs typeface="Arial"/>
              </a:rPr>
              <a:t>1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303129" y="1133020"/>
            <a:ext cx="6780530" cy="3140710"/>
            <a:chOff x="1303129" y="1133020"/>
            <a:chExt cx="6780530" cy="3140710"/>
          </a:xfrm>
        </p:grpSpPr>
        <p:sp>
          <p:nvSpPr>
            <p:cNvPr id="5" name="object 5"/>
            <p:cNvSpPr/>
            <p:nvPr/>
          </p:nvSpPr>
          <p:spPr>
            <a:xfrm>
              <a:off x="5120346" y="1139370"/>
              <a:ext cx="2957195" cy="3128010"/>
            </a:xfrm>
            <a:custGeom>
              <a:avLst/>
              <a:gdLst/>
              <a:ahLst/>
              <a:cxnLst/>
              <a:rect l="l" t="t" r="r" b="b"/>
              <a:pathLst>
                <a:path w="2957195" h="3128010">
                  <a:moveTo>
                    <a:pt x="0" y="492818"/>
                  </a:moveTo>
                  <a:lnTo>
                    <a:pt x="2255" y="445356"/>
                  </a:lnTo>
                  <a:lnTo>
                    <a:pt x="8886" y="399171"/>
                  </a:lnTo>
                  <a:lnTo>
                    <a:pt x="19684" y="354469"/>
                  </a:lnTo>
                  <a:lnTo>
                    <a:pt x="34443" y="311456"/>
                  </a:lnTo>
                  <a:lnTo>
                    <a:pt x="52957" y="270339"/>
                  </a:lnTo>
                  <a:lnTo>
                    <a:pt x="75019" y="231325"/>
                  </a:lnTo>
                  <a:lnTo>
                    <a:pt x="100423" y="194619"/>
                  </a:lnTo>
                  <a:lnTo>
                    <a:pt x="128962" y="160430"/>
                  </a:lnTo>
                  <a:lnTo>
                    <a:pt x="160430" y="128962"/>
                  </a:lnTo>
                  <a:lnTo>
                    <a:pt x="194619" y="100423"/>
                  </a:lnTo>
                  <a:lnTo>
                    <a:pt x="231325" y="75019"/>
                  </a:lnTo>
                  <a:lnTo>
                    <a:pt x="270339" y="52957"/>
                  </a:lnTo>
                  <a:lnTo>
                    <a:pt x="311456" y="34443"/>
                  </a:lnTo>
                  <a:lnTo>
                    <a:pt x="354469" y="19684"/>
                  </a:lnTo>
                  <a:lnTo>
                    <a:pt x="399171" y="8886"/>
                  </a:lnTo>
                  <a:lnTo>
                    <a:pt x="445356" y="2255"/>
                  </a:lnTo>
                  <a:lnTo>
                    <a:pt x="492818" y="0"/>
                  </a:lnTo>
                  <a:lnTo>
                    <a:pt x="2464034" y="0"/>
                  </a:lnTo>
                  <a:lnTo>
                    <a:pt x="2512743" y="2411"/>
                  </a:lnTo>
                  <a:lnTo>
                    <a:pt x="2560627" y="9556"/>
                  </a:lnTo>
                  <a:lnTo>
                    <a:pt x="2607362" y="21302"/>
                  </a:lnTo>
                  <a:lnTo>
                    <a:pt x="2652627" y="37513"/>
                  </a:lnTo>
                  <a:lnTo>
                    <a:pt x="2696097" y="58057"/>
                  </a:lnTo>
                  <a:lnTo>
                    <a:pt x="2737449" y="82799"/>
                  </a:lnTo>
                  <a:lnTo>
                    <a:pt x="2776361" y="111605"/>
                  </a:lnTo>
                  <a:lnTo>
                    <a:pt x="2812509" y="144343"/>
                  </a:lnTo>
                  <a:lnTo>
                    <a:pt x="2845246" y="180490"/>
                  </a:lnTo>
                  <a:lnTo>
                    <a:pt x="2874053" y="219402"/>
                  </a:lnTo>
                  <a:lnTo>
                    <a:pt x="2898795" y="260755"/>
                  </a:lnTo>
                  <a:lnTo>
                    <a:pt x="2919339" y="304225"/>
                  </a:lnTo>
                  <a:lnTo>
                    <a:pt x="2935550" y="349489"/>
                  </a:lnTo>
                  <a:lnTo>
                    <a:pt x="2947296" y="396225"/>
                  </a:lnTo>
                  <a:lnTo>
                    <a:pt x="2954441" y="444109"/>
                  </a:lnTo>
                  <a:lnTo>
                    <a:pt x="2956852" y="492818"/>
                  </a:lnTo>
                  <a:lnTo>
                    <a:pt x="2956852" y="2635010"/>
                  </a:lnTo>
                  <a:lnTo>
                    <a:pt x="2954596" y="2682472"/>
                  </a:lnTo>
                  <a:lnTo>
                    <a:pt x="2947966" y="2728657"/>
                  </a:lnTo>
                  <a:lnTo>
                    <a:pt x="2937168" y="2773359"/>
                  </a:lnTo>
                  <a:lnTo>
                    <a:pt x="2922409" y="2816372"/>
                  </a:lnTo>
                  <a:lnTo>
                    <a:pt x="2903895" y="2857489"/>
                  </a:lnTo>
                  <a:lnTo>
                    <a:pt x="2881833" y="2896503"/>
                  </a:lnTo>
                  <a:lnTo>
                    <a:pt x="2856429" y="2933209"/>
                  </a:lnTo>
                  <a:lnTo>
                    <a:pt x="2827890" y="2967398"/>
                  </a:lnTo>
                  <a:lnTo>
                    <a:pt x="2796422" y="2998866"/>
                  </a:lnTo>
                  <a:lnTo>
                    <a:pt x="2762232" y="3027405"/>
                  </a:lnTo>
                  <a:lnTo>
                    <a:pt x="2725527" y="3052809"/>
                  </a:lnTo>
                  <a:lnTo>
                    <a:pt x="2686513" y="3074871"/>
                  </a:lnTo>
                  <a:lnTo>
                    <a:pt x="2645396" y="3093385"/>
                  </a:lnTo>
                  <a:lnTo>
                    <a:pt x="2602383" y="3108144"/>
                  </a:lnTo>
                  <a:lnTo>
                    <a:pt x="2557681" y="3118942"/>
                  </a:lnTo>
                  <a:lnTo>
                    <a:pt x="2511495" y="3125573"/>
                  </a:lnTo>
                  <a:lnTo>
                    <a:pt x="2464034" y="3127828"/>
                  </a:lnTo>
                  <a:lnTo>
                    <a:pt x="492818" y="3127828"/>
                  </a:lnTo>
                  <a:lnTo>
                    <a:pt x="445356" y="3125573"/>
                  </a:lnTo>
                  <a:lnTo>
                    <a:pt x="399171" y="3118942"/>
                  </a:lnTo>
                  <a:lnTo>
                    <a:pt x="354469" y="3108144"/>
                  </a:lnTo>
                  <a:lnTo>
                    <a:pt x="311456" y="3093385"/>
                  </a:lnTo>
                  <a:lnTo>
                    <a:pt x="270339" y="3074871"/>
                  </a:lnTo>
                  <a:lnTo>
                    <a:pt x="231325" y="3052809"/>
                  </a:lnTo>
                  <a:lnTo>
                    <a:pt x="194619" y="3027405"/>
                  </a:lnTo>
                  <a:lnTo>
                    <a:pt x="160430" y="2998866"/>
                  </a:lnTo>
                  <a:lnTo>
                    <a:pt x="128962" y="2967398"/>
                  </a:lnTo>
                  <a:lnTo>
                    <a:pt x="100423" y="2933209"/>
                  </a:lnTo>
                  <a:lnTo>
                    <a:pt x="75019" y="2896503"/>
                  </a:lnTo>
                  <a:lnTo>
                    <a:pt x="52957" y="2857489"/>
                  </a:lnTo>
                  <a:lnTo>
                    <a:pt x="34443" y="2816372"/>
                  </a:lnTo>
                  <a:lnTo>
                    <a:pt x="19684" y="2773359"/>
                  </a:lnTo>
                  <a:lnTo>
                    <a:pt x="8886" y="2728657"/>
                  </a:lnTo>
                  <a:lnTo>
                    <a:pt x="2255" y="2682472"/>
                  </a:lnTo>
                  <a:lnTo>
                    <a:pt x="0" y="2635010"/>
                  </a:lnTo>
                  <a:lnTo>
                    <a:pt x="0" y="492818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309479" y="1222827"/>
              <a:ext cx="2489200" cy="2939415"/>
            </a:xfrm>
            <a:custGeom>
              <a:avLst/>
              <a:gdLst/>
              <a:ahLst/>
              <a:cxnLst/>
              <a:rect l="l" t="t" r="r" b="b"/>
              <a:pathLst>
                <a:path w="2489200" h="2939415">
                  <a:moveTo>
                    <a:pt x="2074324" y="2939142"/>
                  </a:moveTo>
                  <a:lnTo>
                    <a:pt x="414874" y="2939142"/>
                  </a:lnTo>
                  <a:lnTo>
                    <a:pt x="366491" y="2936351"/>
                  </a:lnTo>
                  <a:lnTo>
                    <a:pt x="319747" y="2928185"/>
                  </a:lnTo>
                  <a:lnTo>
                    <a:pt x="274954" y="2914956"/>
                  </a:lnTo>
                  <a:lnTo>
                    <a:pt x="232423" y="2896974"/>
                  </a:lnTo>
                  <a:lnTo>
                    <a:pt x="192465" y="2874551"/>
                  </a:lnTo>
                  <a:lnTo>
                    <a:pt x="155391" y="2847999"/>
                  </a:lnTo>
                  <a:lnTo>
                    <a:pt x="121514" y="2817628"/>
                  </a:lnTo>
                  <a:lnTo>
                    <a:pt x="91143" y="2783751"/>
                  </a:lnTo>
                  <a:lnTo>
                    <a:pt x="64591" y="2746677"/>
                  </a:lnTo>
                  <a:lnTo>
                    <a:pt x="42168" y="2706719"/>
                  </a:lnTo>
                  <a:lnTo>
                    <a:pt x="24186" y="2664188"/>
                  </a:lnTo>
                  <a:lnTo>
                    <a:pt x="10957" y="2619394"/>
                  </a:lnTo>
                  <a:lnTo>
                    <a:pt x="2791" y="2572651"/>
                  </a:lnTo>
                  <a:lnTo>
                    <a:pt x="0" y="2524267"/>
                  </a:lnTo>
                  <a:lnTo>
                    <a:pt x="0" y="414874"/>
                  </a:lnTo>
                  <a:lnTo>
                    <a:pt x="2700" y="368062"/>
                  </a:lnTo>
                  <a:lnTo>
                    <a:pt x="10957" y="319747"/>
                  </a:lnTo>
                  <a:lnTo>
                    <a:pt x="24186" y="274954"/>
                  </a:lnTo>
                  <a:lnTo>
                    <a:pt x="42168" y="232423"/>
                  </a:lnTo>
                  <a:lnTo>
                    <a:pt x="64591" y="192465"/>
                  </a:lnTo>
                  <a:lnTo>
                    <a:pt x="91143" y="155391"/>
                  </a:lnTo>
                  <a:lnTo>
                    <a:pt x="121514" y="121514"/>
                  </a:lnTo>
                  <a:lnTo>
                    <a:pt x="155391" y="91143"/>
                  </a:lnTo>
                  <a:lnTo>
                    <a:pt x="192465" y="64591"/>
                  </a:lnTo>
                  <a:lnTo>
                    <a:pt x="232423" y="42168"/>
                  </a:lnTo>
                  <a:lnTo>
                    <a:pt x="274954" y="24186"/>
                  </a:lnTo>
                  <a:lnTo>
                    <a:pt x="319747" y="10957"/>
                  </a:lnTo>
                  <a:lnTo>
                    <a:pt x="366491" y="2791"/>
                  </a:lnTo>
                  <a:lnTo>
                    <a:pt x="414874" y="0"/>
                  </a:lnTo>
                  <a:lnTo>
                    <a:pt x="2074324" y="0"/>
                  </a:lnTo>
                  <a:lnTo>
                    <a:pt x="2121137" y="2648"/>
                  </a:lnTo>
                  <a:lnTo>
                    <a:pt x="2166992" y="10480"/>
                  </a:lnTo>
                  <a:lnTo>
                    <a:pt x="2211483" y="23328"/>
                  </a:lnTo>
                  <a:lnTo>
                    <a:pt x="2254204" y="41023"/>
                  </a:lnTo>
                  <a:lnTo>
                    <a:pt x="2294749" y="63398"/>
                  </a:lnTo>
                  <a:lnTo>
                    <a:pt x="2332711" y="90284"/>
                  </a:lnTo>
                  <a:lnTo>
                    <a:pt x="2367685" y="121514"/>
                  </a:lnTo>
                  <a:lnTo>
                    <a:pt x="2398915" y="156488"/>
                  </a:lnTo>
                  <a:lnTo>
                    <a:pt x="2425801" y="194450"/>
                  </a:lnTo>
                  <a:lnTo>
                    <a:pt x="2448176" y="234995"/>
                  </a:lnTo>
                  <a:lnTo>
                    <a:pt x="2465871" y="277716"/>
                  </a:lnTo>
                  <a:lnTo>
                    <a:pt x="2478719" y="322207"/>
                  </a:lnTo>
                  <a:lnTo>
                    <a:pt x="2486551" y="368062"/>
                  </a:lnTo>
                  <a:lnTo>
                    <a:pt x="2489199" y="414874"/>
                  </a:lnTo>
                  <a:lnTo>
                    <a:pt x="2489199" y="2524267"/>
                  </a:lnTo>
                  <a:lnTo>
                    <a:pt x="2486408" y="2572651"/>
                  </a:lnTo>
                  <a:lnTo>
                    <a:pt x="2478242" y="2619394"/>
                  </a:lnTo>
                  <a:lnTo>
                    <a:pt x="2465013" y="2664188"/>
                  </a:lnTo>
                  <a:lnTo>
                    <a:pt x="2447031" y="2706719"/>
                  </a:lnTo>
                  <a:lnTo>
                    <a:pt x="2424608" y="2746677"/>
                  </a:lnTo>
                  <a:lnTo>
                    <a:pt x="2398056" y="2783751"/>
                  </a:lnTo>
                  <a:lnTo>
                    <a:pt x="2367685" y="2817628"/>
                  </a:lnTo>
                  <a:lnTo>
                    <a:pt x="2333808" y="2847999"/>
                  </a:lnTo>
                  <a:lnTo>
                    <a:pt x="2296734" y="2874551"/>
                  </a:lnTo>
                  <a:lnTo>
                    <a:pt x="2256776" y="2896974"/>
                  </a:lnTo>
                  <a:lnTo>
                    <a:pt x="2214245" y="2914956"/>
                  </a:lnTo>
                  <a:lnTo>
                    <a:pt x="2169451" y="2928185"/>
                  </a:lnTo>
                  <a:lnTo>
                    <a:pt x="2122708" y="2936351"/>
                  </a:lnTo>
                  <a:lnTo>
                    <a:pt x="2074324" y="2939142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309479" y="1222827"/>
              <a:ext cx="2489200" cy="2939415"/>
            </a:xfrm>
            <a:custGeom>
              <a:avLst/>
              <a:gdLst/>
              <a:ahLst/>
              <a:cxnLst/>
              <a:rect l="l" t="t" r="r" b="b"/>
              <a:pathLst>
                <a:path w="2489200" h="2939415">
                  <a:moveTo>
                    <a:pt x="0" y="414874"/>
                  </a:moveTo>
                  <a:lnTo>
                    <a:pt x="2791" y="366491"/>
                  </a:lnTo>
                  <a:lnTo>
                    <a:pt x="10957" y="319747"/>
                  </a:lnTo>
                  <a:lnTo>
                    <a:pt x="24186" y="274954"/>
                  </a:lnTo>
                  <a:lnTo>
                    <a:pt x="42168" y="232423"/>
                  </a:lnTo>
                  <a:lnTo>
                    <a:pt x="64591" y="192465"/>
                  </a:lnTo>
                  <a:lnTo>
                    <a:pt x="91143" y="155391"/>
                  </a:lnTo>
                  <a:lnTo>
                    <a:pt x="121514" y="121514"/>
                  </a:lnTo>
                  <a:lnTo>
                    <a:pt x="155391" y="91143"/>
                  </a:lnTo>
                  <a:lnTo>
                    <a:pt x="192465" y="64591"/>
                  </a:lnTo>
                  <a:lnTo>
                    <a:pt x="232423" y="42168"/>
                  </a:lnTo>
                  <a:lnTo>
                    <a:pt x="274954" y="24186"/>
                  </a:lnTo>
                  <a:lnTo>
                    <a:pt x="319747" y="10957"/>
                  </a:lnTo>
                  <a:lnTo>
                    <a:pt x="366491" y="2791"/>
                  </a:lnTo>
                  <a:lnTo>
                    <a:pt x="414874" y="0"/>
                  </a:lnTo>
                  <a:lnTo>
                    <a:pt x="2074324" y="0"/>
                  </a:lnTo>
                  <a:lnTo>
                    <a:pt x="2121137" y="2648"/>
                  </a:lnTo>
                  <a:lnTo>
                    <a:pt x="2166992" y="10480"/>
                  </a:lnTo>
                  <a:lnTo>
                    <a:pt x="2211483" y="23328"/>
                  </a:lnTo>
                  <a:lnTo>
                    <a:pt x="2254204" y="41023"/>
                  </a:lnTo>
                  <a:lnTo>
                    <a:pt x="2294749" y="63398"/>
                  </a:lnTo>
                  <a:lnTo>
                    <a:pt x="2332711" y="90284"/>
                  </a:lnTo>
                  <a:lnTo>
                    <a:pt x="2367685" y="121514"/>
                  </a:lnTo>
                  <a:lnTo>
                    <a:pt x="2398915" y="156488"/>
                  </a:lnTo>
                  <a:lnTo>
                    <a:pt x="2425801" y="194450"/>
                  </a:lnTo>
                  <a:lnTo>
                    <a:pt x="2448176" y="234995"/>
                  </a:lnTo>
                  <a:lnTo>
                    <a:pt x="2465871" y="277716"/>
                  </a:lnTo>
                  <a:lnTo>
                    <a:pt x="2478719" y="322207"/>
                  </a:lnTo>
                  <a:lnTo>
                    <a:pt x="2486551" y="368062"/>
                  </a:lnTo>
                  <a:lnTo>
                    <a:pt x="2489199" y="414874"/>
                  </a:lnTo>
                  <a:lnTo>
                    <a:pt x="2489199" y="2524267"/>
                  </a:lnTo>
                  <a:lnTo>
                    <a:pt x="2486408" y="2572651"/>
                  </a:lnTo>
                  <a:lnTo>
                    <a:pt x="2478242" y="2619394"/>
                  </a:lnTo>
                  <a:lnTo>
                    <a:pt x="2465013" y="2664188"/>
                  </a:lnTo>
                  <a:lnTo>
                    <a:pt x="2447031" y="2706719"/>
                  </a:lnTo>
                  <a:lnTo>
                    <a:pt x="2424608" y="2746677"/>
                  </a:lnTo>
                  <a:lnTo>
                    <a:pt x="2398056" y="2783751"/>
                  </a:lnTo>
                  <a:lnTo>
                    <a:pt x="2367685" y="2817628"/>
                  </a:lnTo>
                  <a:lnTo>
                    <a:pt x="2333808" y="2847999"/>
                  </a:lnTo>
                  <a:lnTo>
                    <a:pt x="2296734" y="2874551"/>
                  </a:lnTo>
                  <a:lnTo>
                    <a:pt x="2256776" y="2896974"/>
                  </a:lnTo>
                  <a:lnTo>
                    <a:pt x="2214245" y="2914956"/>
                  </a:lnTo>
                  <a:lnTo>
                    <a:pt x="2169451" y="2928185"/>
                  </a:lnTo>
                  <a:lnTo>
                    <a:pt x="2122708" y="2936351"/>
                  </a:lnTo>
                  <a:lnTo>
                    <a:pt x="2074324" y="2939142"/>
                  </a:lnTo>
                  <a:lnTo>
                    <a:pt x="414874" y="2939142"/>
                  </a:lnTo>
                  <a:lnTo>
                    <a:pt x="366491" y="2936351"/>
                  </a:lnTo>
                  <a:lnTo>
                    <a:pt x="319747" y="2928185"/>
                  </a:lnTo>
                  <a:lnTo>
                    <a:pt x="274954" y="2914956"/>
                  </a:lnTo>
                  <a:lnTo>
                    <a:pt x="232423" y="2896974"/>
                  </a:lnTo>
                  <a:lnTo>
                    <a:pt x="192465" y="2874551"/>
                  </a:lnTo>
                  <a:lnTo>
                    <a:pt x="155391" y="2847999"/>
                  </a:lnTo>
                  <a:lnTo>
                    <a:pt x="121514" y="2817628"/>
                  </a:lnTo>
                  <a:lnTo>
                    <a:pt x="91143" y="2783751"/>
                  </a:lnTo>
                  <a:lnTo>
                    <a:pt x="64591" y="2746677"/>
                  </a:lnTo>
                  <a:lnTo>
                    <a:pt x="42168" y="2706719"/>
                  </a:lnTo>
                  <a:lnTo>
                    <a:pt x="24186" y="2664188"/>
                  </a:lnTo>
                  <a:lnTo>
                    <a:pt x="10957" y="2619394"/>
                  </a:lnTo>
                  <a:lnTo>
                    <a:pt x="2791" y="2572651"/>
                  </a:lnTo>
                  <a:lnTo>
                    <a:pt x="0" y="2524267"/>
                  </a:lnTo>
                  <a:lnTo>
                    <a:pt x="0" y="414874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554079" y="1599548"/>
              <a:ext cx="1082040" cy="521334"/>
            </a:xfrm>
            <a:custGeom>
              <a:avLst/>
              <a:gdLst/>
              <a:ahLst/>
              <a:cxnLst/>
              <a:rect l="l" t="t" r="r" b="b"/>
              <a:pathLst>
                <a:path w="1082039" h="521335">
                  <a:moveTo>
                    <a:pt x="994909" y="521024"/>
                  </a:moveTo>
                  <a:lnTo>
                    <a:pt x="86839" y="521024"/>
                  </a:lnTo>
                  <a:lnTo>
                    <a:pt x="53037" y="514200"/>
                  </a:lnTo>
                  <a:lnTo>
                    <a:pt x="25434" y="495590"/>
                  </a:lnTo>
                  <a:lnTo>
                    <a:pt x="6824" y="467987"/>
                  </a:lnTo>
                  <a:lnTo>
                    <a:pt x="0" y="434185"/>
                  </a:lnTo>
                  <a:lnTo>
                    <a:pt x="0" y="86839"/>
                  </a:lnTo>
                  <a:lnTo>
                    <a:pt x="6824" y="53037"/>
                  </a:lnTo>
                  <a:lnTo>
                    <a:pt x="25434" y="25434"/>
                  </a:lnTo>
                  <a:lnTo>
                    <a:pt x="53037" y="6824"/>
                  </a:lnTo>
                  <a:lnTo>
                    <a:pt x="86839" y="0"/>
                  </a:lnTo>
                  <a:lnTo>
                    <a:pt x="994909" y="0"/>
                  </a:lnTo>
                  <a:lnTo>
                    <a:pt x="1043088" y="14590"/>
                  </a:lnTo>
                  <a:lnTo>
                    <a:pt x="1075138" y="53607"/>
                  </a:lnTo>
                  <a:lnTo>
                    <a:pt x="1081748" y="86839"/>
                  </a:lnTo>
                  <a:lnTo>
                    <a:pt x="1081748" y="434185"/>
                  </a:lnTo>
                  <a:lnTo>
                    <a:pt x="1074924" y="467987"/>
                  </a:lnTo>
                  <a:lnTo>
                    <a:pt x="1056314" y="495590"/>
                  </a:lnTo>
                  <a:lnTo>
                    <a:pt x="1028711" y="514200"/>
                  </a:lnTo>
                  <a:lnTo>
                    <a:pt x="994909" y="521024"/>
                  </a:lnTo>
                  <a:close/>
                </a:path>
              </a:pathLst>
            </a:custGeom>
            <a:solidFill>
              <a:srgbClr val="00B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554079" y="1599548"/>
              <a:ext cx="1082040" cy="521334"/>
            </a:xfrm>
            <a:custGeom>
              <a:avLst/>
              <a:gdLst/>
              <a:ahLst/>
              <a:cxnLst/>
              <a:rect l="l" t="t" r="r" b="b"/>
              <a:pathLst>
                <a:path w="1082039" h="521335">
                  <a:moveTo>
                    <a:pt x="0" y="86839"/>
                  </a:moveTo>
                  <a:lnTo>
                    <a:pt x="6824" y="53037"/>
                  </a:lnTo>
                  <a:lnTo>
                    <a:pt x="25434" y="25434"/>
                  </a:lnTo>
                  <a:lnTo>
                    <a:pt x="53037" y="6824"/>
                  </a:lnTo>
                  <a:lnTo>
                    <a:pt x="86839" y="0"/>
                  </a:lnTo>
                  <a:lnTo>
                    <a:pt x="994909" y="0"/>
                  </a:lnTo>
                  <a:lnTo>
                    <a:pt x="1043088" y="14590"/>
                  </a:lnTo>
                  <a:lnTo>
                    <a:pt x="1075138" y="53607"/>
                  </a:lnTo>
                  <a:lnTo>
                    <a:pt x="1081748" y="86839"/>
                  </a:lnTo>
                  <a:lnTo>
                    <a:pt x="1081748" y="434185"/>
                  </a:lnTo>
                  <a:lnTo>
                    <a:pt x="1074924" y="467987"/>
                  </a:lnTo>
                  <a:lnTo>
                    <a:pt x="1056314" y="495590"/>
                  </a:lnTo>
                  <a:lnTo>
                    <a:pt x="1028711" y="514200"/>
                  </a:lnTo>
                  <a:lnTo>
                    <a:pt x="994909" y="521024"/>
                  </a:lnTo>
                  <a:lnTo>
                    <a:pt x="86839" y="521024"/>
                  </a:lnTo>
                  <a:lnTo>
                    <a:pt x="53037" y="514200"/>
                  </a:lnTo>
                  <a:lnTo>
                    <a:pt x="25434" y="495590"/>
                  </a:lnTo>
                  <a:lnTo>
                    <a:pt x="6824" y="467987"/>
                  </a:lnTo>
                  <a:lnTo>
                    <a:pt x="0" y="434185"/>
                  </a:lnTo>
                  <a:lnTo>
                    <a:pt x="0" y="86839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696686" y="1475963"/>
            <a:ext cx="397510" cy="41275"/>
            <a:chOff x="696686" y="1475963"/>
            <a:chExt cx="397510" cy="41275"/>
          </a:xfrm>
        </p:grpSpPr>
        <p:sp>
          <p:nvSpPr>
            <p:cNvPr id="11" name="object 11"/>
            <p:cNvSpPr/>
            <p:nvPr/>
          </p:nvSpPr>
          <p:spPr>
            <a:xfrm>
              <a:off x="696686" y="1496459"/>
              <a:ext cx="349250" cy="0"/>
            </a:xfrm>
            <a:custGeom>
              <a:avLst/>
              <a:gdLst/>
              <a:ahLst/>
              <a:cxnLst/>
              <a:rect l="l" t="t" r="r" b="b"/>
              <a:pathLst>
                <a:path w="349250">
                  <a:moveTo>
                    <a:pt x="0" y="0"/>
                  </a:moveTo>
                  <a:lnTo>
                    <a:pt x="349249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045935" y="1480726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045935" y="1480726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73026" y="1360858"/>
            <a:ext cx="5689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Arial"/>
                <a:cs typeface="Arial"/>
              </a:rPr>
              <a:t>Master</a:t>
            </a:r>
            <a:endParaRPr sz="14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682167" y="1735474"/>
            <a:ext cx="82613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Scheduler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387022" y="3105662"/>
            <a:ext cx="1010285" cy="522605"/>
            <a:chOff x="1387022" y="3105662"/>
            <a:chExt cx="1010285" cy="522605"/>
          </a:xfrm>
        </p:grpSpPr>
        <p:sp>
          <p:nvSpPr>
            <p:cNvPr id="17" name="object 17"/>
            <p:cNvSpPr/>
            <p:nvPr/>
          </p:nvSpPr>
          <p:spPr>
            <a:xfrm>
              <a:off x="1393372" y="3112012"/>
              <a:ext cx="997585" cy="509905"/>
            </a:xfrm>
            <a:custGeom>
              <a:avLst/>
              <a:gdLst/>
              <a:ahLst/>
              <a:cxnLst/>
              <a:rect l="l" t="t" r="r" b="b"/>
              <a:pathLst>
                <a:path w="997585" h="509904">
                  <a:moveTo>
                    <a:pt x="912104" y="509300"/>
                  </a:moveTo>
                  <a:lnTo>
                    <a:pt x="84885" y="509300"/>
                  </a:lnTo>
                  <a:lnTo>
                    <a:pt x="51844" y="502630"/>
                  </a:lnTo>
                  <a:lnTo>
                    <a:pt x="24862" y="484438"/>
                  </a:lnTo>
                  <a:lnTo>
                    <a:pt x="6670" y="457457"/>
                  </a:lnTo>
                  <a:lnTo>
                    <a:pt x="0" y="424415"/>
                  </a:lnTo>
                  <a:lnTo>
                    <a:pt x="0" y="84885"/>
                  </a:lnTo>
                  <a:lnTo>
                    <a:pt x="6670" y="51844"/>
                  </a:lnTo>
                  <a:lnTo>
                    <a:pt x="24862" y="24862"/>
                  </a:lnTo>
                  <a:lnTo>
                    <a:pt x="51844" y="6670"/>
                  </a:lnTo>
                  <a:lnTo>
                    <a:pt x="84885" y="0"/>
                  </a:lnTo>
                  <a:lnTo>
                    <a:pt x="912104" y="0"/>
                  </a:lnTo>
                  <a:lnTo>
                    <a:pt x="959199" y="14261"/>
                  </a:lnTo>
                  <a:lnTo>
                    <a:pt x="990528" y="52401"/>
                  </a:lnTo>
                  <a:lnTo>
                    <a:pt x="996989" y="84885"/>
                  </a:lnTo>
                  <a:lnTo>
                    <a:pt x="996989" y="424415"/>
                  </a:lnTo>
                  <a:lnTo>
                    <a:pt x="990319" y="457457"/>
                  </a:lnTo>
                  <a:lnTo>
                    <a:pt x="972127" y="484438"/>
                  </a:lnTo>
                  <a:lnTo>
                    <a:pt x="945145" y="502630"/>
                  </a:lnTo>
                  <a:lnTo>
                    <a:pt x="912104" y="5093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393372" y="3112012"/>
              <a:ext cx="997585" cy="509905"/>
            </a:xfrm>
            <a:custGeom>
              <a:avLst/>
              <a:gdLst/>
              <a:ahLst/>
              <a:cxnLst/>
              <a:rect l="l" t="t" r="r" b="b"/>
              <a:pathLst>
                <a:path w="997585" h="509904">
                  <a:moveTo>
                    <a:pt x="0" y="84885"/>
                  </a:moveTo>
                  <a:lnTo>
                    <a:pt x="6670" y="51844"/>
                  </a:lnTo>
                  <a:lnTo>
                    <a:pt x="24862" y="24862"/>
                  </a:lnTo>
                  <a:lnTo>
                    <a:pt x="51844" y="6670"/>
                  </a:lnTo>
                  <a:lnTo>
                    <a:pt x="84885" y="0"/>
                  </a:lnTo>
                  <a:lnTo>
                    <a:pt x="912104" y="0"/>
                  </a:lnTo>
                  <a:lnTo>
                    <a:pt x="959199" y="14261"/>
                  </a:lnTo>
                  <a:lnTo>
                    <a:pt x="990528" y="52401"/>
                  </a:lnTo>
                  <a:lnTo>
                    <a:pt x="996989" y="84885"/>
                  </a:lnTo>
                  <a:lnTo>
                    <a:pt x="996989" y="424415"/>
                  </a:lnTo>
                  <a:lnTo>
                    <a:pt x="990319" y="457457"/>
                  </a:lnTo>
                  <a:lnTo>
                    <a:pt x="972127" y="484438"/>
                  </a:lnTo>
                  <a:lnTo>
                    <a:pt x="945145" y="502630"/>
                  </a:lnTo>
                  <a:lnTo>
                    <a:pt x="912104" y="509300"/>
                  </a:lnTo>
                  <a:lnTo>
                    <a:pt x="84885" y="509300"/>
                  </a:lnTo>
                  <a:lnTo>
                    <a:pt x="51844" y="502630"/>
                  </a:lnTo>
                  <a:lnTo>
                    <a:pt x="24862" y="484438"/>
                  </a:lnTo>
                  <a:lnTo>
                    <a:pt x="6670" y="457457"/>
                  </a:lnTo>
                  <a:lnTo>
                    <a:pt x="0" y="424415"/>
                  </a:lnTo>
                  <a:lnTo>
                    <a:pt x="0" y="84885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637301" y="3242076"/>
            <a:ext cx="50990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Arial"/>
                <a:cs typeface="Arial"/>
              </a:rPr>
              <a:t>ETCD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2547729" y="3105661"/>
            <a:ext cx="1094740" cy="522605"/>
            <a:chOff x="2547729" y="3105661"/>
            <a:chExt cx="1094740" cy="522605"/>
          </a:xfrm>
        </p:grpSpPr>
        <p:sp>
          <p:nvSpPr>
            <p:cNvPr id="21" name="object 21"/>
            <p:cNvSpPr/>
            <p:nvPr/>
          </p:nvSpPr>
          <p:spPr>
            <a:xfrm>
              <a:off x="2554079" y="3112011"/>
              <a:ext cx="1082040" cy="509905"/>
            </a:xfrm>
            <a:custGeom>
              <a:avLst/>
              <a:gdLst/>
              <a:ahLst/>
              <a:cxnLst/>
              <a:rect l="l" t="t" r="r" b="b"/>
              <a:pathLst>
                <a:path w="1082039" h="509904">
                  <a:moveTo>
                    <a:pt x="996863" y="509301"/>
                  </a:moveTo>
                  <a:lnTo>
                    <a:pt x="84885" y="509301"/>
                  </a:lnTo>
                  <a:lnTo>
                    <a:pt x="51844" y="502631"/>
                  </a:lnTo>
                  <a:lnTo>
                    <a:pt x="24862" y="484439"/>
                  </a:lnTo>
                  <a:lnTo>
                    <a:pt x="6670" y="457457"/>
                  </a:lnTo>
                  <a:lnTo>
                    <a:pt x="0" y="424416"/>
                  </a:lnTo>
                  <a:lnTo>
                    <a:pt x="0" y="84885"/>
                  </a:lnTo>
                  <a:lnTo>
                    <a:pt x="6670" y="51844"/>
                  </a:lnTo>
                  <a:lnTo>
                    <a:pt x="24862" y="24862"/>
                  </a:lnTo>
                  <a:lnTo>
                    <a:pt x="51844" y="6670"/>
                  </a:lnTo>
                  <a:lnTo>
                    <a:pt x="84885" y="0"/>
                  </a:lnTo>
                  <a:lnTo>
                    <a:pt x="996863" y="0"/>
                  </a:lnTo>
                  <a:lnTo>
                    <a:pt x="1043958" y="14261"/>
                  </a:lnTo>
                  <a:lnTo>
                    <a:pt x="1075287" y="52401"/>
                  </a:lnTo>
                  <a:lnTo>
                    <a:pt x="1081748" y="84885"/>
                  </a:lnTo>
                  <a:lnTo>
                    <a:pt x="1081748" y="424416"/>
                  </a:lnTo>
                  <a:lnTo>
                    <a:pt x="1075078" y="457457"/>
                  </a:lnTo>
                  <a:lnTo>
                    <a:pt x="1056886" y="484439"/>
                  </a:lnTo>
                  <a:lnTo>
                    <a:pt x="1029904" y="502631"/>
                  </a:lnTo>
                  <a:lnTo>
                    <a:pt x="996863" y="509301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554079" y="3112011"/>
              <a:ext cx="1082040" cy="509905"/>
            </a:xfrm>
            <a:custGeom>
              <a:avLst/>
              <a:gdLst/>
              <a:ahLst/>
              <a:cxnLst/>
              <a:rect l="l" t="t" r="r" b="b"/>
              <a:pathLst>
                <a:path w="1082039" h="509904">
                  <a:moveTo>
                    <a:pt x="0" y="84885"/>
                  </a:moveTo>
                  <a:lnTo>
                    <a:pt x="6670" y="51844"/>
                  </a:lnTo>
                  <a:lnTo>
                    <a:pt x="24862" y="24862"/>
                  </a:lnTo>
                  <a:lnTo>
                    <a:pt x="51844" y="6670"/>
                  </a:lnTo>
                  <a:lnTo>
                    <a:pt x="84885" y="0"/>
                  </a:lnTo>
                  <a:lnTo>
                    <a:pt x="996863" y="0"/>
                  </a:lnTo>
                  <a:lnTo>
                    <a:pt x="1043958" y="14261"/>
                  </a:lnTo>
                  <a:lnTo>
                    <a:pt x="1075287" y="52401"/>
                  </a:lnTo>
                  <a:lnTo>
                    <a:pt x="1081748" y="84885"/>
                  </a:lnTo>
                  <a:lnTo>
                    <a:pt x="1081748" y="424416"/>
                  </a:lnTo>
                  <a:lnTo>
                    <a:pt x="1075078" y="457457"/>
                  </a:lnTo>
                  <a:lnTo>
                    <a:pt x="1056886" y="484439"/>
                  </a:lnTo>
                  <a:lnTo>
                    <a:pt x="1029904" y="502631"/>
                  </a:lnTo>
                  <a:lnTo>
                    <a:pt x="996863" y="509301"/>
                  </a:lnTo>
                  <a:lnTo>
                    <a:pt x="84885" y="509301"/>
                  </a:lnTo>
                  <a:lnTo>
                    <a:pt x="51844" y="502631"/>
                  </a:lnTo>
                  <a:lnTo>
                    <a:pt x="24862" y="484439"/>
                  </a:lnTo>
                  <a:lnTo>
                    <a:pt x="6670" y="457457"/>
                  </a:lnTo>
                  <a:lnTo>
                    <a:pt x="0" y="424416"/>
                  </a:lnTo>
                  <a:lnTo>
                    <a:pt x="0" y="84885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2697091" y="3137300"/>
            <a:ext cx="796290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46990" marR="5080" indent="-34925">
              <a:lnSpc>
                <a:spcPts val="1650"/>
              </a:lnSpc>
              <a:spcBef>
                <a:spcPts val="180"/>
              </a:spcBef>
            </a:pP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Controller Manager</a:t>
            </a:r>
            <a:endParaRPr sz="14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554079" y="2315029"/>
            <a:ext cx="1082040" cy="501015"/>
          </a:xfrm>
          <a:prstGeom prst="rect">
            <a:avLst/>
          </a:prstGeom>
          <a:solidFill>
            <a:srgbClr val="92D050"/>
          </a:solidFill>
          <a:ln w="12699">
            <a:solidFill>
              <a:srgbClr val="127BB4"/>
            </a:solidFill>
          </a:ln>
        </p:spPr>
        <p:txBody>
          <a:bodyPr vert="horz" wrap="square" lIns="0" tIns="138430" rIns="0" bIns="0" rtlCol="0">
            <a:spAutoFit/>
          </a:bodyPr>
          <a:lstStyle/>
          <a:p>
            <a:pPr marL="111125">
              <a:lnSpc>
                <a:spcPct val="100000"/>
              </a:lnSpc>
              <a:spcBef>
                <a:spcPts val="1090"/>
              </a:spcBef>
            </a:pP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API</a:t>
            </a:r>
            <a:r>
              <a:rPr sz="14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Server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5320393" y="1490108"/>
            <a:ext cx="930910" cy="387350"/>
            <a:chOff x="5320393" y="1490108"/>
            <a:chExt cx="930910" cy="387350"/>
          </a:xfrm>
        </p:grpSpPr>
        <p:sp>
          <p:nvSpPr>
            <p:cNvPr id="26" name="object 26"/>
            <p:cNvSpPr/>
            <p:nvPr/>
          </p:nvSpPr>
          <p:spPr>
            <a:xfrm>
              <a:off x="5326743" y="1496458"/>
              <a:ext cx="918210" cy="374650"/>
            </a:xfrm>
            <a:custGeom>
              <a:avLst/>
              <a:gdLst/>
              <a:ahLst/>
              <a:cxnLst/>
              <a:rect l="l" t="t" r="r" b="b"/>
              <a:pathLst>
                <a:path w="918210" h="374650">
                  <a:moveTo>
                    <a:pt x="855192" y="374394"/>
                  </a:moveTo>
                  <a:lnTo>
                    <a:pt x="62400" y="374394"/>
                  </a:lnTo>
                  <a:lnTo>
                    <a:pt x="38111" y="369491"/>
                  </a:lnTo>
                  <a:lnTo>
                    <a:pt x="18276" y="356118"/>
                  </a:lnTo>
                  <a:lnTo>
                    <a:pt x="4903" y="336283"/>
                  </a:lnTo>
                  <a:lnTo>
                    <a:pt x="0" y="311994"/>
                  </a:lnTo>
                  <a:lnTo>
                    <a:pt x="0" y="62400"/>
                  </a:lnTo>
                  <a:lnTo>
                    <a:pt x="4821" y="38520"/>
                  </a:lnTo>
                  <a:lnTo>
                    <a:pt x="4903" y="38111"/>
                  </a:lnTo>
                  <a:lnTo>
                    <a:pt x="18276" y="18276"/>
                  </a:lnTo>
                  <a:lnTo>
                    <a:pt x="38111" y="4903"/>
                  </a:lnTo>
                  <a:lnTo>
                    <a:pt x="62400" y="0"/>
                  </a:lnTo>
                  <a:lnTo>
                    <a:pt x="855192" y="0"/>
                  </a:lnTo>
                  <a:lnTo>
                    <a:pt x="899316" y="18276"/>
                  </a:lnTo>
                  <a:lnTo>
                    <a:pt x="917592" y="62400"/>
                  </a:lnTo>
                  <a:lnTo>
                    <a:pt x="917592" y="311994"/>
                  </a:lnTo>
                  <a:lnTo>
                    <a:pt x="912689" y="336283"/>
                  </a:lnTo>
                  <a:lnTo>
                    <a:pt x="899316" y="356118"/>
                  </a:lnTo>
                  <a:lnTo>
                    <a:pt x="879481" y="369491"/>
                  </a:lnTo>
                  <a:lnTo>
                    <a:pt x="855192" y="374394"/>
                  </a:lnTo>
                  <a:close/>
                </a:path>
              </a:pathLst>
            </a:custGeom>
            <a:solidFill>
              <a:srgbClr val="4008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326743" y="1496458"/>
              <a:ext cx="918210" cy="374650"/>
            </a:xfrm>
            <a:custGeom>
              <a:avLst/>
              <a:gdLst/>
              <a:ahLst/>
              <a:cxnLst/>
              <a:rect l="l" t="t" r="r" b="b"/>
              <a:pathLst>
                <a:path w="918210" h="374650">
                  <a:moveTo>
                    <a:pt x="0" y="62400"/>
                  </a:moveTo>
                  <a:lnTo>
                    <a:pt x="4903" y="38111"/>
                  </a:lnTo>
                  <a:lnTo>
                    <a:pt x="18276" y="18276"/>
                  </a:lnTo>
                  <a:lnTo>
                    <a:pt x="38111" y="4903"/>
                  </a:lnTo>
                  <a:lnTo>
                    <a:pt x="62400" y="0"/>
                  </a:lnTo>
                  <a:lnTo>
                    <a:pt x="855192" y="0"/>
                  </a:lnTo>
                  <a:lnTo>
                    <a:pt x="899316" y="18276"/>
                  </a:lnTo>
                  <a:lnTo>
                    <a:pt x="917592" y="62400"/>
                  </a:lnTo>
                  <a:lnTo>
                    <a:pt x="917592" y="311994"/>
                  </a:lnTo>
                  <a:lnTo>
                    <a:pt x="912689" y="336283"/>
                  </a:lnTo>
                  <a:lnTo>
                    <a:pt x="899316" y="356118"/>
                  </a:lnTo>
                  <a:lnTo>
                    <a:pt x="879481" y="369491"/>
                  </a:lnTo>
                  <a:lnTo>
                    <a:pt x="855192" y="374394"/>
                  </a:lnTo>
                  <a:lnTo>
                    <a:pt x="62400" y="374394"/>
                  </a:lnTo>
                  <a:lnTo>
                    <a:pt x="38111" y="369491"/>
                  </a:lnTo>
                  <a:lnTo>
                    <a:pt x="18276" y="356118"/>
                  </a:lnTo>
                  <a:lnTo>
                    <a:pt x="4903" y="336283"/>
                  </a:lnTo>
                  <a:lnTo>
                    <a:pt x="0" y="311994"/>
                  </a:lnTo>
                  <a:lnTo>
                    <a:pt x="0" y="6240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5428336" y="1539003"/>
            <a:ext cx="71374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solidFill>
                  <a:srgbClr val="FFFFFF"/>
                </a:solidFill>
                <a:latin typeface="Arial"/>
                <a:cs typeface="Arial"/>
              </a:rPr>
              <a:t>Kubelet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3681866" y="1471315"/>
            <a:ext cx="4075429" cy="1022985"/>
            <a:chOff x="3681866" y="1471315"/>
            <a:chExt cx="4075429" cy="1022985"/>
          </a:xfrm>
        </p:grpSpPr>
        <p:sp>
          <p:nvSpPr>
            <p:cNvPr id="30" name="object 30"/>
            <p:cNvSpPr/>
            <p:nvPr/>
          </p:nvSpPr>
          <p:spPr>
            <a:xfrm>
              <a:off x="3686628" y="1650400"/>
              <a:ext cx="1532255" cy="838835"/>
            </a:xfrm>
            <a:custGeom>
              <a:avLst/>
              <a:gdLst/>
              <a:ahLst/>
              <a:cxnLst/>
              <a:rect l="l" t="t" r="r" b="b"/>
              <a:pathLst>
                <a:path w="1532254" h="838835">
                  <a:moveTo>
                    <a:pt x="0" y="838799"/>
                  </a:moveTo>
                  <a:lnTo>
                    <a:pt x="794699" y="838799"/>
                  </a:lnTo>
                  <a:lnTo>
                    <a:pt x="794699" y="0"/>
                  </a:lnTo>
                  <a:lnTo>
                    <a:pt x="1532249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218878" y="163466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218878" y="163466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377430" y="1477665"/>
              <a:ext cx="1373505" cy="393700"/>
            </a:xfrm>
            <a:custGeom>
              <a:avLst/>
              <a:gdLst/>
              <a:ahLst/>
              <a:cxnLst/>
              <a:rect l="l" t="t" r="r" b="b"/>
              <a:pathLst>
                <a:path w="1373504" h="393700">
                  <a:moveTo>
                    <a:pt x="1307665" y="393189"/>
                  </a:moveTo>
                  <a:lnTo>
                    <a:pt x="65532" y="393189"/>
                  </a:lnTo>
                  <a:lnTo>
                    <a:pt x="40024" y="388039"/>
                  </a:lnTo>
                  <a:lnTo>
                    <a:pt x="19194" y="373994"/>
                  </a:lnTo>
                  <a:lnTo>
                    <a:pt x="5149" y="353164"/>
                  </a:lnTo>
                  <a:lnTo>
                    <a:pt x="0" y="327656"/>
                  </a:lnTo>
                  <a:lnTo>
                    <a:pt x="0" y="65532"/>
                  </a:lnTo>
                  <a:lnTo>
                    <a:pt x="5149" y="40024"/>
                  </a:lnTo>
                  <a:lnTo>
                    <a:pt x="19194" y="19194"/>
                  </a:lnTo>
                  <a:lnTo>
                    <a:pt x="40024" y="5149"/>
                  </a:lnTo>
                  <a:lnTo>
                    <a:pt x="65532" y="0"/>
                  </a:lnTo>
                  <a:lnTo>
                    <a:pt x="1307665" y="0"/>
                  </a:lnTo>
                  <a:lnTo>
                    <a:pt x="1354004" y="19194"/>
                  </a:lnTo>
                  <a:lnTo>
                    <a:pt x="1373198" y="65532"/>
                  </a:lnTo>
                  <a:lnTo>
                    <a:pt x="1373198" y="327656"/>
                  </a:lnTo>
                  <a:lnTo>
                    <a:pt x="1368048" y="353164"/>
                  </a:lnTo>
                  <a:lnTo>
                    <a:pt x="1354004" y="373994"/>
                  </a:lnTo>
                  <a:lnTo>
                    <a:pt x="1333173" y="388039"/>
                  </a:lnTo>
                  <a:lnTo>
                    <a:pt x="1307665" y="393189"/>
                  </a:lnTo>
                  <a:close/>
                </a:path>
              </a:pathLst>
            </a:custGeom>
            <a:solidFill>
              <a:srgbClr val="4008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377430" y="1477665"/>
              <a:ext cx="1373505" cy="393700"/>
            </a:xfrm>
            <a:custGeom>
              <a:avLst/>
              <a:gdLst/>
              <a:ahLst/>
              <a:cxnLst/>
              <a:rect l="l" t="t" r="r" b="b"/>
              <a:pathLst>
                <a:path w="1373504" h="393700">
                  <a:moveTo>
                    <a:pt x="0" y="65532"/>
                  </a:moveTo>
                  <a:lnTo>
                    <a:pt x="5149" y="40024"/>
                  </a:lnTo>
                  <a:lnTo>
                    <a:pt x="19194" y="19194"/>
                  </a:lnTo>
                  <a:lnTo>
                    <a:pt x="40024" y="5149"/>
                  </a:lnTo>
                  <a:lnTo>
                    <a:pt x="65532" y="0"/>
                  </a:lnTo>
                  <a:lnTo>
                    <a:pt x="1307665" y="0"/>
                  </a:lnTo>
                  <a:lnTo>
                    <a:pt x="1354004" y="19194"/>
                  </a:lnTo>
                  <a:lnTo>
                    <a:pt x="1373198" y="65532"/>
                  </a:lnTo>
                  <a:lnTo>
                    <a:pt x="1373198" y="327656"/>
                  </a:lnTo>
                  <a:lnTo>
                    <a:pt x="1368048" y="353164"/>
                  </a:lnTo>
                  <a:lnTo>
                    <a:pt x="1354004" y="373994"/>
                  </a:lnTo>
                  <a:lnTo>
                    <a:pt x="1333173" y="388039"/>
                  </a:lnTo>
                  <a:lnTo>
                    <a:pt x="1307665" y="393189"/>
                  </a:lnTo>
                  <a:lnTo>
                    <a:pt x="65532" y="393189"/>
                  </a:lnTo>
                  <a:lnTo>
                    <a:pt x="40024" y="388039"/>
                  </a:lnTo>
                  <a:lnTo>
                    <a:pt x="19194" y="373994"/>
                  </a:lnTo>
                  <a:lnTo>
                    <a:pt x="5149" y="353164"/>
                  </a:lnTo>
                  <a:lnTo>
                    <a:pt x="0" y="327656"/>
                  </a:lnTo>
                  <a:lnTo>
                    <a:pt x="0" y="65532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6531897" y="1529606"/>
            <a:ext cx="106489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FFFFFF"/>
                </a:solidFill>
                <a:latin typeface="Arial"/>
                <a:cs typeface="Arial"/>
              </a:rPr>
              <a:t>Kube-</a:t>
            </a:r>
            <a:r>
              <a:rPr sz="1600" spc="-10" dirty="0">
                <a:solidFill>
                  <a:srgbClr val="FFFFFF"/>
                </a:solidFill>
                <a:latin typeface="Arial"/>
                <a:cs typeface="Arial"/>
              </a:rPr>
              <a:t>proxy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5429250" y="748999"/>
            <a:ext cx="2444115" cy="3176270"/>
            <a:chOff x="5429250" y="748999"/>
            <a:chExt cx="2444115" cy="3176270"/>
          </a:xfrm>
        </p:grpSpPr>
        <p:sp>
          <p:nvSpPr>
            <p:cNvPr id="37" name="object 37"/>
            <p:cNvSpPr/>
            <p:nvPr/>
          </p:nvSpPr>
          <p:spPr>
            <a:xfrm>
              <a:off x="5435600" y="2579912"/>
              <a:ext cx="2431415" cy="1339215"/>
            </a:xfrm>
            <a:custGeom>
              <a:avLst/>
              <a:gdLst/>
              <a:ahLst/>
              <a:cxnLst/>
              <a:rect l="l" t="t" r="r" b="b"/>
              <a:pathLst>
                <a:path w="2431415" h="1339214">
                  <a:moveTo>
                    <a:pt x="0" y="223161"/>
                  </a:moveTo>
                  <a:lnTo>
                    <a:pt x="4533" y="178186"/>
                  </a:lnTo>
                  <a:lnTo>
                    <a:pt x="17537" y="136296"/>
                  </a:lnTo>
                  <a:lnTo>
                    <a:pt x="38112" y="98389"/>
                  </a:lnTo>
                  <a:lnTo>
                    <a:pt x="65362" y="65362"/>
                  </a:lnTo>
                  <a:lnTo>
                    <a:pt x="98389" y="38112"/>
                  </a:lnTo>
                  <a:lnTo>
                    <a:pt x="136296" y="17537"/>
                  </a:lnTo>
                  <a:lnTo>
                    <a:pt x="178186" y="4533"/>
                  </a:lnTo>
                  <a:lnTo>
                    <a:pt x="223161" y="0"/>
                  </a:lnTo>
                  <a:lnTo>
                    <a:pt x="2207981" y="0"/>
                  </a:lnTo>
                  <a:lnTo>
                    <a:pt x="2251721" y="4327"/>
                  </a:lnTo>
                  <a:lnTo>
                    <a:pt x="2293381" y="16987"/>
                  </a:lnTo>
                  <a:lnTo>
                    <a:pt x="2331791" y="37493"/>
                  </a:lnTo>
                  <a:lnTo>
                    <a:pt x="2365780" y="65362"/>
                  </a:lnTo>
                  <a:lnTo>
                    <a:pt x="2393649" y="99351"/>
                  </a:lnTo>
                  <a:lnTo>
                    <a:pt x="2414155" y="137761"/>
                  </a:lnTo>
                  <a:lnTo>
                    <a:pt x="2426815" y="179421"/>
                  </a:lnTo>
                  <a:lnTo>
                    <a:pt x="2431142" y="223161"/>
                  </a:lnTo>
                  <a:lnTo>
                    <a:pt x="2431142" y="1115780"/>
                  </a:lnTo>
                  <a:lnTo>
                    <a:pt x="2426609" y="1160755"/>
                  </a:lnTo>
                  <a:lnTo>
                    <a:pt x="2413605" y="1202645"/>
                  </a:lnTo>
                  <a:lnTo>
                    <a:pt x="2393030" y="1240552"/>
                  </a:lnTo>
                  <a:lnTo>
                    <a:pt x="2365780" y="1273579"/>
                  </a:lnTo>
                  <a:lnTo>
                    <a:pt x="2332753" y="1300829"/>
                  </a:lnTo>
                  <a:lnTo>
                    <a:pt x="2294846" y="1321404"/>
                  </a:lnTo>
                  <a:lnTo>
                    <a:pt x="2252956" y="1334408"/>
                  </a:lnTo>
                  <a:lnTo>
                    <a:pt x="2207981" y="1338941"/>
                  </a:lnTo>
                  <a:lnTo>
                    <a:pt x="223161" y="1338941"/>
                  </a:lnTo>
                  <a:lnTo>
                    <a:pt x="178186" y="1334408"/>
                  </a:lnTo>
                  <a:lnTo>
                    <a:pt x="136296" y="1321404"/>
                  </a:lnTo>
                  <a:lnTo>
                    <a:pt x="98389" y="1300829"/>
                  </a:lnTo>
                  <a:lnTo>
                    <a:pt x="65362" y="1273579"/>
                  </a:lnTo>
                  <a:lnTo>
                    <a:pt x="38112" y="1240552"/>
                  </a:lnTo>
                  <a:lnTo>
                    <a:pt x="17537" y="1202645"/>
                  </a:lnTo>
                  <a:lnTo>
                    <a:pt x="4533" y="1160755"/>
                  </a:lnTo>
                  <a:lnTo>
                    <a:pt x="0" y="1115780"/>
                  </a:lnTo>
                  <a:lnTo>
                    <a:pt x="0" y="22316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720114" y="753761"/>
              <a:ext cx="20320" cy="589915"/>
            </a:xfrm>
            <a:custGeom>
              <a:avLst/>
              <a:gdLst/>
              <a:ahLst/>
              <a:cxnLst/>
              <a:rect l="l" t="t" r="r" b="b"/>
              <a:pathLst>
                <a:path w="20320" h="589915">
                  <a:moveTo>
                    <a:pt x="0" y="0"/>
                  </a:moveTo>
                  <a:lnTo>
                    <a:pt x="19849" y="589749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6724239" y="1342982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17177" y="43730"/>
                  </a:moveTo>
                  <a:lnTo>
                    <a:pt x="0" y="1058"/>
                  </a:lnTo>
                  <a:lnTo>
                    <a:pt x="31447" y="0"/>
                  </a:lnTo>
                  <a:lnTo>
                    <a:pt x="17177" y="43730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6724239" y="1342982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0" y="1058"/>
                  </a:moveTo>
                  <a:lnTo>
                    <a:pt x="17177" y="43730"/>
                  </a:lnTo>
                  <a:lnTo>
                    <a:pt x="31447" y="0"/>
                  </a:lnTo>
                  <a:lnTo>
                    <a:pt x="0" y="1058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1" name="object 41"/>
          <p:cNvGrpSpPr/>
          <p:nvPr/>
        </p:nvGrpSpPr>
        <p:grpSpPr>
          <a:xfrm>
            <a:off x="5965857" y="169622"/>
            <a:ext cx="1797685" cy="859155"/>
            <a:chOff x="5965857" y="169622"/>
            <a:chExt cx="1797685" cy="859155"/>
          </a:xfrm>
        </p:grpSpPr>
        <p:sp>
          <p:nvSpPr>
            <p:cNvPr id="42" name="object 42"/>
            <p:cNvSpPr/>
            <p:nvPr/>
          </p:nvSpPr>
          <p:spPr>
            <a:xfrm>
              <a:off x="7409542" y="681659"/>
              <a:ext cx="306070" cy="6350"/>
            </a:xfrm>
            <a:custGeom>
              <a:avLst/>
              <a:gdLst/>
              <a:ahLst/>
              <a:cxnLst/>
              <a:rect l="l" t="t" r="r" b="b"/>
              <a:pathLst>
                <a:path w="306070" h="6350">
                  <a:moveTo>
                    <a:pt x="0" y="6114"/>
                  </a:moveTo>
                  <a:lnTo>
                    <a:pt x="305718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7714946" y="665930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628" y="31459"/>
                  </a:moveTo>
                  <a:lnTo>
                    <a:pt x="0" y="0"/>
                  </a:lnTo>
                  <a:lnTo>
                    <a:pt x="43530" y="14865"/>
                  </a:lnTo>
                  <a:lnTo>
                    <a:pt x="628" y="31459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7714946" y="665930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628" y="31459"/>
                  </a:moveTo>
                  <a:lnTo>
                    <a:pt x="43530" y="14865"/>
                  </a:lnTo>
                  <a:lnTo>
                    <a:pt x="0" y="0"/>
                  </a:lnTo>
                  <a:lnTo>
                    <a:pt x="628" y="31459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7409542" y="680516"/>
              <a:ext cx="7620" cy="343535"/>
            </a:xfrm>
            <a:custGeom>
              <a:avLst/>
              <a:gdLst/>
              <a:ahLst/>
              <a:cxnLst/>
              <a:rect l="l" t="t" r="r" b="b"/>
              <a:pathLst>
                <a:path w="7620" h="343534">
                  <a:moveTo>
                    <a:pt x="0" y="0"/>
                  </a:moveTo>
                  <a:lnTo>
                    <a:pt x="7256" y="343064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5972207" y="175972"/>
              <a:ext cx="1436370" cy="513715"/>
            </a:xfrm>
            <a:custGeom>
              <a:avLst/>
              <a:gdLst/>
              <a:ahLst/>
              <a:cxnLst/>
              <a:rect l="l" t="t" r="r" b="b"/>
              <a:pathLst>
                <a:path w="1436370" h="513715">
                  <a:moveTo>
                    <a:pt x="1238256" y="27692"/>
                  </a:moveTo>
                  <a:lnTo>
                    <a:pt x="992721" y="27692"/>
                  </a:lnTo>
                  <a:lnTo>
                    <a:pt x="1027091" y="12907"/>
                  </a:lnTo>
                  <a:lnTo>
                    <a:pt x="1067813" y="3545"/>
                  </a:lnTo>
                  <a:lnTo>
                    <a:pt x="1112277" y="0"/>
                  </a:lnTo>
                  <a:lnTo>
                    <a:pt x="1157873" y="2667"/>
                  </a:lnTo>
                  <a:lnTo>
                    <a:pt x="1200085" y="11448"/>
                  </a:lnTo>
                  <a:lnTo>
                    <a:pt x="1234902" y="25330"/>
                  </a:lnTo>
                  <a:lnTo>
                    <a:pt x="1238256" y="27692"/>
                  </a:lnTo>
                  <a:close/>
                </a:path>
                <a:path w="1436370" h="513715">
                  <a:moveTo>
                    <a:pt x="1254317" y="39001"/>
                  </a:moveTo>
                  <a:lnTo>
                    <a:pt x="747350" y="39001"/>
                  </a:lnTo>
                  <a:lnTo>
                    <a:pt x="767935" y="24045"/>
                  </a:lnTo>
                  <a:lnTo>
                    <a:pt x="795143" y="12265"/>
                  </a:lnTo>
                  <a:lnTo>
                    <a:pt x="827515" y="4149"/>
                  </a:lnTo>
                  <a:lnTo>
                    <a:pt x="863587" y="185"/>
                  </a:lnTo>
                  <a:lnTo>
                    <a:pt x="900546" y="783"/>
                  </a:lnTo>
                  <a:lnTo>
                    <a:pt x="935471" y="5798"/>
                  </a:lnTo>
                  <a:lnTo>
                    <a:pt x="966737" y="14882"/>
                  </a:lnTo>
                  <a:lnTo>
                    <a:pt x="992721" y="27692"/>
                  </a:lnTo>
                  <a:lnTo>
                    <a:pt x="1238256" y="27692"/>
                  </a:lnTo>
                  <a:lnTo>
                    <a:pt x="1254317" y="39001"/>
                  </a:lnTo>
                  <a:close/>
                </a:path>
                <a:path w="1436370" h="513715">
                  <a:moveTo>
                    <a:pt x="1271910" y="60044"/>
                  </a:moveTo>
                  <a:lnTo>
                    <a:pt x="466258" y="60044"/>
                  </a:lnTo>
                  <a:lnTo>
                    <a:pt x="487036" y="45416"/>
                  </a:lnTo>
                  <a:lnTo>
                    <a:pt x="556042" y="20550"/>
                  </a:lnTo>
                  <a:lnTo>
                    <a:pt x="595966" y="15179"/>
                  </a:lnTo>
                  <a:lnTo>
                    <a:pt x="637359" y="14462"/>
                  </a:lnTo>
                  <a:lnTo>
                    <a:pt x="677449" y="18360"/>
                  </a:lnTo>
                  <a:lnTo>
                    <a:pt x="714643" y="26623"/>
                  </a:lnTo>
                  <a:lnTo>
                    <a:pt x="747350" y="39001"/>
                  </a:lnTo>
                  <a:lnTo>
                    <a:pt x="1254317" y="39001"/>
                  </a:lnTo>
                  <a:lnTo>
                    <a:pt x="1260475" y="43336"/>
                  </a:lnTo>
                  <a:lnTo>
                    <a:pt x="1271910" y="60044"/>
                  </a:lnTo>
                  <a:close/>
                </a:path>
                <a:path w="1436370" h="513715">
                  <a:moveTo>
                    <a:pt x="402266" y="482737"/>
                  </a:moveTo>
                  <a:lnTo>
                    <a:pt x="351626" y="478883"/>
                  </a:lnTo>
                  <a:lnTo>
                    <a:pt x="303562" y="470198"/>
                  </a:lnTo>
                  <a:lnTo>
                    <a:pt x="260383" y="457172"/>
                  </a:lnTo>
                  <a:lnTo>
                    <a:pt x="223296" y="440256"/>
                  </a:lnTo>
                  <a:lnTo>
                    <a:pt x="193504" y="419899"/>
                  </a:lnTo>
                  <a:lnTo>
                    <a:pt x="148988" y="419096"/>
                  </a:lnTo>
                  <a:lnTo>
                    <a:pt x="107943" y="411995"/>
                  </a:lnTo>
                  <a:lnTo>
                    <a:pt x="47147" y="381736"/>
                  </a:lnTo>
                  <a:lnTo>
                    <a:pt x="33044" y="340037"/>
                  </a:lnTo>
                  <a:lnTo>
                    <a:pt x="45629" y="319797"/>
                  </a:lnTo>
                  <a:lnTo>
                    <a:pt x="70721" y="301939"/>
                  </a:lnTo>
                  <a:lnTo>
                    <a:pt x="35449" y="287754"/>
                  </a:lnTo>
                  <a:lnTo>
                    <a:pt x="11426" y="269365"/>
                  </a:lnTo>
                  <a:lnTo>
                    <a:pt x="0" y="248271"/>
                  </a:lnTo>
                  <a:lnTo>
                    <a:pt x="2513" y="225971"/>
                  </a:lnTo>
                  <a:lnTo>
                    <a:pt x="19111" y="205165"/>
                  </a:lnTo>
                  <a:lnTo>
                    <a:pt x="47375" y="188280"/>
                  </a:lnTo>
                  <a:lnTo>
                    <a:pt x="84813" y="176408"/>
                  </a:lnTo>
                  <a:lnTo>
                    <a:pt x="128931" y="170641"/>
                  </a:lnTo>
                  <a:lnTo>
                    <a:pt x="130142" y="169041"/>
                  </a:lnTo>
                  <a:lnTo>
                    <a:pt x="130414" y="145981"/>
                  </a:lnTo>
                  <a:lnTo>
                    <a:pt x="130505" y="138319"/>
                  </a:lnTo>
                  <a:lnTo>
                    <a:pt x="147963" y="109384"/>
                  </a:lnTo>
                  <a:lnTo>
                    <a:pt x="181004" y="83869"/>
                  </a:lnTo>
                  <a:lnTo>
                    <a:pt x="228114" y="63405"/>
                  </a:lnTo>
                  <a:lnTo>
                    <a:pt x="273225" y="52121"/>
                  </a:lnTo>
                  <a:lnTo>
                    <a:pt x="321478" y="46115"/>
                  </a:lnTo>
                  <a:lnTo>
                    <a:pt x="370990" y="45416"/>
                  </a:lnTo>
                  <a:lnTo>
                    <a:pt x="419877" y="50050"/>
                  </a:lnTo>
                  <a:lnTo>
                    <a:pt x="466258" y="60044"/>
                  </a:lnTo>
                  <a:lnTo>
                    <a:pt x="1271910" y="60044"/>
                  </a:lnTo>
                  <a:lnTo>
                    <a:pt x="1274953" y="64489"/>
                  </a:lnTo>
                  <a:lnTo>
                    <a:pt x="1310388" y="71254"/>
                  </a:lnTo>
                  <a:lnTo>
                    <a:pt x="1341720" y="81417"/>
                  </a:lnTo>
                  <a:lnTo>
                    <a:pt x="1367951" y="94572"/>
                  </a:lnTo>
                  <a:lnTo>
                    <a:pt x="1388081" y="110315"/>
                  </a:lnTo>
                  <a:lnTo>
                    <a:pt x="1400862" y="127788"/>
                  </a:lnTo>
                  <a:lnTo>
                    <a:pt x="1405691" y="145981"/>
                  </a:lnTo>
                  <a:lnTo>
                    <a:pt x="1402540" y="164262"/>
                  </a:lnTo>
                  <a:lnTo>
                    <a:pt x="1391380" y="181997"/>
                  </a:lnTo>
                  <a:lnTo>
                    <a:pt x="1420892" y="206852"/>
                  </a:lnTo>
                  <a:lnTo>
                    <a:pt x="1435990" y="234120"/>
                  </a:lnTo>
                  <a:lnTo>
                    <a:pt x="1436278" y="262358"/>
                  </a:lnTo>
                  <a:lnTo>
                    <a:pt x="1421354" y="290128"/>
                  </a:lnTo>
                  <a:lnTo>
                    <a:pt x="1392130" y="315064"/>
                  </a:lnTo>
                  <a:lnTo>
                    <a:pt x="1351354" y="335164"/>
                  </a:lnTo>
                  <a:lnTo>
                    <a:pt x="1301379" y="349534"/>
                  </a:lnTo>
                  <a:lnTo>
                    <a:pt x="1244561" y="357280"/>
                  </a:lnTo>
                  <a:lnTo>
                    <a:pt x="1237388" y="381736"/>
                  </a:lnTo>
                  <a:lnTo>
                    <a:pt x="1237322" y="381962"/>
                  </a:lnTo>
                  <a:lnTo>
                    <a:pt x="1217361" y="404476"/>
                  </a:lnTo>
                  <a:lnTo>
                    <a:pt x="1186059" y="423697"/>
                  </a:lnTo>
                  <a:lnTo>
                    <a:pt x="1152140" y="435869"/>
                  </a:lnTo>
                  <a:lnTo>
                    <a:pt x="950248" y="435869"/>
                  </a:lnTo>
                  <a:lnTo>
                    <a:pt x="923287" y="464071"/>
                  </a:lnTo>
                  <a:lnTo>
                    <a:pt x="921607" y="465008"/>
                  </a:lnTo>
                  <a:lnTo>
                    <a:pt x="548593" y="465008"/>
                  </a:lnTo>
                  <a:lnTo>
                    <a:pt x="502251" y="475693"/>
                  </a:lnTo>
                  <a:lnTo>
                    <a:pt x="452975" y="481638"/>
                  </a:lnTo>
                  <a:lnTo>
                    <a:pt x="402266" y="482737"/>
                  </a:lnTo>
                  <a:close/>
                </a:path>
                <a:path w="1436370" h="513715">
                  <a:moveTo>
                    <a:pt x="1046785" y="450024"/>
                  </a:moveTo>
                  <a:lnTo>
                    <a:pt x="996988" y="446138"/>
                  </a:lnTo>
                  <a:lnTo>
                    <a:pt x="950248" y="435869"/>
                  </a:lnTo>
                  <a:lnTo>
                    <a:pt x="1152140" y="435869"/>
                  </a:lnTo>
                  <a:lnTo>
                    <a:pt x="1144794" y="438505"/>
                  </a:lnTo>
                  <a:lnTo>
                    <a:pt x="1096950" y="447492"/>
                  </a:lnTo>
                  <a:lnTo>
                    <a:pt x="1046785" y="450024"/>
                  </a:lnTo>
                  <a:close/>
                </a:path>
                <a:path w="1436370" h="513715">
                  <a:moveTo>
                    <a:pt x="717129" y="513323"/>
                  </a:moveTo>
                  <a:lnTo>
                    <a:pt x="667776" y="508610"/>
                  </a:lnTo>
                  <a:lnTo>
                    <a:pt x="622053" y="498731"/>
                  </a:lnTo>
                  <a:lnTo>
                    <a:pt x="581734" y="484069"/>
                  </a:lnTo>
                  <a:lnTo>
                    <a:pt x="548593" y="465008"/>
                  </a:lnTo>
                  <a:lnTo>
                    <a:pt x="921607" y="465008"/>
                  </a:lnTo>
                  <a:lnTo>
                    <a:pt x="882069" y="487047"/>
                  </a:lnTo>
                  <a:lnTo>
                    <a:pt x="829462" y="503588"/>
                  </a:lnTo>
                  <a:lnTo>
                    <a:pt x="768336" y="512486"/>
                  </a:lnTo>
                  <a:lnTo>
                    <a:pt x="717129" y="513323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5972207" y="175972"/>
              <a:ext cx="1436370" cy="513715"/>
            </a:xfrm>
            <a:custGeom>
              <a:avLst/>
              <a:gdLst/>
              <a:ahLst/>
              <a:cxnLst/>
              <a:rect l="l" t="t" r="r" b="b"/>
              <a:pathLst>
                <a:path w="1436370" h="513715">
                  <a:moveTo>
                    <a:pt x="130142" y="169041"/>
                  </a:moveTo>
                  <a:lnTo>
                    <a:pt x="130505" y="138319"/>
                  </a:lnTo>
                  <a:lnTo>
                    <a:pt x="147963" y="109384"/>
                  </a:lnTo>
                  <a:lnTo>
                    <a:pt x="181004" y="83869"/>
                  </a:lnTo>
                  <a:lnTo>
                    <a:pt x="228114" y="63405"/>
                  </a:lnTo>
                  <a:lnTo>
                    <a:pt x="273225" y="52121"/>
                  </a:lnTo>
                  <a:lnTo>
                    <a:pt x="321478" y="46115"/>
                  </a:lnTo>
                  <a:lnTo>
                    <a:pt x="370990" y="45416"/>
                  </a:lnTo>
                  <a:lnTo>
                    <a:pt x="419877" y="50050"/>
                  </a:lnTo>
                  <a:lnTo>
                    <a:pt x="466258" y="60044"/>
                  </a:lnTo>
                  <a:lnTo>
                    <a:pt x="520207" y="30132"/>
                  </a:lnTo>
                  <a:lnTo>
                    <a:pt x="595966" y="15179"/>
                  </a:lnTo>
                  <a:lnTo>
                    <a:pt x="637359" y="14462"/>
                  </a:lnTo>
                  <a:lnTo>
                    <a:pt x="677449" y="18360"/>
                  </a:lnTo>
                  <a:lnTo>
                    <a:pt x="714643" y="26623"/>
                  </a:lnTo>
                  <a:lnTo>
                    <a:pt x="747350" y="39001"/>
                  </a:lnTo>
                  <a:lnTo>
                    <a:pt x="767935" y="24045"/>
                  </a:lnTo>
                  <a:lnTo>
                    <a:pt x="795144" y="12265"/>
                  </a:lnTo>
                  <a:lnTo>
                    <a:pt x="827515" y="4149"/>
                  </a:lnTo>
                  <a:lnTo>
                    <a:pt x="863587" y="185"/>
                  </a:lnTo>
                  <a:lnTo>
                    <a:pt x="900546" y="783"/>
                  </a:lnTo>
                  <a:lnTo>
                    <a:pt x="935471" y="5798"/>
                  </a:lnTo>
                  <a:lnTo>
                    <a:pt x="966737" y="14882"/>
                  </a:lnTo>
                  <a:lnTo>
                    <a:pt x="992721" y="27692"/>
                  </a:lnTo>
                  <a:lnTo>
                    <a:pt x="1027091" y="12907"/>
                  </a:lnTo>
                  <a:lnTo>
                    <a:pt x="1067813" y="3545"/>
                  </a:lnTo>
                  <a:lnTo>
                    <a:pt x="1112277" y="0"/>
                  </a:lnTo>
                  <a:lnTo>
                    <a:pt x="1157873" y="2667"/>
                  </a:lnTo>
                  <a:lnTo>
                    <a:pt x="1200085" y="11448"/>
                  </a:lnTo>
                  <a:lnTo>
                    <a:pt x="1234902" y="25330"/>
                  </a:lnTo>
                  <a:lnTo>
                    <a:pt x="1260475" y="43336"/>
                  </a:lnTo>
                  <a:lnTo>
                    <a:pt x="1274953" y="64489"/>
                  </a:lnTo>
                  <a:lnTo>
                    <a:pt x="1341720" y="81417"/>
                  </a:lnTo>
                  <a:lnTo>
                    <a:pt x="1388081" y="110315"/>
                  </a:lnTo>
                  <a:lnTo>
                    <a:pt x="1405691" y="145981"/>
                  </a:lnTo>
                  <a:lnTo>
                    <a:pt x="1402540" y="164262"/>
                  </a:lnTo>
                  <a:lnTo>
                    <a:pt x="1391380" y="181997"/>
                  </a:lnTo>
                  <a:lnTo>
                    <a:pt x="1420892" y="206852"/>
                  </a:lnTo>
                  <a:lnTo>
                    <a:pt x="1435990" y="234120"/>
                  </a:lnTo>
                  <a:lnTo>
                    <a:pt x="1436278" y="262358"/>
                  </a:lnTo>
                  <a:lnTo>
                    <a:pt x="1421354" y="290128"/>
                  </a:lnTo>
                  <a:lnTo>
                    <a:pt x="1392130" y="315064"/>
                  </a:lnTo>
                  <a:lnTo>
                    <a:pt x="1351354" y="335164"/>
                  </a:lnTo>
                  <a:lnTo>
                    <a:pt x="1301379" y="349534"/>
                  </a:lnTo>
                  <a:lnTo>
                    <a:pt x="1244561" y="357280"/>
                  </a:lnTo>
                  <a:lnTo>
                    <a:pt x="1237322" y="381962"/>
                  </a:lnTo>
                  <a:lnTo>
                    <a:pt x="1186059" y="423697"/>
                  </a:lnTo>
                  <a:lnTo>
                    <a:pt x="1144794" y="438505"/>
                  </a:lnTo>
                  <a:lnTo>
                    <a:pt x="1096950" y="447492"/>
                  </a:lnTo>
                  <a:lnTo>
                    <a:pt x="1046785" y="450024"/>
                  </a:lnTo>
                  <a:lnTo>
                    <a:pt x="996988" y="446138"/>
                  </a:lnTo>
                  <a:lnTo>
                    <a:pt x="950248" y="435869"/>
                  </a:lnTo>
                  <a:lnTo>
                    <a:pt x="923287" y="464071"/>
                  </a:lnTo>
                  <a:lnTo>
                    <a:pt x="882069" y="487047"/>
                  </a:lnTo>
                  <a:lnTo>
                    <a:pt x="829462" y="503588"/>
                  </a:lnTo>
                  <a:lnTo>
                    <a:pt x="768336" y="512486"/>
                  </a:lnTo>
                  <a:lnTo>
                    <a:pt x="717129" y="513323"/>
                  </a:lnTo>
                  <a:lnTo>
                    <a:pt x="667776" y="508610"/>
                  </a:lnTo>
                  <a:lnTo>
                    <a:pt x="622053" y="498731"/>
                  </a:lnTo>
                  <a:lnTo>
                    <a:pt x="581734" y="484069"/>
                  </a:lnTo>
                  <a:lnTo>
                    <a:pt x="548593" y="465008"/>
                  </a:lnTo>
                  <a:lnTo>
                    <a:pt x="502251" y="475693"/>
                  </a:lnTo>
                  <a:lnTo>
                    <a:pt x="452975" y="481638"/>
                  </a:lnTo>
                  <a:lnTo>
                    <a:pt x="402266" y="482737"/>
                  </a:lnTo>
                  <a:lnTo>
                    <a:pt x="351626" y="478883"/>
                  </a:lnTo>
                  <a:lnTo>
                    <a:pt x="303562" y="470198"/>
                  </a:lnTo>
                  <a:lnTo>
                    <a:pt x="260383" y="457172"/>
                  </a:lnTo>
                  <a:lnTo>
                    <a:pt x="223296" y="440256"/>
                  </a:lnTo>
                  <a:lnTo>
                    <a:pt x="193504" y="419899"/>
                  </a:lnTo>
                  <a:lnTo>
                    <a:pt x="148988" y="419096"/>
                  </a:lnTo>
                  <a:lnTo>
                    <a:pt x="107943" y="411995"/>
                  </a:lnTo>
                  <a:lnTo>
                    <a:pt x="47147" y="381736"/>
                  </a:lnTo>
                  <a:lnTo>
                    <a:pt x="33044" y="340037"/>
                  </a:lnTo>
                  <a:lnTo>
                    <a:pt x="45629" y="319797"/>
                  </a:lnTo>
                  <a:lnTo>
                    <a:pt x="70721" y="301939"/>
                  </a:lnTo>
                  <a:lnTo>
                    <a:pt x="35449" y="287754"/>
                  </a:lnTo>
                  <a:lnTo>
                    <a:pt x="11426" y="269365"/>
                  </a:lnTo>
                  <a:lnTo>
                    <a:pt x="0" y="248271"/>
                  </a:lnTo>
                  <a:lnTo>
                    <a:pt x="2513" y="225971"/>
                  </a:lnTo>
                  <a:lnTo>
                    <a:pt x="19111" y="205165"/>
                  </a:lnTo>
                  <a:lnTo>
                    <a:pt x="47375" y="188280"/>
                  </a:lnTo>
                  <a:lnTo>
                    <a:pt x="84813" y="176408"/>
                  </a:lnTo>
                  <a:lnTo>
                    <a:pt x="128931" y="170641"/>
                  </a:lnTo>
                  <a:lnTo>
                    <a:pt x="130142" y="169041"/>
                  </a:lnTo>
                  <a:close/>
                </a:path>
                <a:path w="1436370" h="513715">
                  <a:moveTo>
                    <a:pt x="70736" y="301936"/>
                  </a:moveTo>
                  <a:lnTo>
                    <a:pt x="90503" y="306649"/>
                  </a:lnTo>
                  <a:lnTo>
                    <a:pt x="111381" y="309827"/>
                  </a:lnTo>
                  <a:lnTo>
                    <a:pt x="133001" y="311429"/>
                  </a:lnTo>
                  <a:lnTo>
                    <a:pt x="154992" y="311412"/>
                  </a:lnTo>
                </a:path>
                <a:path w="1436370" h="513715">
                  <a:moveTo>
                    <a:pt x="193506" y="419899"/>
                  </a:moveTo>
                  <a:lnTo>
                    <a:pt x="202938" y="419208"/>
                  </a:lnTo>
                  <a:lnTo>
                    <a:pt x="212245" y="418220"/>
                  </a:lnTo>
                  <a:lnTo>
                    <a:pt x="221399" y="416937"/>
                  </a:lnTo>
                  <a:lnTo>
                    <a:pt x="230370" y="415364"/>
                  </a:lnTo>
                </a:path>
                <a:path w="1436370" h="513715">
                  <a:moveTo>
                    <a:pt x="548577" y="465005"/>
                  </a:moveTo>
                  <a:lnTo>
                    <a:pt x="542180" y="460056"/>
                  </a:lnTo>
                  <a:lnTo>
                    <a:pt x="536338" y="454951"/>
                  </a:lnTo>
                  <a:lnTo>
                    <a:pt x="531062" y="449702"/>
                  </a:lnTo>
                  <a:lnTo>
                    <a:pt x="526365" y="444318"/>
                  </a:lnTo>
                </a:path>
                <a:path w="1436370" h="513715">
                  <a:moveTo>
                    <a:pt x="950248" y="435866"/>
                  </a:moveTo>
                  <a:lnTo>
                    <a:pt x="954836" y="428473"/>
                  </a:lnTo>
                  <a:lnTo>
                    <a:pt x="957810" y="420864"/>
                  </a:lnTo>
                  <a:lnTo>
                    <a:pt x="959117" y="413166"/>
                  </a:lnTo>
                </a:path>
                <a:path w="1436370" h="513715">
                  <a:moveTo>
                    <a:pt x="1244549" y="357279"/>
                  </a:moveTo>
                  <a:lnTo>
                    <a:pt x="1237277" y="331037"/>
                  </a:lnTo>
                  <a:lnTo>
                    <a:pt x="1215699" y="307264"/>
                  </a:lnTo>
                  <a:lnTo>
                    <a:pt x="1181509" y="287290"/>
                  </a:lnTo>
                  <a:lnTo>
                    <a:pt x="1136401" y="272444"/>
                  </a:lnTo>
                </a:path>
                <a:path w="1436370" h="513715">
                  <a:moveTo>
                    <a:pt x="1391367" y="182000"/>
                  </a:moveTo>
                  <a:lnTo>
                    <a:pt x="1382224" y="190933"/>
                  </a:lnTo>
                  <a:lnTo>
                    <a:pt x="1371069" y="199265"/>
                  </a:lnTo>
                  <a:lnTo>
                    <a:pt x="1358025" y="206918"/>
                  </a:lnTo>
                  <a:lnTo>
                    <a:pt x="1343212" y="213811"/>
                  </a:lnTo>
                </a:path>
                <a:path w="1436370" h="513715">
                  <a:moveTo>
                    <a:pt x="1274951" y="64490"/>
                  </a:moveTo>
                  <a:lnTo>
                    <a:pt x="1276791" y="69446"/>
                  </a:lnTo>
                  <a:lnTo>
                    <a:pt x="1277641" y="74477"/>
                  </a:lnTo>
                  <a:lnTo>
                    <a:pt x="1277493" y="79513"/>
                  </a:lnTo>
                </a:path>
                <a:path w="1436370" h="513715">
                  <a:moveTo>
                    <a:pt x="992723" y="27693"/>
                  </a:moveTo>
                  <a:lnTo>
                    <a:pt x="985496" y="32148"/>
                  </a:lnTo>
                  <a:lnTo>
                    <a:pt x="978959" y="36839"/>
                  </a:lnTo>
                  <a:lnTo>
                    <a:pt x="973137" y="41747"/>
                  </a:lnTo>
                  <a:lnTo>
                    <a:pt x="968054" y="46853"/>
                  </a:lnTo>
                </a:path>
                <a:path w="1436370" h="513715">
                  <a:moveTo>
                    <a:pt x="747350" y="39000"/>
                  </a:moveTo>
                  <a:lnTo>
                    <a:pt x="741975" y="44245"/>
                  </a:lnTo>
                  <a:lnTo>
                    <a:pt x="737962" y="49796"/>
                  </a:lnTo>
                  <a:lnTo>
                    <a:pt x="735402" y="55523"/>
                  </a:lnTo>
                </a:path>
                <a:path w="1436370" h="513715">
                  <a:moveTo>
                    <a:pt x="466253" y="60043"/>
                  </a:moveTo>
                  <a:lnTo>
                    <a:pt x="477798" y="63566"/>
                  </a:lnTo>
                  <a:lnTo>
                    <a:pt x="488872" y="67420"/>
                  </a:lnTo>
                  <a:lnTo>
                    <a:pt x="499446" y="71593"/>
                  </a:lnTo>
                  <a:lnTo>
                    <a:pt x="509489" y="76074"/>
                  </a:lnTo>
                </a:path>
                <a:path w="1436370" h="513715">
                  <a:moveTo>
                    <a:pt x="130142" y="169041"/>
                  </a:moveTo>
                  <a:lnTo>
                    <a:pt x="131739" y="174751"/>
                  </a:lnTo>
                  <a:lnTo>
                    <a:pt x="134262" y="180391"/>
                  </a:lnTo>
                  <a:lnTo>
                    <a:pt x="137687" y="185908"/>
                  </a:lnTo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6282842" y="274418"/>
            <a:ext cx="71374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solidFill>
                  <a:srgbClr val="FFFFFF"/>
                </a:solidFill>
                <a:latin typeface="Arial"/>
                <a:cs typeface="Arial"/>
              </a:rPr>
              <a:t>Internet</a:t>
            </a:r>
            <a:endParaRPr sz="1600">
              <a:latin typeface="Arial"/>
              <a:cs typeface="Arial"/>
            </a:endParaRPr>
          </a:p>
        </p:txBody>
      </p:sp>
      <p:sp>
        <p:nvSpPr>
          <p:cNvPr id="49" name="object 4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31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2730" cy="5143500"/>
            <a:chOff x="0" y="0"/>
            <a:chExt cx="9142730" cy="5143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54" y="0"/>
              <a:ext cx="9141290" cy="410870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4175999" cy="514349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193024" y="4326076"/>
              <a:ext cx="722375" cy="604028"/>
            </a:xfrm>
            <a:prstGeom prst="rect">
              <a:avLst/>
            </a:prstGeom>
          </p:spPr>
        </p:pic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2056039" y="1486283"/>
            <a:ext cx="452120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dirty="0">
                <a:solidFill>
                  <a:srgbClr val="FFFFFF"/>
                </a:solidFill>
                <a:latin typeface="Calibri"/>
                <a:cs typeface="Calibri"/>
              </a:rPr>
              <a:t>Let’s</a:t>
            </a:r>
            <a:r>
              <a:rPr sz="4000" spc="-1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FFFFFF"/>
                </a:solidFill>
                <a:latin typeface="Calibri"/>
                <a:cs typeface="Calibri"/>
              </a:rPr>
              <a:t>talk</a:t>
            </a:r>
            <a:r>
              <a:rPr sz="4000" spc="-1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FFFFFF"/>
                </a:solidFill>
                <a:latin typeface="Calibri"/>
                <a:cs typeface="Calibri"/>
              </a:rPr>
              <a:t>about</a:t>
            </a:r>
            <a:r>
              <a:rPr sz="4000" spc="-1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spc="-10" dirty="0">
                <a:solidFill>
                  <a:srgbClr val="FFFFFF"/>
                </a:solidFill>
                <a:latin typeface="Calibri"/>
                <a:cs typeface="Calibri"/>
              </a:rPr>
              <a:t>Pods..</a:t>
            </a:r>
            <a:endParaRPr sz="40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01625" y="249500"/>
            <a:ext cx="1549400" cy="4648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Overview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23655" y="544917"/>
            <a:ext cx="12274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Worker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Node-</a:t>
            </a:r>
            <a:r>
              <a:rPr sz="1400" spc="-50" dirty="0">
                <a:latin typeface="Arial"/>
                <a:cs typeface="Arial"/>
              </a:rPr>
              <a:t>1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303129" y="1133020"/>
            <a:ext cx="6780530" cy="3140710"/>
            <a:chOff x="1303129" y="1133020"/>
            <a:chExt cx="6780530" cy="3140710"/>
          </a:xfrm>
        </p:grpSpPr>
        <p:sp>
          <p:nvSpPr>
            <p:cNvPr id="5" name="object 5"/>
            <p:cNvSpPr/>
            <p:nvPr/>
          </p:nvSpPr>
          <p:spPr>
            <a:xfrm>
              <a:off x="5120346" y="1139370"/>
              <a:ext cx="2957195" cy="3128010"/>
            </a:xfrm>
            <a:custGeom>
              <a:avLst/>
              <a:gdLst/>
              <a:ahLst/>
              <a:cxnLst/>
              <a:rect l="l" t="t" r="r" b="b"/>
              <a:pathLst>
                <a:path w="2957195" h="3128010">
                  <a:moveTo>
                    <a:pt x="0" y="492818"/>
                  </a:moveTo>
                  <a:lnTo>
                    <a:pt x="2255" y="445356"/>
                  </a:lnTo>
                  <a:lnTo>
                    <a:pt x="8886" y="399171"/>
                  </a:lnTo>
                  <a:lnTo>
                    <a:pt x="19684" y="354469"/>
                  </a:lnTo>
                  <a:lnTo>
                    <a:pt x="34443" y="311456"/>
                  </a:lnTo>
                  <a:lnTo>
                    <a:pt x="52957" y="270339"/>
                  </a:lnTo>
                  <a:lnTo>
                    <a:pt x="75019" y="231325"/>
                  </a:lnTo>
                  <a:lnTo>
                    <a:pt x="100423" y="194619"/>
                  </a:lnTo>
                  <a:lnTo>
                    <a:pt x="128962" y="160430"/>
                  </a:lnTo>
                  <a:lnTo>
                    <a:pt x="160430" y="128962"/>
                  </a:lnTo>
                  <a:lnTo>
                    <a:pt x="194619" y="100423"/>
                  </a:lnTo>
                  <a:lnTo>
                    <a:pt x="231325" y="75019"/>
                  </a:lnTo>
                  <a:lnTo>
                    <a:pt x="270339" y="52957"/>
                  </a:lnTo>
                  <a:lnTo>
                    <a:pt x="311456" y="34443"/>
                  </a:lnTo>
                  <a:lnTo>
                    <a:pt x="354469" y="19684"/>
                  </a:lnTo>
                  <a:lnTo>
                    <a:pt x="399171" y="8886"/>
                  </a:lnTo>
                  <a:lnTo>
                    <a:pt x="445356" y="2255"/>
                  </a:lnTo>
                  <a:lnTo>
                    <a:pt x="492818" y="0"/>
                  </a:lnTo>
                  <a:lnTo>
                    <a:pt x="2464034" y="0"/>
                  </a:lnTo>
                  <a:lnTo>
                    <a:pt x="2512743" y="2411"/>
                  </a:lnTo>
                  <a:lnTo>
                    <a:pt x="2560627" y="9556"/>
                  </a:lnTo>
                  <a:lnTo>
                    <a:pt x="2607362" y="21302"/>
                  </a:lnTo>
                  <a:lnTo>
                    <a:pt x="2652627" y="37513"/>
                  </a:lnTo>
                  <a:lnTo>
                    <a:pt x="2696097" y="58057"/>
                  </a:lnTo>
                  <a:lnTo>
                    <a:pt x="2737449" y="82799"/>
                  </a:lnTo>
                  <a:lnTo>
                    <a:pt x="2776361" y="111605"/>
                  </a:lnTo>
                  <a:lnTo>
                    <a:pt x="2812509" y="144343"/>
                  </a:lnTo>
                  <a:lnTo>
                    <a:pt x="2845246" y="180490"/>
                  </a:lnTo>
                  <a:lnTo>
                    <a:pt x="2874053" y="219402"/>
                  </a:lnTo>
                  <a:lnTo>
                    <a:pt x="2898795" y="260755"/>
                  </a:lnTo>
                  <a:lnTo>
                    <a:pt x="2919339" y="304225"/>
                  </a:lnTo>
                  <a:lnTo>
                    <a:pt x="2935550" y="349489"/>
                  </a:lnTo>
                  <a:lnTo>
                    <a:pt x="2947296" y="396225"/>
                  </a:lnTo>
                  <a:lnTo>
                    <a:pt x="2954441" y="444109"/>
                  </a:lnTo>
                  <a:lnTo>
                    <a:pt x="2956852" y="492818"/>
                  </a:lnTo>
                  <a:lnTo>
                    <a:pt x="2956852" y="2635010"/>
                  </a:lnTo>
                  <a:lnTo>
                    <a:pt x="2954596" y="2682472"/>
                  </a:lnTo>
                  <a:lnTo>
                    <a:pt x="2947966" y="2728657"/>
                  </a:lnTo>
                  <a:lnTo>
                    <a:pt x="2937168" y="2773359"/>
                  </a:lnTo>
                  <a:lnTo>
                    <a:pt x="2922409" y="2816372"/>
                  </a:lnTo>
                  <a:lnTo>
                    <a:pt x="2903895" y="2857489"/>
                  </a:lnTo>
                  <a:lnTo>
                    <a:pt x="2881833" y="2896503"/>
                  </a:lnTo>
                  <a:lnTo>
                    <a:pt x="2856429" y="2933209"/>
                  </a:lnTo>
                  <a:lnTo>
                    <a:pt x="2827890" y="2967398"/>
                  </a:lnTo>
                  <a:lnTo>
                    <a:pt x="2796422" y="2998866"/>
                  </a:lnTo>
                  <a:lnTo>
                    <a:pt x="2762232" y="3027405"/>
                  </a:lnTo>
                  <a:lnTo>
                    <a:pt x="2725527" y="3052809"/>
                  </a:lnTo>
                  <a:lnTo>
                    <a:pt x="2686513" y="3074871"/>
                  </a:lnTo>
                  <a:lnTo>
                    <a:pt x="2645396" y="3093385"/>
                  </a:lnTo>
                  <a:lnTo>
                    <a:pt x="2602383" y="3108144"/>
                  </a:lnTo>
                  <a:lnTo>
                    <a:pt x="2557681" y="3118942"/>
                  </a:lnTo>
                  <a:lnTo>
                    <a:pt x="2511495" y="3125573"/>
                  </a:lnTo>
                  <a:lnTo>
                    <a:pt x="2464034" y="3127828"/>
                  </a:lnTo>
                  <a:lnTo>
                    <a:pt x="492818" y="3127828"/>
                  </a:lnTo>
                  <a:lnTo>
                    <a:pt x="445356" y="3125573"/>
                  </a:lnTo>
                  <a:lnTo>
                    <a:pt x="399171" y="3118942"/>
                  </a:lnTo>
                  <a:lnTo>
                    <a:pt x="354469" y="3108144"/>
                  </a:lnTo>
                  <a:lnTo>
                    <a:pt x="311456" y="3093385"/>
                  </a:lnTo>
                  <a:lnTo>
                    <a:pt x="270339" y="3074871"/>
                  </a:lnTo>
                  <a:lnTo>
                    <a:pt x="231325" y="3052809"/>
                  </a:lnTo>
                  <a:lnTo>
                    <a:pt x="194619" y="3027405"/>
                  </a:lnTo>
                  <a:lnTo>
                    <a:pt x="160430" y="2998866"/>
                  </a:lnTo>
                  <a:lnTo>
                    <a:pt x="128962" y="2967398"/>
                  </a:lnTo>
                  <a:lnTo>
                    <a:pt x="100423" y="2933209"/>
                  </a:lnTo>
                  <a:lnTo>
                    <a:pt x="75019" y="2896503"/>
                  </a:lnTo>
                  <a:lnTo>
                    <a:pt x="52957" y="2857489"/>
                  </a:lnTo>
                  <a:lnTo>
                    <a:pt x="34443" y="2816372"/>
                  </a:lnTo>
                  <a:lnTo>
                    <a:pt x="19684" y="2773359"/>
                  </a:lnTo>
                  <a:lnTo>
                    <a:pt x="8886" y="2728657"/>
                  </a:lnTo>
                  <a:lnTo>
                    <a:pt x="2255" y="2682472"/>
                  </a:lnTo>
                  <a:lnTo>
                    <a:pt x="0" y="2635010"/>
                  </a:lnTo>
                  <a:lnTo>
                    <a:pt x="0" y="492818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309479" y="1222827"/>
              <a:ext cx="2489200" cy="2939415"/>
            </a:xfrm>
            <a:custGeom>
              <a:avLst/>
              <a:gdLst/>
              <a:ahLst/>
              <a:cxnLst/>
              <a:rect l="l" t="t" r="r" b="b"/>
              <a:pathLst>
                <a:path w="2489200" h="2939415">
                  <a:moveTo>
                    <a:pt x="2074324" y="2939142"/>
                  </a:moveTo>
                  <a:lnTo>
                    <a:pt x="414874" y="2939142"/>
                  </a:lnTo>
                  <a:lnTo>
                    <a:pt x="366491" y="2936351"/>
                  </a:lnTo>
                  <a:lnTo>
                    <a:pt x="319747" y="2928185"/>
                  </a:lnTo>
                  <a:lnTo>
                    <a:pt x="274954" y="2914956"/>
                  </a:lnTo>
                  <a:lnTo>
                    <a:pt x="232423" y="2896974"/>
                  </a:lnTo>
                  <a:lnTo>
                    <a:pt x="192465" y="2874551"/>
                  </a:lnTo>
                  <a:lnTo>
                    <a:pt x="155391" y="2847999"/>
                  </a:lnTo>
                  <a:lnTo>
                    <a:pt x="121514" y="2817628"/>
                  </a:lnTo>
                  <a:lnTo>
                    <a:pt x="91143" y="2783751"/>
                  </a:lnTo>
                  <a:lnTo>
                    <a:pt x="64591" y="2746677"/>
                  </a:lnTo>
                  <a:lnTo>
                    <a:pt x="42168" y="2706719"/>
                  </a:lnTo>
                  <a:lnTo>
                    <a:pt x="24186" y="2664188"/>
                  </a:lnTo>
                  <a:lnTo>
                    <a:pt x="10957" y="2619394"/>
                  </a:lnTo>
                  <a:lnTo>
                    <a:pt x="2791" y="2572651"/>
                  </a:lnTo>
                  <a:lnTo>
                    <a:pt x="0" y="2524267"/>
                  </a:lnTo>
                  <a:lnTo>
                    <a:pt x="0" y="414874"/>
                  </a:lnTo>
                  <a:lnTo>
                    <a:pt x="2700" y="368062"/>
                  </a:lnTo>
                  <a:lnTo>
                    <a:pt x="10957" y="319747"/>
                  </a:lnTo>
                  <a:lnTo>
                    <a:pt x="24186" y="274954"/>
                  </a:lnTo>
                  <a:lnTo>
                    <a:pt x="42168" y="232423"/>
                  </a:lnTo>
                  <a:lnTo>
                    <a:pt x="64591" y="192465"/>
                  </a:lnTo>
                  <a:lnTo>
                    <a:pt x="91143" y="155391"/>
                  </a:lnTo>
                  <a:lnTo>
                    <a:pt x="121514" y="121514"/>
                  </a:lnTo>
                  <a:lnTo>
                    <a:pt x="155391" y="91143"/>
                  </a:lnTo>
                  <a:lnTo>
                    <a:pt x="192465" y="64591"/>
                  </a:lnTo>
                  <a:lnTo>
                    <a:pt x="232423" y="42168"/>
                  </a:lnTo>
                  <a:lnTo>
                    <a:pt x="274954" y="24186"/>
                  </a:lnTo>
                  <a:lnTo>
                    <a:pt x="319747" y="10957"/>
                  </a:lnTo>
                  <a:lnTo>
                    <a:pt x="366491" y="2791"/>
                  </a:lnTo>
                  <a:lnTo>
                    <a:pt x="414874" y="0"/>
                  </a:lnTo>
                  <a:lnTo>
                    <a:pt x="2074324" y="0"/>
                  </a:lnTo>
                  <a:lnTo>
                    <a:pt x="2121137" y="2648"/>
                  </a:lnTo>
                  <a:lnTo>
                    <a:pt x="2166992" y="10480"/>
                  </a:lnTo>
                  <a:lnTo>
                    <a:pt x="2211483" y="23328"/>
                  </a:lnTo>
                  <a:lnTo>
                    <a:pt x="2254204" y="41023"/>
                  </a:lnTo>
                  <a:lnTo>
                    <a:pt x="2294749" y="63398"/>
                  </a:lnTo>
                  <a:lnTo>
                    <a:pt x="2332711" y="90284"/>
                  </a:lnTo>
                  <a:lnTo>
                    <a:pt x="2367685" y="121514"/>
                  </a:lnTo>
                  <a:lnTo>
                    <a:pt x="2398915" y="156488"/>
                  </a:lnTo>
                  <a:lnTo>
                    <a:pt x="2425801" y="194450"/>
                  </a:lnTo>
                  <a:lnTo>
                    <a:pt x="2448176" y="234995"/>
                  </a:lnTo>
                  <a:lnTo>
                    <a:pt x="2465871" y="277716"/>
                  </a:lnTo>
                  <a:lnTo>
                    <a:pt x="2478719" y="322207"/>
                  </a:lnTo>
                  <a:lnTo>
                    <a:pt x="2486551" y="368062"/>
                  </a:lnTo>
                  <a:lnTo>
                    <a:pt x="2489199" y="414874"/>
                  </a:lnTo>
                  <a:lnTo>
                    <a:pt x="2489199" y="2524267"/>
                  </a:lnTo>
                  <a:lnTo>
                    <a:pt x="2486408" y="2572651"/>
                  </a:lnTo>
                  <a:lnTo>
                    <a:pt x="2478242" y="2619394"/>
                  </a:lnTo>
                  <a:lnTo>
                    <a:pt x="2465013" y="2664188"/>
                  </a:lnTo>
                  <a:lnTo>
                    <a:pt x="2447031" y="2706719"/>
                  </a:lnTo>
                  <a:lnTo>
                    <a:pt x="2424608" y="2746677"/>
                  </a:lnTo>
                  <a:lnTo>
                    <a:pt x="2398056" y="2783751"/>
                  </a:lnTo>
                  <a:lnTo>
                    <a:pt x="2367685" y="2817628"/>
                  </a:lnTo>
                  <a:lnTo>
                    <a:pt x="2333808" y="2847999"/>
                  </a:lnTo>
                  <a:lnTo>
                    <a:pt x="2296734" y="2874551"/>
                  </a:lnTo>
                  <a:lnTo>
                    <a:pt x="2256776" y="2896974"/>
                  </a:lnTo>
                  <a:lnTo>
                    <a:pt x="2214245" y="2914956"/>
                  </a:lnTo>
                  <a:lnTo>
                    <a:pt x="2169451" y="2928185"/>
                  </a:lnTo>
                  <a:lnTo>
                    <a:pt x="2122708" y="2936351"/>
                  </a:lnTo>
                  <a:lnTo>
                    <a:pt x="2074324" y="2939142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309479" y="1222827"/>
              <a:ext cx="2489200" cy="2939415"/>
            </a:xfrm>
            <a:custGeom>
              <a:avLst/>
              <a:gdLst/>
              <a:ahLst/>
              <a:cxnLst/>
              <a:rect l="l" t="t" r="r" b="b"/>
              <a:pathLst>
                <a:path w="2489200" h="2939415">
                  <a:moveTo>
                    <a:pt x="0" y="414874"/>
                  </a:moveTo>
                  <a:lnTo>
                    <a:pt x="2791" y="366491"/>
                  </a:lnTo>
                  <a:lnTo>
                    <a:pt x="10957" y="319747"/>
                  </a:lnTo>
                  <a:lnTo>
                    <a:pt x="24186" y="274954"/>
                  </a:lnTo>
                  <a:lnTo>
                    <a:pt x="42168" y="232423"/>
                  </a:lnTo>
                  <a:lnTo>
                    <a:pt x="64591" y="192465"/>
                  </a:lnTo>
                  <a:lnTo>
                    <a:pt x="91143" y="155391"/>
                  </a:lnTo>
                  <a:lnTo>
                    <a:pt x="121514" y="121514"/>
                  </a:lnTo>
                  <a:lnTo>
                    <a:pt x="155391" y="91143"/>
                  </a:lnTo>
                  <a:lnTo>
                    <a:pt x="192465" y="64591"/>
                  </a:lnTo>
                  <a:lnTo>
                    <a:pt x="232423" y="42168"/>
                  </a:lnTo>
                  <a:lnTo>
                    <a:pt x="274954" y="24186"/>
                  </a:lnTo>
                  <a:lnTo>
                    <a:pt x="319747" y="10957"/>
                  </a:lnTo>
                  <a:lnTo>
                    <a:pt x="366491" y="2791"/>
                  </a:lnTo>
                  <a:lnTo>
                    <a:pt x="414874" y="0"/>
                  </a:lnTo>
                  <a:lnTo>
                    <a:pt x="2074324" y="0"/>
                  </a:lnTo>
                  <a:lnTo>
                    <a:pt x="2121137" y="2648"/>
                  </a:lnTo>
                  <a:lnTo>
                    <a:pt x="2166992" y="10480"/>
                  </a:lnTo>
                  <a:lnTo>
                    <a:pt x="2211483" y="23328"/>
                  </a:lnTo>
                  <a:lnTo>
                    <a:pt x="2254204" y="41023"/>
                  </a:lnTo>
                  <a:lnTo>
                    <a:pt x="2294749" y="63398"/>
                  </a:lnTo>
                  <a:lnTo>
                    <a:pt x="2332711" y="90284"/>
                  </a:lnTo>
                  <a:lnTo>
                    <a:pt x="2367685" y="121514"/>
                  </a:lnTo>
                  <a:lnTo>
                    <a:pt x="2398915" y="156488"/>
                  </a:lnTo>
                  <a:lnTo>
                    <a:pt x="2425801" y="194450"/>
                  </a:lnTo>
                  <a:lnTo>
                    <a:pt x="2448176" y="234995"/>
                  </a:lnTo>
                  <a:lnTo>
                    <a:pt x="2465871" y="277716"/>
                  </a:lnTo>
                  <a:lnTo>
                    <a:pt x="2478719" y="322207"/>
                  </a:lnTo>
                  <a:lnTo>
                    <a:pt x="2486551" y="368062"/>
                  </a:lnTo>
                  <a:lnTo>
                    <a:pt x="2489199" y="414874"/>
                  </a:lnTo>
                  <a:lnTo>
                    <a:pt x="2489199" y="2524267"/>
                  </a:lnTo>
                  <a:lnTo>
                    <a:pt x="2486408" y="2572651"/>
                  </a:lnTo>
                  <a:lnTo>
                    <a:pt x="2478242" y="2619394"/>
                  </a:lnTo>
                  <a:lnTo>
                    <a:pt x="2465013" y="2664188"/>
                  </a:lnTo>
                  <a:lnTo>
                    <a:pt x="2447031" y="2706719"/>
                  </a:lnTo>
                  <a:lnTo>
                    <a:pt x="2424608" y="2746677"/>
                  </a:lnTo>
                  <a:lnTo>
                    <a:pt x="2398056" y="2783751"/>
                  </a:lnTo>
                  <a:lnTo>
                    <a:pt x="2367685" y="2817628"/>
                  </a:lnTo>
                  <a:lnTo>
                    <a:pt x="2333808" y="2847999"/>
                  </a:lnTo>
                  <a:lnTo>
                    <a:pt x="2296734" y="2874551"/>
                  </a:lnTo>
                  <a:lnTo>
                    <a:pt x="2256776" y="2896974"/>
                  </a:lnTo>
                  <a:lnTo>
                    <a:pt x="2214245" y="2914956"/>
                  </a:lnTo>
                  <a:lnTo>
                    <a:pt x="2169451" y="2928185"/>
                  </a:lnTo>
                  <a:lnTo>
                    <a:pt x="2122708" y="2936351"/>
                  </a:lnTo>
                  <a:lnTo>
                    <a:pt x="2074324" y="2939142"/>
                  </a:lnTo>
                  <a:lnTo>
                    <a:pt x="414874" y="2939142"/>
                  </a:lnTo>
                  <a:lnTo>
                    <a:pt x="366491" y="2936351"/>
                  </a:lnTo>
                  <a:lnTo>
                    <a:pt x="319747" y="2928185"/>
                  </a:lnTo>
                  <a:lnTo>
                    <a:pt x="274954" y="2914956"/>
                  </a:lnTo>
                  <a:lnTo>
                    <a:pt x="232423" y="2896974"/>
                  </a:lnTo>
                  <a:lnTo>
                    <a:pt x="192465" y="2874551"/>
                  </a:lnTo>
                  <a:lnTo>
                    <a:pt x="155391" y="2847999"/>
                  </a:lnTo>
                  <a:lnTo>
                    <a:pt x="121514" y="2817628"/>
                  </a:lnTo>
                  <a:lnTo>
                    <a:pt x="91143" y="2783751"/>
                  </a:lnTo>
                  <a:lnTo>
                    <a:pt x="64591" y="2746677"/>
                  </a:lnTo>
                  <a:lnTo>
                    <a:pt x="42168" y="2706719"/>
                  </a:lnTo>
                  <a:lnTo>
                    <a:pt x="24186" y="2664188"/>
                  </a:lnTo>
                  <a:lnTo>
                    <a:pt x="10957" y="2619394"/>
                  </a:lnTo>
                  <a:lnTo>
                    <a:pt x="2791" y="2572651"/>
                  </a:lnTo>
                  <a:lnTo>
                    <a:pt x="0" y="2524267"/>
                  </a:lnTo>
                  <a:lnTo>
                    <a:pt x="0" y="414874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554079" y="1599548"/>
              <a:ext cx="1082040" cy="521334"/>
            </a:xfrm>
            <a:custGeom>
              <a:avLst/>
              <a:gdLst/>
              <a:ahLst/>
              <a:cxnLst/>
              <a:rect l="l" t="t" r="r" b="b"/>
              <a:pathLst>
                <a:path w="1082039" h="521335">
                  <a:moveTo>
                    <a:pt x="994909" y="521024"/>
                  </a:moveTo>
                  <a:lnTo>
                    <a:pt x="86839" y="521024"/>
                  </a:lnTo>
                  <a:lnTo>
                    <a:pt x="53037" y="514200"/>
                  </a:lnTo>
                  <a:lnTo>
                    <a:pt x="25434" y="495590"/>
                  </a:lnTo>
                  <a:lnTo>
                    <a:pt x="6824" y="467987"/>
                  </a:lnTo>
                  <a:lnTo>
                    <a:pt x="0" y="434185"/>
                  </a:lnTo>
                  <a:lnTo>
                    <a:pt x="0" y="86839"/>
                  </a:lnTo>
                  <a:lnTo>
                    <a:pt x="6824" y="53037"/>
                  </a:lnTo>
                  <a:lnTo>
                    <a:pt x="25434" y="25434"/>
                  </a:lnTo>
                  <a:lnTo>
                    <a:pt x="53037" y="6824"/>
                  </a:lnTo>
                  <a:lnTo>
                    <a:pt x="86839" y="0"/>
                  </a:lnTo>
                  <a:lnTo>
                    <a:pt x="994909" y="0"/>
                  </a:lnTo>
                  <a:lnTo>
                    <a:pt x="1043088" y="14590"/>
                  </a:lnTo>
                  <a:lnTo>
                    <a:pt x="1075138" y="53607"/>
                  </a:lnTo>
                  <a:lnTo>
                    <a:pt x="1081748" y="86839"/>
                  </a:lnTo>
                  <a:lnTo>
                    <a:pt x="1081748" y="434185"/>
                  </a:lnTo>
                  <a:lnTo>
                    <a:pt x="1074924" y="467987"/>
                  </a:lnTo>
                  <a:lnTo>
                    <a:pt x="1056314" y="495590"/>
                  </a:lnTo>
                  <a:lnTo>
                    <a:pt x="1028711" y="514200"/>
                  </a:lnTo>
                  <a:lnTo>
                    <a:pt x="994909" y="521024"/>
                  </a:lnTo>
                  <a:close/>
                </a:path>
              </a:pathLst>
            </a:custGeom>
            <a:solidFill>
              <a:srgbClr val="00B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554079" y="1599548"/>
              <a:ext cx="1082040" cy="521334"/>
            </a:xfrm>
            <a:custGeom>
              <a:avLst/>
              <a:gdLst/>
              <a:ahLst/>
              <a:cxnLst/>
              <a:rect l="l" t="t" r="r" b="b"/>
              <a:pathLst>
                <a:path w="1082039" h="521335">
                  <a:moveTo>
                    <a:pt x="0" y="86839"/>
                  </a:moveTo>
                  <a:lnTo>
                    <a:pt x="6824" y="53037"/>
                  </a:lnTo>
                  <a:lnTo>
                    <a:pt x="25434" y="25434"/>
                  </a:lnTo>
                  <a:lnTo>
                    <a:pt x="53037" y="6824"/>
                  </a:lnTo>
                  <a:lnTo>
                    <a:pt x="86839" y="0"/>
                  </a:lnTo>
                  <a:lnTo>
                    <a:pt x="994909" y="0"/>
                  </a:lnTo>
                  <a:lnTo>
                    <a:pt x="1043088" y="14590"/>
                  </a:lnTo>
                  <a:lnTo>
                    <a:pt x="1075138" y="53607"/>
                  </a:lnTo>
                  <a:lnTo>
                    <a:pt x="1081748" y="86839"/>
                  </a:lnTo>
                  <a:lnTo>
                    <a:pt x="1081748" y="434185"/>
                  </a:lnTo>
                  <a:lnTo>
                    <a:pt x="1074924" y="467987"/>
                  </a:lnTo>
                  <a:lnTo>
                    <a:pt x="1056314" y="495590"/>
                  </a:lnTo>
                  <a:lnTo>
                    <a:pt x="1028711" y="514200"/>
                  </a:lnTo>
                  <a:lnTo>
                    <a:pt x="994909" y="521024"/>
                  </a:lnTo>
                  <a:lnTo>
                    <a:pt x="86839" y="521024"/>
                  </a:lnTo>
                  <a:lnTo>
                    <a:pt x="53037" y="514200"/>
                  </a:lnTo>
                  <a:lnTo>
                    <a:pt x="25434" y="495590"/>
                  </a:lnTo>
                  <a:lnTo>
                    <a:pt x="6824" y="467987"/>
                  </a:lnTo>
                  <a:lnTo>
                    <a:pt x="0" y="434185"/>
                  </a:lnTo>
                  <a:lnTo>
                    <a:pt x="0" y="86839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696686" y="1475963"/>
            <a:ext cx="397510" cy="41275"/>
            <a:chOff x="696686" y="1475963"/>
            <a:chExt cx="397510" cy="41275"/>
          </a:xfrm>
        </p:grpSpPr>
        <p:sp>
          <p:nvSpPr>
            <p:cNvPr id="11" name="object 11"/>
            <p:cNvSpPr/>
            <p:nvPr/>
          </p:nvSpPr>
          <p:spPr>
            <a:xfrm>
              <a:off x="696686" y="1496459"/>
              <a:ext cx="349250" cy="0"/>
            </a:xfrm>
            <a:custGeom>
              <a:avLst/>
              <a:gdLst/>
              <a:ahLst/>
              <a:cxnLst/>
              <a:rect l="l" t="t" r="r" b="b"/>
              <a:pathLst>
                <a:path w="349250">
                  <a:moveTo>
                    <a:pt x="0" y="0"/>
                  </a:moveTo>
                  <a:lnTo>
                    <a:pt x="349249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045935" y="1480726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045935" y="1480726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73026" y="1360858"/>
            <a:ext cx="5689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Arial"/>
                <a:cs typeface="Arial"/>
              </a:rPr>
              <a:t>Master</a:t>
            </a:r>
            <a:endParaRPr sz="14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682167" y="1735474"/>
            <a:ext cx="82613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Scheduler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387022" y="3105662"/>
            <a:ext cx="1010285" cy="522605"/>
            <a:chOff x="1387022" y="3105662"/>
            <a:chExt cx="1010285" cy="522605"/>
          </a:xfrm>
        </p:grpSpPr>
        <p:sp>
          <p:nvSpPr>
            <p:cNvPr id="17" name="object 17"/>
            <p:cNvSpPr/>
            <p:nvPr/>
          </p:nvSpPr>
          <p:spPr>
            <a:xfrm>
              <a:off x="1393372" y="3112012"/>
              <a:ext cx="997585" cy="509905"/>
            </a:xfrm>
            <a:custGeom>
              <a:avLst/>
              <a:gdLst/>
              <a:ahLst/>
              <a:cxnLst/>
              <a:rect l="l" t="t" r="r" b="b"/>
              <a:pathLst>
                <a:path w="997585" h="509904">
                  <a:moveTo>
                    <a:pt x="912104" y="509300"/>
                  </a:moveTo>
                  <a:lnTo>
                    <a:pt x="84885" y="509300"/>
                  </a:lnTo>
                  <a:lnTo>
                    <a:pt x="51844" y="502630"/>
                  </a:lnTo>
                  <a:lnTo>
                    <a:pt x="24862" y="484438"/>
                  </a:lnTo>
                  <a:lnTo>
                    <a:pt x="6670" y="457457"/>
                  </a:lnTo>
                  <a:lnTo>
                    <a:pt x="0" y="424415"/>
                  </a:lnTo>
                  <a:lnTo>
                    <a:pt x="0" y="84885"/>
                  </a:lnTo>
                  <a:lnTo>
                    <a:pt x="6670" y="51844"/>
                  </a:lnTo>
                  <a:lnTo>
                    <a:pt x="24862" y="24862"/>
                  </a:lnTo>
                  <a:lnTo>
                    <a:pt x="51844" y="6670"/>
                  </a:lnTo>
                  <a:lnTo>
                    <a:pt x="84885" y="0"/>
                  </a:lnTo>
                  <a:lnTo>
                    <a:pt x="912104" y="0"/>
                  </a:lnTo>
                  <a:lnTo>
                    <a:pt x="959199" y="14261"/>
                  </a:lnTo>
                  <a:lnTo>
                    <a:pt x="990528" y="52401"/>
                  </a:lnTo>
                  <a:lnTo>
                    <a:pt x="996989" y="84885"/>
                  </a:lnTo>
                  <a:lnTo>
                    <a:pt x="996989" y="424415"/>
                  </a:lnTo>
                  <a:lnTo>
                    <a:pt x="990319" y="457457"/>
                  </a:lnTo>
                  <a:lnTo>
                    <a:pt x="972127" y="484438"/>
                  </a:lnTo>
                  <a:lnTo>
                    <a:pt x="945145" y="502630"/>
                  </a:lnTo>
                  <a:lnTo>
                    <a:pt x="912104" y="5093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393372" y="3112012"/>
              <a:ext cx="997585" cy="509905"/>
            </a:xfrm>
            <a:custGeom>
              <a:avLst/>
              <a:gdLst/>
              <a:ahLst/>
              <a:cxnLst/>
              <a:rect l="l" t="t" r="r" b="b"/>
              <a:pathLst>
                <a:path w="997585" h="509904">
                  <a:moveTo>
                    <a:pt x="0" y="84885"/>
                  </a:moveTo>
                  <a:lnTo>
                    <a:pt x="6670" y="51844"/>
                  </a:lnTo>
                  <a:lnTo>
                    <a:pt x="24862" y="24862"/>
                  </a:lnTo>
                  <a:lnTo>
                    <a:pt x="51844" y="6670"/>
                  </a:lnTo>
                  <a:lnTo>
                    <a:pt x="84885" y="0"/>
                  </a:lnTo>
                  <a:lnTo>
                    <a:pt x="912104" y="0"/>
                  </a:lnTo>
                  <a:lnTo>
                    <a:pt x="959199" y="14261"/>
                  </a:lnTo>
                  <a:lnTo>
                    <a:pt x="990528" y="52401"/>
                  </a:lnTo>
                  <a:lnTo>
                    <a:pt x="996989" y="84885"/>
                  </a:lnTo>
                  <a:lnTo>
                    <a:pt x="996989" y="424415"/>
                  </a:lnTo>
                  <a:lnTo>
                    <a:pt x="990319" y="457457"/>
                  </a:lnTo>
                  <a:lnTo>
                    <a:pt x="972127" y="484438"/>
                  </a:lnTo>
                  <a:lnTo>
                    <a:pt x="945145" y="502630"/>
                  </a:lnTo>
                  <a:lnTo>
                    <a:pt x="912104" y="509300"/>
                  </a:lnTo>
                  <a:lnTo>
                    <a:pt x="84885" y="509300"/>
                  </a:lnTo>
                  <a:lnTo>
                    <a:pt x="51844" y="502630"/>
                  </a:lnTo>
                  <a:lnTo>
                    <a:pt x="24862" y="484438"/>
                  </a:lnTo>
                  <a:lnTo>
                    <a:pt x="6670" y="457457"/>
                  </a:lnTo>
                  <a:lnTo>
                    <a:pt x="0" y="424415"/>
                  </a:lnTo>
                  <a:lnTo>
                    <a:pt x="0" y="84885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637301" y="3242076"/>
            <a:ext cx="50990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Arial"/>
                <a:cs typeface="Arial"/>
              </a:rPr>
              <a:t>ETCD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2547729" y="3105661"/>
            <a:ext cx="1094740" cy="522605"/>
            <a:chOff x="2547729" y="3105661"/>
            <a:chExt cx="1094740" cy="522605"/>
          </a:xfrm>
        </p:grpSpPr>
        <p:sp>
          <p:nvSpPr>
            <p:cNvPr id="21" name="object 21"/>
            <p:cNvSpPr/>
            <p:nvPr/>
          </p:nvSpPr>
          <p:spPr>
            <a:xfrm>
              <a:off x="2554079" y="3112011"/>
              <a:ext cx="1082040" cy="509905"/>
            </a:xfrm>
            <a:custGeom>
              <a:avLst/>
              <a:gdLst/>
              <a:ahLst/>
              <a:cxnLst/>
              <a:rect l="l" t="t" r="r" b="b"/>
              <a:pathLst>
                <a:path w="1082039" h="509904">
                  <a:moveTo>
                    <a:pt x="996863" y="509301"/>
                  </a:moveTo>
                  <a:lnTo>
                    <a:pt x="84885" y="509301"/>
                  </a:lnTo>
                  <a:lnTo>
                    <a:pt x="51844" y="502631"/>
                  </a:lnTo>
                  <a:lnTo>
                    <a:pt x="24862" y="484439"/>
                  </a:lnTo>
                  <a:lnTo>
                    <a:pt x="6670" y="457457"/>
                  </a:lnTo>
                  <a:lnTo>
                    <a:pt x="0" y="424416"/>
                  </a:lnTo>
                  <a:lnTo>
                    <a:pt x="0" y="84885"/>
                  </a:lnTo>
                  <a:lnTo>
                    <a:pt x="6670" y="51844"/>
                  </a:lnTo>
                  <a:lnTo>
                    <a:pt x="24862" y="24862"/>
                  </a:lnTo>
                  <a:lnTo>
                    <a:pt x="51844" y="6670"/>
                  </a:lnTo>
                  <a:lnTo>
                    <a:pt x="84885" y="0"/>
                  </a:lnTo>
                  <a:lnTo>
                    <a:pt x="996863" y="0"/>
                  </a:lnTo>
                  <a:lnTo>
                    <a:pt x="1043958" y="14261"/>
                  </a:lnTo>
                  <a:lnTo>
                    <a:pt x="1075287" y="52401"/>
                  </a:lnTo>
                  <a:lnTo>
                    <a:pt x="1081748" y="84885"/>
                  </a:lnTo>
                  <a:lnTo>
                    <a:pt x="1081748" y="424416"/>
                  </a:lnTo>
                  <a:lnTo>
                    <a:pt x="1075078" y="457457"/>
                  </a:lnTo>
                  <a:lnTo>
                    <a:pt x="1056886" y="484439"/>
                  </a:lnTo>
                  <a:lnTo>
                    <a:pt x="1029904" y="502631"/>
                  </a:lnTo>
                  <a:lnTo>
                    <a:pt x="996863" y="509301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554079" y="3112011"/>
              <a:ext cx="1082040" cy="509905"/>
            </a:xfrm>
            <a:custGeom>
              <a:avLst/>
              <a:gdLst/>
              <a:ahLst/>
              <a:cxnLst/>
              <a:rect l="l" t="t" r="r" b="b"/>
              <a:pathLst>
                <a:path w="1082039" h="509904">
                  <a:moveTo>
                    <a:pt x="0" y="84885"/>
                  </a:moveTo>
                  <a:lnTo>
                    <a:pt x="6670" y="51844"/>
                  </a:lnTo>
                  <a:lnTo>
                    <a:pt x="24862" y="24862"/>
                  </a:lnTo>
                  <a:lnTo>
                    <a:pt x="51844" y="6670"/>
                  </a:lnTo>
                  <a:lnTo>
                    <a:pt x="84885" y="0"/>
                  </a:lnTo>
                  <a:lnTo>
                    <a:pt x="996863" y="0"/>
                  </a:lnTo>
                  <a:lnTo>
                    <a:pt x="1043958" y="14261"/>
                  </a:lnTo>
                  <a:lnTo>
                    <a:pt x="1075287" y="52401"/>
                  </a:lnTo>
                  <a:lnTo>
                    <a:pt x="1081748" y="84885"/>
                  </a:lnTo>
                  <a:lnTo>
                    <a:pt x="1081748" y="424416"/>
                  </a:lnTo>
                  <a:lnTo>
                    <a:pt x="1075078" y="457457"/>
                  </a:lnTo>
                  <a:lnTo>
                    <a:pt x="1056886" y="484439"/>
                  </a:lnTo>
                  <a:lnTo>
                    <a:pt x="1029904" y="502631"/>
                  </a:lnTo>
                  <a:lnTo>
                    <a:pt x="996863" y="509301"/>
                  </a:lnTo>
                  <a:lnTo>
                    <a:pt x="84885" y="509301"/>
                  </a:lnTo>
                  <a:lnTo>
                    <a:pt x="51844" y="502631"/>
                  </a:lnTo>
                  <a:lnTo>
                    <a:pt x="24862" y="484439"/>
                  </a:lnTo>
                  <a:lnTo>
                    <a:pt x="6670" y="457457"/>
                  </a:lnTo>
                  <a:lnTo>
                    <a:pt x="0" y="424416"/>
                  </a:lnTo>
                  <a:lnTo>
                    <a:pt x="0" y="84885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2697091" y="3137300"/>
            <a:ext cx="796290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46990" marR="5080" indent="-34925">
              <a:lnSpc>
                <a:spcPts val="1650"/>
              </a:lnSpc>
              <a:spcBef>
                <a:spcPts val="180"/>
              </a:spcBef>
            </a:pP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Controller Manager</a:t>
            </a:r>
            <a:endParaRPr sz="14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554079" y="2315029"/>
            <a:ext cx="1082040" cy="501015"/>
          </a:xfrm>
          <a:prstGeom prst="rect">
            <a:avLst/>
          </a:prstGeom>
          <a:solidFill>
            <a:srgbClr val="92D050"/>
          </a:solidFill>
          <a:ln w="12699">
            <a:solidFill>
              <a:srgbClr val="127BB4"/>
            </a:solidFill>
          </a:ln>
        </p:spPr>
        <p:txBody>
          <a:bodyPr vert="horz" wrap="square" lIns="0" tIns="138430" rIns="0" bIns="0" rtlCol="0">
            <a:spAutoFit/>
          </a:bodyPr>
          <a:lstStyle/>
          <a:p>
            <a:pPr marL="111125">
              <a:lnSpc>
                <a:spcPct val="100000"/>
              </a:lnSpc>
              <a:spcBef>
                <a:spcPts val="1090"/>
              </a:spcBef>
            </a:pP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API</a:t>
            </a:r>
            <a:r>
              <a:rPr sz="14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Server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5320393" y="1490108"/>
            <a:ext cx="930910" cy="387350"/>
            <a:chOff x="5320393" y="1490108"/>
            <a:chExt cx="930910" cy="387350"/>
          </a:xfrm>
        </p:grpSpPr>
        <p:sp>
          <p:nvSpPr>
            <p:cNvPr id="26" name="object 26"/>
            <p:cNvSpPr/>
            <p:nvPr/>
          </p:nvSpPr>
          <p:spPr>
            <a:xfrm>
              <a:off x="5326743" y="1496458"/>
              <a:ext cx="918210" cy="374650"/>
            </a:xfrm>
            <a:custGeom>
              <a:avLst/>
              <a:gdLst/>
              <a:ahLst/>
              <a:cxnLst/>
              <a:rect l="l" t="t" r="r" b="b"/>
              <a:pathLst>
                <a:path w="918210" h="374650">
                  <a:moveTo>
                    <a:pt x="855192" y="374394"/>
                  </a:moveTo>
                  <a:lnTo>
                    <a:pt x="62400" y="374394"/>
                  </a:lnTo>
                  <a:lnTo>
                    <a:pt x="38111" y="369491"/>
                  </a:lnTo>
                  <a:lnTo>
                    <a:pt x="18276" y="356118"/>
                  </a:lnTo>
                  <a:lnTo>
                    <a:pt x="4903" y="336283"/>
                  </a:lnTo>
                  <a:lnTo>
                    <a:pt x="0" y="311994"/>
                  </a:lnTo>
                  <a:lnTo>
                    <a:pt x="0" y="62400"/>
                  </a:lnTo>
                  <a:lnTo>
                    <a:pt x="4821" y="38520"/>
                  </a:lnTo>
                  <a:lnTo>
                    <a:pt x="4903" y="38111"/>
                  </a:lnTo>
                  <a:lnTo>
                    <a:pt x="18276" y="18276"/>
                  </a:lnTo>
                  <a:lnTo>
                    <a:pt x="38111" y="4903"/>
                  </a:lnTo>
                  <a:lnTo>
                    <a:pt x="62400" y="0"/>
                  </a:lnTo>
                  <a:lnTo>
                    <a:pt x="855192" y="0"/>
                  </a:lnTo>
                  <a:lnTo>
                    <a:pt x="899316" y="18276"/>
                  </a:lnTo>
                  <a:lnTo>
                    <a:pt x="917592" y="62400"/>
                  </a:lnTo>
                  <a:lnTo>
                    <a:pt x="917592" y="311994"/>
                  </a:lnTo>
                  <a:lnTo>
                    <a:pt x="912689" y="336283"/>
                  </a:lnTo>
                  <a:lnTo>
                    <a:pt x="899316" y="356118"/>
                  </a:lnTo>
                  <a:lnTo>
                    <a:pt x="879481" y="369491"/>
                  </a:lnTo>
                  <a:lnTo>
                    <a:pt x="855192" y="374394"/>
                  </a:lnTo>
                  <a:close/>
                </a:path>
              </a:pathLst>
            </a:custGeom>
            <a:solidFill>
              <a:srgbClr val="4008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326743" y="1496458"/>
              <a:ext cx="918210" cy="374650"/>
            </a:xfrm>
            <a:custGeom>
              <a:avLst/>
              <a:gdLst/>
              <a:ahLst/>
              <a:cxnLst/>
              <a:rect l="l" t="t" r="r" b="b"/>
              <a:pathLst>
                <a:path w="918210" h="374650">
                  <a:moveTo>
                    <a:pt x="0" y="62400"/>
                  </a:moveTo>
                  <a:lnTo>
                    <a:pt x="4903" y="38111"/>
                  </a:lnTo>
                  <a:lnTo>
                    <a:pt x="18276" y="18276"/>
                  </a:lnTo>
                  <a:lnTo>
                    <a:pt x="38111" y="4903"/>
                  </a:lnTo>
                  <a:lnTo>
                    <a:pt x="62400" y="0"/>
                  </a:lnTo>
                  <a:lnTo>
                    <a:pt x="855192" y="0"/>
                  </a:lnTo>
                  <a:lnTo>
                    <a:pt x="899316" y="18276"/>
                  </a:lnTo>
                  <a:lnTo>
                    <a:pt x="917592" y="62400"/>
                  </a:lnTo>
                  <a:lnTo>
                    <a:pt x="917592" y="311994"/>
                  </a:lnTo>
                  <a:lnTo>
                    <a:pt x="912689" y="336283"/>
                  </a:lnTo>
                  <a:lnTo>
                    <a:pt x="899316" y="356118"/>
                  </a:lnTo>
                  <a:lnTo>
                    <a:pt x="879481" y="369491"/>
                  </a:lnTo>
                  <a:lnTo>
                    <a:pt x="855192" y="374394"/>
                  </a:lnTo>
                  <a:lnTo>
                    <a:pt x="62400" y="374394"/>
                  </a:lnTo>
                  <a:lnTo>
                    <a:pt x="38111" y="369491"/>
                  </a:lnTo>
                  <a:lnTo>
                    <a:pt x="18276" y="356118"/>
                  </a:lnTo>
                  <a:lnTo>
                    <a:pt x="4903" y="336283"/>
                  </a:lnTo>
                  <a:lnTo>
                    <a:pt x="0" y="311994"/>
                  </a:lnTo>
                  <a:lnTo>
                    <a:pt x="0" y="6240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5428336" y="1539003"/>
            <a:ext cx="71374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solidFill>
                  <a:srgbClr val="FFFFFF"/>
                </a:solidFill>
                <a:latin typeface="Arial"/>
                <a:cs typeface="Arial"/>
              </a:rPr>
              <a:t>Kubelet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3681866" y="1471315"/>
            <a:ext cx="4075429" cy="1022985"/>
            <a:chOff x="3681866" y="1471315"/>
            <a:chExt cx="4075429" cy="1022985"/>
          </a:xfrm>
        </p:grpSpPr>
        <p:sp>
          <p:nvSpPr>
            <p:cNvPr id="30" name="object 30"/>
            <p:cNvSpPr/>
            <p:nvPr/>
          </p:nvSpPr>
          <p:spPr>
            <a:xfrm>
              <a:off x="3686628" y="1650400"/>
              <a:ext cx="1532255" cy="838835"/>
            </a:xfrm>
            <a:custGeom>
              <a:avLst/>
              <a:gdLst/>
              <a:ahLst/>
              <a:cxnLst/>
              <a:rect l="l" t="t" r="r" b="b"/>
              <a:pathLst>
                <a:path w="1532254" h="838835">
                  <a:moveTo>
                    <a:pt x="0" y="838799"/>
                  </a:moveTo>
                  <a:lnTo>
                    <a:pt x="794699" y="838799"/>
                  </a:lnTo>
                  <a:lnTo>
                    <a:pt x="794699" y="0"/>
                  </a:lnTo>
                  <a:lnTo>
                    <a:pt x="1532249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218878" y="163466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218878" y="163466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377430" y="1477665"/>
              <a:ext cx="1373505" cy="393700"/>
            </a:xfrm>
            <a:custGeom>
              <a:avLst/>
              <a:gdLst/>
              <a:ahLst/>
              <a:cxnLst/>
              <a:rect l="l" t="t" r="r" b="b"/>
              <a:pathLst>
                <a:path w="1373504" h="393700">
                  <a:moveTo>
                    <a:pt x="1307665" y="393189"/>
                  </a:moveTo>
                  <a:lnTo>
                    <a:pt x="65532" y="393189"/>
                  </a:lnTo>
                  <a:lnTo>
                    <a:pt x="40024" y="388039"/>
                  </a:lnTo>
                  <a:lnTo>
                    <a:pt x="19194" y="373994"/>
                  </a:lnTo>
                  <a:lnTo>
                    <a:pt x="5149" y="353164"/>
                  </a:lnTo>
                  <a:lnTo>
                    <a:pt x="0" y="327656"/>
                  </a:lnTo>
                  <a:lnTo>
                    <a:pt x="0" y="65532"/>
                  </a:lnTo>
                  <a:lnTo>
                    <a:pt x="5149" y="40024"/>
                  </a:lnTo>
                  <a:lnTo>
                    <a:pt x="19194" y="19194"/>
                  </a:lnTo>
                  <a:lnTo>
                    <a:pt x="40024" y="5149"/>
                  </a:lnTo>
                  <a:lnTo>
                    <a:pt x="65532" y="0"/>
                  </a:lnTo>
                  <a:lnTo>
                    <a:pt x="1307665" y="0"/>
                  </a:lnTo>
                  <a:lnTo>
                    <a:pt x="1354004" y="19194"/>
                  </a:lnTo>
                  <a:lnTo>
                    <a:pt x="1373198" y="65532"/>
                  </a:lnTo>
                  <a:lnTo>
                    <a:pt x="1373198" y="327656"/>
                  </a:lnTo>
                  <a:lnTo>
                    <a:pt x="1368048" y="353164"/>
                  </a:lnTo>
                  <a:lnTo>
                    <a:pt x="1354004" y="373994"/>
                  </a:lnTo>
                  <a:lnTo>
                    <a:pt x="1333173" y="388039"/>
                  </a:lnTo>
                  <a:lnTo>
                    <a:pt x="1307665" y="393189"/>
                  </a:lnTo>
                  <a:close/>
                </a:path>
              </a:pathLst>
            </a:custGeom>
            <a:solidFill>
              <a:srgbClr val="4008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377430" y="1477665"/>
              <a:ext cx="1373505" cy="393700"/>
            </a:xfrm>
            <a:custGeom>
              <a:avLst/>
              <a:gdLst/>
              <a:ahLst/>
              <a:cxnLst/>
              <a:rect l="l" t="t" r="r" b="b"/>
              <a:pathLst>
                <a:path w="1373504" h="393700">
                  <a:moveTo>
                    <a:pt x="0" y="65532"/>
                  </a:moveTo>
                  <a:lnTo>
                    <a:pt x="5149" y="40024"/>
                  </a:lnTo>
                  <a:lnTo>
                    <a:pt x="19194" y="19194"/>
                  </a:lnTo>
                  <a:lnTo>
                    <a:pt x="40024" y="5149"/>
                  </a:lnTo>
                  <a:lnTo>
                    <a:pt x="65532" y="0"/>
                  </a:lnTo>
                  <a:lnTo>
                    <a:pt x="1307665" y="0"/>
                  </a:lnTo>
                  <a:lnTo>
                    <a:pt x="1354004" y="19194"/>
                  </a:lnTo>
                  <a:lnTo>
                    <a:pt x="1373198" y="65532"/>
                  </a:lnTo>
                  <a:lnTo>
                    <a:pt x="1373198" y="327656"/>
                  </a:lnTo>
                  <a:lnTo>
                    <a:pt x="1368048" y="353164"/>
                  </a:lnTo>
                  <a:lnTo>
                    <a:pt x="1354004" y="373994"/>
                  </a:lnTo>
                  <a:lnTo>
                    <a:pt x="1333173" y="388039"/>
                  </a:lnTo>
                  <a:lnTo>
                    <a:pt x="1307665" y="393189"/>
                  </a:lnTo>
                  <a:lnTo>
                    <a:pt x="65532" y="393189"/>
                  </a:lnTo>
                  <a:lnTo>
                    <a:pt x="40024" y="388039"/>
                  </a:lnTo>
                  <a:lnTo>
                    <a:pt x="19194" y="373994"/>
                  </a:lnTo>
                  <a:lnTo>
                    <a:pt x="5149" y="353164"/>
                  </a:lnTo>
                  <a:lnTo>
                    <a:pt x="0" y="327656"/>
                  </a:lnTo>
                  <a:lnTo>
                    <a:pt x="0" y="65532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6531897" y="1529606"/>
            <a:ext cx="106489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FFFFFF"/>
                </a:solidFill>
                <a:latin typeface="Arial"/>
                <a:cs typeface="Arial"/>
              </a:rPr>
              <a:t>Kube-</a:t>
            </a:r>
            <a:r>
              <a:rPr sz="1600" spc="-10" dirty="0">
                <a:solidFill>
                  <a:srgbClr val="FFFFFF"/>
                </a:solidFill>
                <a:latin typeface="Arial"/>
                <a:cs typeface="Arial"/>
              </a:rPr>
              <a:t>proxy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5965857" y="169622"/>
            <a:ext cx="1797685" cy="859155"/>
            <a:chOff x="5965857" y="169622"/>
            <a:chExt cx="1797685" cy="859155"/>
          </a:xfrm>
        </p:grpSpPr>
        <p:sp>
          <p:nvSpPr>
            <p:cNvPr id="37" name="object 37"/>
            <p:cNvSpPr/>
            <p:nvPr/>
          </p:nvSpPr>
          <p:spPr>
            <a:xfrm>
              <a:off x="7409542" y="681659"/>
              <a:ext cx="306070" cy="6350"/>
            </a:xfrm>
            <a:custGeom>
              <a:avLst/>
              <a:gdLst/>
              <a:ahLst/>
              <a:cxnLst/>
              <a:rect l="l" t="t" r="r" b="b"/>
              <a:pathLst>
                <a:path w="306070" h="6350">
                  <a:moveTo>
                    <a:pt x="0" y="6114"/>
                  </a:moveTo>
                  <a:lnTo>
                    <a:pt x="305718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7714946" y="665930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628" y="31459"/>
                  </a:moveTo>
                  <a:lnTo>
                    <a:pt x="0" y="0"/>
                  </a:lnTo>
                  <a:lnTo>
                    <a:pt x="43530" y="14865"/>
                  </a:lnTo>
                  <a:lnTo>
                    <a:pt x="628" y="31459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7714946" y="665930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628" y="31459"/>
                  </a:moveTo>
                  <a:lnTo>
                    <a:pt x="43530" y="14865"/>
                  </a:lnTo>
                  <a:lnTo>
                    <a:pt x="0" y="0"/>
                  </a:lnTo>
                  <a:lnTo>
                    <a:pt x="628" y="31459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7409542" y="680516"/>
              <a:ext cx="7620" cy="343535"/>
            </a:xfrm>
            <a:custGeom>
              <a:avLst/>
              <a:gdLst/>
              <a:ahLst/>
              <a:cxnLst/>
              <a:rect l="l" t="t" r="r" b="b"/>
              <a:pathLst>
                <a:path w="7620" h="343534">
                  <a:moveTo>
                    <a:pt x="0" y="0"/>
                  </a:moveTo>
                  <a:lnTo>
                    <a:pt x="7256" y="343064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972207" y="175972"/>
              <a:ext cx="1436370" cy="513715"/>
            </a:xfrm>
            <a:custGeom>
              <a:avLst/>
              <a:gdLst/>
              <a:ahLst/>
              <a:cxnLst/>
              <a:rect l="l" t="t" r="r" b="b"/>
              <a:pathLst>
                <a:path w="1436370" h="513715">
                  <a:moveTo>
                    <a:pt x="1238256" y="27692"/>
                  </a:moveTo>
                  <a:lnTo>
                    <a:pt x="992721" y="27692"/>
                  </a:lnTo>
                  <a:lnTo>
                    <a:pt x="1027091" y="12907"/>
                  </a:lnTo>
                  <a:lnTo>
                    <a:pt x="1067813" y="3545"/>
                  </a:lnTo>
                  <a:lnTo>
                    <a:pt x="1112277" y="0"/>
                  </a:lnTo>
                  <a:lnTo>
                    <a:pt x="1157873" y="2667"/>
                  </a:lnTo>
                  <a:lnTo>
                    <a:pt x="1200085" y="11448"/>
                  </a:lnTo>
                  <a:lnTo>
                    <a:pt x="1234902" y="25330"/>
                  </a:lnTo>
                  <a:lnTo>
                    <a:pt x="1238256" y="27692"/>
                  </a:lnTo>
                  <a:close/>
                </a:path>
                <a:path w="1436370" h="513715">
                  <a:moveTo>
                    <a:pt x="1254317" y="39001"/>
                  </a:moveTo>
                  <a:lnTo>
                    <a:pt x="747350" y="39001"/>
                  </a:lnTo>
                  <a:lnTo>
                    <a:pt x="767935" y="24045"/>
                  </a:lnTo>
                  <a:lnTo>
                    <a:pt x="795143" y="12265"/>
                  </a:lnTo>
                  <a:lnTo>
                    <a:pt x="827515" y="4149"/>
                  </a:lnTo>
                  <a:lnTo>
                    <a:pt x="863587" y="185"/>
                  </a:lnTo>
                  <a:lnTo>
                    <a:pt x="900546" y="783"/>
                  </a:lnTo>
                  <a:lnTo>
                    <a:pt x="935471" y="5798"/>
                  </a:lnTo>
                  <a:lnTo>
                    <a:pt x="966737" y="14882"/>
                  </a:lnTo>
                  <a:lnTo>
                    <a:pt x="992721" y="27692"/>
                  </a:lnTo>
                  <a:lnTo>
                    <a:pt x="1238256" y="27692"/>
                  </a:lnTo>
                  <a:lnTo>
                    <a:pt x="1254317" y="39001"/>
                  </a:lnTo>
                  <a:close/>
                </a:path>
                <a:path w="1436370" h="513715">
                  <a:moveTo>
                    <a:pt x="1271910" y="60044"/>
                  </a:moveTo>
                  <a:lnTo>
                    <a:pt x="466258" y="60044"/>
                  </a:lnTo>
                  <a:lnTo>
                    <a:pt x="487036" y="45416"/>
                  </a:lnTo>
                  <a:lnTo>
                    <a:pt x="556042" y="20550"/>
                  </a:lnTo>
                  <a:lnTo>
                    <a:pt x="595966" y="15179"/>
                  </a:lnTo>
                  <a:lnTo>
                    <a:pt x="637359" y="14462"/>
                  </a:lnTo>
                  <a:lnTo>
                    <a:pt x="677449" y="18360"/>
                  </a:lnTo>
                  <a:lnTo>
                    <a:pt x="714643" y="26623"/>
                  </a:lnTo>
                  <a:lnTo>
                    <a:pt x="747350" y="39001"/>
                  </a:lnTo>
                  <a:lnTo>
                    <a:pt x="1254317" y="39001"/>
                  </a:lnTo>
                  <a:lnTo>
                    <a:pt x="1260475" y="43336"/>
                  </a:lnTo>
                  <a:lnTo>
                    <a:pt x="1271910" y="60044"/>
                  </a:lnTo>
                  <a:close/>
                </a:path>
                <a:path w="1436370" h="513715">
                  <a:moveTo>
                    <a:pt x="402266" y="482737"/>
                  </a:moveTo>
                  <a:lnTo>
                    <a:pt x="351626" y="478883"/>
                  </a:lnTo>
                  <a:lnTo>
                    <a:pt x="303562" y="470198"/>
                  </a:lnTo>
                  <a:lnTo>
                    <a:pt x="260383" y="457172"/>
                  </a:lnTo>
                  <a:lnTo>
                    <a:pt x="223296" y="440256"/>
                  </a:lnTo>
                  <a:lnTo>
                    <a:pt x="193504" y="419899"/>
                  </a:lnTo>
                  <a:lnTo>
                    <a:pt x="148988" y="419096"/>
                  </a:lnTo>
                  <a:lnTo>
                    <a:pt x="107943" y="411995"/>
                  </a:lnTo>
                  <a:lnTo>
                    <a:pt x="47147" y="381736"/>
                  </a:lnTo>
                  <a:lnTo>
                    <a:pt x="33044" y="340037"/>
                  </a:lnTo>
                  <a:lnTo>
                    <a:pt x="45629" y="319797"/>
                  </a:lnTo>
                  <a:lnTo>
                    <a:pt x="70721" y="301939"/>
                  </a:lnTo>
                  <a:lnTo>
                    <a:pt x="35449" y="287754"/>
                  </a:lnTo>
                  <a:lnTo>
                    <a:pt x="11426" y="269365"/>
                  </a:lnTo>
                  <a:lnTo>
                    <a:pt x="0" y="248271"/>
                  </a:lnTo>
                  <a:lnTo>
                    <a:pt x="2513" y="225971"/>
                  </a:lnTo>
                  <a:lnTo>
                    <a:pt x="19111" y="205165"/>
                  </a:lnTo>
                  <a:lnTo>
                    <a:pt x="47375" y="188280"/>
                  </a:lnTo>
                  <a:lnTo>
                    <a:pt x="84813" y="176408"/>
                  </a:lnTo>
                  <a:lnTo>
                    <a:pt x="128931" y="170641"/>
                  </a:lnTo>
                  <a:lnTo>
                    <a:pt x="130142" y="169041"/>
                  </a:lnTo>
                  <a:lnTo>
                    <a:pt x="130414" y="145981"/>
                  </a:lnTo>
                  <a:lnTo>
                    <a:pt x="130505" y="138319"/>
                  </a:lnTo>
                  <a:lnTo>
                    <a:pt x="147963" y="109384"/>
                  </a:lnTo>
                  <a:lnTo>
                    <a:pt x="181004" y="83869"/>
                  </a:lnTo>
                  <a:lnTo>
                    <a:pt x="228114" y="63405"/>
                  </a:lnTo>
                  <a:lnTo>
                    <a:pt x="273225" y="52121"/>
                  </a:lnTo>
                  <a:lnTo>
                    <a:pt x="321478" y="46115"/>
                  </a:lnTo>
                  <a:lnTo>
                    <a:pt x="370990" y="45416"/>
                  </a:lnTo>
                  <a:lnTo>
                    <a:pt x="419877" y="50050"/>
                  </a:lnTo>
                  <a:lnTo>
                    <a:pt x="466258" y="60044"/>
                  </a:lnTo>
                  <a:lnTo>
                    <a:pt x="1271910" y="60044"/>
                  </a:lnTo>
                  <a:lnTo>
                    <a:pt x="1274953" y="64489"/>
                  </a:lnTo>
                  <a:lnTo>
                    <a:pt x="1310388" y="71254"/>
                  </a:lnTo>
                  <a:lnTo>
                    <a:pt x="1341720" y="81417"/>
                  </a:lnTo>
                  <a:lnTo>
                    <a:pt x="1367951" y="94572"/>
                  </a:lnTo>
                  <a:lnTo>
                    <a:pt x="1388081" y="110315"/>
                  </a:lnTo>
                  <a:lnTo>
                    <a:pt x="1400862" y="127788"/>
                  </a:lnTo>
                  <a:lnTo>
                    <a:pt x="1405691" y="145981"/>
                  </a:lnTo>
                  <a:lnTo>
                    <a:pt x="1402540" y="164262"/>
                  </a:lnTo>
                  <a:lnTo>
                    <a:pt x="1391380" y="181997"/>
                  </a:lnTo>
                  <a:lnTo>
                    <a:pt x="1420892" y="206852"/>
                  </a:lnTo>
                  <a:lnTo>
                    <a:pt x="1435990" y="234120"/>
                  </a:lnTo>
                  <a:lnTo>
                    <a:pt x="1436278" y="262358"/>
                  </a:lnTo>
                  <a:lnTo>
                    <a:pt x="1421354" y="290128"/>
                  </a:lnTo>
                  <a:lnTo>
                    <a:pt x="1392130" y="315064"/>
                  </a:lnTo>
                  <a:lnTo>
                    <a:pt x="1351354" y="335164"/>
                  </a:lnTo>
                  <a:lnTo>
                    <a:pt x="1301379" y="349534"/>
                  </a:lnTo>
                  <a:lnTo>
                    <a:pt x="1244561" y="357280"/>
                  </a:lnTo>
                  <a:lnTo>
                    <a:pt x="1237388" y="381736"/>
                  </a:lnTo>
                  <a:lnTo>
                    <a:pt x="1237322" y="381962"/>
                  </a:lnTo>
                  <a:lnTo>
                    <a:pt x="1217361" y="404476"/>
                  </a:lnTo>
                  <a:lnTo>
                    <a:pt x="1186059" y="423697"/>
                  </a:lnTo>
                  <a:lnTo>
                    <a:pt x="1152140" y="435869"/>
                  </a:lnTo>
                  <a:lnTo>
                    <a:pt x="950248" y="435869"/>
                  </a:lnTo>
                  <a:lnTo>
                    <a:pt x="923287" y="464071"/>
                  </a:lnTo>
                  <a:lnTo>
                    <a:pt x="921607" y="465008"/>
                  </a:lnTo>
                  <a:lnTo>
                    <a:pt x="548593" y="465008"/>
                  </a:lnTo>
                  <a:lnTo>
                    <a:pt x="502251" y="475693"/>
                  </a:lnTo>
                  <a:lnTo>
                    <a:pt x="452975" y="481638"/>
                  </a:lnTo>
                  <a:lnTo>
                    <a:pt x="402266" y="482737"/>
                  </a:lnTo>
                  <a:close/>
                </a:path>
                <a:path w="1436370" h="513715">
                  <a:moveTo>
                    <a:pt x="1046785" y="450024"/>
                  </a:moveTo>
                  <a:lnTo>
                    <a:pt x="996988" y="446138"/>
                  </a:lnTo>
                  <a:lnTo>
                    <a:pt x="950248" y="435869"/>
                  </a:lnTo>
                  <a:lnTo>
                    <a:pt x="1152140" y="435869"/>
                  </a:lnTo>
                  <a:lnTo>
                    <a:pt x="1144794" y="438505"/>
                  </a:lnTo>
                  <a:lnTo>
                    <a:pt x="1096950" y="447492"/>
                  </a:lnTo>
                  <a:lnTo>
                    <a:pt x="1046785" y="450024"/>
                  </a:lnTo>
                  <a:close/>
                </a:path>
                <a:path w="1436370" h="513715">
                  <a:moveTo>
                    <a:pt x="717129" y="513323"/>
                  </a:moveTo>
                  <a:lnTo>
                    <a:pt x="667776" y="508610"/>
                  </a:lnTo>
                  <a:lnTo>
                    <a:pt x="622053" y="498731"/>
                  </a:lnTo>
                  <a:lnTo>
                    <a:pt x="581734" y="484069"/>
                  </a:lnTo>
                  <a:lnTo>
                    <a:pt x="548593" y="465008"/>
                  </a:lnTo>
                  <a:lnTo>
                    <a:pt x="921607" y="465008"/>
                  </a:lnTo>
                  <a:lnTo>
                    <a:pt x="882069" y="487047"/>
                  </a:lnTo>
                  <a:lnTo>
                    <a:pt x="829462" y="503588"/>
                  </a:lnTo>
                  <a:lnTo>
                    <a:pt x="768336" y="512486"/>
                  </a:lnTo>
                  <a:lnTo>
                    <a:pt x="717129" y="513323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972207" y="175972"/>
              <a:ext cx="1436370" cy="513715"/>
            </a:xfrm>
            <a:custGeom>
              <a:avLst/>
              <a:gdLst/>
              <a:ahLst/>
              <a:cxnLst/>
              <a:rect l="l" t="t" r="r" b="b"/>
              <a:pathLst>
                <a:path w="1436370" h="513715">
                  <a:moveTo>
                    <a:pt x="130142" y="169041"/>
                  </a:moveTo>
                  <a:lnTo>
                    <a:pt x="130505" y="138319"/>
                  </a:lnTo>
                  <a:lnTo>
                    <a:pt x="147963" y="109384"/>
                  </a:lnTo>
                  <a:lnTo>
                    <a:pt x="181004" y="83869"/>
                  </a:lnTo>
                  <a:lnTo>
                    <a:pt x="228114" y="63405"/>
                  </a:lnTo>
                  <a:lnTo>
                    <a:pt x="273225" y="52121"/>
                  </a:lnTo>
                  <a:lnTo>
                    <a:pt x="321478" y="46115"/>
                  </a:lnTo>
                  <a:lnTo>
                    <a:pt x="370990" y="45416"/>
                  </a:lnTo>
                  <a:lnTo>
                    <a:pt x="419877" y="50050"/>
                  </a:lnTo>
                  <a:lnTo>
                    <a:pt x="466258" y="60044"/>
                  </a:lnTo>
                  <a:lnTo>
                    <a:pt x="520207" y="30132"/>
                  </a:lnTo>
                  <a:lnTo>
                    <a:pt x="595966" y="15179"/>
                  </a:lnTo>
                  <a:lnTo>
                    <a:pt x="637359" y="14462"/>
                  </a:lnTo>
                  <a:lnTo>
                    <a:pt x="677449" y="18360"/>
                  </a:lnTo>
                  <a:lnTo>
                    <a:pt x="714643" y="26623"/>
                  </a:lnTo>
                  <a:lnTo>
                    <a:pt x="747350" y="39001"/>
                  </a:lnTo>
                  <a:lnTo>
                    <a:pt x="767935" y="24045"/>
                  </a:lnTo>
                  <a:lnTo>
                    <a:pt x="795144" y="12265"/>
                  </a:lnTo>
                  <a:lnTo>
                    <a:pt x="827515" y="4149"/>
                  </a:lnTo>
                  <a:lnTo>
                    <a:pt x="863587" y="185"/>
                  </a:lnTo>
                  <a:lnTo>
                    <a:pt x="900546" y="783"/>
                  </a:lnTo>
                  <a:lnTo>
                    <a:pt x="935471" y="5798"/>
                  </a:lnTo>
                  <a:lnTo>
                    <a:pt x="966737" y="14882"/>
                  </a:lnTo>
                  <a:lnTo>
                    <a:pt x="992721" y="27692"/>
                  </a:lnTo>
                  <a:lnTo>
                    <a:pt x="1027091" y="12907"/>
                  </a:lnTo>
                  <a:lnTo>
                    <a:pt x="1067813" y="3545"/>
                  </a:lnTo>
                  <a:lnTo>
                    <a:pt x="1112277" y="0"/>
                  </a:lnTo>
                  <a:lnTo>
                    <a:pt x="1157873" y="2667"/>
                  </a:lnTo>
                  <a:lnTo>
                    <a:pt x="1200085" y="11448"/>
                  </a:lnTo>
                  <a:lnTo>
                    <a:pt x="1234902" y="25330"/>
                  </a:lnTo>
                  <a:lnTo>
                    <a:pt x="1260475" y="43336"/>
                  </a:lnTo>
                  <a:lnTo>
                    <a:pt x="1274953" y="64489"/>
                  </a:lnTo>
                  <a:lnTo>
                    <a:pt x="1341720" y="81417"/>
                  </a:lnTo>
                  <a:lnTo>
                    <a:pt x="1388081" y="110315"/>
                  </a:lnTo>
                  <a:lnTo>
                    <a:pt x="1405691" y="145981"/>
                  </a:lnTo>
                  <a:lnTo>
                    <a:pt x="1402540" y="164262"/>
                  </a:lnTo>
                  <a:lnTo>
                    <a:pt x="1391380" y="181997"/>
                  </a:lnTo>
                  <a:lnTo>
                    <a:pt x="1420892" y="206852"/>
                  </a:lnTo>
                  <a:lnTo>
                    <a:pt x="1435990" y="234120"/>
                  </a:lnTo>
                  <a:lnTo>
                    <a:pt x="1436278" y="262358"/>
                  </a:lnTo>
                  <a:lnTo>
                    <a:pt x="1421354" y="290128"/>
                  </a:lnTo>
                  <a:lnTo>
                    <a:pt x="1392130" y="315064"/>
                  </a:lnTo>
                  <a:lnTo>
                    <a:pt x="1351354" y="335164"/>
                  </a:lnTo>
                  <a:lnTo>
                    <a:pt x="1301379" y="349534"/>
                  </a:lnTo>
                  <a:lnTo>
                    <a:pt x="1244561" y="357280"/>
                  </a:lnTo>
                  <a:lnTo>
                    <a:pt x="1237322" y="381962"/>
                  </a:lnTo>
                  <a:lnTo>
                    <a:pt x="1186059" y="423697"/>
                  </a:lnTo>
                  <a:lnTo>
                    <a:pt x="1144794" y="438505"/>
                  </a:lnTo>
                  <a:lnTo>
                    <a:pt x="1096950" y="447492"/>
                  </a:lnTo>
                  <a:lnTo>
                    <a:pt x="1046785" y="450024"/>
                  </a:lnTo>
                  <a:lnTo>
                    <a:pt x="996988" y="446138"/>
                  </a:lnTo>
                  <a:lnTo>
                    <a:pt x="950248" y="435869"/>
                  </a:lnTo>
                  <a:lnTo>
                    <a:pt x="923287" y="464071"/>
                  </a:lnTo>
                  <a:lnTo>
                    <a:pt x="882069" y="487047"/>
                  </a:lnTo>
                  <a:lnTo>
                    <a:pt x="829462" y="503588"/>
                  </a:lnTo>
                  <a:lnTo>
                    <a:pt x="768336" y="512486"/>
                  </a:lnTo>
                  <a:lnTo>
                    <a:pt x="717129" y="513323"/>
                  </a:lnTo>
                  <a:lnTo>
                    <a:pt x="667776" y="508610"/>
                  </a:lnTo>
                  <a:lnTo>
                    <a:pt x="622053" y="498731"/>
                  </a:lnTo>
                  <a:lnTo>
                    <a:pt x="581734" y="484069"/>
                  </a:lnTo>
                  <a:lnTo>
                    <a:pt x="548593" y="465008"/>
                  </a:lnTo>
                  <a:lnTo>
                    <a:pt x="502251" y="475693"/>
                  </a:lnTo>
                  <a:lnTo>
                    <a:pt x="452975" y="481638"/>
                  </a:lnTo>
                  <a:lnTo>
                    <a:pt x="402266" y="482737"/>
                  </a:lnTo>
                  <a:lnTo>
                    <a:pt x="351626" y="478883"/>
                  </a:lnTo>
                  <a:lnTo>
                    <a:pt x="303562" y="470198"/>
                  </a:lnTo>
                  <a:lnTo>
                    <a:pt x="260383" y="457172"/>
                  </a:lnTo>
                  <a:lnTo>
                    <a:pt x="223296" y="440256"/>
                  </a:lnTo>
                  <a:lnTo>
                    <a:pt x="193504" y="419899"/>
                  </a:lnTo>
                  <a:lnTo>
                    <a:pt x="148988" y="419096"/>
                  </a:lnTo>
                  <a:lnTo>
                    <a:pt x="107943" y="411995"/>
                  </a:lnTo>
                  <a:lnTo>
                    <a:pt x="47147" y="381736"/>
                  </a:lnTo>
                  <a:lnTo>
                    <a:pt x="33044" y="340037"/>
                  </a:lnTo>
                  <a:lnTo>
                    <a:pt x="45629" y="319797"/>
                  </a:lnTo>
                  <a:lnTo>
                    <a:pt x="70721" y="301939"/>
                  </a:lnTo>
                  <a:lnTo>
                    <a:pt x="35449" y="287754"/>
                  </a:lnTo>
                  <a:lnTo>
                    <a:pt x="11426" y="269365"/>
                  </a:lnTo>
                  <a:lnTo>
                    <a:pt x="0" y="248271"/>
                  </a:lnTo>
                  <a:lnTo>
                    <a:pt x="2513" y="225971"/>
                  </a:lnTo>
                  <a:lnTo>
                    <a:pt x="19111" y="205165"/>
                  </a:lnTo>
                  <a:lnTo>
                    <a:pt x="47375" y="188280"/>
                  </a:lnTo>
                  <a:lnTo>
                    <a:pt x="84813" y="176408"/>
                  </a:lnTo>
                  <a:lnTo>
                    <a:pt x="128931" y="170641"/>
                  </a:lnTo>
                  <a:lnTo>
                    <a:pt x="130142" y="169041"/>
                  </a:lnTo>
                  <a:close/>
                </a:path>
                <a:path w="1436370" h="513715">
                  <a:moveTo>
                    <a:pt x="70736" y="301936"/>
                  </a:moveTo>
                  <a:lnTo>
                    <a:pt x="90503" y="306649"/>
                  </a:lnTo>
                  <a:lnTo>
                    <a:pt x="111381" y="309827"/>
                  </a:lnTo>
                  <a:lnTo>
                    <a:pt x="133001" y="311429"/>
                  </a:lnTo>
                  <a:lnTo>
                    <a:pt x="154992" y="311412"/>
                  </a:lnTo>
                </a:path>
                <a:path w="1436370" h="513715">
                  <a:moveTo>
                    <a:pt x="193506" y="419899"/>
                  </a:moveTo>
                  <a:lnTo>
                    <a:pt x="202938" y="419208"/>
                  </a:lnTo>
                  <a:lnTo>
                    <a:pt x="212245" y="418220"/>
                  </a:lnTo>
                  <a:lnTo>
                    <a:pt x="221399" y="416937"/>
                  </a:lnTo>
                  <a:lnTo>
                    <a:pt x="230370" y="415364"/>
                  </a:lnTo>
                </a:path>
                <a:path w="1436370" h="513715">
                  <a:moveTo>
                    <a:pt x="548577" y="465005"/>
                  </a:moveTo>
                  <a:lnTo>
                    <a:pt x="542180" y="460056"/>
                  </a:lnTo>
                  <a:lnTo>
                    <a:pt x="536338" y="454951"/>
                  </a:lnTo>
                  <a:lnTo>
                    <a:pt x="531062" y="449702"/>
                  </a:lnTo>
                  <a:lnTo>
                    <a:pt x="526365" y="444318"/>
                  </a:lnTo>
                </a:path>
                <a:path w="1436370" h="513715">
                  <a:moveTo>
                    <a:pt x="950248" y="435866"/>
                  </a:moveTo>
                  <a:lnTo>
                    <a:pt x="954836" y="428473"/>
                  </a:lnTo>
                  <a:lnTo>
                    <a:pt x="957810" y="420864"/>
                  </a:lnTo>
                  <a:lnTo>
                    <a:pt x="959117" y="413166"/>
                  </a:lnTo>
                </a:path>
                <a:path w="1436370" h="513715">
                  <a:moveTo>
                    <a:pt x="1244549" y="357279"/>
                  </a:moveTo>
                  <a:lnTo>
                    <a:pt x="1237277" y="331037"/>
                  </a:lnTo>
                  <a:lnTo>
                    <a:pt x="1215699" y="307264"/>
                  </a:lnTo>
                  <a:lnTo>
                    <a:pt x="1181509" y="287290"/>
                  </a:lnTo>
                  <a:lnTo>
                    <a:pt x="1136401" y="272444"/>
                  </a:lnTo>
                </a:path>
                <a:path w="1436370" h="513715">
                  <a:moveTo>
                    <a:pt x="1391367" y="182000"/>
                  </a:moveTo>
                  <a:lnTo>
                    <a:pt x="1382224" y="190933"/>
                  </a:lnTo>
                  <a:lnTo>
                    <a:pt x="1371069" y="199265"/>
                  </a:lnTo>
                  <a:lnTo>
                    <a:pt x="1358025" y="206918"/>
                  </a:lnTo>
                  <a:lnTo>
                    <a:pt x="1343212" y="213811"/>
                  </a:lnTo>
                </a:path>
                <a:path w="1436370" h="513715">
                  <a:moveTo>
                    <a:pt x="1274951" y="64490"/>
                  </a:moveTo>
                  <a:lnTo>
                    <a:pt x="1276791" y="69446"/>
                  </a:lnTo>
                  <a:lnTo>
                    <a:pt x="1277641" y="74477"/>
                  </a:lnTo>
                  <a:lnTo>
                    <a:pt x="1277493" y="79513"/>
                  </a:lnTo>
                </a:path>
                <a:path w="1436370" h="513715">
                  <a:moveTo>
                    <a:pt x="992723" y="27693"/>
                  </a:moveTo>
                  <a:lnTo>
                    <a:pt x="985496" y="32148"/>
                  </a:lnTo>
                  <a:lnTo>
                    <a:pt x="978959" y="36839"/>
                  </a:lnTo>
                  <a:lnTo>
                    <a:pt x="973137" y="41747"/>
                  </a:lnTo>
                  <a:lnTo>
                    <a:pt x="968054" y="46853"/>
                  </a:lnTo>
                </a:path>
                <a:path w="1436370" h="513715">
                  <a:moveTo>
                    <a:pt x="747350" y="39000"/>
                  </a:moveTo>
                  <a:lnTo>
                    <a:pt x="741975" y="44245"/>
                  </a:lnTo>
                  <a:lnTo>
                    <a:pt x="737962" y="49796"/>
                  </a:lnTo>
                  <a:lnTo>
                    <a:pt x="735402" y="55523"/>
                  </a:lnTo>
                </a:path>
                <a:path w="1436370" h="513715">
                  <a:moveTo>
                    <a:pt x="466253" y="60043"/>
                  </a:moveTo>
                  <a:lnTo>
                    <a:pt x="477798" y="63566"/>
                  </a:lnTo>
                  <a:lnTo>
                    <a:pt x="488872" y="67420"/>
                  </a:lnTo>
                  <a:lnTo>
                    <a:pt x="499446" y="71593"/>
                  </a:lnTo>
                  <a:lnTo>
                    <a:pt x="509489" y="76074"/>
                  </a:lnTo>
                </a:path>
                <a:path w="1436370" h="513715">
                  <a:moveTo>
                    <a:pt x="130142" y="169041"/>
                  </a:moveTo>
                  <a:lnTo>
                    <a:pt x="131739" y="174751"/>
                  </a:lnTo>
                  <a:lnTo>
                    <a:pt x="134262" y="180391"/>
                  </a:lnTo>
                  <a:lnTo>
                    <a:pt x="137687" y="185908"/>
                  </a:lnTo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3" name="object 43"/>
          <p:cNvGrpSpPr/>
          <p:nvPr/>
        </p:nvGrpSpPr>
        <p:grpSpPr>
          <a:xfrm>
            <a:off x="5429250" y="748999"/>
            <a:ext cx="2808605" cy="3176270"/>
            <a:chOff x="5429250" y="748999"/>
            <a:chExt cx="2808605" cy="3176270"/>
          </a:xfrm>
        </p:grpSpPr>
        <p:sp>
          <p:nvSpPr>
            <p:cNvPr id="44" name="object 44"/>
            <p:cNvSpPr/>
            <p:nvPr/>
          </p:nvSpPr>
          <p:spPr>
            <a:xfrm>
              <a:off x="5435600" y="2579912"/>
              <a:ext cx="2431415" cy="1339215"/>
            </a:xfrm>
            <a:custGeom>
              <a:avLst/>
              <a:gdLst/>
              <a:ahLst/>
              <a:cxnLst/>
              <a:rect l="l" t="t" r="r" b="b"/>
              <a:pathLst>
                <a:path w="2431415" h="1339214">
                  <a:moveTo>
                    <a:pt x="0" y="223161"/>
                  </a:moveTo>
                  <a:lnTo>
                    <a:pt x="4533" y="178186"/>
                  </a:lnTo>
                  <a:lnTo>
                    <a:pt x="17537" y="136296"/>
                  </a:lnTo>
                  <a:lnTo>
                    <a:pt x="38112" y="98389"/>
                  </a:lnTo>
                  <a:lnTo>
                    <a:pt x="65362" y="65362"/>
                  </a:lnTo>
                  <a:lnTo>
                    <a:pt x="98389" y="38112"/>
                  </a:lnTo>
                  <a:lnTo>
                    <a:pt x="136296" y="17537"/>
                  </a:lnTo>
                  <a:lnTo>
                    <a:pt x="178186" y="4533"/>
                  </a:lnTo>
                  <a:lnTo>
                    <a:pt x="223161" y="0"/>
                  </a:lnTo>
                  <a:lnTo>
                    <a:pt x="2207981" y="0"/>
                  </a:lnTo>
                  <a:lnTo>
                    <a:pt x="2251721" y="4327"/>
                  </a:lnTo>
                  <a:lnTo>
                    <a:pt x="2293381" y="16987"/>
                  </a:lnTo>
                  <a:lnTo>
                    <a:pt x="2331791" y="37493"/>
                  </a:lnTo>
                  <a:lnTo>
                    <a:pt x="2365780" y="65362"/>
                  </a:lnTo>
                  <a:lnTo>
                    <a:pt x="2393649" y="99351"/>
                  </a:lnTo>
                  <a:lnTo>
                    <a:pt x="2414155" y="137761"/>
                  </a:lnTo>
                  <a:lnTo>
                    <a:pt x="2426815" y="179421"/>
                  </a:lnTo>
                  <a:lnTo>
                    <a:pt x="2431142" y="223161"/>
                  </a:lnTo>
                  <a:lnTo>
                    <a:pt x="2431142" y="1115780"/>
                  </a:lnTo>
                  <a:lnTo>
                    <a:pt x="2426609" y="1160755"/>
                  </a:lnTo>
                  <a:lnTo>
                    <a:pt x="2413605" y="1202645"/>
                  </a:lnTo>
                  <a:lnTo>
                    <a:pt x="2393030" y="1240552"/>
                  </a:lnTo>
                  <a:lnTo>
                    <a:pt x="2365780" y="1273579"/>
                  </a:lnTo>
                  <a:lnTo>
                    <a:pt x="2332753" y="1300829"/>
                  </a:lnTo>
                  <a:lnTo>
                    <a:pt x="2294846" y="1321404"/>
                  </a:lnTo>
                  <a:lnTo>
                    <a:pt x="2252956" y="1334408"/>
                  </a:lnTo>
                  <a:lnTo>
                    <a:pt x="2207981" y="1338941"/>
                  </a:lnTo>
                  <a:lnTo>
                    <a:pt x="223161" y="1338941"/>
                  </a:lnTo>
                  <a:lnTo>
                    <a:pt x="178186" y="1334408"/>
                  </a:lnTo>
                  <a:lnTo>
                    <a:pt x="136296" y="1321404"/>
                  </a:lnTo>
                  <a:lnTo>
                    <a:pt x="98389" y="1300829"/>
                  </a:lnTo>
                  <a:lnTo>
                    <a:pt x="65362" y="1273579"/>
                  </a:lnTo>
                  <a:lnTo>
                    <a:pt x="38112" y="1240552"/>
                  </a:lnTo>
                  <a:lnTo>
                    <a:pt x="17537" y="1202645"/>
                  </a:lnTo>
                  <a:lnTo>
                    <a:pt x="4533" y="1160755"/>
                  </a:lnTo>
                  <a:lnTo>
                    <a:pt x="0" y="1115780"/>
                  </a:lnTo>
                  <a:lnTo>
                    <a:pt x="0" y="22316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6720114" y="753761"/>
              <a:ext cx="20320" cy="589915"/>
            </a:xfrm>
            <a:custGeom>
              <a:avLst/>
              <a:gdLst/>
              <a:ahLst/>
              <a:cxnLst/>
              <a:rect l="l" t="t" r="r" b="b"/>
              <a:pathLst>
                <a:path w="20320" h="589915">
                  <a:moveTo>
                    <a:pt x="0" y="0"/>
                  </a:moveTo>
                  <a:lnTo>
                    <a:pt x="19849" y="589749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6724239" y="1342982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17177" y="43730"/>
                  </a:moveTo>
                  <a:lnTo>
                    <a:pt x="0" y="1058"/>
                  </a:lnTo>
                  <a:lnTo>
                    <a:pt x="31447" y="0"/>
                  </a:lnTo>
                  <a:lnTo>
                    <a:pt x="17177" y="43730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724239" y="1342982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0" y="1058"/>
                  </a:moveTo>
                  <a:lnTo>
                    <a:pt x="17177" y="43730"/>
                  </a:lnTo>
                  <a:lnTo>
                    <a:pt x="31447" y="0"/>
                  </a:lnTo>
                  <a:lnTo>
                    <a:pt x="0" y="1058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5641520" y="2971800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208822" y="351063"/>
                  </a:move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5641521" y="2971800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0" y="175531"/>
                  </a:move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6763561" y="3418946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208822" y="351063"/>
                  </a:move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6" y="285318"/>
                  </a:lnTo>
                  <a:lnTo>
                    <a:pt x="21225" y="252726"/>
                  </a:lnTo>
                  <a:lnTo>
                    <a:pt x="5515" y="215779"/>
                  </a:lnTo>
                  <a:lnTo>
                    <a:pt x="0" y="175531"/>
                  </a:lnTo>
                  <a:lnTo>
                    <a:pt x="5515" y="135284"/>
                  </a:lnTo>
                  <a:lnTo>
                    <a:pt x="21225" y="98337"/>
                  </a:lnTo>
                  <a:lnTo>
                    <a:pt x="45876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30" y="135284"/>
                  </a:lnTo>
                  <a:lnTo>
                    <a:pt x="417645" y="175531"/>
                  </a:lnTo>
                  <a:lnTo>
                    <a:pt x="412130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6763561" y="3418946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0" y="175531"/>
                  </a:moveTo>
                  <a:lnTo>
                    <a:pt x="5515" y="135284"/>
                  </a:lnTo>
                  <a:lnTo>
                    <a:pt x="21225" y="98337"/>
                  </a:lnTo>
                  <a:lnTo>
                    <a:pt x="45876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30" y="135284"/>
                  </a:lnTo>
                  <a:lnTo>
                    <a:pt x="417645" y="175531"/>
                  </a:lnTo>
                  <a:lnTo>
                    <a:pt x="412130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6" y="285318"/>
                  </a:lnTo>
                  <a:lnTo>
                    <a:pt x="21225" y="252726"/>
                  </a:lnTo>
                  <a:lnTo>
                    <a:pt x="5515" y="215779"/>
                  </a:lnTo>
                  <a:lnTo>
                    <a:pt x="0" y="17553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6749250" y="2938975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208822" y="351063"/>
                  </a:move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30" y="135284"/>
                  </a:lnTo>
                  <a:lnTo>
                    <a:pt x="417645" y="175531"/>
                  </a:lnTo>
                  <a:lnTo>
                    <a:pt x="412130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6749250" y="2938975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0" y="175531"/>
                  </a:move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30" y="135284"/>
                  </a:lnTo>
                  <a:lnTo>
                    <a:pt x="417645" y="175531"/>
                  </a:lnTo>
                  <a:lnTo>
                    <a:pt x="412130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6221722" y="3191131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208822" y="351063"/>
                  </a:move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6221722" y="3191131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0" y="175531"/>
                  </a:move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5660380" y="3463137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208822" y="351063"/>
                  </a:move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5660380" y="3463137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0" y="175531"/>
                  </a:move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7238357" y="3109519"/>
              <a:ext cx="999490" cy="0"/>
            </a:xfrm>
            <a:custGeom>
              <a:avLst/>
              <a:gdLst/>
              <a:ahLst/>
              <a:cxnLst/>
              <a:rect l="l" t="t" r="r" b="b"/>
              <a:pathLst>
                <a:path w="999490">
                  <a:moveTo>
                    <a:pt x="999406" y="0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7195131" y="3093786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24" y="31465"/>
                  </a:moveTo>
                  <a:lnTo>
                    <a:pt x="0" y="15732"/>
                  </a:lnTo>
                  <a:lnTo>
                    <a:pt x="43224" y="0"/>
                  </a:lnTo>
                  <a:lnTo>
                    <a:pt x="43224" y="3146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7195131" y="3093786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24" y="0"/>
                  </a:moveTo>
                  <a:lnTo>
                    <a:pt x="0" y="15732"/>
                  </a:lnTo>
                  <a:lnTo>
                    <a:pt x="43224" y="31465"/>
                  </a:lnTo>
                  <a:lnTo>
                    <a:pt x="43224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1" name="object 61"/>
          <p:cNvSpPr txBox="1"/>
          <p:nvPr/>
        </p:nvSpPr>
        <p:spPr>
          <a:xfrm>
            <a:off x="6282842" y="274418"/>
            <a:ext cx="71374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solidFill>
                  <a:srgbClr val="FFFFFF"/>
                </a:solidFill>
                <a:latin typeface="Arial"/>
                <a:cs typeface="Arial"/>
              </a:rPr>
              <a:t>Internet</a:t>
            </a:r>
            <a:endParaRPr sz="1600">
              <a:latin typeface="Arial"/>
              <a:cs typeface="Arial"/>
            </a:endParaRPr>
          </a:p>
        </p:txBody>
      </p:sp>
      <p:sp>
        <p:nvSpPr>
          <p:cNvPr id="63" name="object 6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33</a:t>
            </a:fld>
            <a:endParaRPr spc="-25" dirty="0"/>
          </a:p>
        </p:txBody>
      </p:sp>
      <p:sp>
        <p:nvSpPr>
          <p:cNvPr id="62" name="object 62"/>
          <p:cNvSpPr txBox="1"/>
          <p:nvPr/>
        </p:nvSpPr>
        <p:spPr>
          <a:xfrm>
            <a:off x="8239662" y="2901642"/>
            <a:ext cx="3422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"/>
                <a:cs typeface="Arial"/>
              </a:rPr>
              <a:t>Pod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01625" y="249500"/>
            <a:ext cx="1549400" cy="4648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Overview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23655" y="544917"/>
            <a:ext cx="12274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Worker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Node-</a:t>
            </a:r>
            <a:r>
              <a:rPr sz="1400" spc="-50" dirty="0">
                <a:latin typeface="Arial"/>
                <a:cs typeface="Arial"/>
              </a:rPr>
              <a:t>1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303129" y="1216477"/>
            <a:ext cx="2501900" cy="2952115"/>
            <a:chOff x="1303129" y="1216477"/>
            <a:chExt cx="2501900" cy="2952115"/>
          </a:xfrm>
        </p:grpSpPr>
        <p:sp>
          <p:nvSpPr>
            <p:cNvPr id="5" name="object 5"/>
            <p:cNvSpPr/>
            <p:nvPr/>
          </p:nvSpPr>
          <p:spPr>
            <a:xfrm>
              <a:off x="1309479" y="1222827"/>
              <a:ext cx="2489200" cy="2939415"/>
            </a:xfrm>
            <a:custGeom>
              <a:avLst/>
              <a:gdLst/>
              <a:ahLst/>
              <a:cxnLst/>
              <a:rect l="l" t="t" r="r" b="b"/>
              <a:pathLst>
                <a:path w="2489200" h="2939415">
                  <a:moveTo>
                    <a:pt x="2074324" y="2939142"/>
                  </a:moveTo>
                  <a:lnTo>
                    <a:pt x="414874" y="2939142"/>
                  </a:lnTo>
                  <a:lnTo>
                    <a:pt x="366491" y="2936351"/>
                  </a:lnTo>
                  <a:lnTo>
                    <a:pt x="319747" y="2928185"/>
                  </a:lnTo>
                  <a:lnTo>
                    <a:pt x="274954" y="2914956"/>
                  </a:lnTo>
                  <a:lnTo>
                    <a:pt x="232423" y="2896974"/>
                  </a:lnTo>
                  <a:lnTo>
                    <a:pt x="192465" y="2874551"/>
                  </a:lnTo>
                  <a:lnTo>
                    <a:pt x="155391" y="2847999"/>
                  </a:lnTo>
                  <a:lnTo>
                    <a:pt x="121514" y="2817628"/>
                  </a:lnTo>
                  <a:lnTo>
                    <a:pt x="91143" y="2783751"/>
                  </a:lnTo>
                  <a:lnTo>
                    <a:pt x="64591" y="2746677"/>
                  </a:lnTo>
                  <a:lnTo>
                    <a:pt x="42168" y="2706719"/>
                  </a:lnTo>
                  <a:lnTo>
                    <a:pt x="24186" y="2664188"/>
                  </a:lnTo>
                  <a:lnTo>
                    <a:pt x="10957" y="2619394"/>
                  </a:lnTo>
                  <a:lnTo>
                    <a:pt x="2791" y="2572651"/>
                  </a:lnTo>
                  <a:lnTo>
                    <a:pt x="0" y="2524267"/>
                  </a:lnTo>
                  <a:lnTo>
                    <a:pt x="0" y="414874"/>
                  </a:lnTo>
                  <a:lnTo>
                    <a:pt x="2700" y="368062"/>
                  </a:lnTo>
                  <a:lnTo>
                    <a:pt x="10957" y="319747"/>
                  </a:lnTo>
                  <a:lnTo>
                    <a:pt x="24186" y="274954"/>
                  </a:lnTo>
                  <a:lnTo>
                    <a:pt x="42168" y="232423"/>
                  </a:lnTo>
                  <a:lnTo>
                    <a:pt x="64591" y="192465"/>
                  </a:lnTo>
                  <a:lnTo>
                    <a:pt x="91143" y="155391"/>
                  </a:lnTo>
                  <a:lnTo>
                    <a:pt x="121514" y="121514"/>
                  </a:lnTo>
                  <a:lnTo>
                    <a:pt x="155391" y="91143"/>
                  </a:lnTo>
                  <a:lnTo>
                    <a:pt x="192465" y="64591"/>
                  </a:lnTo>
                  <a:lnTo>
                    <a:pt x="232423" y="42168"/>
                  </a:lnTo>
                  <a:lnTo>
                    <a:pt x="274954" y="24186"/>
                  </a:lnTo>
                  <a:lnTo>
                    <a:pt x="319747" y="10957"/>
                  </a:lnTo>
                  <a:lnTo>
                    <a:pt x="366491" y="2791"/>
                  </a:lnTo>
                  <a:lnTo>
                    <a:pt x="414874" y="0"/>
                  </a:lnTo>
                  <a:lnTo>
                    <a:pt x="2074324" y="0"/>
                  </a:lnTo>
                  <a:lnTo>
                    <a:pt x="2121137" y="2648"/>
                  </a:lnTo>
                  <a:lnTo>
                    <a:pt x="2166992" y="10480"/>
                  </a:lnTo>
                  <a:lnTo>
                    <a:pt x="2211483" y="23328"/>
                  </a:lnTo>
                  <a:lnTo>
                    <a:pt x="2254204" y="41023"/>
                  </a:lnTo>
                  <a:lnTo>
                    <a:pt x="2294749" y="63398"/>
                  </a:lnTo>
                  <a:lnTo>
                    <a:pt x="2332711" y="90284"/>
                  </a:lnTo>
                  <a:lnTo>
                    <a:pt x="2367685" y="121514"/>
                  </a:lnTo>
                  <a:lnTo>
                    <a:pt x="2398915" y="156488"/>
                  </a:lnTo>
                  <a:lnTo>
                    <a:pt x="2425801" y="194450"/>
                  </a:lnTo>
                  <a:lnTo>
                    <a:pt x="2448176" y="234995"/>
                  </a:lnTo>
                  <a:lnTo>
                    <a:pt x="2465871" y="277716"/>
                  </a:lnTo>
                  <a:lnTo>
                    <a:pt x="2478719" y="322207"/>
                  </a:lnTo>
                  <a:lnTo>
                    <a:pt x="2486551" y="368062"/>
                  </a:lnTo>
                  <a:lnTo>
                    <a:pt x="2489199" y="414874"/>
                  </a:lnTo>
                  <a:lnTo>
                    <a:pt x="2489199" y="2524267"/>
                  </a:lnTo>
                  <a:lnTo>
                    <a:pt x="2486408" y="2572651"/>
                  </a:lnTo>
                  <a:lnTo>
                    <a:pt x="2478242" y="2619394"/>
                  </a:lnTo>
                  <a:lnTo>
                    <a:pt x="2465013" y="2664188"/>
                  </a:lnTo>
                  <a:lnTo>
                    <a:pt x="2447031" y="2706719"/>
                  </a:lnTo>
                  <a:lnTo>
                    <a:pt x="2424608" y="2746677"/>
                  </a:lnTo>
                  <a:lnTo>
                    <a:pt x="2398056" y="2783751"/>
                  </a:lnTo>
                  <a:lnTo>
                    <a:pt x="2367685" y="2817628"/>
                  </a:lnTo>
                  <a:lnTo>
                    <a:pt x="2333808" y="2847999"/>
                  </a:lnTo>
                  <a:lnTo>
                    <a:pt x="2296734" y="2874551"/>
                  </a:lnTo>
                  <a:lnTo>
                    <a:pt x="2256776" y="2896974"/>
                  </a:lnTo>
                  <a:lnTo>
                    <a:pt x="2214245" y="2914956"/>
                  </a:lnTo>
                  <a:lnTo>
                    <a:pt x="2169451" y="2928185"/>
                  </a:lnTo>
                  <a:lnTo>
                    <a:pt x="2122708" y="2936351"/>
                  </a:lnTo>
                  <a:lnTo>
                    <a:pt x="2074324" y="2939142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309479" y="1222827"/>
              <a:ext cx="2489200" cy="2939415"/>
            </a:xfrm>
            <a:custGeom>
              <a:avLst/>
              <a:gdLst/>
              <a:ahLst/>
              <a:cxnLst/>
              <a:rect l="l" t="t" r="r" b="b"/>
              <a:pathLst>
                <a:path w="2489200" h="2939415">
                  <a:moveTo>
                    <a:pt x="0" y="414874"/>
                  </a:moveTo>
                  <a:lnTo>
                    <a:pt x="2791" y="366491"/>
                  </a:lnTo>
                  <a:lnTo>
                    <a:pt x="10957" y="319747"/>
                  </a:lnTo>
                  <a:lnTo>
                    <a:pt x="24186" y="274954"/>
                  </a:lnTo>
                  <a:lnTo>
                    <a:pt x="42168" y="232423"/>
                  </a:lnTo>
                  <a:lnTo>
                    <a:pt x="64591" y="192465"/>
                  </a:lnTo>
                  <a:lnTo>
                    <a:pt x="91143" y="155391"/>
                  </a:lnTo>
                  <a:lnTo>
                    <a:pt x="121514" y="121514"/>
                  </a:lnTo>
                  <a:lnTo>
                    <a:pt x="155391" y="91143"/>
                  </a:lnTo>
                  <a:lnTo>
                    <a:pt x="192465" y="64591"/>
                  </a:lnTo>
                  <a:lnTo>
                    <a:pt x="232423" y="42168"/>
                  </a:lnTo>
                  <a:lnTo>
                    <a:pt x="274954" y="24186"/>
                  </a:lnTo>
                  <a:lnTo>
                    <a:pt x="319747" y="10957"/>
                  </a:lnTo>
                  <a:lnTo>
                    <a:pt x="366491" y="2791"/>
                  </a:lnTo>
                  <a:lnTo>
                    <a:pt x="414874" y="0"/>
                  </a:lnTo>
                  <a:lnTo>
                    <a:pt x="2074324" y="0"/>
                  </a:lnTo>
                  <a:lnTo>
                    <a:pt x="2121137" y="2648"/>
                  </a:lnTo>
                  <a:lnTo>
                    <a:pt x="2166992" y="10480"/>
                  </a:lnTo>
                  <a:lnTo>
                    <a:pt x="2211483" y="23328"/>
                  </a:lnTo>
                  <a:lnTo>
                    <a:pt x="2254204" y="41023"/>
                  </a:lnTo>
                  <a:lnTo>
                    <a:pt x="2294749" y="63398"/>
                  </a:lnTo>
                  <a:lnTo>
                    <a:pt x="2332711" y="90284"/>
                  </a:lnTo>
                  <a:lnTo>
                    <a:pt x="2367685" y="121514"/>
                  </a:lnTo>
                  <a:lnTo>
                    <a:pt x="2398915" y="156488"/>
                  </a:lnTo>
                  <a:lnTo>
                    <a:pt x="2425801" y="194450"/>
                  </a:lnTo>
                  <a:lnTo>
                    <a:pt x="2448176" y="234995"/>
                  </a:lnTo>
                  <a:lnTo>
                    <a:pt x="2465871" y="277716"/>
                  </a:lnTo>
                  <a:lnTo>
                    <a:pt x="2478719" y="322207"/>
                  </a:lnTo>
                  <a:lnTo>
                    <a:pt x="2486551" y="368062"/>
                  </a:lnTo>
                  <a:lnTo>
                    <a:pt x="2489199" y="414874"/>
                  </a:lnTo>
                  <a:lnTo>
                    <a:pt x="2489199" y="2524267"/>
                  </a:lnTo>
                  <a:lnTo>
                    <a:pt x="2486408" y="2572651"/>
                  </a:lnTo>
                  <a:lnTo>
                    <a:pt x="2478242" y="2619394"/>
                  </a:lnTo>
                  <a:lnTo>
                    <a:pt x="2465013" y="2664188"/>
                  </a:lnTo>
                  <a:lnTo>
                    <a:pt x="2447031" y="2706719"/>
                  </a:lnTo>
                  <a:lnTo>
                    <a:pt x="2424608" y="2746677"/>
                  </a:lnTo>
                  <a:lnTo>
                    <a:pt x="2398056" y="2783751"/>
                  </a:lnTo>
                  <a:lnTo>
                    <a:pt x="2367685" y="2817628"/>
                  </a:lnTo>
                  <a:lnTo>
                    <a:pt x="2333808" y="2847999"/>
                  </a:lnTo>
                  <a:lnTo>
                    <a:pt x="2296734" y="2874551"/>
                  </a:lnTo>
                  <a:lnTo>
                    <a:pt x="2256776" y="2896974"/>
                  </a:lnTo>
                  <a:lnTo>
                    <a:pt x="2214245" y="2914956"/>
                  </a:lnTo>
                  <a:lnTo>
                    <a:pt x="2169451" y="2928185"/>
                  </a:lnTo>
                  <a:lnTo>
                    <a:pt x="2122708" y="2936351"/>
                  </a:lnTo>
                  <a:lnTo>
                    <a:pt x="2074324" y="2939142"/>
                  </a:lnTo>
                  <a:lnTo>
                    <a:pt x="414874" y="2939142"/>
                  </a:lnTo>
                  <a:lnTo>
                    <a:pt x="366491" y="2936351"/>
                  </a:lnTo>
                  <a:lnTo>
                    <a:pt x="319747" y="2928185"/>
                  </a:lnTo>
                  <a:lnTo>
                    <a:pt x="274954" y="2914956"/>
                  </a:lnTo>
                  <a:lnTo>
                    <a:pt x="232423" y="2896974"/>
                  </a:lnTo>
                  <a:lnTo>
                    <a:pt x="192465" y="2874551"/>
                  </a:lnTo>
                  <a:lnTo>
                    <a:pt x="155391" y="2847999"/>
                  </a:lnTo>
                  <a:lnTo>
                    <a:pt x="121514" y="2817628"/>
                  </a:lnTo>
                  <a:lnTo>
                    <a:pt x="91143" y="2783751"/>
                  </a:lnTo>
                  <a:lnTo>
                    <a:pt x="64591" y="2746677"/>
                  </a:lnTo>
                  <a:lnTo>
                    <a:pt x="42168" y="2706719"/>
                  </a:lnTo>
                  <a:lnTo>
                    <a:pt x="24186" y="2664188"/>
                  </a:lnTo>
                  <a:lnTo>
                    <a:pt x="10957" y="2619394"/>
                  </a:lnTo>
                  <a:lnTo>
                    <a:pt x="2791" y="2572651"/>
                  </a:lnTo>
                  <a:lnTo>
                    <a:pt x="0" y="2524267"/>
                  </a:lnTo>
                  <a:lnTo>
                    <a:pt x="0" y="414874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554079" y="1599548"/>
              <a:ext cx="1082040" cy="521334"/>
            </a:xfrm>
            <a:custGeom>
              <a:avLst/>
              <a:gdLst/>
              <a:ahLst/>
              <a:cxnLst/>
              <a:rect l="l" t="t" r="r" b="b"/>
              <a:pathLst>
                <a:path w="1082039" h="521335">
                  <a:moveTo>
                    <a:pt x="994909" y="521024"/>
                  </a:moveTo>
                  <a:lnTo>
                    <a:pt x="86839" y="521024"/>
                  </a:lnTo>
                  <a:lnTo>
                    <a:pt x="53037" y="514200"/>
                  </a:lnTo>
                  <a:lnTo>
                    <a:pt x="25434" y="495590"/>
                  </a:lnTo>
                  <a:lnTo>
                    <a:pt x="6824" y="467987"/>
                  </a:lnTo>
                  <a:lnTo>
                    <a:pt x="0" y="434185"/>
                  </a:lnTo>
                  <a:lnTo>
                    <a:pt x="0" y="86839"/>
                  </a:lnTo>
                  <a:lnTo>
                    <a:pt x="6824" y="53037"/>
                  </a:lnTo>
                  <a:lnTo>
                    <a:pt x="25434" y="25434"/>
                  </a:lnTo>
                  <a:lnTo>
                    <a:pt x="53037" y="6824"/>
                  </a:lnTo>
                  <a:lnTo>
                    <a:pt x="86839" y="0"/>
                  </a:lnTo>
                  <a:lnTo>
                    <a:pt x="994909" y="0"/>
                  </a:lnTo>
                  <a:lnTo>
                    <a:pt x="1043088" y="14590"/>
                  </a:lnTo>
                  <a:lnTo>
                    <a:pt x="1075138" y="53607"/>
                  </a:lnTo>
                  <a:lnTo>
                    <a:pt x="1081748" y="86839"/>
                  </a:lnTo>
                  <a:lnTo>
                    <a:pt x="1081748" y="434185"/>
                  </a:lnTo>
                  <a:lnTo>
                    <a:pt x="1074924" y="467987"/>
                  </a:lnTo>
                  <a:lnTo>
                    <a:pt x="1056314" y="495590"/>
                  </a:lnTo>
                  <a:lnTo>
                    <a:pt x="1028711" y="514200"/>
                  </a:lnTo>
                  <a:lnTo>
                    <a:pt x="994909" y="521024"/>
                  </a:lnTo>
                  <a:close/>
                </a:path>
              </a:pathLst>
            </a:custGeom>
            <a:solidFill>
              <a:srgbClr val="00B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554079" y="1599548"/>
              <a:ext cx="1082040" cy="521334"/>
            </a:xfrm>
            <a:custGeom>
              <a:avLst/>
              <a:gdLst/>
              <a:ahLst/>
              <a:cxnLst/>
              <a:rect l="l" t="t" r="r" b="b"/>
              <a:pathLst>
                <a:path w="1082039" h="521335">
                  <a:moveTo>
                    <a:pt x="0" y="86839"/>
                  </a:moveTo>
                  <a:lnTo>
                    <a:pt x="6824" y="53037"/>
                  </a:lnTo>
                  <a:lnTo>
                    <a:pt x="25434" y="25434"/>
                  </a:lnTo>
                  <a:lnTo>
                    <a:pt x="53037" y="6824"/>
                  </a:lnTo>
                  <a:lnTo>
                    <a:pt x="86839" y="0"/>
                  </a:lnTo>
                  <a:lnTo>
                    <a:pt x="994909" y="0"/>
                  </a:lnTo>
                  <a:lnTo>
                    <a:pt x="1043088" y="14590"/>
                  </a:lnTo>
                  <a:lnTo>
                    <a:pt x="1075138" y="53607"/>
                  </a:lnTo>
                  <a:lnTo>
                    <a:pt x="1081748" y="86839"/>
                  </a:lnTo>
                  <a:lnTo>
                    <a:pt x="1081748" y="434185"/>
                  </a:lnTo>
                  <a:lnTo>
                    <a:pt x="1074924" y="467987"/>
                  </a:lnTo>
                  <a:lnTo>
                    <a:pt x="1056314" y="495590"/>
                  </a:lnTo>
                  <a:lnTo>
                    <a:pt x="1028711" y="514200"/>
                  </a:lnTo>
                  <a:lnTo>
                    <a:pt x="994909" y="521024"/>
                  </a:lnTo>
                  <a:lnTo>
                    <a:pt x="86839" y="521024"/>
                  </a:lnTo>
                  <a:lnTo>
                    <a:pt x="53037" y="514200"/>
                  </a:lnTo>
                  <a:lnTo>
                    <a:pt x="25434" y="495590"/>
                  </a:lnTo>
                  <a:lnTo>
                    <a:pt x="6824" y="467987"/>
                  </a:lnTo>
                  <a:lnTo>
                    <a:pt x="0" y="434185"/>
                  </a:lnTo>
                  <a:lnTo>
                    <a:pt x="0" y="86839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696686" y="1475963"/>
            <a:ext cx="397510" cy="41275"/>
            <a:chOff x="696686" y="1475963"/>
            <a:chExt cx="397510" cy="41275"/>
          </a:xfrm>
        </p:grpSpPr>
        <p:sp>
          <p:nvSpPr>
            <p:cNvPr id="10" name="object 10"/>
            <p:cNvSpPr/>
            <p:nvPr/>
          </p:nvSpPr>
          <p:spPr>
            <a:xfrm>
              <a:off x="696686" y="1496459"/>
              <a:ext cx="349250" cy="0"/>
            </a:xfrm>
            <a:custGeom>
              <a:avLst/>
              <a:gdLst/>
              <a:ahLst/>
              <a:cxnLst/>
              <a:rect l="l" t="t" r="r" b="b"/>
              <a:pathLst>
                <a:path w="349250">
                  <a:moveTo>
                    <a:pt x="0" y="0"/>
                  </a:moveTo>
                  <a:lnTo>
                    <a:pt x="349249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45935" y="1480726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045935" y="1480726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73026" y="1360858"/>
            <a:ext cx="5689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Arial"/>
                <a:cs typeface="Arial"/>
              </a:rPr>
              <a:t>Master</a:t>
            </a:r>
            <a:endParaRPr sz="14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682167" y="1735474"/>
            <a:ext cx="82613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Scheduler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387022" y="3105662"/>
            <a:ext cx="1010285" cy="522605"/>
            <a:chOff x="1387022" y="3105662"/>
            <a:chExt cx="1010285" cy="522605"/>
          </a:xfrm>
        </p:grpSpPr>
        <p:sp>
          <p:nvSpPr>
            <p:cNvPr id="16" name="object 16"/>
            <p:cNvSpPr/>
            <p:nvPr/>
          </p:nvSpPr>
          <p:spPr>
            <a:xfrm>
              <a:off x="1393372" y="3112012"/>
              <a:ext cx="997585" cy="509905"/>
            </a:xfrm>
            <a:custGeom>
              <a:avLst/>
              <a:gdLst/>
              <a:ahLst/>
              <a:cxnLst/>
              <a:rect l="l" t="t" r="r" b="b"/>
              <a:pathLst>
                <a:path w="997585" h="509904">
                  <a:moveTo>
                    <a:pt x="912104" y="509300"/>
                  </a:moveTo>
                  <a:lnTo>
                    <a:pt x="84885" y="509300"/>
                  </a:lnTo>
                  <a:lnTo>
                    <a:pt x="51844" y="502630"/>
                  </a:lnTo>
                  <a:lnTo>
                    <a:pt x="24862" y="484438"/>
                  </a:lnTo>
                  <a:lnTo>
                    <a:pt x="6670" y="457457"/>
                  </a:lnTo>
                  <a:lnTo>
                    <a:pt x="0" y="424415"/>
                  </a:lnTo>
                  <a:lnTo>
                    <a:pt x="0" y="84885"/>
                  </a:lnTo>
                  <a:lnTo>
                    <a:pt x="6670" y="51844"/>
                  </a:lnTo>
                  <a:lnTo>
                    <a:pt x="24862" y="24862"/>
                  </a:lnTo>
                  <a:lnTo>
                    <a:pt x="51844" y="6670"/>
                  </a:lnTo>
                  <a:lnTo>
                    <a:pt x="84885" y="0"/>
                  </a:lnTo>
                  <a:lnTo>
                    <a:pt x="912104" y="0"/>
                  </a:lnTo>
                  <a:lnTo>
                    <a:pt x="959199" y="14261"/>
                  </a:lnTo>
                  <a:lnTo>
                    <a:pt x="990528" y="52401"/>
                  </a:lnTo>
                  <a:lnTo>
                    <a:pt x="996989" y="84885"/>
                  </a:lnTo>
                  <a:lnTo>
                    <a:pt x="996989" y="424415"/>
                  </a:lnTo>
                  <a:lnTo>
                    <a:pt x="990319" y="457457"/>
                  </a:lnTo>
                  <a:lnTo>
                    <a:pt x="972127" y="484438"/>
                  </a:lnTo>
                  <a:lnTo>
                    <a:pt x="945145" y="502630"/>
                  </a:lnTo>
                  <a:lnTo>
                    <a:pt x="912104" y="5093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393372" y="3112012"/>
              <a:ext cx="997585" cy="509905"/>
            </a:xfrm>
            <a:custGeom>
              <a:avLst/>
              <a:gdLst/>
              <a:ahLst/>
              <a:cxnLst/>
              <a:rect l="l" t="t" r="r" b="b"/>
              <a:pathLst>
                <a:path w="997585" h="509904">
                  <a:moveTo>
                    <a:pt x="0" y="84885"/>
                  </a:moveTo>
                  <a:lnTo>
                    <a:pt x="6670" y="51844"/>
                  </a:lnTo>
                  <a:lnTo>
                    <a:pt x="24862" y="24862"/>
                  </a:lnTo>
                  <a:lnTo>
                    <a:pt x="51844" y="6670"/>
                  </a:lnTo>
                  <a:lnTo>
                    <a:pt x="84885" y="0"/>
                  </a:lnTo>
                  <a:lnTo>
                    <a:pt x="912104" y="0"/>
                  </a:lnTo>
                  <a:lnTo>
                    <a:pt x="959199" y="14261"/>
                  </a:lnTo>
                  <a:lnTo>
                    <a:pt x="990528" y="52401"/>
                  </a:lnTo>
                  <a:lnTo>
                    <a:pt x="996989" y="84885"/>
                  </a:lnTo>
                  <a:lnTo>
                    <a:pt x="996989" y="424415"/>
                  </a:lnTo>
                  <a:lnTo>
                    <a:pt x="990319" y="457457"/>
                  </a:lnTo>
                  <a:lnTo>
                    <a:pt x="972127" y="484438"/>
                  </a:lnTo>
                  <a:lnTo>
                    <a:pt x="945145" y="502630"/>
                  </a:lnTo>
                  <a:lnTo>
                    <a:pt x="912104" y="509300"/>
                  </a:lnTo>
                  <a:lnTo>
                    <a:pt x="84885" y="509300"/>
                  </a:lnTo>
                  <a:lnTo>
                    <a:pt x="51844" y="502630"/>
                  </a:lnTo>
                  <a:lnTo>
                    <a:pt x="24862" y="484438"/>
                  </a:lnTo>
                  <a:lnTo>
                    <a:pt x="6670" y="457457"/>
                  </a:lnTo>
                  <a:lnTo>
                    <a:pt x="0" y="424415"/>
                  </a:lnTo>
                  <a:lnTo>
                    <a:pt x="0" y="84885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637301" y="3242076"/>
            <a:ext cx="50990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Arial"/>
                <a:cs typeface="Arial"/>
              </a:rPr>
              <a:t>ETCD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547729" y="3105661"/>
            <a:ext cx="1094740" cy="522605"/>
            <a:chOff x="2547729" y="3105661"/>
            <a:chExt cx="1094740" cy="522605"/>
          </a:xfrm>
        </p:grpSpPr>
        <p:sp>
          <p:nvSpPr>
            <p:cNvPr id="20" name="object 20"/>
            <p:cNvSpPr/>
            <p:nvPr/>
          </p:nvSpPr>
          <p:spPr>
            <a:xfrm>
              <a:off x="2554079" y="3112011"/>
              <a:ext cx="1082040" cy="509905"/>
            </a:xfrm>
            <a:custGeom>
              <a:avLst/>
              <a:gdLst/>
              <a:ahLst/>
              <a:cxnLst/>
              <a:rect l="l" t="t" r="r" b="b"/>
              <a:pathLst>
                <a:path w="1082039" h="509904">
                  <a:moveTo>
                    <a:pt x="996863" y="509301"/>
                  </a:moveTo>
                  <a:lnTo>
                    <a:pt x="84885" y="509301"/>
                  </a:lnTo>
                  <a:lnTo>
                    <a:pt x="51844" y="502631"/>
                  </a:lnTo>
                  <a:lnTo>
                    <a:pt x="24862" y="484439"/>
                  </a:lnTo>
                  <a:lnTo>
                    <a:pt x="6670" y="457457"/>
                  </a:lnTo>
                  <a:lnTo>
                    <a:pt x="0" y="424416"/>
                  </a:lnTo>
                  <a:lnTo>
                    <a:pt x="0" y="84885"/>
                  </a:lnTo>
                  <a:lnTo>
                    <a:pt x="6670" y="51844"/>
                  </a:lnTo>
                  <a:lnTo>
                    <a:pt x="24862" y="24862"/>
                  </a:lnTo>
                  <a:lnTo>
                    <a:pt x="51844" y="6670"/>
                  </a:lnTo>
                  <a:lnTo>
                    <a:pt x="84885" y="0"/>
                  </a:lnTo>
                  <a:lnTo>
                    <a:pt x="996863" y="0"/>
                  </a:lnTo>
                  <a:lnTo>
                    <a:pt x="1043958" y="14261"/>
                  </a:lnTo>
                  <a:lnTo>
                    <a:pt x="1075287" y="52401"/>
                  </a:lnTo>
                  <a:lnTo>
                    <a:pt x="1081748" y="84885"/>
                  </a:lnTo>
                  <a:lnTo>
                    <a:pt x="1081748" y="424416"/>
                  </a:lnTo>
                  <a:lnTo>
                    <a:pt x="1075078" y="457457"/>
                  </a:lnTo>
                  <a:lnTo>
                    <a:pt x="1056886" y="484439"/>
                  </a:lnTo>
                  <a:lnTo>
                    <a:pt x="1029904" y="502631"/>
                  </a:lnTo>
                  <a:lnTo>
                    <a:pt x="996863" y="509301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554079" y="3112011"/>
              <a:ext cx="1082040" cy="509905"/>
            </a:xfrm>
            <a:custGeom>
              <a:avLst/>
              <a:gdLst/>
              <a:ahLst/>
              <a:cxnLst/>
              <a:rect l="l" t="t" r="r" b="b"/>
              <a:pathLst>
                <a:path w="1082039" h="509904">
                  <a:moveTo>
                    <a:pt x="0" y="84885"/>
                  </a:moveTo>
                  <a:lnTo>
                    <a:pt x="6670" y="51844"/>
                  </a:lnTo>
                  <a:lnTo>
                    <a:pt x="24862" y="24862"/>
                  </a:lnTo>
                  <a:lnTo>
                    <a:pt x="51844" y="6670"/>
                  </a:lnTo>
                  <a:lnTo>
                    <a:pt x="84885" y="0"/>
                  </a:lnTo>
                  <a:lnTo>
                    <a:pt x="996863" y="0"/>
                  </a:lnTo>
                  <a:lnTo>
                    <a:pt x="1043958" y="14261"/>
                  </a:lnTo>
                  <a:lnTo>
                    <a:pt x="1075287" y="52401"/>
                  </a:lnTo>
                  <a:lnTo>
                    <a:pt x="1081748" y="84885"/>
                  </a:lnTo>
                  <a:lnTo>
                    <a:pt x="1081748" y="424416"/>
                  </a:lnTo>
                  <a:lnTo>
                    <a:pt x="1075078" y="457457"/>
                  </a:lnTo>
                  <a:lnTo>
                    <a:pt x="1056886" y="484439"/>
                  </a:lnTo>
                  <a:lnTo>
                    <a:pt x="1029904" y="502631"/>
                  </a:lnTo>
                  <a:lnTo>
                    <a:pt x="996863" y="509301"/>
                  </a:lnTo>
                  <a:lnTo>
                    <a:pt x="84885" y="509301"/>
                  </a:lnTo>
                  <a:lnTo>
                    <a:pt x="51844" y="502631"/>
                  </a:lnTo>
                  <a:lnTo>
                    <a:pt x="24862" y="484439"/>
                  </a:lnTo>
                  <a:lnTo>
                    <a:pt x="6670" y="457457"/>
                  </a:lnTo>
                  <a:lnTo>
                    <a:pt x="0" y="424416"/>
                  </a:lnTo>
                  <a:lnTo>
                    <a:pt x="0" y="84885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2697091" y="3137300"/>
            <a:ext cx="796290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46990" marR="5080" indent="-34925">
              <a:lnSpc>
                <a:spcPts val="1650"/>
              </a:lnSpc>
              <a:spcBef>
                <a:spcPts val="180"/>
              </a:spcBef>
            </a:pP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Controller Manager</a:t>
            </a:r>
            <a:endParaRPr sz="14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554079" y="2315029"/>
            <a:ext cx="1082040" cy="501015"/>
          </a:xfrm>
          <a:prstGeom prst="rect">
            <a:avLst/>
          </a:prstGeom>
          <a:solidFill>
            <a:srgbClr val="92D050"/>
          </a:solidFill>
          <a:ln w="12699">
            <a:solidFill>
              <a:srgbClr val="127BB4"/>
            </a:solidFill>
          </a:ln>
        </p:spPr>
        <p:txBody>
          <a:bodyPr vert="horz" wrap="square" lIns="0" tIns="138430" rIns="0" bIns="0" rtlCol="0">
            <a:spAutoFit/>
          </a:bodyPr>
          <a:lstStyle/>
          <a:p>
            <a:pPr marL="111125">
              <a:lnSpc>
                <a:spcPct val="100000"/>
              </a:lnSpc>
              <a:spcBef>
                <a:spcPts val="1090"/>
              </a:spcBef>
            </a:pP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API</a:t>
            </a:r>
            <a:r>
              <a:rPr sz="14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Server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5320393" y="1490108"/>
            <a:ext cx="930910" cy="387350"/>
            <a:chOff x="5320393" y="1490108"/>
            <a:chExt cx="930910" cy="387350"/>
          </a:xfrm>
        </p:grpSpPr>
        <p:sp>
          <p:nvSpPr>
            <p:cNvPr id="25" name="object 25"/>
            <p:cNvSpPr/>
            <p:nvPr/>
          </p:nvSpPr>
          <p:spPr>
            <a:xfrm>
              <a:off x="5326743" y="1496458"/>
              <a:ext cx="918210" cy="374650"/>
            </a:xfrm>
            <a:custGeom>
              <a:avLst/>
              <a:gdLst/>
              <a:ahLst/>
              <a:cxnLst/>
              <a:rect l="l" t="t" r="r" b="b"/>
              <a:pathLst>
                <a:path w="918210" h="374650">
                  <a:moveTo>
                    <a:pt x="855192" y="374394"/>
                  </a:moveTo>
                  <a:lnTo>
                    <a:pt x="62400" y="374394"/>
                  </a:lnTo>
                  <a:lnTo>
                    <a:pt x="38111" y="369491"/>
                  </a:lnTo>
                  <a:lnTo>
                    <a:pt x="18276" y="356118"/>
                  </a:lnTo>
                  <a:lnTo>
                    <a:pt x="4903" y="336283"/>
                  </a:lnTo>
                  <a:lnTo>
                    <a:pt x="0" y="311994"/>
                  </a:lnTo>
                  <a:lnTo>
                    <a:pt x="0" y="62400"/>
                  </a:lnTo>
                  <a:lnTo>
                    <a:pt x="4821" y="38520"/>
                  </a:lnTo>
                  <a:lnTo>
                    <a:pt x="4903" y="38111"/>
                  </a:lnTo>
                  <a:lnTo>
                    <a:pt x="18276" y="18276"/>
                  </a:lnTo>
                  <a:lnTo>
                    <a:pt x="38111" y="4903"/>
                  </a:lnTo>
                  <a:lnTo>
                    <a:pt x="62400" y="0"/>
                  </a:lnTo>
                  <a:lnTo>
                    <a:pt x="855192" y="0"/>
                  </a:lnTo>
                  <a:lnTo>
                    <a:pt x="899316" y="18276"/>
                  </a:lnTo>
                  <a:lnTo>
                    <a:pt x="917592" y="62400"/>
                  </a:lnTo>
                  <a:lnTo>
                    <a:pt x="917592" y="311994"/>
                  </a:lnTo>
                  <a:lnTo>
                    <a:pt x="912689" y="336283"/>
                  </a:lnTo>
                  <a:lnTo>
                    <a:pt x="899316" y="356118"/>
                  </a:lnTo>
                  <a:lnTo>
                    <a:pt x="879481" y="369491"/>
                  </a:lnTo>
                  <a:lnTo>
                    <a:pt x="855192" y="374394"/>
                  </a:lnTo>
                  <a:close/>
                </a:path>
              </a:pathLst>
            </a:custGeom>
            <a:solidFill>
              <a:srgbClr val="4008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326743" y="1496458"/>
              <a:ext cx="918210" cy="374650"/>
            </a:xfrm>
            <a:custGeom>
              <a:avLst/>
              <a:gdLst/>
              <a:ahLst/>
              <a:cxnLst/>
              <a:rect l="l" t="t" r="r" b="b"/>
              <a:pathLst>
                <a:path w="918210" h="374650">
                  <a:moveTo>
                    <a:pt x="0" y="62400"/>
                  </a:moveTo>
                  <a:lnTo>
                    <a:pt x="4903" y="38111"/>
                  </a:lnTo>
                  <a:lnTo>
                    <a:pt x="18276" y="18276"/>
                  </a:lnTo>
                  <a:lnTo>
                    <a:pt x="38111" y="4903"/>
                  </a:lnTo>
                  <a:lnTo>
                    <a:pt x="62400" y="0"/>
                  </a:lnTo>
                  <a:lnTo>
                    <a:pt x="855192" y="0"/>
                  </a:lnTo>
                  <a:lnTo>
                    <a:pt x="899316" y="18276"/>
                  </a:lnTo>
                  <a:lnTo>
                    <a:pt x="917592" y="62400"/>
                  </a:lnTo>
                  <a:lnTo>
                    <a:pt x="917592" y="311994"/>
                  </a:lnTo>
                  <a:lnTo>
                    <a:pt x="912689" y="336283"/>
                  </a:lnTo>
                  <a:lnTo>
                    <a:pt x="899316" y="356118"/>
                  </a:lnTo>
                  <a:lnTo>
                    <a:pt x="879481" y="369491"/>
                  </a:lnTo>
                  <a:lnTo>
                    <a:pt x="855192" y="374394"/>
                  </a:lnTo>
                  <a:lnTo>
                    <a:pt x="62400" y="374394"/>
                  </a:lnTo>
                  <a:lnTo>
                    <a:pt x="38111" y="369491"/>
                  </a:lnTo>
                  <a:lnTo>
                    <a:pt x="18276" y="356118"/>
                  </a:lnTo>
                  <a:lnTo>
                    <a:pt x="4903" y="336283"/>
                  </a:lnTo>
                  <a:lnTo>
                    <a:pt x="0" y="311994"/>
                  </a:lnTo>
                  <a:lnTo>
                    <a:pt x="0" y="6240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5428336" y="1539003"/>
            <a:ext cx="71374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solidFill>
                  <a:srgbClr val="FFFFFF"/>
                </a:solidFill>
                <a:latin typeface="Arial"/>
                <a:cs typeface="Arial"/>
              </a:rPr>
              <a:t>Kubelet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3681866" y="1629904"/>
            <a:ext cx="1585595" cy="864235"/>
            <a:chOff x="3681866" y="1629904"/>
            <a:chExt cx="1585595" cy="864235"/>
          </a:xfrm>
        </p:grpSpPr>
        <p:sp>
          <p:nvSpPr>
            <p:cNvPr id="29" name="object 29"/>
            <p:cNvSpPr/>
            <p:nvPr/>
          </p:nvSpPr>
          <p:spPr>
            <a:xfrm>
              <a:off x="3686628" y="1650400"/>
              <a:ext cx="1532255" cy="838835"/>
            </a:xfrm>
            <a:custGeom>
              <a:avLst/>
              <a:gdLst/>
              <a:ahLst/>
              <a:cxnLst/>
              <a:rect l="l" t="t" r="r" b="b"/>
              <a:pathLst>
                <a:path w="1532254" h="838835">
                  <a:moveTo>
                    <a:pt x="0" y="838799"/>
                  </a:moveTo>
                  <a:lnTo>
                    <a:pt x="794699" y="838799"/>
                  </a:lnTo>
                  <a:lnTo>
                    <a:pt x="794699" y="0"/>
                  </a:lnTo>
                  <a:lnTo>
                    <a:pt x="1532249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218878" y="163466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218878" y="163466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2" name="object 32"/>
          <p:cNvGrpSpPr/>
          <p:nvPr/>
        </p:nvGrpSpPr>
        <p:grpSpPr>
          <a:xfrm>
            <a:off x="6371080" y="1471315"/>
            <a:ext cx="1386205" cy="406400"/>
            <a:chOff x="6371080" y="1471315"/>
            <a:chExt cx="1386205" cy="406400"/>
          </a:xfrm>
        </p:grpSpPr>
        <p:sp>
          <p:nvSpPr>
            <p:cNvPr id="33" name="object 33"/>
            <p:cNvSpPr/>
            <p:nvPr/>
          </p:nvSpPr>
          <p:spPr>
            <a:xfrm>
              <a:off x="6377430" y="1477665"/>
              <a:ext cx="1373505" cy="393700"/>
            </a:xfrm>
            <a:custGeom>
              <a:avLst/>
              <a:gdLst/>
              <a:ahLst/>
              <a:cxnLst/>
              <a:rect l="l" t="t" r="r" b="b"/>
              <a:pathLst>
                <a:path w="1373504" h="393700">
                  <a:moveTo>
                    <a:pt x="1307665" y="393189"/>
                  </a:moveTo>
                  <a:lnTo>
                    <a:pt x="65532" y="393189"/>
                  </a:lnTo>
                  <a:lnTo>
                    <a:pt x="40024" y="388039"/>
                  </a:lnTo>
                  <a:lnTo>
                    <a:pt x="19194" y="373994"/>
                  </a:lnTo>
                  <a:lnTo>
                    <a:pt x="5149" y="353164"/>
                  </a:lnTo>
                  <a:lnTo>
                    <a:pt x="0" y="327656"/>
                  </a:lnTo>
                  <a:lnTo>
                    <a:pt x="0" y="65532"/>
                  </a:lnTo>
                  <a:lnTo>
                    <a:pt x="5149" y="40024"/>
                  </a:lnTo>
                  <a:lnTo>
                    <a:pt x="19194" y="19194"/>
                  </a:lnTo>
                  <a:lnTo>
                    <a:pt x="40024" y="5149"/>
                  </a:lnTo>
                  <a:lnTo>
                    <a:pt x="65532" y="0"/>
                  </a:lnTo>
                  <a:lnTo>
                    <a:pt x="1307665" y="0"/>
                  </a:lnTo>
                  <a:lnTo>
                    <a:pt x="1354004" y="19194"/>
                  </a:lnTo>
                  <a:lnTo>
                    <a:pt x="1373198" y="65532"/>
                  </a:lnTo>
                  <a:lnTo>
                    <a:pt x="1373198" y="327656"/>
                  </a:lnTo>
                  <a:lnTo>
                    <a:pt x="1368048" y="353164"/>
                  </a:lnTo>
                  <a:lnTo>
                    <a:pt x="1354004" y="373994"/>
                  </a:lnTo>
                  <a:lnTo>
                    <a:pt x="1333173" y="388039"/>
                  </a:lnTo>
                  <a:lnTo>
                    <a:pt x="1307665" y="393189"/>
                  </a:lnTo>
                  <a:close/>
                </a:path>
              </a:pathLst>
            </a:custGeom>
            <a:solidFill>
              <a:srgbClr val="4008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377430" y="1477665"/>
              <a:ext cx="1373505" cy="393700"/>
            </a:xfrm>
            <a:custGeom>
              <a:avLst/>
              <a:gdLst/>
              <a:ahLst/>
              <a:cxnLst/>
              <a:rect l="l" t="t" r="r" b="b"/>
              <a:pathLst>
                <a:path w="1373504" h="393700">
                  <a:moveTo>
                    <a:pt x="0" y="65532"/>
                  </a:moveTo>
                  <a:lnTo>
                    <a:pt x="5149" y="40024"/>
                  </a:lnTo>
                  <a:lnTo>
                    <a:pt x="19194" y="19194"/>
                  </a:lnTo>
                  <a:lnTo>
                    <a:pt x="40024" y="5149"/>
                  </a:lnTo>
                  <a:lnTo>
                    <a:pt x="65532" y="0"/>
                  </a:lnTo>
                  <a:lnTo>
                    <a:pt x="1307665" y="0"/>
                  </a:lnTo>
                  <a:lnTo>
                    <a:pt x="1354004" y="19194"/>
                  </a:lnTo>
                  <a:lnTo>
                    <a:pt x="1373198" y="65532"/>
                  </a:lnTo>
                  <a:lnTo>
                    <a:pt x="1373198" y="327656"/>
                  </a:lnTo>
                  <a:lnTo>
                    <a:pt x="1368048" y="353164"/>
                  </a:lnTo>
                  <a:lnTo>
                    <a:pt x="1354004" y="373994"/>
                  </a:lnTo>
                  <a:lnTo>
                    <a:pt x="1333173" y="388039"/>
                  </a:lnTo>
                  <a:lnTo>
                    <a:pt x="1307665" y="393189"/>
                  </a:lnTo>
                  <a:lnTo>
                    <a:pt x="65532" y="393189"/>
                  </a:lnTo>
                  <a:lnTo>
                    <a:pt x="40024" y="388039"/>
                  </a:lnTo>
                  <a:lnTo>
                    <a:pt x="19194" y="373994"/>
                  </a:lnTo>
                  <a:lnTo>
                    <a:pt x="5149" y="353164"/>
                  </a:lnTo>
                  <a:lnTo>
                    <a:pt x="0" y="327656"/>
                  </a:lnTo>
                  <a:lnTo>
                    <a:pt x="0" y="65532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6531897" y="1529606"/>
            <a:ext cx="106489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FFFFFF"/>
                </a:solidFill>
                <a:latin typeface="Arial"/>
                <a:cs typeface="Arial"/>
              </a:rPr>
              <a:t>Kube-</a:t>
            </a:r>
            <a:r>
              <a:rPr sz="1600" spc="-10" dirty="0">
                <a:solidFill>
                  <a:srgbClr val="FFFFFF"/>
                </a:solidFill>
                <a:latin typeface="Arial"/>
                <a:cs typeface="Arial"/>
              </a:rPr>
              <a:t>proxy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5965857" y="169622"/>
            <a:ext cx="1797685" cy="859155"/>
            <a:chOff x="5965857" y="169622"/>
            <a:chExt cx="1797685" cy="859155"/>
          </a:xfrm>
        </p:grpSpPr>
        <p:sp>
          <p:nvSpPr>
            <p:cNvPr id="37" name="object 37"/>
            <p:cNvSpPr/>
            <p:nvPr/>
          </p:nvSpPr>
          <p:spPr>
            <a:xfrm>
              <a:off x="7409542" y="681659"/>
              <a:ext cx="306070" cy="6350"/>
            </a:xfrm>
            <a:custGeom>
              <a:avLst/>
              <a:gdLst/>
              <a:ahLst/>
              <a:cxnLst/>
              <a:rect l="l" t="t" r="r" b="b"/>
              <a:pathLst>
                <a:path w="306070" h="6350">
                  <a:moveTo>
                    <a:pt x="0" y="6114"/>
                  </a:moveTo>
                  <a:lnTo>
                    <a:pt x="305718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7714946" y="665930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628" y="31459"/>
                  </a:moveTo>
                  <a:lnTo>
                    <a:pt x="0" y="0"/>
                  </a:lnTo>
                  <a:lnTo>
                    <a:pt x="43530" y="14865"/>
                  </a:lnTo>
                  <a:lnTo>
                    <a:pt x="628" y="31459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7714946" y="665930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628" y="31459"/>
                  </a:moveTo>
                  <a:lnTo>
                    <a:pt x="43530" y="14865"/>
                  </a:lnTo>
                  <a:lnTo>
                    <a:pt x="0" y="0"/>
                  </a:lnTo>
                  <a:lnTo>
                    <a:pt x="628" y="31459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7409542" y="680516"/>
              <a:ext cx="7620" cy="343535"/>
            </a:xfrm>
            <a:custGeom>
              <a:avLst/>
              <a:gdLst/>
              <a:ahLst/>
              <a:cxnLst/>
              <a:rect l="l" t="t" r="r" b="b"/>
              <a:pathLst>
                <a:path w="7620" h="343534">
                  <a:moveTo>
                    <a:pt x="0" y="0"/>
                  </a:moveTo>
                  <a:lnTo>
                    <a:pt x="7256" y="343064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972207" y="175972"/>
              <a:ext cx="1436370" cy="513715"/>
            </a:xfrm>
            <a:custGeom>
              <a:avLst/>
              <a:gdLst/>
              <a:ahLst/>
              <a:cxnLst/>
              <a:rect l="l" t="t" r="r" b="b"/>
              <a:pathLst>
                <a:path w="1436370" h="513715">
                  <a:moveTo>
                    <a:pt x="1238256" y="27692"/>
                  </a:moveTo>
                  <a:lnTo>
                    <a:pt x="992721" y="27692"/>
                  </a:lnTo>
                  <a:lnTo>
                    <a:pt x="1027091" y="12907"/>
                  </a:lnTo>
                  <a:lnTo>
                    <a:pt x="1067813" y="3545"/>
                  </a:lnTo>
                  <a:lnTo>
                    <a:pt x="1112277" y="0"/>
                  </a:lnTo>
                  <a:lnTo>
                    <a:pt x="1157873" y="2667"/>
                  </a:lnTo>
                  <a:lnTo>
                    <a:pt x="1200085" y="11448"/>
                  </a:lnTo>
                  <a:lnTo>
                    <a:pt x="1234902" y="25330"/>
                  </a:lnTo>
                  <a:lnTo>
                    <a:pt x="1238256" y="27692"/>
                  </a:lnTo>
                  <a:close/>
                </a:path>
                <a:path w="1436370" h="513715">
                  <a:moveTo>
                    <a:pt x="1254317" y="39001"/>
                  </a:moveTo>
                  <a:lnTo>
                    <a:pt x="747350" y="39001"/>
                  </a:lnTo>
                  <a:lnTo>
                    <a:pt x="767935" y="24045"/>
                  </a:lnTo>
                  <a:lnTo>
                    <a:pt x="795143" y="12265"/>
                  </a:lnTo>
                  <a:lnTo>
                    <a:pt x="827515" y="4149"/>
                  </a:lnTo>
                  <a:lnTo>
                    <a:pt x="863587" y="185"/>
                  </a:lnTo>
                  <a:lnTo>
                    <a:pt x="900546" y="783"/>
                  </a:lnTo>
                  <a:lnTo>
                    <a:pt x="935471" y="5798"/>
                  </a:lnTo>
                  <a:lnTo>
                    <a:pt x="966737" y="14882"/>
                  </a:lnTo>
                  <a:lnTo>
                    <a:pt x="992721" y="27692"/>
                  </a:lnTo>
                  <a:lnTo>
                    <a:pt x="1238256" y="27692"/>
                  </a:lnTo>
                  <a:lnTo>
                    <a:pt x="1254317" y="39001"/>
                  </a:lnTo>
                  <a:close/>
                </a:path>
                <a:path w="1436370" h="513715">
                  <a:moveTo>
                    <a:pt x="1271910" y="60044"/>
                  </a:moveTo>
                  <a:lnTo>
                    <a:pt x="466258" y="60044"/>
                  </a:lnTo>
                  <a:lnTo>
                    <a:pt x="487036" y="45416"/>
                  </a:lnTo>
                  <a:lnTo>
                    <a:pt x="556042" y="20550"/>
                  </a:lnTo>
                  <a:lnTo>
                    <a:pt x="595966" y="15179"/>
                  </a:lnTo>
                  <a:lnTo>
                    <a:pt x="637359" y="14462"/>
                  </a:lnTo>
                  <a:lnTo>
                    <a:pt x="677449" y="18360"/>
                  </a:lnTo>
                  <a:lnTo>
                    <a:pt x="714643" y="26623"/>
                  </a:lnTo>
                  <a:lnTo>
                    <a:pt x="747350" y="39001"/>
                  </a:lnTo>
                  <a:lnTo>
                    <a:pt x="1254317" y="39001"/>
                  </a:lnTo>
                  <a:lnTo>
                    <a:pt x="1260475" y="43336"/>
                  </a:lnTo>
                  <a:lnTo>
                    <a:pt x="1271910" y="60044"/>
                  </a:lnTo>
                  <a:close/>
                </a:path>
                <a:path w="1436370" h="513715">
                  <a:moveTo>
                    <a:pt x="402266" y="482737"/>
                  </a:moveTo>
                  <a:lnTo>
                    <a:pt x="351626" y="478883"/>
                  </a:lnTo>
                  <a:lnTo>
                    <a:pt x="303562" y="470198"/>
                  </a:lnTo>
                  <a:lnTo>
                    <a:pt x="260383" y="457172"/>
                  </a:lnTo>
                  <a:lnTo>
                    <a:pt x="223296" y="440256"/>
                  </a:lnTo>
                  <a:lnTo>
                    <a:pt x="193504" y="419899"/>
                  </a:lnTo>
                  <a:lnTo>
                    <a:pt x="148988" y="419096"/>
                  </a:lnTo>
                  <a:lnTo>
                    <a:pt x="107943" y="411995"/>
                  </a:lnTo>
                  <a:lnTo>
                    <a:pt x="47147" y="381736"/>
                  </a:lnTo>
                  <a:lnTo>
                    <a:pt x="33044" y="340037"/>
                  </a:lnTo>
                  <a:lnTo>
                    <a:pt x="45629" y="319797"/>
                  </a:lnTo>
                  <a:lnTo>
                    <a:pt x="70721" y="301939"/>
                  </a:lnTo>
                  <a:lnTo>
                    <a:pt x="35449" y="287754"/>
                  </a:lnTo>
                  <a:lnTo>
                    <a:pt x="11426" y="269365"/>
                  </a:lnTo>
                  <a:lnTo>
                    <a:pt x="0" y="248271"/>
                  </a:lnTo>
                  <a:lnTo>
                    <a:pt x="2513" y="225971"/>
                  </a:lnTo>
                  <a:lnTo>
                    <a:pt x="19111" y="205165"/>
                  </a:lnTo>
                  <a:lnTo>
                    <a:pt x="47375" y="188280"/>
                  </a:lnTo>
                  <a:lnTo>
                    <a:pt x="84813" y="176408"/>
                  </a:lnTo>
                  <a:lnTo>
                    <a:pt x="128931" y="170641"/>
                  </a:lnTo>
                  <a:lnTo>
                    <a:pt x="130142" y="169041"/>
                  </a:lnTo>
                  <a:lnTo>
                    <a:pt x="130414" y="145981"/>
                  </a:lnTo>
                  <a:lnTo>
                    <a:pt x="130505" y="138319"/>
                  </a:lnTo>
                  <a:lnTo>
                    <a:pt x="147963" y="109384"/>
                  </a:lnTo>
                  <a:lnTo>
                    <a:pt x="181004" y="83869"/>
                  </a:lnTo>
                  <a:lnTo>
                    <a:pt x="228114" y="63405"/>
                  </a:lnTo>
                  <a:lnTo>
                    <a:pt x="273225" y="52121"/>
                  </a:lnTo>
                  <a:lnTo>
                    <a:pt x="321478" y="46115"/>
                  </a:lnTo>
                  <a:lnTo>
                    <a:pt x="370990" y="45416"/>
                  </a:lnTo>
                  <a:lnTo>
                    <a:pt x="419877" y="50050"/>
                  </a:lnTo>
                  <a:lnTo>
                    <a:pt x="466258" y="60044"/>
                  </a:lnTo>
                  <a:lnTo>
                    <a:pt x="1271910" y="60044"/>
                  </a:lnTo>
                  <a:lnTo>
                    <a:pt x="1274953" y="64489"/>
                  </a:lnTo>
                  <a:lnTo>
                    <a:pt x="1310388" y="71254"/>
                  </a:lnTo>
                  <a:lnTo>
                    <a:pt x="1341720" y="81417"/>
                  </a:lnTo>
                  <a:lnTo>
                    <a:pt x="1367951" y="94572"/>
                  </a:lnTo>
                  <a:lnTo>
                    <a:pt x="1388081" y="110315"/>
                  </a:lnTo>
                  <a:lnTo>
                    <a:pt x="1400862" y="127788"/>
                  </a:lnTo>
                  <a:lnTo>
                    <a:pt x="1405691" y="145981"/>
                  </a:lnTo>
                  <a:lnTo>
                    <a:pt x="1402540" y="164262"/>
                  </a:lnTo>
                  <a:lnTo>
                    <a:pt x="1391380" y="181997"/>
                  </a:lnTo>
                  <a:lnTo>
                    <a:pt x="1420892" y="206852"/>
                  </a:lnTo>
                  <a:lnTo>
                    <a:pt x="1435990" y="234120"/>
                  </a:lnTo>
                  <a:lnTo>
                    <a:pt x="1436278" y="262358"/>
                  </a:lnTo>
                  <a:lnTo>
                    <a:pt x="1421354" y="290128"/>
                  </a:lnTo>
                  <a:lnTo>
                    <a:pt x="1392130" y="315064"/>
                  </a:lnTo>
                  <a:lnTo>
                    <a:pt x="1351354" y="335164"/>
                  </a:lnTo>
                  <a:lnTo>
                    <a:pt x="1301379" y="349534"/>
                  </a:lnTo>
                  <a:lnTo>
                    <a:pt x="1244561" y="357280"/>
                  </a:lnTo>
                  <a:lnTo>
                    <a:pt x="1237388" y="381736"/>
                  </a:lnTo>
                  <a:lnTo>
                    <a:pt x="1237322" y="381962"/>
                  </a:lnTo>
                  <a:lnTo>
                    <a:pt x="1217361" y="404476"/>
                  </a:lnTo>
                  <a:lnTo>
                    <a:pt x="1186059" y="423697"/>
                  </a:lnTo>
                  <a:lnTo>
                    <a:pt x="1152140" y="435869"/>
                  </a:lnTo>
                  <a:lnTo>
                    <a:pt x="950248" y="435869"/>
                  </a:lnTo>
                  <a:lnTo>
                    <a:pt x="923287" y="464071"/>
                  </a:lnTo>
                  <a:lnTo>
                    <a:pt x="921607" y="465008"/>
                  </a:lnTo>
                  <a:lnTo>
                    <a:pt x="548593" y="465008"/>
                  </a:lnTo>
                  <a:lnTo>
                    <a:pt x="502251" y="475693"/>
                  </a:lnTo>
                  <a:lnTo>
                    <a:pt x="452975" y="481638"/>
                  </a:lnTo>
                  <a:lnTo>
                    <a:pt x="402266" y="482737"/>
                  </a:lnTo>
                  <a:close/>
                </a:path>
                <a:path w="1436370" h="513715">
                  <a:moveTo>
                    <a:pt x="1046785" y="450024"/>
                  </a:moveTo>
                  <a:lnTo>
                    <a:pt x="996988" y="446138"/>
                  </a:lnTo>
                  <a:lnTo>
                    <a:pt x="950248" y="435869"/>
                  </a:lnTo>
                  <a:lnTo>
                    <a:pt x="1152140" y="435869"/>
                  </a:lnTo>
                  <a:lnTo>
                    <a:pt x="1144794" y="438505"/>
                  </a:lnTo>
                  <a:lnTo>
                    <a:pt x="1096950" y="447492"/>
                  </a:lnTo>
                  <a:lnTo>
                    <a:pt x="1046785" y="450024"/>
                  </a:lnTo>
                  <a:close/>
                </a:path>
                <a:path w="1436370" h="513715">
                  <a:moveTo>
                    <a:pt x="717129" y="513323"/>
                  </a:moveTo>
                  <a:lnTo>
                    <a:pt x="667776" y="508610"/>
                  </a:lnTo>
                  <a:lnTo>
                    <a:pt x="622053" y="498731"/>
                  </a:lnTo>
                  <a:lnTo>
                    <a:pt x="581734" y="484069"/>
                  </a:lnTo>
                  <a:lnTo>
                    <a:pt x="548593" y="465008"/>
                  </a:lnTo>
                  <a:lnTo>
                    <a:pt x="921607" y="465008"/>
                  </a:lnTo>
                  <a:lnTo>
                    <a:pt x="882069" y="487047"/>
                  </a:lnTo>
                  <a:lnTo>
                    <a:pt x="829462" y="503588"/>
                  </a:lnTo>
                  <a:lnTo>
                    <a:pt x="768336" y="512486"/>
                  </a:lnTo>
                  <a:lnTo>
                    <a:pt x="717129" y="513323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972207" y="175972"/>
              <a:ext cx="1436370" cy="513715"/>
            </a:xfrm>
            <a:custGeom>
              <a:avLst/>
              <a:gdLst/>
              <a:ahLst/>
              <a:cxnLst/>
              <a:rect l="l" t="t" r="r" b="b"/>
              <a:pathLst>
                <a:path w="1436370" h="513715">
                  <a:moveTo>
                    <a:pt x="130142" y="169041"/>
                  </a:moveTo>
                  <a:lnTo>
                    <a:pt x="130505" y="138319"/>
                  </a:lnTo>
                  <a:lnTo>
                    <a:pt x="147963" y="109384"/>
                  </a:lnTo>
                  <a:lnTo>
                    <a:pt x="181004" y="83869"/>
                  </a:lnTo>
                  <a:lnTo>
                    <a:pt x="228114" y="63405"/>
                  </a:lnTo>
                  <a:lnTo>
                    <a:pt x="273225" y="52121"/>
                  </a:lnTo>
                  <a:lnTo>
                    <a:pt x="321478" y="46115"/>
                  </a:lnTo>
                  <a:lnTo>
                    <a:pt x="370990" y="45416"/>
                  </a:lnTo>
                  <a:lnTo>
                    <a:pt x="419877" y="50050"/>
                  </a:lnTo>
                  <a:lnTo>
                    <a:pt x="466258" y="60044"/>
                  </a:lnTo>
                  <a:lnTo>
                    <a:pt x="520207" y="30132"/>
                  </a:lnTo>
                  <a:lnTo>
                    <a:pt x="595966" y="15179"/>
                  </a:lnTo>
                  <a:lnTo>
                    <a:pt x="637359" y="14462"/>
                  </a:lnTo>
                  <a:lnTo>
                    <a:pt x="677449" y="18360"/>
                  </a:lnTo>
                  <a:lnTo>
                    <a:pt x="714643" y="26623"/>
                  </a:lnTo>
                  <a:lnTo>
                    <a:pt x="747350" y="39001"/>
                  </a:lnTo>
                  <a:lnTo>
                    <a:pt x="767935" y="24045"/>
                  </a:lnTo>
                  <a:lnTo>
                    <a:pt x="795144" y="12265"/>
                  </a:lnTo>
                  <a:lnTo>
                    <a:pt x="827515" y="4149"/>
                  </a:lnTo>
                  <a:lnTo>
                    <a:pt x="863587" y="185"/>
                  </a:lnTo>
                  <a:lnTo>
                    <a:pt x="900546" y="783"/>
                  </a:lnTo>
                  <a:lnTo>
                    <a:pt x="935471" y="5798"/>
                  </a:lnTo>
                  <a:lnTo>
                    <a:pt x="966737" y="14882"/>
                  </a:lnTo>
                  <a:lnTo>
                    <a:pt x="992721" y="27692"/>
                  </a:lnTo>
                  <a:lnTo>
                    <a:pt x="1027091" y="12907"/>
                  </a:lnTo>
                  <a:lnTo>
                    <a:pt x="1067813" y="3545"/>
                  </a:lnTo>
                  <a:lnTo>
                    <a:pt x="1112277" y="0"/>
                  </a:lnTo>
                  <a:lnTo>
                    <a:pt x="1157873" y="2667"/>
                  </a:lnTo>
                  <a:lnTo>
                    <a:pt x="1200085" y="11448"/>
                  </a:lnTo>
                  <a:lnTo>
                    <a:pt x="1234902" y="25330"/>
                  </a:lnTo>
                  <a:lnTo>
                    <a:pt x="1260475" y="43336"/>
                  </a:lnTo>
                  <a:lnTo>
                    <a:pt x="1274953" y="64489"/>
                  </a:lnTo>
                  <a:lnTo>
                    <a:pt x="1341720" y="81417"/>
                  </a:lnTo>
                  <a:lnTo>
                    <a:pt x="1388081" y="110315"/>
                  </a:lnTo>
                  <a:lnTo>
                    <a:pt x="1405691" y="145981"/>
                  </a:lnTo>
                  <a:lnTo>
                    <a:pt x="1402540" y="164262"/>
                  </a:lnTo>
                  <a:lnTo>
                    <a:pt x="1391380" y="181997"/>
                  </a:lnTo>
                  <a:lnTo>
                    <a:pt x="1420892" y="206852"/>
                  </a:lnTo>
                  <a:lnTo>
                    <a:pt x="1435990" y="234120"/>
                  </a:lnTo>
                  <a:lnTo>
                    <a:pt x="1436278" y="262358"/>
                  </a:lnTo>
                  <a:lnTo>
                    <a:pt x="1421354" y="290128"/>
                  </a:lnTo>
                  <a:lnTo>
                    <a:pt x="1392130" y="315064"/>
                  </a:lnTo>
                  <a:lnTo>
                    <a:pt x="1351354" y="335164"/>
                  </a:lnTo>
                  <a:lnTo>
                    <a:pt x="1301379" y="349534"/>
                  </a:lnTo>
                  <a:lnTo>
                    <a:pt x="1244561" y="357280"/>
                  </a:lnTo>
                  <a:lnTo>
                    <a:pt x="1237322" y="381962"/>
                  </a:lnTo>
                  <a:lnTo>
                    <a:pt x="1186059" y="423697"/>
                  </a:lnTo>
                  <a:lnTo>
                    <a:pt x="1144794" y="438505"/>
                  </a:lnTo>
                  <a:lnTo>
                    <a:pt x="1096950" y="447492"/>
                  </a:lnTo>
                  <a:lnTo>
                    <a:pt x="1046785" y="450024"/>
                  </a:lnTo>
                  <a:lnTo>
                    <a:pt x="996988" y="446138"/>
                  </a:lnTo>
                  <a:lnTo>
                    <a:pt x="950248" y="435869"/>
                  </a:lnTo>
                  <a:lnTo>
                    <a:pt x="923287" y="464071"/>
                  </a:lnTo>
                  <a:lnTo>
                    <a:pt x="882069" y="487047"/>
                  </a:lnTo>
                  <a:lnTo>
                    <a:pt x="829462" y="503588"/>
                  </a:lnTo>
                  <a:lnTo>
                    <a:pt x="768336" y="512486"/>
                  </a:lnTo>
                  <a:lnTo>
                    <a:pt x="717129" y="513323"/>
                  </a:lnTo>
                  <a:lnTo>
                    <a:pt x="667776" y="508610"/>
                  </a:lnTo>
                  <a:lnTo>
                    <a:pt x="622053" y="498731"/>
                  </a:lnTo>
                  <a:lnTo>
                    <a:pt x="581734" y="484069"/>
                  </a:lnTo>
                  <a:lnTo>
                    <a:pt x="548593" y="465008"/>
                  </a:lnTo>
                  <a:lnTo>
                    <a:pt x="502251" y="475693"/>
                  </a:lnTo>
                  <a:lnTo>
                    <a:pt x="452975" y="481638"/>
                  </a:lnTo>
                  <a:lnTo>
                    <a:pt x="402266" y="482737"/>
                  </a:lnTo>
                  <a:lnTo>
                    <a:pt x="351626" y="478883"/>
                  </a:lnTo>
                  <a:lnTo>
                    <a:pt x="303562" y="470198"/>
                  </a:lnTo>
                  <a:lnTo>
                    <a:pt x="260383" y="457172"/>
                  </a:lnTo>
                  <a:lnTo>
                    <a:pt x="223296" y="440256"/>
                  </a:lnTo>
                  <a:lnTo>
                    <a:pt x="193504" y="419899"/>
                  </a:lnTo>
                  <a:lnTo>
                    <a:pt x="148988" y="419096"/>
                  </a:lnTo>
                  <a:lnTo>
                    <a:pt x="107943" y="411995"/>
                  </a:lnTo>
                  <a:lnTo>
                    <a:pt x="47147" y="381736"/>
                  </a:lnTo>
                  <a:lnTo>
                    <a:pt x="33044" y="340037"/>
                  </a:lnTo>
                  <a:lnTo>
                    <a:pt x="45629" y="319797"/>
                  </a:lnTo>
                  <a:lnTo>
                    <a:pt x="70721" y="301939"/>
                  </a:lnTo>
                  <a:lnTo>
                    <a:pt x="35449" y="287754"/>
                  </a:lnTo>
                  <a:lnTo>
                    <a:pt x="11426" y="269365"/>
                  </a:lnTo>
                  <a:lnTo>
                    <a:pt x="0" y="248271"/>
                  </a:lnTo>
                  <a:lnTo>
                    <a:pt x="2513" y="225971"/>
                  </a:lnTo>
                  <a:lnTo>
                    <a:pt x="19111" y="205165"/>
                  </a:lnTo>
                  <a:lnTo>
                    <a:pt x="47375" y="188280"/>
                  </a:lnTo>
                  <a:lnTo>
                    <a:pt x="84813" y="176408"/>
                  </a:lnTo>
                  <a:lnTo>
                    <a:pt x="128931" y="170641"/>
                  </a:lnTo>
                  <a:lnTo>
                    <a:pt x="130142" y="169041"/>
                  </a:lnTo>
                  <a:close/>
                </a:path>
                <a:path w="1436370" h="513715">
                  <a:moveTo>
                    <a:pt x="70736" y="301936"/>
                  </a:moveTo>
                  <a:lnTo>
                    <a:pt x="90503" y="306649"/>
                  </a:lnTo>
                  <a:lnTo>
                    <a:pt x="111381" y="309827"/>
                  </a:lnTo>
                  <a:lnTo>
                    <a:pt x="133001" y="311429"/>
                  </a:lnTo>
                  <a:lnTo>
                    <a:pt x="154992" y="311412"/>
                  </a:lnTo>
                </a:path>
                <a:path w="1436370" h="513715">
                  <a:moveTo>
                    <a:pt x="193506" y="419899"/>
                  </a:moveTo>
                  <a:lnTo>
                    <a:pt x="202938" y="419208"/>
                  </a:lnTo>
                  <a:lnTo>
                    <a:pt x="212245" y="418220"/>
                  </a:lnTo>
                  <a:lnTo>
                    <a:pt x="221399" y="416937"/>
                  </a:lnTo>
                  <a:lnTo>
                    <a:pt x="230370" y="415364"/>
                  </a:lnTo>
                </a:path>
                <a:path w="1436370" h="513715">
                  <a:moveTo>
                    <a:pt x="548577" y="465005"/>
                  </a:moveTo>
                  <a:lnTo>
                    <a:pt x="542180" y="460056"/>
                  </a:lnTo>
                  <a:lnTo>
                    <a:pt x="536338" y="454951"/>
                  </a:lnTo>
                  <a:lnTo>
                    <a:pt x="531062" y="449702"/>
                  </a:lnTo>
                  <a:lnTo>
                    <a:pt x="526365" y="444318"/>
                  </a:lnTo>
                </a:path>
                <a:path w="1436370" h="513715">
                  <a:moveTo>
                    <a:pt x="950248" y="435866"/>
                  </a:moveTo>
                  <a:lnTo>
                    <a:pt x="954836" y="428473"/>
                  </a:lnTo>
                  <a:lnTo>
                    <a:pt x="957810" y="420864"/>
                  </a:lnTo>
                  <a:lnTo>
                    <a:pt x="959117" y="413166"/>
                  </a:lnTo>
                </a:path>
                <a:path w="1436370" h="513715">
                  <a:moveTo>
                    <a:pt x="1244549" y="357279"/>
                  </a:moveTo>
                  <a:lnTo>
                    <a:pt x="1237277" y="331037"/>
                  </a:lnTo>
                  <a:lnTo>
                    <a:pt x="1215699" y="307264"/>
                  </a:lnTo>
                  <a:lnTo>
                    <a:pt x="1181509" y="287290"/>
                  </a:lnTo>
                  <a:lnTo>
                    <a:pt x="1136401" y="272444"/>
                  </a:lnTo>
                </a:path>
                <a:path w="1436370" h="513715">
                  <a:moveTo>
                    <a:pt x="1391367" y="182000"/>
                  </a:moveTo>
                  <a:lnTo>
                    <a:pt x="1382224" y="190933"/>
                  </a:lnTo>
                  <a:lnTo>
                    <a:pt x="1371069" y="199265"/>
                  </a:lnTo>
                  <a:lnTo>
                    <a:pt x="1358025" y="206918"/>
                  </a:lnTo>
                  <a:lnTo>
                    <a:pt x="1343212" y="213811"/>
                  </a:lnTo>
                </a:path>
                <a:path w="1436370" h="513715">
                  <a:moveTo>
                    <a:pt x="1274951" y="64490"/>
                  </a:moveTo>
                  <a:lnTo>
                    <a:pt x="1276791" y="69446"/>
                  </a:lnTo>
                  <a:lnTo>
                    <a:pt x="1277641" y="74477"/>
                  </a:lnTo>
                  <a:lnTo>
                    <a:pt x="1277493" y="79513"/>
                  </a:lnTo>
                </a:path>
                <a:path w="1436370" h="513715">
                  <a:moveTo>
                    <a:pt x="992723" y="27693"/>
                  </a:moveTo>
                  <a:lnTo>
                    <a:pt x="985496" y="32148"/>
                  </a:lnTo>
                  <a:lnTo>
                    <a:pt x="978959" y="36839"/>
                  </a:lnTo>
                  <a:lnTo>
                    <a:pt x="973137" y="41747"/>
                  </a:lnTo>
                  <a:lnTo>
                    <a:pt x="968054" y="46853"/>
                  </a:lnTo>
                </a:path>
                <a:path w="1436370" h="513715">
                  <a:moveTo>
                    <a:pt x="747350" y="39000"/>
                  </a:moveTo>
                  <a:lnTo>
                    <a:pt x="741975" y="44245"/>
                  </a:lnTo>
                  <a:lnTo>
                    <a:pt x="737962" y="49796"/>
                  </a:lnTo>
                  <a:lnTo>
                    <a:pt x="735402" y="55523"/>
                  </a:lnTo>
                </a:path>
                <a:path w="1436370" h="513715">
                  <a:moveTo>
                    <a:pt x="466253" y="60043"/>
                  </a:moveTo>
                  <a:lnTo>
                    <a:pt x="477798" y="63566"/>
                  </a:lnTo>
                  <a:lnTo>
                    <a:pt x="488872" y="67420"/>
                  </a:lnTo>
                  <a:lnTo>
                    <a:pt x="499446" y="71593"/>
                  </a:lnTo>
                  <a:lnTo>
                    <a:pt x="509489" y="76074"/>
                  </a:lnTo>
                </a:path>
                <a:path w="1436370" h="513715">
                  <a:moveTo>
                    <a:pt x="130142" y="169041"/>
                  </a:moveTo>
                  <a:lnTo>
                    <a:pt x="131739" y="174751"/>
                  </a:lnTo>
                  <a:lnTo>
                    <a:pt x="134262" y="180391"/>
                  </a:lnTo>
                  <a:lnTo>
                    <a:pt x="137687" y="185908"/>
                  </a:lnTo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3" name="object 43"/>
          <p:cNvGrpSpPr/>
          <p:nvPr/>
        </p:nvGrpSpPr>
        <p:grpSpPr>
          <a:xfrm>
            <a:off x="5429250" y="2573563"/>
            <a:ext cx="2808605" cy="1351915"/>
            <a:chOff x="5429250" y="2573563"/>
            <a:chExt cx="2808605" cy="1351915"/>
          </a:xfrm>
        </p:grpSpPr>
        <p:sp>
          <p:nvSpPr>
            <p:cNvPr id="44" name="object 44"/>
            <p:cNvSpPr/>
            <p:nvPr/>
          </p:nvSpPr>
          <p:spPr>
            <a:xfrm>
              <a:off x="5435600" y="2579913"/>
              <a:ext cx="2431415" cy="1339215"/>
            </a:xfrm>
            <a:custGeom>
              <a:avLst/>
              <a:gdLst/>
              <a:ahLst/>
              <a:cxnLst/>
              <a:rect l="l" t="t" r="r" b="b"/>
              <a:pathLst>
                <a:path w="2431415" h="1339214">
                  <a:moveTo>
                    <a:pt x="0" y="223161"/>
                  </a:moveTo>
                  <a:lnTo>
                    <a:pt x="4533" y="178186"/>
                  </a:lnTo>
                  <a:lnTo>
                    <a:pt x="17537" y="136296"/>
                  </a:lnTo>
                  <a:lnTo>
                    <a:pt x="38112" y="98389"/>
                  </a:lnTo>
                  <a:lnTo>
                    <a:pt x="65362" y="65362"/>
                  </a:lnTo>
                  <a:lnTo>
                    <a:pt x="98389" y="38112"/>
                  </a:lnTo>
                  <a:lnTo>
                    <a:pt x="136296" y="17537"/>
                  </a:lnTo>
                  <a:lnTo>
                    <a:pt x="178186" y="4533"/>
                  </a:lnTo>
                  <a:lnTo>
                    <a:pt x="223161" y="0"/>
                  </a:lnTo>
                  <a:lnTo>
                    <a:pt x="2207981" y="0"/>
                  </a:lnTo>
                  <a:lnTo>
                    <a:pt x="2251721" y="4327"/>
                  </a:lnTo>
                  <a:lnTo>
                    <a:pt x="2293381" y="16987"/>
                  </a:lnTo>
                  <a:lnTo>
                    <a:pt x="2331791" y="37493"/>
                  </a:lnTo>
                  <a:lnTo>
                    <a:pt x="2365780" y="65362"/>
                  </a:lnTo>
                  <a:lnTo>
                    <a:pt x="2393649" y="99351"/>
                  </a:lnTo>
                  <a:lnTo>
                    <a:pt x="2414155" y="137761"/>
                  </a:lnTo>
                  <a:lnTo>
                    <a:pt x="2426815" y="179421"/>
                  </a:lnTo>
                  <a:lnTo>
                    <a:pt x="2431142" y="223161"/>
                  </a:lnTo>
                  <a:lnTo>
                    <a:pt x="2431142" y="1115780"/>
                  </a:lnTo>
                  <a:lnTo>
                    <a:pt x="2426609" y="1160755"/>
                  </a:lnTo>
                  <a:lnTo>
                    <a:pt x="2413605" y="1202645"/>
                  </a:lnTo>
                  <a:lnTo>
                    <a:pt x="2393030" y="1240552"/>
                  </a:lnTo>
                  <a:lnTo>
                    <a:pt x="2365780" y="1273579"/>
                  </a:lnTo>
                  <a:lnTo>
                    <a:pt x="2332753" y="1300829"/>
                  </a:lnTo>
                  <a:lnTo>
                    <a:pt x="2294846" y="1321404"/>
                  </a:lnTo>
                  <a:lnTo>
                    <a:pt x="2252956" y="1334408"/>
                  </a:lnTo>
                  <a:lnTo>
                    <a:pt x="2207981" y="1338941"/>
                  </a:lnTo>
                  <a:lnTo>
                    <a:pt x="223161" y="1338941"/>
                  </a:lnTo>
                  <a:lnTo>
                    <a:pt x="178186" y="1334408"/>
                  </a:lnTo>
                  <a:lnTo>
                    <a:pt x="136296" y="1321404"/>
                  </a:lnTo>
                  <a:lnTo>
                    <a:pt x="98389" y="1300829"/>
                  </a:lnTo>
                  <a:lnTo>
                    <a:pt x="65362" y="1273579"/>
                  </a:lnTo>
                  <a:lnTo>
                    <a:pt x="38112" y="1240552"/>
                  </a:lnTo>
                  <a:lnTo>
                    <a:pt x="17537" y="1202645"/>
                  </a:lnTo>
                  <a:lnTo>
                    <a:pt x="4533" y="1160755"/>
                  </a:lnTo>
                  <a:lnTo>
                    <a:pt x="0" y="1115780"/>
                  </a:lnTo>
                  <a:lnTo>
                    <a:pt x="0" y="22316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5641520" y="2971800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208822" y="351063"/>
                  </a:move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5641521" y="2971800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0" y="175531"/>
                  </a:move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5741655" y="3044146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4" h="217804">
                  <a:moveTo>
                    <a:pt x="214960" y="217483"/>
                  </a:moveTo>
                  <a:lnTo>
                    <a:pt x="0" y="217483"/>
                  </a:lnTo>
                  <a:lnTo>
                    <a:pt x="0" y="0"/>
                  </a:lnTo>
                  <a:lnTo>
                    <a:pt x="214960" y="0"/>
                  </a:lnTo>
                  <a:lnTo>
                    <a:pt x="214960" y="217483"/>
                  </a:lnTo>
                  <a:close/>
                </a:path>
              </a:pathLst>
            </a:custGeom>
            <a:solidFill>
              <a:srgbClr val="2121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5741655" y="3044146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4" h="217804">
                  <a:moveTo>
                    <a:pt x="0" y="0"/>
                  </a:moveTo>
                  <a:lnTo>
                    <a:pt x="214960" y="0"/>
                  </a:lnTo>
                  <a:lnTo>
                    <a:pt x="214960" y="217483"/>
                  </a:lnTo>
                  <a:lnTo>
                    <a:pt x="0" y="217483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763561" y="3418947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208822" y="351063"/>
                  </a:move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6" y="285318"/>
                  </a:lnTo>
                  <a:lnTo>
                    <a:pt x="21225" y="252726"/>
                  </a:lnTo>
                  <a:lnTo>
                    <a:pt x="5515" y="215779"/>
                  </a:lnTo>
                  <a:lnTo>
                    <a:pt x="0" y="175531"/>
                  </a:lnTo>
                  <a:lnTo>
                    <a:pt x="5515" y="135284"/>
                  </a:lnTo>
                  <a:lnTo>
                    <a:pt x="21225" y="98337"/>
                  </a:lnTo>
                  <a:lnTo>
                    <a:pt x="45876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30" y="135284"/>
                  </a:lnTo>
                  <a:lnTo>
                    <a:pt x="417645" y="175531"/>
                  </a:lnTo>
                  <a:lnTo>
                    <a:pt x="412130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6763561" y="3418947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0" y="175531"/>
                  </a:moveTo>
                  <a:lnTo>
                    <a:pt x="5515" y="135284"/>
                  </a:lnTo>
                  <a:lnTo>
                    <a:pt x="21225" y="98337"/>
                  </a:lnTo>
                  <a:lnTo>
                    <a:pt x="45876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30" y="135284"/>
                  </a:lnTo>
                  <a:lnTo>
                    <a:pt x="417645" y="175531"/>
                  </a:lnTo>
                  <a:lnTo>
                    <a:pt x="412130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6" y="285318"/>
                  </a:lnTo>
                  <a:lnTo>
                    <a:pt x="21225" y="252726"/>
                  </a:lnTo>
                  <a:lnTo>
                    <a:pt x="5515" y="215779"/>
                  </a:lnTo>
                  <a:lnTo>
                    <a:pt x="0" y="17553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6749250" y="2938976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208822" y="351063"/>
                  </a:move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30" y="135284"/>
                  </a:lnTo>
                  <a:lnTo>
                    <a:pt x="417645" y="175531"/>
                  </a:lnTo>
                  <a:lnTo>
                    <a:pt x="412130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6749250" y="2938976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0" y="175531"/>
                  </a:move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30" y="135284"/>
                  </a:lnTo>
                  <a:lnTo>
                    <a:pt x="417645" y="175531"/>
                  </a:lnTo>
                  <a:lnTo>
                    <a:pt x="412130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6221722" y="3191131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208822" y="351063"/>
                  </a:move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6221722" y="3191131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0" y="175531"/>
                  </a:move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5660380" y="3463138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208822" y="351063"/>
                  </a:move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5660380" y="3463138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0" y="175531"/>
                  </a:move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6258432" y="3322864"/>
              <a:ext cx="140335" cy="125095"/>
            </a:xfrm>
            <a:custGeom>
              <a:avLst/>
              <a:gdLst/>
              <a:ahLst/>
              <a:cxnLst/>
              <a:rect l="l" t="t" r="r" b="b"/>
              <a:pathLst>
                <a:path w="140335" h="125095">
                  <a:moveTo>
                    <a:pt x="140317" y="124603"/>
                  </a:moveTo>
                  <a:lnTo>
                    <a:pt x="0" y="124603"/>
                  </a:lnTo>
                  <a:lnTo>
                    <a:pt x="0" y="0"/>
                  </a:lnTo>
                  <a:lnTo>
                    <a:pt x="140317" y="0"/>
                  </a:lnTo>
                  <a:lnTo>
                    <a:pt x="140317" y="124603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6258432" y="3322864"/>
              <a:ext cx="140335" cy="125095"/>
            </a:xfrm>
            <a:custGeom>
              <a:avLst/>
              <a:gdLst/>
              <a:ahLst/>
              <a:cxnLst/>
              <a:rect l="l" t="t" r="r" b="b"/>
              <a:pathLst>
                <a:path w="140335" h="125095">
                  <a:moveTo>
                    <a:pt x="0" y="0"/>
                  </a:moveTo>
                  <a:lnTo>
                    <a:pt x="140317" y="0"/>
                  </a:lnTo>
                  <a:lnTo>
                    <a:pt x="140317" y="124603"/>
                  </a:lnTo>
                  <a:lnTo>
                    <a:pt x="0" y="124603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6452785" y="3322864"/>
              <a:ext cx="136525" cy="102870"/>
            </a:xfrm>
            <a:custGeom>
              <a:avLst/>
              <a:gdLst/>
              <a:ahLst/>
              <a:cxnLst/>
              <a:rect l="l" t="t" r="r" b="b"/>
              <a:pathLst>
                <a:path w="136525" h="102870">
                  <a:moveTo>
                    <a:pt x="136388" y="102633"/>
                  </a:moveTo>
                  <a:lnTo>
                    <a:pt x="0" y="102633"/>
                  </a:lnTo>
                  <a:lnTo>
                    <a:pt x="0" y="0"/>
                  </a:lnTo>
                  <a:lnTo>
                    <a:pt x="136388" y="0"/>
                  </a:lnTo>
                  <a:lnTo>
                    <a:pt x="136388" y="102633"/>
                  </a:lnTo>
                  <a:close/>
                </a:path>
              </a:pathLst>
            </a:custGeom>
            <a:solidFill>
              <a:srgbClr val="0097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6452785" y="3322864"/>
              <a:ext cx="136525" cy="102870"/>
            </a:xfrm>
            <a:custGeom>
              <a:avLst/>
              <a:gdLst/>
              <a:ahLst/>
              <a:cxnLst/>
              <a:rect l="l" t="t" r="r" b="b"/>
              <a:pathLst>
                <a:path w="136525" h="102870">
                  <a:moveTo>
                    <a:pt x="0" y="0"/>
                  </a:moveTo>
                  <a:lnTo>
                    <a:pt x="136388" y="0"/>
                  </a:lnTo>
                  <a:lnTo>
                    <a:pt x="136388" y="102633"/>
                  </a:lnTo>
                  <a:lnTo>
                    <a:pt x="0" y="102633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6859467" y="3492401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5" h="217804">
                  <a:moveTo>
                    <a:pt x="214960" y="217483"/>
                  </a:moveTo>
                  <a:lnTo>
                    <a:pt x="0" y="217483"/>
                  </a:lnTo>
                  <a:lnTo>
                    <a:pt x="0" y="0"/>
                  </a:lnTo>
                  <a:lnTo>
                    <a:pt x="214960" y="0"/>
                  </a:lnTo>
                  <a:lnTo>
                    <a:pt x="214960" y="217483"/>
                  </a:lnTo>
                  <a:close/>
                </a:path>
              </a:pathLst>
            </a:custGeom>
            <a:solidFill>
              <a:srgbClr val="FF88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6859467" y="3492401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5" h="217804">
                  <a:moveTo>
                    <a:pt x="0" y="0"/>
                  </a:moveTo>
                  <a:lnTo>
                    <a:pt x="214960" y="0"/>
                  </a:lnTo>
                  <a:lnTo>
                    <a:pt x="214960" y="217483"/>
                  </a:lnTo>
                  <a:lnTo>
                    <a:pt x="0" y="217483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7238357" y="3109520"/>
              <a:ext cx="999490" cy="0"/>
            </a:xfrm>
            <a:custGeom>
              <a:avLst/>
              <a:gdLst/>
              <a:ahLst/>
              <a:cxnLst/>
              <a:rect l="l" t="t" r="r" b="b"/>
              <a:pathLst>
                <a:path w="999490">
                  <a:moveTo>
                    <a:pt x="999406" y="0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7195131" y="309378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24" y="31465"/>
                  </a:moveTo>
                  <a:lnTo>
                    <a:pt x="0" y="15732"/>
                  </a:lnTo>
                  <a:lnTo>
                    <a:pt x="43224" y="0"/>
                  </a:lnTo>
                  <a:lnTo>
                    <a:pt x="43224" y="3146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7195131" y="309378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24" y="0"/>
                  </a:moveTo>
                  <a:lnTo>
                    <a:pt x="0" y="15732"/>
                  </a:lnTo>
                  <a:lnTo>
                    <a:pt x="43224" y="31465"/>
                  </a:lnTo>
                  <a:lnTo>
                    <a:pt x="43224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7119842" y="3590881"/>
              <a:ext cx="1047115" cy="3810"/>
            </a:xfrm>
            <a:custGeom>
              <a:avLst/>
              <a:gdLst/>
              <a:ahLst/>
              <a:cxnLst/>
              <a:rect l="l" t="t" r="r" b="b"/>
              <a:pathLst>
                <a:path w="1047115" h="3810">
                  <a:moveTo>
                    <a:pt x="1046793" y="3597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7076617" y="357514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170" y="31465"/>
                  </a:moveTo>
                  <a:lnTo>
                    <a:pt x="0" y="15584"/>
                  </a:lnTo>
                  <a:lnTo>
                    <a:pt x="43279" y="0"/>
                  </a:lnTo>
                  <a:lnTo>
                    <a:pt x="43170" y="3146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7076617" y="357514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79" y="0"/>
                  </a:moveTo>
                  <a:lnTo>
                    <a:pt x="0" y="15584"/>
                  </a:lnTo>
                  <a:lnTo>
                    <a:pt x="43170" y="31465"/>
                  </a:lnTo>
                  <a:lnTo>
                    <a:pt x="43279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9" name="object 69"/>
          <p:cNvGrpSpPr/>
          <p:nvPr/>
        </p:nvGrpSpPr>
        <p:grpSpPr>
          <a:xfrm>
            <a:off x="6715351" y="748999"/>
            <a:ext cx="45720" cy="642620"/>
            <a:chOff x="6715351" y="748999"/>
            <a:chExt cx="45720" cy="642620"/>
          </a:xfrm>
        </p:grpSpPr>
        <p:sp>
          <p:nvSpPr>
            <p:cNvPr id="70" name="object 70"/>
            <p:cNvSpPr/>
            <p:nvPr/>
          </p:nvSpPr>
          <p:spPr>
            <a:xfrm>
              <a:off x="6720113" y="753761"/>
              <a:ext cx="20320" cy="589915"/>
            </a:xfrm>
            <a:custGeom>
              <a:avLst/>
              <a:gdLst/>
              <a:ahLst/>
              <a:cxnLst/>
              <a:rect l="l" t="t" r="r" b="b"/>
              <a:pathLst>
                <a:path w="20320" h="589915">
                  <a:moveTo>
                    <a:pt x="0" y="0"/>
                  </a:moveTo>
                  <a:lnTo>
                    <a:pt x="19849" y="589749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6724239" y="1342982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17177" y="43730"/>
                  </a:moveTo>
                  <a:lnTo>
                    <a:pt x="0" y="1058"/>
                  </a:lnTo>
                  <a:lnTo>
                    <a:pt x="31447" y="0"/>
                  </a:lnTo>
                  <a:lnTo>
                    <a:pt x="17177" y="43730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6724239" y="1342982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0" y="1058"/>
                  </a:moveTo>
                  <a:lnTo>
                    <a:pt x="17177" y="43730"/>
                  </a:lnTo>
                  <a:lnTo>
                    <a:pt x="31447" y="0"/>
                  </a:lnTo>
                  <a:lnTo>
                    <a:pt x="0" y="1058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3" name="object 73"/>
          <p:cNvSpPr txBox="1"/>
          <p:nvPr/>
        </p:nvSpPr>
        <p:spPr>
          <a:xfrm>
            <a:off x="6282842" y="274418"/>
            <a:ext cx="71374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solidFill>
                  <a:srgbClr val="FFFFFF"/>
                </a:solidFill>
                <a:latin typeface="Arial"/>
                <a:cs typeface="Arial"/>
              </a:rPr>
              <a:t>Internet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74" name="object 74"/>
          <p:cNvGrpSpPr/>
          <p:nvPr/>
        </p:nvGrpSpPr>
        <p:grpSpPr>
          <a:xfrm>
            <a:off x="6842718" y="2994428"/>
            <a:ext cx="227965" cy="230504"/>
            <a:chOff x="6842718" y="2994428"/>
            <a:chExt cx="227965" cy="230504"/>
          </a:xfrm>
        </p:grpSpPr>
        <p:sp>
          <p:nvSpPr>
            <p:cNvPr id="75" name="object 75"/>
            <p:cNvSpPr/>
            <p:nvPr/>
          </p:nvSpPr>
          <p:spPr>
            <a:xfrm>
              <a:off x="6849068" y="3000778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5" h="217805">
                  <a:moveTo>
                    <a:pt x="214961" y="217483"/>
                  </a:moveTo>
                  <a:lnTo>
                    <a:pt x="0" y="217483"/>
                  </a:lnTo>
                  <a:lnTo>
                    <a:pt x="0" y="0"/>
                  </a:lnTo>
                  <a:lnTo>
                    <a:pt x="214961" y="0"/>
                  </a:lnTo>
                  <a:lnTo>
                    <a:pt x="214961" y="217483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6849068" y="3000778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5" h="217805">
                  <a:moveTo>
                    <a:pt x="0" y="0"/>
                  </a:moveTo>
                  <a:lnTo>
                    <a:pt x="214961" y="0"/>
                  </a:lnTo>
                  <a:lnTo>
                    <a:pt x="214961" y="217483"/>
                  </a:lnTo>
                  <a:lnTo>
                    <a:pt x="0" y="217483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7" name="object 77"/>
          <p:cNvGrpSpPr/>
          <p:nvPr/>
        </p:nvGrpSpPr>
        <p:grpSpPr>
          <a:xfrm>
            <a:off x="5749502" y="3538770"/>
            <a:ext cx="227965" cy="230504"/>
            <a:chOff x="5749502" y="3538770"/>
            <a:chExt cx="227965" cy="230504"/>
          </a:xfrm>
        </p:grpSpPr>
        <p:sp>
          <p:nvSpPr>
            <p:cNvPr id="78" name="object 78"/>
            <p:cNvSpPr/>
            <p:nvPr/>
          </p:nvSpPr>
          <p:spPr>
            <a:xfrm>
              <a:off x="5755852" y="3545120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4" h="217804">
                  <a:moveTo>
                    <a:pt x="214960" y="217483"/>
                  </a:moveTo>
                  <a:lnTo>
                    <a:pt x="0" y="217483"/>
                  </a:lnTo>
                  <a:lnTo>
                    <a:pt x="0" y="0"/>
                  </a:lnTo>
                  <a:lnTo>
                    <a:pt x="214960" y="0"/>
                  </a:lnTo>
                  <a:lnTo>
                    <a:pt x="214960" y="217483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5755852" y="3545120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4" h="217804">
                  <a:moveTo>
                    <a:pt x="0" y="0"/>
                  </a:moveTo>
                  <a:lnTo>
                    <a:pt x="214960" y="0"/>
                  </a:lnTo>
                  <a:lnTo>
                    <a:pt x="214960" y="217483"/>
                  </a:lnTo>
                  <a:lnTo>
                    <a:pt x="0" y="217483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0" name="object 80"/>
          <p:cNvSpPr txBox="1"/>
          <p:nvPr/>
        </p:nvSpPr>
        <p:spPr>
          <a:xfrm>
            <a:off x="8239662" y="2901642"/>
            <a:ext cx="3422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"/>
                <a:cs typeface="Arial"/>
              </a:rPr>
              <a:t>Pod</a:t>
            </a:r>
            <a:endParaRPr sz="1400">
              <a:latin typeface="Arial"/>
              <a:cs typeface="Arial"/>
            </a:endParaRPr>
          </a:p>
        </p:txBody>
      </p:sp>
      <p:sp>
        <p:nvSpPr>
          <p:cNvPr id="82" name="object 8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34</a:t>
            </a:fld>
            <a:endParaRPr spc="-25" dirty="0"/>
          </a:p>
        </p:txBody>
      </p:sp>
      <p:sp>
        <p:nvSpPr>
          <p:cNvPr id="81" name="object 81"/>
          <p:cNvSpPr txBox="1"/>
          <p:nvPr/>
        </p:nvSpPr>
        <p:spPr>
          <a:xfrm>
            <a:off x="8230221" y="3473115"/>
            <a:ext cx="79692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Arial"/>
                <a:cs typeface="Arial"/>
              </a:rPr>
              <a:t>Container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30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5"/>
              </a:spcBef>
            </a:pPr>
            <a:r>
              <a:rPr dirty="0"/>
              <a:t>Docker</a:t>
            </a:r>
            <a:r>
              <a:rPr spc="5" dirty="0"/>
              <a:t> </a:t>
            </a:r>
            <a:r>
              <a:rPr spc="-10" dirty="0"/>
              <a:t>Containers</a:t>
            </a:r>
          </a:p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sz="1600" dirty="0">
                <a:solidFill>
                  <a:srgbClr val="595959"/>
                </a:solidFill>
              </a:rPr>
              <a:t>A</a:t>
            </a:r>
            <a:r>
              <a:rPr sz="1600" spc="-95" dirty="0">
                <a:solidFill>
                  <a:srgbClr val="595959"/>
                </a:solidFill>
              </a:rPr>
              <a:t> </a:t>
            </a:r>
            <a:r>
              <a:rPr sz="1600" dirty="0">
                <a:solidFill>
                  <a:srgbClr val="595959"/>
                </a:solidFill>
              </a:rPr>
              <a:t>popular</a:t>
            </a:r>
            <a:r>
              <a:rPr sz="1600" spc="-5" dirty="0">
                <a:solidFill>
                  <a:srgbClr val="595959"/>
                </a:solidFill>
              </a:rPr>
              <a:t> </a:t>
            </a:r>
            <a:r>
              <a:rPr sz="1600" dirty="0">
                <a:solidFill>
                  <a:srgbClr val="595959"/>
                </a:solidFill>
              </a:rPr>
              <a:t>Container</a:t>
            </a:r>
            <a:r>
              <a:rPr sz="1600" spc="-5" dirty="0">
                <a:solidFill>
                  <a:srgbClr val="595959"/>
                </a:solidFill>
              </a:rPr>
              <a:t> </a:t>
            </a:r>
            <a:r>
              <a:rPr sz="1600" spc="-10" dirty="0">
                <a:solidFill>
                  <a:srgbClr val="595959"/>
                </a:solidFill>
              </a:rPr>
              <a:t>Runtime</a:t>
            </a:r>
            <a:endParaRPr sz="16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78232" y="2094556"/>
            <a:ext cx="1909953" cy="137435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5134" y="1431399"/>
            <a:ext cx="5834377" cy="286025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35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01625" y="249500"/>
            <a:ext cx="5187950" cy="4648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Overall</a:t>
            </a:r>
            <a:r>
              <a:rPr spc="-15" dirty="0"/>
              <a:t> </a:t>
            </a:r>
            <a:r>
              <a:rPr dirty="0"/>
              <a:t>Kubernetes</a:t>
            </a:r>
            <a:r>
              <a:rPr spc="-165" dirty="0"/>
              <a:t> </a:t>
            </a:r>
            <a:r>
              <a:rPr spc="-10" dirty="0"/>
              <a:t>Architecture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51051" y="4327541"/>
            <a:ext cx="10693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Worker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Node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8434" y="169622"/>
            <a:ext cx="7139329" cy="410392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315483" y="4220825"/>
            <a:ext cx="5689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Arial"/>
                <a:cs typeface="Arial"/>
              </a:rPr>
              <a:t>Master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82167" y="1735474"/>
            <a:ext cx="82613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Scheduler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37301" y="3242076"/>
            <a:ext cx="50990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Arial"/>
                <a:cs typeface="Arial"/>
              </a:rPr>
              <a:t>ETCD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697091" y="3137300"/>
            <a:ext cx="796290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46990" marR="5080" indent="-34925">
              <a:lnSpc>
                <a:spcPts val="1650"/>
              </a:lnSpc>
              <a:spcBef>
                <a:spcPts val="180"/>
              </a:spcBef>
            </a:pP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Controller Manager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652666" y="2440812"/>
            <a:ext cx="884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API</a:t>
            </a:r>
            <a:r>
              <a:rPr sz="14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Server</a:t>
            </a:r>
            <a:endParaRPr sz="14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428336" y="1539003"/>
            <a:ext cx="71374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solidFill>
                  <a:srgbClr val="FFFFFF"/>
                </a:solidFill>
                <a:latin typeface="Arial"/>
                <a:cs typeface="Arial"/>
              </a:rPr>
              <a:t>Kubelet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531897" y="1529606"/>
            <a:ext cx="106489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FFFFFF"/>
                </a:solidFill>
                <a:latin typeface="Arial"/>
                <a:cs typeface="Arial"/>
              </a:rPr>
              <a:t>Kube-</a:t>
            </a:r>
            <a:r>
              <a:rPr sz="1600" spc="-10" dirty="0">
                <a:solidFill>
                  <a:srgbClr val="FFFFFF"/>
                </a:solidFill>
                <a:latin typeface="Arial"/>
                <a:cs typeface="Arial"/>
              </a:rPr>
              <a:t>proxy</a:t>
            </a:r>
            <a:endParaRPr sz="16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282842" y="274418"/>
            <a:ext cx="71374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solidFill>
                  <a:srgbClr val="FFFFFF"/>
                </a:solidFill>
                <a:latin typeface="Arial"/>
                <a:cs typeface="Arial"/>
              </a:rPr>
              <a:t>Internet</a:t>
            </a:r>
            <a:endParaRPr sz="16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239662" y="2901642"/>
            <a:ext cx="3422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"/>
                <a:cs typeface="Arial"/>
              </a:rPr>
              <a:t>Pod</a:t>
            </a:r>
            <a:endParaRPr sz="14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230221" y="3473115"/>
            <a:ext cx="79692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Arial"/>
                <a:cs typeface="Arial"/>
              </a:rPr>
              <a:t>Container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73745" y="1798313"/>
            <a:ext cx="568325" cy="996315"/>
            <a:chOff x="473745" y="1798313"/>
            <a:chExt cx="568325" cy="996315"/>
          </a:xfrm>
        </p:grpSpPr>
        <p:sp>
          <p:nvSpPr>
            <p:cNvPr id="16" name="object 16"/>
            <p:cNvSpPr/>
            <p:nvPr/>
          </p:nvSpPr>
          <p:spPr>
            <a:xfrm>
              <a:off x="483816" y="1803075"/>
              <a:ext cx="178435" cy="415290"/>
            </a:xfrm>
            <a:custGeom>
              <a:avLst/>
              <a:gdLst/>
              <a:ahLst/>
              <a:cxnLst/>
              <a:rect l="l" t="t" r="r" b="b"/>
              <a:pathLst>
                <a:path w="178434" h="415289">
                  <a:moveTo>
                    <a:pt x="0" y="0"/>
                  </a:moveTo>
                  <a:lnTo>
                    <a:pt x="178150" y="414987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47509" y="2211857"/>
              <a:ext cx="31750" cy="46355"/>
            </a:xfrm>
            <a:custGeom>
              <a:avLst/>
              <a:gdLst/>
              <a:ahLst/>
              <a:cxnLst/>
              <a:rect l="l" t="t" r="r" b="b"/>
              <a:pathLst>
                <a:path w="31750" h="46355">
                  <a:moveTo>
                    <a:pt x="31508" y="45926"/>
                  </a:moveTo>
                  <a:lnTo>
                    <a:pt x="0" y="12412"/>
                  </a:lnTo>
                  <a:lnTo>
                    <a:pt x="28913" y="0"/>
                  </a:lnTo>
                  <a:lnTo>
                    <a:pt x="31508" y="45926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47509" y="2211857"/>
              <a:ext cx="31750" cy="46355"/>
            </a:xfrm>
            <a:custGeom>
              <a:avLst/>
              <a:gdLst/>
              <a:ahLst/>
              <a:cxnLst/>
              <a:rect l="l" t="t" r="r" b="b"/>
              <a:pathLst>
                <a:path w="31750" h="46355">
                  <a:moveTo>
                    <a:pt x="0" y="12412"/>
                  </a:moveTo>
                  <a:lnTo>
                    <a:pt x="31508" y="45926"/>
                  </a:lnTo>
                  <a:lnTo>
                    <a:pt x="28913" y="0"/>
                  </a:lnTo>
                  <a:lnTo>
                    <a:pt x="0" y="12412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80095" y="2274206"/>
              <a:ext cx="555625" cy="513715"/>
            </a:xfrm>
            <a:custGeom>
              <a:avLst/>
              <a:gdLst/>
              <a:ahLst/>
              <a:cxnLst/>
              <a:rect l="l" t="t" r="r" b="b"/>
              <a:pathLst>
                <a:path w="555625" h="513714">
                  <a:moveTo>
                    <a:pt x="277585" y="513442"/>
                  </a:moveTo>
                  <a:lnTo>
                    <a:pt x="227689" y="509306"/>
                  </a:lnTo>
                  <a:lnTo>
                    <a:pt x="180726" y="497381"/>
                  </a:lnTo>
                  <a:lnTo>
                    <a:pt x="137482" y="478393"/>
                  </a:lnTo>
                  <a:lnTo>
                    <a:pt x="98740" y="453065"/>
                  </a:lnTo>
                  <a:lnTo>
                    <a:pt x="65284" y="422123"/>
                  </a:lnTo>
                  <a:lnTo>
                    <a:pt x="37898" y="386293"/>
                  </a:lnTo>
                  <a:lnTo>
                    <a:pt x="17366" y="346299"/>
                  </a:lnTo>
                  <a:lnTo>
                    <a:pt x="4472" y="302867"/>
                  </a:lnTo>
                  <a:lnTo>
                    <a:pt x="0" y="256721"/>
                  </a:lnTo>
                  <a:lnTo>
                    <a:pt x="4472" y="210575"/>
                  </a:lnTo>
                  <a:lnTo>
                    <a:pt x="17366" y="167143"/>
                  </a:lnTo>
                  <a:lnTo>
                    <a:pt x="37898" y="127149"/>
                  </a:lnTo>
                  <a:lnTo>
                    <a:pt x="65284" y="91319"/>
                  </a:lnTo>
                  <a:lnTo>
                    <a:pt x="98740" y="60377"/>
                  </a:lnTo>
                  <a:lnTo>
                    <a:pt x="137482" y="35050"/>
                  </a:lnTo>
                  <a:lnTo>
                    <a:pt x="180726" y="16061"/>
                  </a:lnTo>
                  <a:lnTo>
                    <a:pt x="227689" y="4136"/>
                  </a:lnTo>
                  <a:lnTo>
                    <a:pt x="277585" y="0"/>
                  </a:lnTo>
                  <a:lnTo>
                    <a:pt x="327481" y="4136"/>
                  </a:lnTo>
                  <a:lnTo>
                    <a:pt x="374444" y="16061"/>
                  </a:lnTo>
                  <a:lnTo>
                    <a:pt x="417688" y="35050"/>
                  </a:lnTo>
                  <a:lnTo>
                    <a:pt x="456430" y="60377"/>
                  </a:lnTo>
                  <a:lnTo>
                    <a:pt x="489886" y="91319"/>
                  </a:lnTo>
                  <a:lnTo>
                    <a:pt x="517272" y="127149"/>
                  </a:lnTo>
                  <a:lnTo>
                    <a:pt x="537804" y="167143"/>
                  </a:lnTo>
                  <a:lnTo>
                    <a:pt x="550698" y="210575"/>
                  </a:lnTo>
                  <a:lnTo>
                    <a:pt x="555170" y="256721"/>
                  </a:lnTo>
                  <a:lnTo>
                    <a:pt x="550698" y="302867"/>
                  </a:lnTo>
                  <a:lnTo>
                    <a:pt x="537804" y="346299"/>
                  </a:lnTo>
                  <a:lnTo>
                    <a:pt x="517272" y="386293"/>
                  </a:lnTo>
                  <a:lnTo>
                    <a:pt x="489886" y="422123"/>
                  </a:lnTo>
                  <a:lnTo>
                    <a:pt x="456430" y="453065"/>
                  </a:lnTo>
                  <a:lnTo>
                    <a:pt x="417688" y="478393"/>
                  </a:lnTo>
                  <a:lnTo>
                    <a:pt x="374444" y="497381"/>
                  </a:lnTo>
                  <a:lnTo>
                    <a:pt x="327481" y="509306"/>
                  </a:lnTo>
                  <a:lnTo>
                    <a:pt x="277585" y="513442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80095" y="2274206"/>
              <a:ext cx="555625" cy="513715"/>
            </a:xfrm>
            <a:custGeom>
              <a:avLst/>
              <a:gdLst/>
              <a:ahLst/>
              <a:cxnLst/>
              <a:rect l="l" t="t" r="r" b="b"/>
              <a:pathLst>
                <a:path w="555625" h="513714">
                  <a:moveTo>
                    <a:pt x="0" y="256721"/>
                  </a:moveTo>
                  <a:lnTo>
                    <a:pt x="4472" y="210575"/>
                  </a:lnTo>
                  <a:lnTo>
                    <a:pt x="17366" y="167143"/>
                  </a:lnTo>
                  <a:lnTo>
                    <a:pt x="37898" y="127149"/>
                  </a:lnTo>
                  <a:lnTo>
                    <a:pt x="65284" y="91319"/>
                  </a:lnTo>
                  <a:lnTo>
                    <a:pt x="98740" y="60377"/>
                  </a:lnTo>
                  <a:lnTo>
                    <a:pt x="137482" y="35050"/>
                  </a:lnTo>
                  <a:lnTo>
                    <a:pt x="180726" y="16061"/>
                  </a:lnTo>
                  <a:lnTo>
                    <a:pt x="227689" y="4136"/>
                  </a:lnTo>
                  <a:lnTo>
                    <a:pt x="277585" y="0"/>
                  </a:lnTo>
                  <a:lnTo>
                    <a:pt x="327481" y="4136"/>
                  </a:lnTo>
                  <a:lnTo>
                    <a:pt x="374444" y="16061"/>
                  </a:lnTo>
                  <a:lnTo>
                    <a:pt x="417688" y="35050"/>
                  </a:lnTo>
                  <a:lnTo>
                    <a:pt x="456430" y="60377"/>
                  </a:lnTo>
                  <a:lnTo>
                    <a:pt x="489886" y="91319"/>
                  </a:lnTo>
                  <a:lnTo>
                    <a:pt x="517272" y="127149"/>
                  </a:lnTo>
                  <a:lnTo>
                    <a:pt x="537804" y="167143"/>
                  </a:lnTo>
                  <a:lnTo>
                    <a:pt x="550698" y="210575"/>
                  </a:lnTo>
                  <a:lnTo>
                    <a:pt x="555170" y="256721"/>
                  </a:lnTo>
                  <a:lnTo>
                    <a:pt x="550698" y="302867"/>
                  </a:lnTo>
                  <a:lnTo>
                    <a:pt x="537804" y="346299"/>
                  </a:lnTo>
                  <a:lnTo>
                    <a:pt x="517272" y="386293"/>
                  </a:lnTo>
                  <a:lnTo>
                    <a:pt x="489886" y="422123"/>
                  </a:lnTo>
                  <a:lnTo>
                    <a:pt x="456430" y="453065"/>
                  </a:lnTo>
                  <a:lnTo>
                    <a:pt x="417688" y="478393"/>
                  </a:lnTo>
                  <a:lnTo>
                    <a:pt x="374444" y="497381"/>
                  </a:lnTo>
                  <a:lnTo>
                    <a:pt x="327481" y="509306"/>
                  </a:lnTo>
                  <a:lnTo>
                    <a:pt x="277585" y="513442"/>
                  </a:lnTo>
                  <a:lnTo>
                    <a:pt x="227689" y="509306"/>
                  </a:lnTo>
                  <a:lnTo>
                    <a:pt x="180726" y="497381"/>
                  </a:lnTo>
                  <a:lnTo>
                    <a:pt x="137482" y="478393"/>
                  </a:lnTo>
                  <a:lnTo>
                    <a:pt x="98740" y="453065"/>
                  </a:lnTo>
                  <a:lnTo>
                    <a:pt x="65284" y="422123"/>
                  </a:lnTo>
                  <a:lnTo>
                    <a:pt x="37898" y="386293"/>
                  </a:lnTo>
                  <a:lnTo>
                    <a:pt x="17366" y="346299"/>
                  </a:lnTo>
                  <a:lnTo>
                    <a:pt x="4472" y="302867"/>
                  </a:lnTo>
                  <a:lnTo>
                    <a:pt x="0" y="25672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642670" y="2436948"/>
            <a:ext cx="22987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5" dirty="0">
                <a:solidFill>
                  <a:srgbClr val="FFFFFF"/>
                </a:solidFill>
                <a:latin typeface="Arial"/>
                <a:cs typeface="Arial"/>
              </a:rPr>
              <a:t>API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452389" y="2858584"/>
            <a:ext cx="231775" cy="315595"/>
            <a:chOff x="452389" y="2858584"/>
            <a:chExt cx="231775" cy="315595"/>
          </a:xfrm>
        </p:grpSpPr>
        <p:sp>
          <p:nvSpPr>
            <p:cNvPr id="23" name="object 23"/>
            <p:cNvSpPr/>
            <p:nvPr/>
          </p:nvSpPr>
          <p:spPr>
            <a:xfrm>
              <a:off x="457151" y="2898326"/>
              <a:ext cx="196850" cy="271145"/>
            </a:xfrm>
            <a:custGeom>
              <a:avLst/>
              <a:gdLst/>
              <a:ahLst/>
              <a:cxnLst/>
              <a:rect l="l" t="t" r="r" b="b"/>
              <a:pathLst>
                <a:path w="196850" h="271144">
                  <a:moveTo>
                    <a:pt x="0" y="271032"/>
                  </a:moveTo>
                  <a:lnTo>
                    <a:pt x="196766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41187" y="2863346"/>
              <a:ext cx="38735" cy="44450"/>
            </a:xfrm>
            <a:custGeom>
              <a:avLst/>
              <a:gdLst/>
              <a:ahLst/>
              <a:cxnLst/>
              <a:rect l="l" t="t" r="r" b="b"/>
              <a:pathLst>
                <a:path w="38734" h="44450">
                  <a:moveTo>
                    <a:pt x="25462" y="44222"/>
                  </a:moveTo>
                  <a:lnTo>
                    <a:pt x="0" y="25736"/>
                  </a:lnTo>
                  <a:lnTo>
                    <a:pt x="38125" y="0"/>
                  </a:lnTo>
                  <a:lnTo>
                    <a:pt x="25462" y="44222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41187" y="2863346"/>
              <a:ext cx="38735" cy="44450"/>
            </a:xfrm>
            <a:custGeom>
              <a:avLst/>
              <a:gdLst/>
              <a:ahLst/>
              <a:cxnLst/>
              <a:rect l="l" t="t" r="r" b="b"/>
              <a:pathLst>
                <a:path w="38734" h="44450">
                  <a:moveTo>
                    <a:pt x="25462" y="44222"/>
                  </a:moveTo>
                  <a:lnTo>
                    <a:pt x="38125" y="0"/>
                  </a:lnTo>
                  <a:lnTo>
                    <a:pt x="0" y="25736"/>
                  </a:lnTo>
                  <a:lnTo>
                    <a:pt x="25462" y="44222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167798" y="1522752"/>
            <a:ext cx="5886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Arial"/>
                <a:cs typeface="Arial"/>
              </a:rPr>
              <a:t>kubectl</a:t>
            </a:r>
            <a:endParaRPr sz="1400">
              <a:latin typeface="Arial"/>
              <a:cs typeface="Arial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36</a:t>
            </a:fld>
            <a:endParaRPr spc="-25" dirty="0"/>
          </a:p>
        </p:txBody>
      </p:sp>
      <p:sp>
        <p:nvSpPr>
          <p:cNvPr id="27" name="object 27"/>
          <p:cNvSpPr txBox="1"/>
          <p:nvPr/>
        </p:nvSpPr>
        <p:spPr>
          <a:xfrm>
            <a:off x="230890" y="3201248"/>
            <a:ext cx="2032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"/>
                <a:cs typeface="Arial"/>
              </a:rPr>
              <a:t>UI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707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20" dirty="0"/>
              <a:t>Demo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37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339734" y="1360075"/>
            <a:ext cx="7539355" cy="1349375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144145" marR="5080" indent="-132080">
              <a:lnSpc>
                <a:spcPts val="2180"/>
              </a:lnSpc>
              <a:spcBef>
                <a:spcPts val="355"/>
              </a:spcBef>
              <a:buClr>
                <a:srgbClr val="FFAB40"/>
              </a:buClr>
              <a:buChar char="•"/>
              <a:tabLst>
                <a:tab pos="145415" algn="l"/>
              </a:tabLst>
            </a:pP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Setting</a:t>
            </a:r>
            <a:r>
              <a:rPr sz="200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up</a:t>
            </a:r>
            <a:r>
              <a:rPr sz="20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20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single</a:t>
            </a:r>
            <a:r>
              <a:rPr sz="20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Node</a:t>
            </a:r>
            <a:r>
              <a:rPr sz="20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K8s</a:t>
            </a:r>
            <a:r>
              <a:rPr sz="20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cluster</a:t>
            </a:r>
            <a:r>
              <a:rPr sz="20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on</a:t>
            </a:r>
            <a:r>
              <a:rPr sz="20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Docker</a:t>
            </a:r>
            <a:r>
              <a:rPr sz="20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Desktop</a:t>
            </a:r>
            <a:r>
              <a:rPr sz="20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for</a:t>
            </a:r>
            <a:r>
              <a:rPr sz="20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Mac</a:t>
            </a:r>
            <a:r>
              <a:rPr sz="20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spc="-50" dirty="0">
                <a:solidFill>
                  <a:srgbClr val="595959"/>
                </a:solidFill>
                <a:latin typeface="Arial"/>
                <a:cs typeface="Arial"/>
              </a:rPr>
              <a:t>/ 	</a:t>
            </a:r>
            <a:r>
              <a:rPr sz="2000" spc="-10" dirty="0">
                <a:solidFill>
                  <a:srgbClr val="595959"/>
                </a:solidFill>
                <a:latin typeface="Arial"/>
                <a:cs typeface="Arial"/>
              </a:rPr>
              <a:t>Windows</a:t>
            </a:r>
            <a:endParaRPr sz="2000">
              <a:latin typeface="Arial"/>
              <a:cs typeface="Arial"/>
            </a:endParaRPr>
          </a:p>
          <a:p>
            <a:pPr marL="144780" indent="-132080">
              <a:lnSpc>
                <a:spcPct val="100000"/>
              </a:lnSpc>
              <a:spcBef>
                <a:spcPts val="484"/>
              </a:spcBef>
              <a:buClr>
                <a:srgbClr val="FFAB40"/>
              </a:buClr>
              <a:buChar char="•"/>
              <a:tabLst>
                <a:tab pos="144780" algn="l"/>
              </a:tabLst>
            </a:pP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Setting</a:t>
            </a:r>
            <a:r>
              <a:rPr sz="200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up</a:t>
            </a:r>
            <a:r>
              <a:rPr sz="20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5</a:t>
            </a:r>
            <a:r>
              <a:rPr sz="200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Node</a:t>
            </a:r>
            <a:r>
              <a:rPr sz="20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Kubernetes</a:t>
            </a:r>
            <a:r>
              <a:rPr sz="20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Cluster</a:t>
            </a:r>
            <a:r>
              <a:rPr sz="200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on</a:t>
            </a:r>
            <a:r>
              <a:rPr sz="20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595959"/>
                </a:solidFill>
                <a:latin typeface="Arial"/>
                <a:cs typeface="Arial"/>
              </a:rPr>
              <a:t>PWK</a:t>
            </a:r>
            <a:endParaRPr sz="2000">
              <a:latin typeface="Arial"/>
              <a:cs typeface="Arial"/>
            </a:endParaRPr>
          </a:p>
          <a:p>
            <a:pPr marL="144780" indent="-132080">
              <a:lnSpc>
                <a:spcPct val="100000"/>
              </a:lnSpc>
              <a:spcBef>
                <a:spcPts val="525"/>
              </a:spcBef>
              <a:buClr>
                <a:srgbClr val="FFAB40"/>
              </a:buClr>
              <a:buChar char="•"/>
              <a:tabLst>
                <a:tab pos="144780" algn="l"/>
              </a:tabLst>
            </a:pP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Setting</a:t>
            </a:r>
            <a:r>
              <a:rPr sz="20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up</a:t>
            </a:r>
            <a:r>
              <a:rPr sz="20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3</a:t>
            </a:r>
            <a:r>
              <a:rPr sz="20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Nodes</a:t>
            </a:r>
            <a:r>
              <a:rPr sz="20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K8s</a:t>
            </a:r>
            <a:r>
              <a:rPr sz="20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Cluster</a:t>
            </a:r>
            <a:r>
              <a:rPr sz="20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on</a:t>
            </a:r>
            <a:r>
              <a:rPr sz="20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Bare</a:t>
            </a:r>
            <a:r>
              <a:rPr sz="20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Metal</a:t>
            </a:r>
            <a:r>
              <a:rPr sz="20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or</a:t>
            </a:r>
            <a:r>
              <a:rPr sz="20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595959"/>
                </a:solidFill>
                <a:latin typeface="Arial"/>
                <a:cs typeface="Arial"/>
              </a:rPr>
              <a:t>VM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2730" cy="5143500"/>
            <a:chOff x="0" y="0"/>
            <a:chExt cx="9142730" cy="5143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54" y="0"/>
              <a:ext cx="9141290" cy="410870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4175999" cy="514349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193024" y="4326076"/>
              <a:ext cx="722375" cy="604028"/>
            </a:xfrm>
            <a:prstGeom prst="rect">
              <a:avLst/>
            </a:prstGeom>
          </p:spPr>
        </p:pic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758825" y="1328441"/>
            <a:ext cx="636714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dirty="0">
                <a:solidFill>
                  <a:srgbClr val="FFFFFF"/>
                </a:solidFill>
              </a:rPr>
              <a:t>Let’s</a:t>
            </a:r>
            <a:r>
              <a:rPr sz="4000" spc="-75" dirty="0">
                <a:solidFill>
                  <a:srgbClr val="FFFFFF"/>
                </a:solidFill>
              </a:rPr>
              <a:t> </a:t>
            </a:r>
            <a:r>
              <a:rPr sz="4000" dirty="0">
                <a:solidFill>
                  <a:srgbClr val="FFFFFF"/>
                </a:solidFill>
              </a:rPr>
              <a:t>Deep</a:t>
            </a:r>
            <a:r>
              <a:rPr sz="4000" spc="-70" dirty="0">
                <a:solidFill>
                  <a:srgbClr val="FFFFFF"/>
                </a:solidFill>
              </a:rPr>
              <a:t> </a:t>
            </a:r>
            <a:r>
              <a:rPr sz="4000" dirty="0">
                <a:solidFill>
                  <a:srgbClr val="FFFFFF"/>
                </a:solidFill>
              </a:rPr>
              <a:t>Dive</a:t>
            </a:r>
            <a:r>
              <a:rPr sz="4000" spc="-70" dirty="0">
                <a:solidFill>
                  <a:srgbClr val="FFFFFF"/>
                </a:solidFill>
              </a:rPr>
              <a:t> </a:t>
            </a:r>
            <a:r>
              <a:rPr sz="4000" dirty="0">
                <a:solidFill>
                  <a:srgbClr val="FFFFFF"/>
                </a:solidFill>
              </a:rPr>
              <a:t>into</a:t>
            </a:r>
            <a:r>
              <a:rPr sz="4000" spc="-70" dirty="0">
                <a:solidFill>
                  <a:srgbClr val="FFFFFF"/>
                </a:solidFill>
              </a:rPr>
              <a:t> </a:t>
            </a:r>
            <a:r>
              <a:rPr sz="4000" spc="-10" dirty="0">
                <a:solidFill>
                  <a:srgbClr val="FFFFFF"/>
                </a:solidFill>
              </a:rPr>
              <a:t>Pods…</a:t>
            </a:r>
            <a:endParaRPr sz="4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707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Pod</a:t>
            </a:r>
            <a:r>
              <a:rPr spc="-10" dirty="0"/>
              <a:t> </a:t>
            </a:r>
            <a:r>
              <a:rPr dirty="0"/>
              <a:t>- </a:t>
            </a:r>
            <a:r>
              <a:rPr spc="-10" dirty="0"/>
              <a:t>Concepts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39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339734" y="1293400"/>
            <a:ext cx="3898265" cy="2625725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144780" indent="-132080">
              <a:lnSpc>
                <a:spcPct val="100000"/>
              </a:lnSpc>
              <a:spcBef>
                <a:spcPts val="625"/>
              </a:spcBef>
              <a:buClr>
                <a:srgbClr val="FFAB40"/>
              </a:buClr>
              <a:buChar char="•"/>
              <a:tabLst>
                <a:tab pos="144780" algn="l"/>
              </a:tabLst>
            </a:pP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What</a:t>
            </a:r>
            <a:r>
              <a:rPr sz="20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is</a:t>
            </a:r>
            <a:r>
              <a:rPr sz="2000" spc="-20" dirty="0">
                <a:solidFill>
                  <a:srgbClr val="595959"/>
                </a:solidFill>
                <a:latin typeface="Arial"/>
                <a:cs typeface="Arial"/>
              </a:rPr>
              <a:t> Pod?</a:t>
            </a:r>
            <a:endParaRPr sz="2000">
              <a:latin typeface="Arial"/>
              <a:cs typeface="Arial"/>
            </a:endParaRPr>
          </a:p>
          <a:p>
            <a:pPr marL="144780" indent="-132080">
              <a:lnSpc>
                <a:spcPct val="100000"/>
              </a:lnSpc>
              <a:spcBef>
                <a:spcPts val="525"/>
              </a:spcBef>
              <a:buClr>
                <a:srgbClr val="FFAB40"/>
              </a:buClr>
              <a:buChar char="•"/>
              <a:tabLst>
                <a:tab pos="144780" algn="l"/>
              </a:tabLst>
            </a:pP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Pod</a:t>
            </a:r>
            <a:r>
              <a:rPr sz="2000" spc="-5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Arial"/>
                <a:cs typeface="Arial"/>
              </a:rPr>
              <a:t>Deployment</a:t>
            </a:r>
            <a:endParaRPr sz="2000">
              <a:latin typeface="Arial"/>
              <a:cs typeface="Arial"/>
            </a:endParaRPr>
          </a:p>
          <a:p>
            <a:pPr marL="144780" indent="-132080">
              <a:lnSpc>
                <a:spcPct val="100000"/>
              </a:lnSpc>
              <a:spcBef>
                <a:spcPts val="525"/>
              </a:spcBef>
              <a:buClr>
                <a:srgbClr val="FFAB40"/>
              </a:buClr>
              <a:buChar char="•"/>
              <a:tabLst>
                <a:tab pos="144780" algn="l"/>
              </a:tabLst>
            </a:pPr>
            <a:r>
              <a:rPr sz="2000" spc="-10" dirty="0">
                <a:solidFill>
                  <a:srgbClr val="595959"/>
                </a:solidFill>
                <a:latin typeface="Arial"/>
                <a:cs typeface="Arial"/>
              </a:rPr>
              <a:t>Multi-Container</a:t>
            </a:r>
            <a:endParaRPr sz="2000">
              <a:latin typeface="Arial"/>
              <a:cs typeface="Arial"/>
            </a:endParaRPr>
          </a:p>
          <a:p>
            <a:pPr marL="144780" indent="-132080">
              <a:lnSpc>
                <a:spcPct val="100000"/>
              </a:lnSpc>
              <a:spcBef>
                <a:spcPts val="525"/>
              </a:spcBef>
              <a:buClr>
                <a:srgbClr val="FFAB40"/>
              </a:buClr>
              <a:buChar char="•"/>
              <a:tabLst>
                <a:tab pos="144780" algn="l"/>
              </a:tabLst>
            </a:pP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Pod</a:t>
            </a:r>
            <a:r>
              <a:rPr sz="2000" spc="-5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Arial"/>
                <a:cs typeface="Arial"/>
              </a:rPr>
              <a:t>Networking</a:t>
            </a:r>
            <a:endParaRPr sz="2000">
              <a:latin typeface="Arial"/>
              <a:cs typeface="Arial"/>
            </a:endParaRPr>
          </a:p>
          <a:p>
            <a:pPr marL="144780" indent="-132080">
              <a:lnSpc>
                <a:spcPct val="100000"/>
              </a:lnSpc>
              <a:spcBef>
                <a:spcPts val="525"/>
              </a:spcBef>
              <a:buClr>
                <a:srgbClr val="FFAB40"/>
              </a:buClr>
              <a:buChar char="•"/>
              <a:tabLst>
                <a:tab pos="144780" algn="l"/>
              </a:tabLst>
            </a:pPr>
            <a:r>
              <a:rPr sz="2000" spc="-10" dirty="0">
                <a:solidFill>
                  <a:srgbClr val="595959"/>
                </a:solidFill>
                <a:latin typeface="Arial"/>
                <a:cs typeface="Arial"/>
              </a:rPr>
              <a:t>Inter-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Pod &amp;</a:t>
            </a:r>
            <a:r>
              <a:rPr sz="2000" spc="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Arial"/>
                <a:cs typeface="Arial"/>
              </a:rPr>
              <a:t>Intra-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Pod</a:t>
            </a:r>
            <a:r>
              <a:rPr sz="2000" spc="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Arial"/>
                <a:cs typeface="Arial"/>
              </a:rPr>
              <a:t>Networking</a:t>
            </a:r>
            <a:endParaRPr sz="2000">
              <a:latin typeface="Arial"/>
              <a:cs typeface="Arial"/>
            </a:endParaRPr>
          </a:p>
          <a:p>
            <a:pPr marL="144780" indent="-132080">
              <a:lnSpc>
                <a:spcPct val="100000"/>
              </a:lnSpc>
              <a:spcBef>
                <a:spcPts val="525"/>
              </a:spcBef>
              <a:buClr>
                <a:srgbClr val="FFAB40"/>
              </a:buClr>
              <a:buChar char="•"/>
              <a:tabLst>
                <a:tab pos="144780" algn="l"/>
              </a:tabLst>
            </a:pP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Pod</a:t>
            </a:r>
            <a:r>
              <a:rPr sz="2000" spc="-5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Arial"/>
                <a:cs typeface="Arial"/>
              </a:rPr>
              <a:t>Lifecycle</a:t>
            </a:r>
            <a:endParaRPr sz="2000">
              <a:latin typeface="Arial"/>
              <a:cs typeface="Arial"/>
            </a:endParaRPr>
          </a:p>
          <a:p>
            <a:pPr marL="144780" indent="-132080">
              <a:lnSpc>
                <a:spcPct val="100000"/>
              </a:lnSpc>
              <a:spcBef>
                <a:spcPts val="525"/>
              </a:spcBef>
              <a:buClr>
                <a:srgbClr val="FFAB40"/>
              </a:buClr>
              <a:buChar char="•"/>
              <a:tabLst>
                <a:tab pos="144780" algn="l"/>
              </a:tabLst>
            </a:pP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Pod</a:t>
            </a:r>
            <a:r>
              <a:rPr sz="2000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Manifest</a:t>
            </a:r>
            <a:r>
              <a:rPr sz="2000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spc="-20" dirty="0">
                <a:solidFill>
                  <a:srgbClr val="595959"/>
                </a:solidFill>
                <a:latin typeface="Arial"/>
                <a:cs typeface="Arial"/>
              </a:rPr>
              <a:t>File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707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Atomic</a:t>
            </a:r>
            <a:r>
              <a:rPr spc="35" dirty="0"/>
              <a:t> </a:t>
            </a:r>
            <a:r>
              <a:rPr dirty="0"/>
              <a:t>Unit</a:t>
            </a:r>
            <a:r>
              <a:rPr spc="30" dirty="0"/>
              <a:t> </a:t>
            </a:r>
            <a:r>
              <a:rPr dirty="0"/>
              <a:t>of</a:t>
            </a:r>
            <a:r>
              <a:rPr spc="30" dirty="0"/>
              <a:t> </a:t>
            </a:r>
            <a:r>
              <a:rPr spc="-10" dirty="0"/>
              <a:t>Scheduling</a:t>
            </a:r>
          </a:p>
        </p:txBody>
      </p:sp>
      <p:sp>
        <p:nvSpPr>
          <p:cNvPr id="3" name="object 3"/>
          <p:cNvSpPr/>
          <p:nvPr/>
        </p:nvSpPr>
        <p:spPr>
          <a:xfrm>
            <a:off x="554803" y="1294543"/>
            <a:ext cx="2096135" cy="2867025"/>
          </a:xfrm>
          <a:custGeom>
            <a:avLst/>
            <a:gdLst/>
            <a:ahLst/>
            <a:cxnLst/>
            <a:rect l="l" t="t" r="r" b="b"/>
            <a:pathLst>
              <a:path w="2096135" h="2867025">
                <a:moveTo>
                  <a:pt x="0" y="349328"/>
                </a:moveTo>
                <a:lnTo>
                  <a:pt x="3188" y="301926"/>
                </a:lnTo>
                <a:lnTo>
                  <a:pt x="12478" y="256463"/>
                </a:lnTo>
                <a:lnTo>
                  <a:pt x="27451" y="213354"/>
                </a:lnTo>
                <a:lnTo>
                  <a:pt x="47693" y="173015"/>
                </a:lnTo>
                <a:lnTo>
                  <a:pt x="72786" y="135864"/>
                </a:lnTo>
                <a:lnTo>
                  <a:pt x="102315" y="102315"/>
                </a:lnTo>
                <a:lnTo>
                  <a:pt x="135864" y="72786"/>
                </a:lnTo>
                <a:lnTo>
                  <a:pt x="173015" y="47693"/>
                </a:lnTo>
                <a:lnTo>
                  <a:pt x="213354" y="27451"/>
                </a:lnTo>
                <a:lnTo>
                  <a:pt x="256463" y="12478"/>
                </a:lnTo>
                <a:lnTo>
                  <a:pt x="301926" y="3188"/>
                </a:lnTo>
                <a:lnTo>
                  <a:pt x="349328" y="0"/>
                </a:lnTo>
                <a:lnTo>
                  <a:pt x="1746600" y="0"/>
                </a:lnTo>
                <a:lnTo>
                  <a:pt x="1792517" y="3029"/>
                </a:lnTo>
                <a:lnTo>
                  <a:pt x="1837259" y="11968"/>
                </a:lnTo>
                <a:lnTo>
                  <a:pt x="1880282" y="26591"/>
                </a:lnTo>
                <a:lnTo>
                  <a:pt x="1921044" y="46673"/>
                </a:lnTo>
                <a:lnTo>
                  <a:pt x="1959002" y="71989"/>
                </a:lnTo>
                <a:lnTo>
                  <a:pt x="1993613" y="102315"/>
                </a:lnTo>
                <a:lnTo>
                  <a:pt x="2023939" y="136926"/>
                </a:lnTo>
                <a:lnTo>
                  <a:pt x="2049255" y="174884"/>
                </a:lnTo>
                <a:lnTo>
                  <a:pt x="2069338" y="215646"/>
                </a:lnTo>
                <a:lnTo>
                  <a:pt x="2083960" y="258669"/>
                </a:lnTo>
                <a:lnTo>
                  <a:pt x="2092899" y="303411"/>
                </a:lnTo>
                <a:lnTo>
                  <a:pt x="2095928" y="349328"/>
                </a:lnTo>
                <a:lnTo>
                  <a:pt x="2095928" y="2517161"/>
                </a:lnTo>
                <a:lnTo>
                  <a:pt x="2092740" y="2564563"/>
                </a:lnTo>
                <a:lnTo>
                  <a:pt x="2083450" y="2610026"/>
                </a:lnTo>
                <a:lnTo>
                  <a:pt x="2068477" y="2653135"/>
                </a:lnTo>
                <a:lnTo>
                  <a:pt x="2048235" y="2693474"/>
                </a:lnTo>
                <a:lnTo>
                  <a:pt x="2023142" y="2730625"/>
                </a:lnTo>
                <a:lnTo>
                  <a:pt x="1993613" y="2764174"/>
                </a:lnTo>
                <a:lnTo>
                  <a:pt x="1960064" y="2793703"/>
                </a:lnTo>
                <a:lnTo>
                  <a:pt x="1922913" y="2818796"/>
                </a:lnTo>
                <a:lnTo>
                  <a:pt x="1882574" y="2839038"/>
                </a:lnTo>
                <a:lnTo>
                  <a:pt x="1839465" y="2854011"/>
                </a:lnTo>
                <a:lnTo>
                  <a:pt x="1794002" y="2863301"/>
                </a:lnTo>
                <a:lnTo>
                  <a:pt x="1746600" y="2866489"/>
                </a:lnTo>
                <a:lnTo>
                  <a:pt x="349328" y="2866489"/>
                </a:lnTo>
                <a:lnTo>
                  <a:pt x="301926" y="2863301"/>
                </a:lnTo>
                <a:lnTo>
                  <a:pt x="256463" y="2854011"/>
                </a:lnTo>
                <a:lnTo>
                  <a:pt x="213354" y="2839038"/>
                </a:lnTo>
                <a:lnTo>
                  <a:pt x="173015" y="2818796"/>
                </a:lnTo>
                <a:lnTo>
                  <a:pt x="135864" y="2793703"/>
                </a:lnTo>
                <a:lnTo>
                  <a:pt x="102315" y="2764174"/>
                </a:lnTo>
                <a:lnTo>
                  <a:pt x="72786" y="2730625"/>
                </a:lnTo>
                <a:lnTo>
                  <a:pt x="47693" y="2693474"/>
                </a:lnTo>
                <a:lnTo>
                  <a:pt x="27451" y="2653135"/>
                </a:lnTo>
                <a:lnTo>
                  <a:pt x="12478" y="2610026"/>
                </a:lnTo>
                <a:lnTo>
                  <a:pt x="3188" y="2564563"/>
                </a:lnTo>
                <a:lnTo>
                  <a:pt x="0" y="2517161"/>
                </a:lnTo>
                <a:lnTo>
                  <a:pt x="0" y="349328"/>
                </a:lnTo>
                <a:close/>
              </a:path>
            </a:pathLst>
          </a:custGeom>
          <a:ln w="12699">
            <a:solidFill>
              <a:srgbClr val="127BB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224371" y="1294543"/>
            <a:ext cx="2096135" cy="2867025"/>
          </a:xfrm>
          <a:custGeom>
            <a:avLst/>
            <a:gdLst/>
            <a:ahLst/>
            <a:cxnLst/>
            <a:rect l="l" t="t" r="r" b="b"/>
            <a:pathLst>
              <a:path w="2096135" h="2867025">
                <a:moveTo>
                  <a:pt x="0" y="349328"/>
                </a:moveTo>
                <a:lnTo>
                  <a:pt x="3188" y="301926"/>
                </a:lnTo>
                <a:lnTo>
                  <a:pt x="12478" y="256463"/>
                </a:lnTo>
                <a:lnTo>
                  <a:pt x="27452" y="213354"/>
                </a:lnTo>
                <a:lnTo>
                  <a:pt x="47693" y="173015"/>
                </a:lnTo>
                <a:lnTo>
                  <a:pt x="72787" y="135864"/>
                </a:lnTo>
                <a:lnTo>
                  <a:pt x="102316" y="102315"/>
                </a:lnTo>
                <a:lnTo>
                  <a:pt x="135864" y="72786"/>
                </a:lnTo>
                <a:lnTo>
                  <a:pt x="173015" y="47693"/>
                </a:lnTo>
                <a:lnTo>
                  <a:pt x="213354" y="27451"/>
                </a:lnTo>
                <a:lnTo>
                  <a:pt x="256463" y="12478"/>
                </a:lnTo>
                <a:lnTo>
                  <a:pt x="301926" y="3188"/>
                </a:lnTo>
                <a:lnTo>
                  <a:pt x="349328" y="0"/>
                </a:lnTo>
                <a:lnTo>
                  <a:pt x="1746600" y="0"/>
                </a:lnTo>
                <a:lnTo>
                  <a:pt x="1792517" y="3029"/>
                </a:lnTo>
                <a:lnTo>
                  <a:pt x="1837259" y="11968"/>
                </a:lnTo>
                <a:lnTo>
                  <a:pt x="1880282" y="26591"/>
                </a:lnTo>
                <a:lnTo>
                  <a:pt x="1921044" y="46673"/>
                </a:lnTo>
                <a:lnTo>
                  <a:pt x="1959002" y="71989"/>
                </a:lnTo>
                <a:lnTo>
                  <a:pt x="1993612" y="102315"/>
                </a:lnTo>
                <a:lnTo>
                  <a:pt x="2023939" y="136926"/>
                </a:lnTo>
                <a:lnTo>
                  <a:pt x="2049255" y="174884"/>
                </a:lnTo>
                <a:lnTo>
                  <a:pt x="2069338" y="215646"/>
                </a:lnTo>
                <a:lnTo>
                  <a:pt x="2083961" y="258669"/>
                </a:lnTo>
                <a:lnTo>
                  <a:pt x="2092899" y="303411"/>
                </a:lnTo>
                <a:lnTo>
                  <a:pt x="2095929" y="349328"/>
                </a:lnTo>
                <a:lnTo>
                  <a:pt x="2095929" y="2517161"/>
                </a:lnTo>
                <a:lnTo>
                  <a:pt x="2092740" y="2564563"/>
                </a:lnTo>
                <a:lnTo>
                  <a:pt x="2083450" y="2610026"/>
                </a:lnTo>
                <a:lnTo>
                  <a:pt x="2068477" y="2653135"/>
                </a:lnTo>
                <a:lnTo>
                  <a:pt x="2048235" y="2693474"/>
                </a:lnTo>
                <a:lnTo>
                  <a:pt x="2023142" y="2730625"/>
                </a:lnTo>
                <a:lnTo>
                  <a:pt x="1993613" y="2764174"/>
                </a:lnTo>
                <a:lnTo>
                  <a:pt x="1960064" y="2793703"/>
                </a:lnTo>
                <a:lnTo>
                  <a:pt x="1922913" y="2818796"/>
                </a:lnTo>
                <a:lnTo>
                  <a:pt x="1882575" y="2839038"/>
                </a:lnTo>
                <a:lnTo>
                  <a:pt x="1839465" y="2854011"/>
                </a:lnTo>
                <a:lnTo>
                  <a:pt x="1794002" y="2863301"/>
                </a:lnTo>
                <a:lnTo>
                  <a:pt x="1746600" y="2866489"/>
                </a:lnTo>
                <a:lnTo>
                  <a:pt x="349328" y="2866489"/>
                </a:lnTo>
                <a:lnTo>
                  <a:pt x="301926" y="2863301"/>
                </a:lnTo>
                <a:lnTo>
                  <a:pt x="256463" y="2854011"/>
                </a:lnTo>
                <a:lnTo>
                  <a:pt x="213354" y="2839038"/>
                </a:lnTo>
                <a:lnTo>
                  <a:pt x="173015" y="2818796"/>
                </a:lnTo>
                <a:lnTo>
                  <a:pt x="135864" y="2793703"/>
                </a:lnTo>
                <a:lnTo>
                  <a:pt x="102316" y="2764174"/>
                </a:lnTo>
                <a:lnTo>
                  <a:pt x="72787" y="2730625"/>
                </a:lnTo>
                <a:lnTo>
                  <a:pt x="47693" y="2693474"/>
                </a:lnTo>
                <a:lnTo>
                  <a:pt x="27452" y="2653135"/>
                </a:lnTo>
                <a:lnTo>
                  <a:pt x="12478" y="2610026"/>
                </a:lnTo>
                <a:lnTo>
                  <a:pt x="3188" y="2564563"/>
                </a:lnTo>
                <a:lnTo>
                  <a:pt x="0" y="2517161"/>
                </a:lnTo>
                <a:lnTo>
                  <a:pt x="0" y="349328"/>
                </a:lnTo>
                <a:close/>
              </a:path>
            </a:pathLst>
          </a:custGeom>
          <a:ln w="12699">
            <a:solidFill>
              <a:srgbClr val="127BB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893939" y="1327886"/>
            <a:ext cx="2096135" cy="2867025"/>
          </a:xfrm>
          <a:custGeom>
            <a:avLst/>
            <a:gdLst/>
            <a:ahLst/>
            <a:cxnLst/>
            <a:rect l="l" t="t" r="r" b="b"/>
            <a:pathLst>
              <a:path w="2096134" h="2867025">
                <a:moveTo>
                  <a:pt x="0" y="349328"/>
                </a:moveTo>
                <a:lnTo>
                  <a:pt x="3188" y="301926"/>
                </a:lnTo>
                <a:lnTo>
                  <a:pt x="12478" y="256463"/>
                </a:lnTo>
                <a:lnTo>
                  <a:pt x="27451" y="213354"/>
                </a:lnTo>
                <a:lnTo>
                  <a:pt x="47693" y="173015"/>
                </a:lnTo>
                <a:lnTo>
                  <a:pt x="72786" y="135864"/>
                </a:lnTo>
                <a:lnTo>
                  <a:pt x="102315" y="102315"/>
                </a:lnTo>
                <a:lnTo>
                  <a:pt x="135864" y="72786"/>
                </a:lnTo>
                <a:lnTo>
                  <a:pt x="173015" y="47693"/>
                </a:lnTo>
                <a:lnTo>
                  <a:pt x="213353" y="27451"/>
                </a:lnTo>
                <a:lnTo>
                  <a:pt x="256462" y="12478"/>
                </a:lnTo>
                <a:lnTo>
                  <a:pt x="301926" y="3188"/>
                </a:lnTo>
                <a:lnTo>
                  <a:pt x="349328" y="0"/>
                </a:lnTo>
                <a:lnTo>
                  <a:pt x="1746600" y="0"/>
                </a:lnTo>
                <a:lnTo>
                  <a:pt x="1792517" y="3029"/>
                </a:lnTo>
                <a:lnTo>
                  <a:pt x="1837259" y="11968"/>
                </a:lnTo>
                <a:lnTo>
                  <a:pt x="1880282" y="26591"/>
                </a:lnTo>
                <a:lnTo>
                  <a:pt x="1921044" y="46673"/>
                </a:lnTo>
                <a:lnTo>
                  <a:pt x="1959002" y="71989"/>
                </a:lnTo>
                <a:lnTo>
                  <a:pt x="1993612" y="102315"/>
                </a:lnTo>
                <a:lnTo>
                  <a:pt x="2023939" y="136926"/>
                </a:lnTo>
                <a:lnTo>
                  <a:pt x="2049255" y="174884"/>
                </a:lnTo>
                <a:lnTo>
                  <a:pt x="2069337" y="215646"/>
                </a:lnTo>
                <a:lnTo>
                  <a:pt x="2083960" y="258669"/>
                </a:lnTo>
                <a:lnTo>
                  <a:pt x="2092899" y="303411"/>
                </a:lnTo>
                <a:lnTo>
                  <a:pt x="2095928" y="349328"/>
                </a:lnTo>
                <a:lnTo>
                  <a:pt x="2095928" y="2517161"/>
                </a:lnTo>
                <a:lnTo>
                  <a:pt x="2092739" y="2564563"/>
                </a:lnTo>
                <a:lnTo>
                  <a:pt x="2083450" y="2610026"/>
                </a:lnTo>
                <a:lnTo>
                  <a:pt x="2068476" y="2653135"/>
                </a:lnTo>
                <a:lnTo>
                  <a:pt x="2048235" y="2693474"/>
                </a:lnTo>
                <a:lnTo>
                  <a:pt x="2023141" y="2730625"/>
                </a:lnTo>
                <a:lnTo>
                  <a:pt x="1993612" y="2764174"/>
                </a:lnTo>
                <a:lnTo>
                  <a:pt x="1960064" y="2793703"/>
                </a:lnTo>
                <a:lnTo>
                  <a:pt x="1922913" y="2818796"/>
                </a:lnTo>
                <a:lnTo>
                  <a:pt x="1882574" y="2839038"/>
                </a:lnTo>
                <a:lnTo>
                  <a:pt x="1839465" y="2854011"/>
                </a:lnTo>
                <a:lnTo>
                  <a:pt x="1794002" y="2863301"/>
                </a:lnTo>
                <a:lnTo>
                  <a:pt x="1746600" y="2866489"/>
                </a:lnTo>
                <a:lnTo>
                  <a:pt x="349328" y="2866489"/>
                </a:lnTo>
                <a:lnTo>
                  <a:pt x="301926" y="2863301"/>
                </a:lnTo>
                <a:lnTo>
                  <a:pt x="256462" y="2854011"/>
                </a:lnTo>
                <a:lnTo>
                  <a:pt x="213353" y="2839038"/>
                </a:lnTo>
                <a:lnTo>
                  <a:pt x="173015" y="2818796"/>
                </a:lnTo>
                <a:lnTo>
                  <a:pt x="135864" y="2793703"/>
                </a:lnTo>
                <a:lnTo>
                  <a:pt x="102315" y="2764174"/>
                </a:lnTo>
                <a:lnTo>
                  <a:pt x="72786" y="2730625"/>
                </a:lnTo>
                <a:lnTo>
                  <a:pt x="47693" y="2693474"/>
                </a:lnTo>
                <a:lnTo>
                  <a:pt x="27451" y="2653135"/>
                </a:lnTo>
                <a:lnTo>
                  <a:pt x="12478" y="2610026"/>
                </a:lnTo>
                <a:lnTo>
                  <a:pt x="3188" y="2564563"/>
                </a:lnTo>
                <a:lnTo>
                  <a:pt x="0" y="2517161"/>
                </a:lnTo>
                <a:lnTo>
                  <a:pt x="0" y="349328"/>
                </a:lnTo>
                <a:close/>
              </a:path>
            </a:pathLst>
          </a:custGeom>
          <a:ln w="12699">
            <a:solidFill>
              <a:srgbClr val="127BB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91867" y="1690944"/>
            <a:ext cx="13296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Virtualization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97594" y="1711224"/>
            <a:ext cx="7499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Docker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344588" y="1690944"/>
            <a:ext cx="11950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Kubernetes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031339" y="2754782"/>
            <a:ext cx="1172845" cy="991869"/>
            <a:chOff x="1031339" y="2754782"/>
            <a:chExt cx="1172845" cy="991869"/>
          </a:xfrm>
        </p:grpSpPr>
        <p:sp>
          <p:nvSpPr>
            <p:cNvPr id="10" name="object 10"/>
            <p:cNvSpPr/>
            <p:nvPr/>
          </p:nvSpPr>
          <p:spPr>
            <a:xfrm>
              <a:off x="1037689" y="2761132"/>
              <a:ext cx="1160145" cy="979169"/>
            </a:xfrm>
            <a:custGeom>
              <a:avLst/>
              <a:gdLst/>
              <a:ahLst/>
              <a:cxnLst/>
              <a:rect l="l" t="t" r="r" b="b"/>
              <a:pathLst>
                <a:path w="1160145" h="979170">
                  <a:moveTo>
                    <a:pt x="580062" y="978660"/>
                  </a:moveTo>
                  <a:lnTo>
                    <a:pt x="527264" y="976661"/>
                  </a:lnTo>
                  <a:lnTo>
                    <a:pt x="475795" y="970777"/>
                  </a:lnTo>
                  <a:lnTo>
                    <a:pt x="425858" y="961181"/>
                  </a:lnTo>
                  <a:lnTo>
                    <a:pt x="377659" y="948047"/>
                  </a:lnTo>
                  <a:lnTo>
                    <a:pt x="331403" y="931546"/>
                  </a:lnTo>
                  <a:lnTo>
                    <a:pt x="287293" y="911852"/>
                  </a:lnTo>
                  <a:lnTo>
                    <a:pt x="245536" y="889138"/>
                  </a:lnTo>
                  <a:lnTo>
                    <a:pt x="206335" y="863576"/>
                  </a:lnTo>
                  <a:lnTo>
                    <a:pt x="169896" y="835339"/>
                  </a:lnTo>
                  <a:lnTo>
                    <a:pt x="136423" y="804599"/>
                  </a:lnTo>
                  <a:lnTo>
                    <a:pt x="106121" y="771530"/>
                  </a:lnTo>
                  <a:lnTo>
                    <a:pt x="79195" y="736304"/>
                  </a:lnTo>
                  <a:lnTo>
                    <a:pt x="55850" y="699094"/>
                  </a:lnTo>
                  <a:lnTo>
                    <a:pt x="36290" y="660073"/>
                  </a:lnTo>
                  <a:lnTo>
                    <a:pt x="20720" y="619413"/>
                  </a:lnTo>
                  <a:lnTo>
                    <a:pt x="9345" y="577288"/>
                  </a:lnTo>
                  <a:lnTo>
                    <a:pt x="2370" y="533869"/>
                  </a:lnTo>
                  <a:lnTo>
                    <a:pt x="0" y="489330"/>
                  </a:lnTo>
                  <a:lnTo>
                    <a:pt x="2370" y="444791"/>
                  </a:lnTo>
                  <a:lnTo>
                    <a:pt x="9345" y="401372"/>
                  </a:lnTo>
                  <a:lnTo>
                    <a:pt x="20720" y="359247"/>
                  </a:lnTo>
                  <a:lnTo>
                    <a:pt x="36290" y="318587"/>
                  </a:lnTo>
                  <a:lnTo>
                    <a:pt x="55850" y="279565"/>
                  </a:lnTo>
                  <a:lnTo>
                    <a:pt x="79195" y="242356"/>
                  </a:lnTo>
                  <a:lnTo>
                    <a:pt x="106121" y="207130"/>
                  </a:lnTo>
                  <a:lnTo>
                    <a:pt x="136423" y="174061"/>
                  </a:lnTo>
                  <a:lnTo>
                    <a:pt x="169896" y="143321"/>
                  </a:lnTo>
                  <a:lnTo>
                    <a:pt x="206335" y="115084"/>
                  </a:lnTo>
                  <a:lnTo>
                    <a:pt x="245536" y="89522"/>
                  </a:lnTo>
                  <a:lnTo>
                    <a:pt x="287293" y="66807"/>
                  </a:lnTo>
                  <a:lnTo>
                    <a:pt x="331403" y="47114"/>
                  </a:lnTo>
                  <a:lnTo>
                    <a:pt x="377659" y="30613"/>
                  </a:lnTo>
                  <a:lnTo>
                    <a:pt x="425858" y="17479"/>
                  </a:lnTo>
                  <a:lnTo>
                    <a:pt x="475795" y="7883"/>
                  </a:lnTo>
                  <a:lnTo>
                    <a:pt x="527264" y="1999"/>
                  </a:lnTo>
                  <a:lnTo>
                    <a:pt x="580062" y="0"/>
                  </a:lnTo>
                  <a:lnTo>
                    <a:pt x="632859" y="1999"/>
                  </a:lnTo>
                  <a:lnTo>
                    <a:pt x="684328" y="7883"/>
                  </a:lnTo>
                  <a:lnTo>
                    <a:pt x="734265" y="17479"/>
                  </a:lnTo>
                  <a:lnTo>
                    <a:pt x="782464" y="30613"/>
                  </a:lnTo>
                  <a:lnTo>
                    <a:pt x="828720" y="47114"/>
                  </a:lnTo>
                  <a:lnTo>
                    <a:pt x="872830" y="66807"/>
                  </a:lnTo>
                  <a:lnTo>
                    <a:pt x="914587" y="89522"/>
                  </a:lnTo>
                  <a:lnTo>
                    <a:pt x="953788" y="115084"/>
                  </a:lnTo>
                  <a:lnTo>
                    <a:pt x="990227" y="143321"/>
                  </a:lnTo>
                  <a:lnTo>
                    <a:pt x="1023700" y="174061"/>
                  </a:lnTo>
                  <a:lnTo>
                    <a:pt x="1054002" y="207130"/>
                  </a:lnTo>
                  <a:lnTo>
                    <a:pt x="1080928" y="242356"/>
                  </a:lnTo>
                  <a:lnTo>
                    <a:pt x="1104273" y="279565"/>
                  </a:lnTo>
                  <a:lnTo>
                    <a:pt x="1123833" y="318587"/>
                  </a:lnTo>
                  <a:lnTo>
                    <a:pt x="1139403" y="359247"/>
                  </a:lnTo>
                  <a:lnTo>
                    <a:pt x="1150778" y="401372"/>
                  </a:lnTo>
                  <a:lnTo>
                    <a:pt x="1157753" y="444791"/>
                  </a:lnTo>
                  <a:lnTo>
                    <a:pt x="1160123" y="489330"/>
                  </a:lnTo>
                  <a:lnTo>
                    <a:pt x="1157753" y="533869"/>
                  </a:lnTo>
                  <a:lnTo>
                    <a:pt x="1150778" y="577288"/>
                  </a:lnTo>
                  <a:lnTo>
                    <a:pt x="1139403" y="619413"/>
                  </a:lnTo>
                  <a:lnTo>
                    <a:pt x="1123833" y="660073"/>
                  </a:lnTo>
                  <a:lnTo>
                    <a:pt x="1104273" y="699094"/>
                  </a:lnTo>
                  <a:lnTo>
                    <a:pt x="1080928" y="736304"/>
                  </a:lnTo>
                  <a:lnTo>
                    <a:pt x="1054002" y="771530"/>
                  </a:lnTo>
                  <a:lnTo>
                    <a:pt x="1023700" y="804599"/>
                  </a:lnTo>
                  <a:lnTo>
                    <a:pt x="990227" y="835339"/>
                  </a:lnTo>
                  <a:lnTo>
                    <a:pt x="953788" y="863576"/>
                  </a:lnTo>
                  <a:lnTo>
                    <a:pt x="914587" y="889138"/>
                  </a:lnTo>
                  <a:lnTo>
                    <a:pt x="872830" y="911852"/>
                  </a:lnTo>
                  <a:lnTo>
                    <a:pt x="828720" y="931546"/>
                  </a:lnTo>
                  <a:lnTo>
                    <a:pt x="782464" y="948047"/>
                  </a:lnTo>
                  <a:lnTo>
                    <a:pt x="734265" y="961181"/>
                  </a:lnTo>
                  <a:lnTo>
                    <a:pt x="684328" y="970777"/>
                  </a:lnTo>
                  <a:lnTo>
                    <a:pt x="632859" y="976661"/>
                  </a:lnTo>
                  <a:lnTo>
                    <a:pt x="580062" y="978660"/>
                  </a:lnTo>
                  <a:close/>
                </a:path>
              </a:pathLst>
            </a:custGeom>
            <a:solidFill>
              <a:srgbClr val="0097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37689" y="2761132"/>
              <a:ext cx="1160145" cy="979169"/>
            </a:xfrm>
            <a:custGeom>
              <a:avLst/>
              <a:gdLst/>
              <a:ahLst/>
              <a:cxnLst/>
              <a:rect l="l" t="t" r="r" b="b"/>
              <a:pathLst>
                <a:path w="1160145" h="979170">
                  <a:moveTo>
                    <a:pt x="0" y="489330"/>
                  </a:moveTo>
                  <a:lnTo>
                    <a:pt x="2370" y="444791"/>
                  </a:lnTo>
                  <a:lnTo>
                    <a:pt x="9345" y="401372"/>
                  </a:lnTo>
                  <a:lnTo>
                    <a:pt x="20720" y="359247"/>
                  </a:lnTo>
                  <a:lnTo>
                    <a:pt x="36290" y="318587"/>
                  </a:lnTo>
                  <a:lnTo>
                    <a:pt x="55850" y="279565"/>
                  </a:lnTo>
                  <a:lnTo>
                    <a:pt x="79195" y="242356"/>
                  </a:lnTo>
                  <a:lnTo>
                    <a:pt x="106121" y="207130"/>
                  </a:lnTo>
                  <a:lnTo>
                    <a:pt x="136423" y="174061"/>
                  </a:lnTo>
                  <a:lnTo>
                    <a:pt x="169896" y="143321"/>
                  </a:lnTo>
                  <a:lnTo>
                    <a:pt x="206335" y="115084"/>
                  </a:lnTo>
                  <a:lnTo>
                    <a:pt x="245536" y="89522"/>
                  </a:lnTo>
                  <a:lnTo>
                    <a:pt x="287293" y="66807"/>
                  </a:lnTo>
                  <a:lnTo>
                    <a:pt x="331403" y="47114"/>
                  </a:lnTo>
                  <a:lnTo>
                    <a:pt x="377659" y="30613"/>
                  </a:lnTo>
                  <a:lnTo>
                    <a:pt x="425858" y="17479"/>
                  </a:lnTo>
                  <a:lnTo>
                    <a:pt x="475795" y="7883"/>
                  </a:lnTo>
                  <a:lnTo>
                    <a:pt x="527264" y="1999"/>
                  </a:lnTo>
                  <a:lnTo>
                    <a:pt x="580062" y="0"/>
                  </a:lnTo>
                  <a:lnTo>
                    <a:pt x="632859" y="1999"/>
                  </a:lnTo>
                  <a:lnTo>
                    <a:pt x="684328" y="7883"/>
                  </a:lnTo>
                  <a:lnTo>
                    <a:pt x="734265" y="17479"/>
                  </a:lnTo>
                  <a:lnTo>
                    <a:pt x="782464" y="30613"/>
                  </a:lnTo>
                  <a:lnTo>
                    <a:pt x="828720" y="47114"/>
                  </a:lnTo>
                  <a:lnTo>
                    <a:pt x="872830" y="66807"/>
                  </a:lnTo>
                  <a:lnTo>
                    <a:pt x="914587" y="89522"/>
                  </a:lnTo>
                  <a:lnTo>
                    <a:pt x="953788" y="115084"/>
                  </a:lnTo>
                  <a:lnTo>
                    <a:pt x="990227" y="143321"/>
                  </a:lnTo>
                  <a:lnTo>
                    <a:pt x="1023700" y="174061"/>
                  </a:lnTo>
                  <a:lnTo>
                    <a:pt x="1054002" y="207130"/>
                  </a:lnTo>
                  <a:lnTo>
                    <a:pt x="1080928" y="242356"/>
                  </a:lnTo>
                  <a:lnTo>
                    <a:pt x="1104273" y="279565"/>
                  </a:lnTo>
                  <a:lnTo>
                    <a:pt x="1123833" y="318587"/>
                  </a:lnTo>
                  <a:lnTo>
                    <a:pt x="1139403" y="359247"/>
                  </a:lnTo>
                  <a:lnTo>
                    <a:pt x="1150778" y="401372"/>
                  </a:lnTo>
                  <a:lnTo>
                    <a:pt x="1157753" y="444791"/>
                  </a:lnTo>
                  <a:lnTo>
                    <a:pt x="1160123" y="489330"/>
                  </a:lnTo>
                  <a:lnTo>
                    <a:pt x="1157753" y="533869"/>
                  </a:lnTo>
                  <a:lnTo>
                    <a:pt x="1150778" y="577288"/>
                  </a:lnTo>
                  <a:lnTo>
                    <a:pt x="1139403" y="619413"/>
                  </a:lnTo>
                  <a:lnTo>
                    <a:pt x="1123833" y="660073"/>
                  </a:lnTo>
                  <a:lnTo>
                    <a:pt x="1104273" y="699094"/>
                  </a:lnTo>
                  <a:lnTo>
                    <a:pt x="1080928" y="736304"/>
                  </a:lnTo>
                  <a:lnTo>
                    <a:pt x="1054002" y="771530"/>
                  </a:lnTo>
                  <a:lnTo>
                    <a:pt x="1023700" y="804599"/>
                  </a:lnTo>
                  <a:lnTo>
                    <a:pt x="990227" y="835339"/>
                  </a:lnTo>
                  <a:lnTo>
                    <a:pt x="953788" y="863576"/>
                  </a:lnTo>
                  <a:lnTo>
                    <a:pt x="914587" y="889138"/>
                  </a:lnTo>
                  <a:lnTo>
                    <a:pt x="872830" y="911852"/>
                  </a:lnTo>
                  <a:lnTo>
                    <a:pt x="828720" y="931546"/>
                  </a:lnTo>
                  <a:lnTo>
                    <a:pt x="782464" y="948047"/>
                  </a:lnTo>
                  <a:lnTo>
                    <a:pt x="734265" y="961181"/>
                  </a:lnTo>
                  <a:lnTo>
                    <a:pt x="684328" y="970777"/>
                  </a:lnTo>
                  <a:lnTo>
                    <a:pt x="632859" y="976661"/>
                  </a:lnTo>
                  <a:lnTo>
                    <a:pt x="580062" y="978660"/>
                  </a:lnTo>
                  <a:lnTo>
                    <a:pt x="527264" y="976661"/>
                  </a:lnTo>
                  <a:lnTo>
                    <a:pt x="475795" y="970777"/>
                  </a:lnTo>
                  <a:lnTo>
                    <a:pt x="425858" y="961181"/>
                  </a:lnTo>
                  <a:lnTo>
                    <a:pt x="377659" y="948047"/>
                  </a:lnTo>
                  <a:lnTo>
                    <a:pt x="331403" y="931546"/>
                  </a:lnTo>
                  <a:lnTo>
                    <a:pt x="287293" y="911852"/>
                  </a:lnTo>
                  <a:lnTo>
                    <a:pt x="245536" y="889138"/>
                  </a:lnTo>
                  <a:lnTo>
                    <a:pt x="206335" y="863576"/>
                  </a:lnTo>
                  <a:lnTo>
                    <a:pt x="169896" y="835339"/>
                  </a:lnTo>
                  <a:lnTo>
                    <a:pt x="136423" y="804599"/>
                  </a:lnTo>
                  <a:lnTo>
                    <a:pt x="106121" y="771530"/>
                  </a:lnTo>
                  <a:lnTo>
                    <a:pt x="79195" y="736304"/>
                  </a:lnTo>
                  <a:lnTo>
                    <a:pt x="55850" y="699094"/>
                  </a:lnTo>
                  <a:lnTo>
                    <a:pt x="36290" y="660073"/>
                  </a:lnTo>
                  <a:lnTo>
                    <a:pt x="20720" y="619413"/>
                  </a:lnTo>
                  <a:lnTo>
                    <a:pt x="9345" y="577288"/>
                  </a:lnTo>
                  <a:lnTo>
                    <a:pt x="2370" y="533869"/>
                  </a:lnTo>
                  <a:lnTo>
                    <a:pt x="0" y="48933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490752" y="3141179"/>
            <a:ext cx="2540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Arial"/>
                <a:cs typeface="Arial"/>
              </a:rPr>
              <a:t>VM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598167" y="2792049"/>
            <a:ext cx="1172845" cy="991869"/>
            <a:chOff x="3598167" y="2792049"/>
            <a:chExt cx="1172845" cy="991869"/>
          </a:xfrm>
        </p:grpSpPr>
        <p:sp>
          <p:nvSpPr>
            <p:cNvPr id="14" name="object 14"/>
            <p:cNvSpPr/>
            <p:nvPr/>
          </p:nvSpPr>
          <p:spPr>
            <a:xfrm>
              <a:off x="3604517" y="2798399"/>
              <a:ext cx="1160145" cy="979169"/>
            </a:xfrm>
            <a:custGeom>
              <a:avLst/>
              <a:gdLst/>
              <a:ahLst/>
              <a:cxnLst/>
              <a:rect l="l" t="t" r="r" b="b"/>
              <a:pathLst>
                <a:path w="1160145" h="979170">
                  <a:moveTo>
                    <a:pt x="580061" y="978660"/>
                  </a:moveTo>
                  <a:lnTo>
                    <a:pt x="527264" y="976661"/>
                  </a:lnTo>
                  <a:lnTo>
                    <a:pt x="475795" y="970777"/>
                  </a:lnTo>
                  <a:lnTo>
                    <a:pt x="425858" y="961181"/>
                  </a:lnTo>
                  <a:lnTo>
                    <a:pt x="377659" y="948047"/>
                  </a:lnTo>
                  <a:lnTo>
                    <a:pt x="331403" y="931546"/>
                  </a:lnTo>
                  <a:lnTo>
                    <a:pt x="287293" y="911852"/>
                  </a:lnTo>
                  <a:lnTo>
                    <a:pt x="245536" y="889138"/>
                  </a:lnTo>
                  <a:lnTo>
                    <a:pt x="206335" y="863576"/>
                  </a:lnTo>
                  <a:lnTo>
                    <a:pt x="169896" y="835339"/>
                  </a:lnTo>
                  <a:lnTo>
                    <a:pt x="136423" y="804599"/>
                  </a:lnTo>
                  <a:lnTo>
                    <a:pt x="106121" y="771530"/>
                  </a:lnTo>
                  <a:lnTo>
                    <a:pt x="79195" y="736304"/>
                  </a:lnTo>
                  <a:lnTo>
                    <a:pt x="55850" y="699094"/>
                  </a:lnTo>
                  <a:lnTo>
                    <a:pt x="36290" y="660073"/>
                  </a:lnTo>
                  <a:lnTo>
                    <a:pt x="20720" y="619413"/>
                  </a:lnTo>
                  <a:lnTo>
                    <a:pt x="9345" y="577288"/>
                  </a:lnTo>
                  <a:lnTo>
                    <a:pt x="2370" y="533869"/>
                  </a:lnTo>
                  <a:lnTo>
                    <a:pt x="0" y="489330"/>
                  </a:lnTo>
                  <a:lnTo>
                    <a:pt x="2370" y="444791"/>
                  </a:lnTo>
                  <a:lnTo>
                    <a:pt x="9345" y="401372"/>
                  </a:lnTo>
                  <a:lnTo>
                    <a:pt x="20720" y="359247"/>
                  </a:lnTo>
                  <a:lnTo>
                    <a:pt x="36290" y="318587"/>
                  </a:lnTo>
                  <a:lnTo>
                    <a:pt x="55850" y="279565"/>
                  </a:lnTo>
                  <a:lnTo>
                    <a:pt x="79195" y="242356"/>
                  </a:lnTo>
                  <a:lnTo>
                    <a:pt x="106121" y="207130"/>
                  </a:lnTo>
                  <a:lnTo>
                    <a:pt x="136423" y="174061"/>
                  </a:lnTo>
                  <a:lnTo>
                    <a:pt x="169896" y="143321"/>
                  </a:lnTo>
                  <a:lnTo>
                    <a:pt x="206335" y="115084"/>
                  </a:lnTo>
                  <a:lnTo>
                    <a:pt x="245536" y="89522"/>
                  </a:lnTo>
                  <a:lnTo>
                    <a:pt x="287293" y="66807"/>
                  </a:lnTo>
                  <a:lnTo>
                    <a:pt x="331403" y="47114"/>
                  </a:lnTo>
                  <a:lnTo>
                    <a:pt x="377659" y="30613"/>
                  </a:lnTo>
                  <a:lnTo>
                    <a:pt x="425858" y="17479"/>
                  </a:lnTo>
                  <a:lnTo>
                    <a:pt x="475795" y="7883"/>
                  </a:lnTo>
                  <a:lnTo>
                    <a:pt x="527264" y="1999"/>
                  </a:lnTo>
                  <a:lnTo>
                    <a:pt x="580061" y="0"/>
                  </a:lnTo>
                  <a:lnTo>
                    <a:pt x="632859" y="1999"/>
                  </a:lnTo>
                  <a:lnTo>
                    <a:pt x="684328" y="7883"/>
                  </a:lnTo>
                  <a:lnTo>
                    <a:pt x="734265" y="17479"/>
                  </a:lnTo>
                  <a:lnTo>
                    <a:pt x="782464" y="30613"/>
                  </a:lnTo>
                  <a:lnTo>
                    <a:pt x="828720" y="47114"/>
                  </a:lnTo>
                  <a:lnTo>
                    <a:pt x="872830" y="66807"/>
                  </a:lnTo>
                  <a:lnTo>
                    <a:pt x="914587" y="89522"/>
                  </a:lnTo>
                  <a:lnTo>
                    <a:pt x="953788" y="115084"/>
                  </a:lnTo>
                  <a:lnTo>
                    <a:pt x="990227" y="143321"/>
                  </a:lnTo>
                  <a:lnTo>
                    <a:pt x="1023700" y="174061"/>
                  </a:lnTo>
                  <a:lnTo>
                    <a:pt x="1054002" y="207130"/>
                  </a:lnTo>
                  <a:lnTo>
                    <a:pt x="1080928" y="242356"/>
                  </a:lnTo>
                  <a:lnTo>
                    <a:pt x="1104273" y="279565"/>
                  </a:lnTo>
                  <a:lnTo>
                    <a:pt x="1123833" y="318587"/>
                  </a:lnTo>
                  <a:lnTo>
                    <a:pt x="1139403" y="359247"/>
                  </a:lnTo>
                  <a:lnTo>
                    <a:pt x="1150778" y="401372"/>
                  </a:lnTo>
                  <a:lnTo>
                    <a:pt x="1157753" y="444791"/>
                  </a:lnTo>
                  <a:lnTo>
                    <a:pt x="1160123" y="489330"/>
                  </a:lnTo>
                  <a:lnTo>
                    <a:pt x="1157753" y="533869"/>
                  </a:lnTo>
                  <a:lnTo>
                    <a:pt x="1150778" y="577288"/>
                  </a:lnTo>
                  <a:lnTo>
                    <a:pt x="1139403" y="619413"/>
                  </a:lnTo>
                  <a:lnTo>
                    <a:pt x="1123833" y="660073"/>
                  </a:lnTo>
                  <a:lnTo>
                    <a:pt x="1104273" y="699094"/>
                  </a:lnTo>
                  <a:lnTo>
                    <a:pt x="1080928" y="736304"/>
                  </a:lnTo>
                  <a:lnTo>
                    <a:pt x="1054002" y="771530"/>
                  </a:lnTo>
                  <a:lnTo>
                    <a:pt x="1023700" y="804599"/>
                  </a:lnTo>
                  <a:lnTo>
                    <a:pt x="990227" y="835339"/>
                  </a:lnTo>
                  <a:lnTo>
                    <a:pt x="953788" y="863576"/>
                  </a:lnTo>
                  <a:lnTo>
                    <a:pt x="914587" y="889138"/>
                  </a:lnTo>
                  <a:lnTo>
                    <a:pt x="872830" y="911852"/>
                  </a:lnTo>
                  <a:lnTo>
                    <a:pt x="828720" y="931546"/>
                  </a:lnTo>
                  <a:lnTo>
                    <a:pt x="782464" y="948047"/>
                  </a:lnTo>
                  <a:lnTo>
                    <a:pt x="734265" y="961181"/>
                  </a:lnTo>
                  <a:lnTo>
                    <a:pt x="684328" y="970777"/>
                  </a:lnTo>
                  <a:lnTo>
                    <a:pt x="632859" y="976661"/>
                  </a:lnTo>
                  <a:lnTo>
                    <a:pt x="580061" y="978660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604517" y="2798399"/>
              <a:ext cx="1160145" cy="979169"/>
            </a:xfrm>
            <a:custGeom>
              <a:avLst/>
              <a:gdLst/>
              <a:ahLst/>
              <a:cxnLst/>
              <a:rect l="l" t="t" r="r" b="b"/>
              <a:pathLst>
                <a:path w="1160145" h="979170">
                  <a:moveTo>
                    <a:pt x="0" y="489330"/>
                  </a:moveTo>
                  <a:lnTo>
                    <a:pt x="2370" y="444791"/>
                  </a:lnTo>
                  <a:lnTo>
                    <a:pt x="9345" y="401372"/>
                  </a:lnTo>
                  <a:lnTo>
                    <a:pt x="20720" y="359247"/>
                  </a:lnTo>
                  <a:lnTo>
                    <a:pt x="36290" y="318587"/>
                  </a:lnTo>
                  <a:lnTo>
                    <a:pt x="55850" y="279565"/>
                  </a:lnTo>
                  <a:lnTo>
                    <a:pt x="79195" y="242356"/>
                  </a:lnTo>
                  <a:lnTo>
                    <a:pt x="106121" y="207130"/>
                  </a:lnTo>
                  <a:lnTo>
                    <a:pt x="136423" y="174061"/>
                  </a:lnTo>
                  <a:lnTo>
                    <a:pt x="169896" y="143321"/>
                  </a:lnTo>
                  <a:lnTo>
                    <a:pt x="206335" y="115084"/>
                  </a:lnTo>
                  <a:lnTo>
                    <a:pt x="245536" y="89522"/>
                  </a:lnTo>
                  <a:lnTo>
                    <a:pt x="287293" y="66807"/>
                  </a:lnTo>
                  <a:lnTo>
                    <a:pt x="331403" y="47114"/>
                  </a:lnTo>
                  <a:lnTo>
                    <a:pt x="377659" y="30613"/>
                  </a:lnTo>
                  <a:lnTo>
                    <a:pt x="425858" y="17479"/>
                  </a:lnTo>
                  <a:lnTo>
                    <a:pt x="475795" y="7883"/>
                  </a:lnTo>
                  <a:lnTo>
                    <a:pt x="527264" y="1999"/>
                  </a:lnTo>
                  <a:lnTo>
                    <a:pt x="580061" y="0"/>
                  </a:lnTo>
                  <a:lnTo>
                    <a:pt x="632859" y="1999"/>
                  </a:lnTo>
                  <a:lnTo>
                    <a:pt x="684328" y="7883"/>
                  </a:lnTo>
                  <a:lnTo>
                    <a:pt x="734265" y="17479"/>
                  </a:lnTo>
                  <a:lnTo>
                    <a:pt x="782464" y="30613"/>
                  </a:lnTo>
                  <a:lnTo>
                    <a:pt x="828720" y="47114"/>
                  </a:lnTo>
                  <a:lnTo>
                    <a:pt x="872830" y="66807"/>
                  </a:lnTo>
                  <a:lnTo>
                    <a:pt x="914587" y="89522"/>
                  </a:lnTo>
                  <a:lnTo>
                    <a:pt x="953788" y="115084"/>
                  </a:lnTo>
                  <a:lnTo>
                    <a:pt x="990227" y="143321"/>
                  </a:lnTo>
                  <a:lnTo>
                    <a:pt x="1023700" y="174061"/>
                  </a:lnTo>
                  <a:lnTo>
                    <a:pt x="1054002" y="207130"/>
                  </a:lnTo>
                  <a:lnTo>
                    <a:pt x="1080928" y="242356"/>
                  </a:lnTo>
                  <a:lnTo>
                    <a:pt x="1104273" y="279565"/>
                  </a:lnTo>
                  <a:lnTo>
                    <a:pt x="1123833" y="318587"/>
                  </a:lnTo>
                  <a:lnTo>
                    <a:pt x="1139403" y="359247"/>
                  </a:lnTo>
                  <a:lnTo>
                    <a:pt x="1150778" y="401372"/>
                  </a:lnTo>
                  <a:lnTo>
                    <a:pt x="1157753" y="444791"/>
                  </a:lnTo>
                  <a:lnTo>
                    <a:pt x="1160123" y="489330"/>
                  </a:lnTo>
                  <a:lnTo>
                    <a:pt x="1157753" y="533869"/>
                  </a:lnTo>
                  <a:lnTo>
                    <a:pt x="1150778" y="577288"/>
                  </a:lnTo>
                  <a:lnTo>
                    <a:pt x="1139403" y="619413"/>
                  </a:lnTo>
                  <a:lnTo>
                    <a:pt x="1123833" y="660073"/>
                  </a:lnTo>
                  <a:lnTo>
                    <a:pt x="1104273" y="699094"/>
                  </a:lnTo>
                  <a:lnTo>
                    <a:pt x="1080928" y="736304"/>
                  </a:lnTo>
                  <a:lnTo>
                    <a:pt x="1054002" y="771530"/>
                  </a:lnTo>
                  <a:lnTo>
                    <a:pt x="1023700" y="804599"/>
                  </a:lnTo>
                  <a:lnTo>
                    <a:pt x="990227" y="835339"/>
                  </a:lnTo>
                  <a:lnTo>
                    <a:pt x="953788" y="863576"/>
                  </a:lnTo>
                  <a:lnTo>
                    <a:pt x="914587" y="889138"/>
                  </a:lnTo>
                  <a:lnTo>
                    <a:pt x="872830" y="911852"/>
                  </a:lnTo>
                  <a:lnTo>
                    <a:pt x="828720" y="931546"/>
                  </a:lnTo>
                  <a:lnTo>
                    <a:pt x="782464" y="948047"/>
                  </a:lnTo>
                  <a:lnTo>
                    <a:pt x="734265" y="961181"/>
                  </a:lnTo>
                  <a:lnTo>
                    <a:pt x="684328" y="970777"/>
                  </a:lnTo>
                  <a:lnTo>
                    <a:pt x="632859" y="976661"/>
                  </a:lnTo>
                  <a:lnTo>
                    <a:pt x="580061" y="978660"/>
                  </a:lnTo>
                  <a:lnTo>
                    <a:pt x="527264" y="976661"/>
                  </a:lnTo>
                  <a:lnTo>
                    <a:pt x="475795" y="970777"/>
                  </a:lnTo>
                  <a:lnTo>
                    <a:pt x="425858" y="961181"/>
                  </a:lnTo>
                  <a:lnTo>
                    <a:pt x="377659" y="948047"/>
                  </a:lnTo>
                  <a:lnTo>
                    <a:pt x="331403" y="931546"/>
                  </a:lnTo>
                  <a:lnTo>
                    <a:pt x="287293" y="911852"/>
                  </a:lnTo>
                  <a:lnTo>
                    <a:pt x="245536" y="889138"/>
                  </a:lnTo>
                  <a:lnTo>
                    <a:pt x="206335" y="863576"/>
                  </a:lnTo>
                  <a:lnTo>
                    <a:pt x="169896" y="835339"/>
                  </a:lnTo>
                  <a:lnTo>
                    <a:pt x="136423" y="804599"/>
                  </a:lnTo>
                  <a:lnTo>
                    <a:pt x="106121" y="771530"/>
                  </a:lnTo>
                  <a:lnTo>
                    <a:pt x="79195" y="736304"/>
                  </a:lnTo>
                  <a:lnTo>
                    <a:pt x="55850" y="699094"/>
                  </a:lnTo>
                  <a:lnTo>
                    <a:pt x="36290" y="660073"/>
                  </a:lnTo>
                  <a:lnTo>
                    <a:pt x="20720" y="619413"/>
                  </a:lnTo>
                  <a:lnTo>
                    <a:pt x="9345" y="577288"/>
                  </a:lnTo>
                  <a:lnTo>
                    <a:pt x="2370" y="533869"/>
                  </a:lnTo>
                  <a:lnTo>
                    <a:pt x="0" y="48933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3869229" y="3183717"/>
            <a:ext cx="63119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Container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6355492" y="2703410"/>
            <a:ext cx="1172845" cy="991869"/>
            <a:chOff x="6355492" y="2703410"/>
            <a:chExt cx="1172845" cy="991869"/>
          </a:xfrm>
        </p:grpSpPr>
        <p:sp>
          <p:nvSpPr>
            <p:cNvPr id="18" name="object 18"/>
            <p:cNvSpPr/>
            <p:nvPr/>
          </p:nvSpPr>
          <p:spPr>
            <a:xfrm>
              <a:off x="6361842" y="2709760"/>
              <a:ext cx="1160145" cy="979169"/>
            </a:xfrm>
            <a:custGeom>
              <a:avLst/>
              <a:gdLst/>
              <a:ahLst/>
              <a:cxnLst/>
              <a:rect l="l" t="t" r="r" b="b"/>
              <a:pathLst>
                <a:path w="1160145" h="979170">
                  <a:moveTo>
                    <a:pt x="580061" y="978660"/>
                  </a:moveTo>
                  <a:lnTo>
                    <a:pt x="527264" y="976661"/>
                  </a:lnTo>
                  <a:lnTo>
                    <a:pt x="475794" y="970777"/>
                  </a:lnTo>
                  <a:lnTo>
                    <a:pt x="425858" y="961181"/>
                  </a:lnTo>
                  <a:lnTo>
                    <a:pt x="377659" y="948047"/>
                  </a:lnTo>
                  <a:lnTo>
                    <a:pt x="331402" y="931546"/>
                  </a:lnTo>
                  <a:lnTo>
                    <a:pt x="287293" y="911852"/>
                  </a:lnTo>
                  <a:lnTo>
                    <a:pt x="245535" y="889138"/>
                  </a:lnTo>
                  <a:lnTo>
                    <a:pt x="206335" y="863576"/>
                  </a:lnTo>
                  <a:lnTo>
                    <a:pt x="169896" y="835339"/>
                  </a:lnTo>
                  <a:lnTo>
                    <a:pt x="136423" y="804599"/>
                  </a:lnTo>
                  <a:lnTo>
                    <a:pt x="106121" y="771530"/>
                  </a:lnTo>
                  <a:lnTo>
                    <a:pt x="79195" y="736304"/>
                  </a:lnTo>
                  <a:lnTo>
                    <a:pt x="55850" y="699094"/>
                  </a:lnTo>
                  <a:lnTo>
                    <a:pt x="36290" y="660073"/>
                  </a:lnTo>
                  <a:lnTo>
                    <a:pt x="20720" y="619413"/>
                  </a:lnTo>
                  <a:lnTo>
                    <a:pt x="9345" y="577288"/>
                  </a:lnTo>
                  <a:lnTo>
                    <a:pt x="2370" y="533869"/>
                  </a:lnTo>
                  <a:lnTo>
                    <a:pt x="0" y="489330"/>
                  </a:lnTo>
                  <a:lnTo>
                    <a:pt x="2370" y="444791"/>
                  </a:lnTo>
                  <a:lnTo>
                    <a:pt x="9345" y="401372"/>
                  </a:lnTo>
                  <a:lnTo>
                    <a:pt x="20720" y="359247"/>
                  </a:lnTo>
                  <a:lnTo>
                    <a:pt x="36290" y="318587"/>
                  </a:lnTo>
                  <a:lnTo>
                    <a:pt x="55850" y="279565"/>
                  </a:lnTo>
                  <a:lnTo>
                    <a:pt x="79195" y="242355"/>
                  </a:lnTo>
                  <a:lnTo>
                    <a:pt x="106121" y="207130"/>
                  </a:lnTo>
                  <a:lnTo>
                    <a:pt x="136423" y="174061"/>
                  </a:lnTo>
                  <a:lnTo>
                    <a:pt x="169896" y="143321"/>
                  </a:lnTo>
                  <a:lnTo>
                    <a:pt x="206335" y="115084"/>
                  </a:lnTo>
                  <a:lnTo>
                    <a:pt x="245535" y="89522"/>
                  </a:lnTo>
                  <a:lnTo>
                    <a:pt x="287293" y="66807"/>
                  </a:lnTo>
                  <a:lnTo>
                    <a:pt x="331402" y="47114"/>
                  </a:lnTo>
                  <a:lnTo>
                    <a:pt x="377659" y="30613"/>
                  </a:lnTo>
                  <a:lnTo>
                    <a:pt x="425858" y="17479"/>
                  </a:lnTo>
                  <a:lnTo>
                    <a:pt x="475794" y="7883"/>
                  </a:lnTo>
                  <a:lnTo>
                    <a:pt x="527264" y="1999"/>
                  </a:lnTo>
                  <a:lnTo>
                    <a:pt x="580061" y="0"/>
                  </a:lnTo>
                  <a:lnTo>
                    <a:pt x="632859" y="1999"/>
                  </a:lnTo>
                  <a:lnTo>
                    <a:pt x="684328" y="7883"/>
                  </a:lnTo>
                  <a:lnTo>
                    <a:pt x="734265" y="17479"/>
                  </a:lnTo>
                  <a:lnTo>
                    <a:pt x="782464" y="30613"/>
                  </a:lnTo>
                  <a:lnTo>
                    <a:pt x="828720" y="47114"/>
                  </a:lnTo>
                  <a:lnTo>
                    <a:pt x="872830" y="66807"/>
                  </a:lnTo>
                  <a:lnTo>
                    <a:pt x="914587" y="89522"/>
                  </a:lnTo>
                  <a:lnTo>
                    <a:pt x="953788" y="115084"/>
                  </a:lnTo>
                  <a:lnTo>
                    <a:pt x="990227" y="143321"/>
                  </a:lnTo>
                  <a:lnTo>
                    <a:pt x="1023700" y="174061"/>
                  </a:lnTo>
                  <a:lnTo>
                    <a:pt x="1054002" y="207130"/>
                  </a:lnTo>
                  <a:lnTo>
                    <a:pt x="1080928" y="242355"/>
                  </a:lnTo>
                  <a:lnTo>
                    <a:pt x="1104274" y="279565"/>
                  </a:lnTo>
                  <a:lnTo>
                    <a:pt x="1123834" y="318587"/>
                  </a:lnTo>
                  <a:lnTo>
                    <a:pt x="1139403" y="359247"/>
                  </a:lnTo>
                  <a:lnTo>
                    <a:pt x="1150778" y="401372"/>
                  </a:lnTo>
                  <a:lnTo>
                    <a:pt x="1157753" y="444791"/>
                  </a:lnTo>
                  <a:lnTo>
                    <a:pt x="1160124" y="489330"/>
                  </a:lnTo>
                  <a:lnTo>
                    <a:pt x="1157753" y="533869"/>
                  </a:lnTo>
                  <a:lnTo>
                    <a:pt x="1150778" y="577288"/>
                  </a:lnTo>
                  <a:lnTo>
                    <a:pt x="1139403" y="619413"/>
                  </a:lnTo>
                  <a:lnTo>
                    <a:pt x="1123834" y="660073"/>
                  </a:lnTo>
                  <a:lnTo>
                    <a:pt x="1104274" y="699094"/>
                  </a:lnTo>
                  <a:lnTo>
                    <a:pt x="1080928" y="736304"/>
                  </a:lnTo>
                  <a:lnTo>
                    <a:pt x="1054002" y="771530"/>
                  </a:lnTo>
                  <a:lnTo>
                    <a:pt x="1023700" y="804599"/>
                  </a:lnTo>
                  <a:lnTo>
                    <a:pt x="990227" y="835339"/>
                  </a:lnTo>
                  <a:lnTo>
                    <a:pt x="953788" y="863576"/>
                  </a:lnTo>
                  <a:lnTo>
                    <a:pt x="914587" y="889138"/>
                  </a:lnTo>
                  <a:lnTo>
                    <a:pt x="872830" y="911852"/>
                  </a:lnTo>
                  <a:lnTo>
                    <a:pt x="828720" y="931546"/>
                  </a:lnTo>
                  <a:lnTo>
                    <a:pt x="782464" y="948047"/>
                  </a:lnTo>
                  <a:lnTo>
                    <a:pt x="734265" y="961181"/>
                  </a:lnTo>
                  <a:lnTo>
                    <a:pt x="684328" y="970777"/>
                  </a:lnTo>
                  <a:lnTo>
                    <a:pt x="632859" y="976661"/>
                  </a:lnTo>
                  <a:lnTo>
                    <a:pt x="580061" y="97866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361842" y="2709760"/>
              <a:ext cx="1160145" cy="979169"/>
            </a:xfrm>
            <a:custGeom>
              <a:avLst/>
              <a:gdLst/>
              <a:ahLst/>
              <a:cxnLst/>
              <a:rect l="l" t="t" r="r" b="b"/>
              <a:pathLst>
                <a:path w="1160145" h="979170">
                  <a:moveTo>
                    <a:pt x="0" y="489330"/>
                  </a:moveTo>
                  <a:lnTo>
                    <a:pt x="2370" y="444791"/>
                  </a:lnTo>
                  <a:lnTo>
                    <a:pt x="9345" y="401372"/>
                  </a:lnTo>
                  <a:lnTo>
                    <a:pt x="20720" y="359247"/>
                  </a:lnTo>
                  <a:lnTo>
                    <a:pt x="36290" y="318587"/>
                  </a:lnTo>
                  <a:lnTo>
                    <a:pt x="55850" y="279565"/>
                  </a:lnTo>
                  <a:lnTo>
                    <a:pt x="79195" y="242355"/>
                  </a:lnTo>
                  <a:lnTo>
                    <a:pt x="106121" y="207130"/>
                  </a:lnTo>
                  <a:lnTo>
                    <a:pt x="136423" y="174061"/>
                  </a:lnTo>
                  <a:lnTo>
                    <a:pt x="169896" y="143321"/>
                  </a:lnTo>
                  <a:lnTo>
                    <a:pt x="206335" y="115084"/>
                  </a:lnTo>
                  <a:lnTo>
                    <a:pt x="245535" y="89522"/>
                  </a:lnTo>
                  <a:lnTo>
                    <a:pt x="287293" y="66807"/>
                  </a:lnTo>
                  <a:lnTo>
                    <a:pt x="331402" y="47114"/>
                  </a:lnTo>
                  <a:lnTo>
                    <a:pt x="377659" y="30613"/>
                  </a:lnTo>
                  <a:lnTo>
                    <a:pt x="425858" y="17479"/>
                  </a:lnTo>
                  <a:lnTo>
                    <a:pt x="475794" y="7883"/>
                  </a:lnTo>
                  <a:lnTo>
                    <a:pt x="527264" y="1999"/>
                  </a:lnTo>
                  <a:lnTo>
                    <a:pt x="580061" y="0"/>
                  </a:lnTo>
                  <a:lnTo>
                    <a:pt x="632859" y="1999"/>
                  </a:lnTo>
                  <a:lnTo>
                    <a:pt x="684328" y="7883"/>
                  </a:lnTo>
                  <a:lnTo>
                    <a:pt x="734265" y="17479"/>
                  </a:lnTo>
                  <a:lnTo>
                    <a:pt x="782464" y="30613"/>
                  </a:lnTo>
                  <a:lnTo>
                    <a:pt x="828720" y="47114"/>
                  </a:lnTo>
                  <a:lnTo>
                    <a:pt x="872830" y="66807"/>
                  </a:lnTo>
                  <a:lnTo>
                    <a:pt x="914587" y="89522"/>
                  </a:lnTo>
                  <a:lnTo>
                    <a:pt x="953788" y="115084"/>
                  </a:lnTo>
                  <a:lnTo>
                    <a:pt x="990227" y="143321"/>
                  </a:lnTo>
                  <a:lnTo>
                    <a:pt x="1023700" y="174061"/>
                  </a:lnTo>
                  <a:lnTo>
                    <a:pt x="1054002" y="207130"/>
                  </a:lnTo>
                  <a:lnTo>
                    <a:pt x="1080928" y="242355"/>
                  </a:lnTo>
                  <a:lnTo>
                    <a:pt x="1104274" y="279565"/>
                  </a:lnTo>
                  <a:lnTo>
                    <a:pt x="1123834" y="318587"/>
                  </a:lnTo>
                  <a:lnTo>
                    <a:pt x="1139403" y="359247"/>
                  </a:lnTo>
                  <a:lnTo>
                    <a:pt x="1150778" y="401372"/>
                  </a:lnTo>
                  <a:lnTo>
                    <a:pt x="1157753" y="444791"/>
                  </a:lnTo>
                  <a:lnTo>
                    <a:pt x="1160124" y="489330"/>
                  </a:lnTo>
                  <a:lnTo>
                    <a:pt x="1157753" y="533869"/>
                  </a:lnTo>
                  <a:lnTo>
                    <a:pt x="1150778" y="577288"/>
                  </a:lnTo>
                  <a:lnTo>
                    <a:pt x="1139403" y="619413"/>
                  </a:lnTo>
                  <a:lnTo>
                    <a:pt x="1123834" y="660073"/>
                  </a:lnTo>
                  <a:lnTo>
                    <a:pt x="1104274" y="699094"/>
                  </a:lnTo>
                  <a:lnTo>
                    <a:pt x="1080928" y="736304"/>
                  </a:lnTo>
                  <a:lnTo>
                    <a:pt x="1054002" y="771530"/>
                  </a:lnTo>
                  <a:lnTo>
                    <a:pt x="1023700" y="804599"/>
                  </a:lnTo>
                  <a:lnTo>
                    <a:pt x="990227" y="835339"/>
                  </a:lnTo>
                  <a:lnTo>
                    <a:pt x="953788" y="863576"/>
                  </a:lnTo>
                  <a:lnTo>
                    <a:pt x="914587" y="889138"/>
                  </a:lnTo>
                  <a:lnTo>
                    <a:pt x="872830" y="911852"/>
                  </a:lnTo>
                  <a:lnTo>
                    <a:pt x="828720" y="931546"/>
                  </a:lnTo>
                  <a:lnTo>
                    <a:pt x="782464" y="948047"/>
                  </a:lnTo>
                  <a:lnTo>
                    <a:pt x="734265" y="961181"/>
                  </a:lnTo>
                  <a:lnTo>
                    <a:pt x="684328" y="970777"/>
                  </a:lnTo>
                  <a:lnTo>
                    <a:pt x="632859" y="976661"/>
                  </a:lnTo>
                  <a:lnTo>
                    <a:pt x="580061" y="978660"/>
                  </a:lnTo>
                  <a:lnTo>
                    <a:pt x="527264" y="976661"/>
                  </a:lnTo>
                  <a:lnTo>
                    <a:pt x="475794" y="970777"/>
                  </a:lnTo>
                  <a:lnTo>
                    <a:pt x="425858" y="961181"/>
                  </a:lnTo>
                  <a:lnTo>
                    <a:pt x="377659" y="948047"/>
                  </a:lnTo>
                  <a:lnTo>
                    <a:pt x="331402" y="931546"/>
                  </a:lnTo>
                  <a:lnTo>
                    <a:pt x="287293" y="911852"/>
                  </a:lnTo>
                  <a:lnTo>
                    <a:pt x="245535" y="889138"/>
                  </a:lnTo>
                  <a:lnTo>
                    <a:pt x="206335" y="863576"/>
                  </a:lnTo>
                  <a:lnTo>
                    <a:pt x="169896" y="835339"/>
                  </a:lnTo>
                  <a:lnTo>
                    <a:pt x="136423" y="804599"/>
                  </a:lnTo>
                  <a:lnTo>
                    <a:pt x="106121" y="771530"/>
                  </a:lnTo>
                  <a:lnTo>
                    <a:pt x="79195" y="736304"/>
                  </a:lnTo>
                  <a:lnTo>
                    <a:pt x="55850" y="699094"/>
                  </a:lnTo>
                  <a:lnTo>
                    <a:pt x="36290" y="660073"/>
                  </a:lnTo>
                  <a:lnTo>
                    <a:pt x="20720" y="619413"/>
                  </a:lnTo>
                  <a:lnTo>
                    <a:pt x="9345" y="577288"/>
                  </a:lnTo>
                  <a:lnTo>
                    <a:pt x="2370" y="533869"/>
                  </a:lnTo>
                  <a:lnTo>
                    <a:pt x="0" y="48933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6725830" y="3039135"/>
            <a:ext cx="43243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Pod</a:t>
            </a:r>
            <a:endParaRPr sz="1800">
              <a:latin typeface="Arial"/>
              <a:cs typeface="Arial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40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707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How</a:t>
            </a:r>
            <a:r>
              <a:rPr spc="-5" dirty="0"/>
              <a:t> </a:t>
            </a:r>
            <a:r>
              <a:rPr dirty="0"/>
              <a:t>Pods are </a:t>
            </a:r>
            <a:r>
              <a:rPr spc="-10" dirty="0"/>
              <a:t>deployed?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51051" y="4327541"/>
            <a:ext cx="5886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Arial"/>
                <a:cs typeface="Arial"/>
              </a:rPr>
              <a:t>Cluster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113997" y="1133020"/>
            <a:ext cx="3124200" cy="3140710"/>
            <a:chOff x="5113997" y="1133020"/>
            <a:chExt cx="3124200" cy="3140710"/>
          </a:xfrm>
        </p:grpSpPr>
        <p:sp>
          <p:nvSpPr>
            <p:cNvPr id="5" name="object 5"/>
            <p:cNvSpPr/>
            <p:nvPr/>
          </p:nvSpPr>
          <p:spPr>
            <a:xfrm>
              <a:off x="5120347" y="1139370"/>
              <a:ext cx="2957195" cy="3128010"/>
            </a:xfrm>
            <a:custGeom>
              <a:avLst/>
              <a:gdLst/>
              <a:ahLst/>
              <a:cxnLst/>
              <a:rect l="l" t="t" r="r" b="b"/>
              <a:pathLst>
                <a:path w="2957195" h="3128010">
                  <a:moveTo>
                    <a:pt x="0" y="492818"/>
                  </a:moveTo>
                  <a:lnTo>
                    <a:pt x="2255" y="445356"/>
                  </a:lnTo>
                  <a:lnTo>
                    <a:pt x="8886" y="399171"/>
                  </a:lnTo>
                  <a:lnTo>
                    <a:pt x="19684" y="354469"/>
                  </a:lnTo>
                  <a:lnTo>
                    <a:pt x="34443" y="311456"/>
                  </a:lnTo>
                  <a:lnTo>
                    <a:pt x="52957" y="270339"/>
                  </a:lnTo>
                  <a:lnTo>
                    <a:pt x="75019" y="231325"/>
                  </a:lnTo>
                  <a:lnTo>
                    <a:pt x="100423" y="194619"/>
                  </a:lnTo>
                  <a:lnTo>
                    <a:pt x="128962" y="160430"/>
                  </a:lnTo>
                  <a:lnTo>
                    <a:pt x="160430" y="128962"/>
                  </a:lnTo>
                  <a:lnTo>
                    <a:pt x="194619" y="100423"/>
                  </a:lnTo>
                  <a:lnTo>
                    <a:pt x="231325" y="75019"/>
                  </a:lnTo>
                  <a:lnTo>
                    <a:pt x="270339" y="52957"/>
                  </a:lnTo>
                  <a:lnTo>
                    <a:pt x="311456" y="34443"/>
                  </a:lnTo>
                  <a:lnTo>
                    <a:pt x="354469" y="19684"/>
                  </a:lnTo>
                  <a:lnTo>
                    <a:pt x="399171" y="8886"/>
                  </a:lnTo>
                  <a:lnTo>
                    <a:pt x="445356" y="2255"/>
                  </a:lnTo>
                  <a:lnTo>
                    <a:pt x="492818" y="0"/>
                  </a:lnTo>
                  <a:lnTo>
                    <a:pt x="2464034" y="0"/>
                  </a:lnTo>
                  <a:lnTo>
                    <a:pt x="2512743" y="2411"/>
                  </a:lnTo>
                  <a:lnTo>
                    <a:pt x="2560627" y="9556"/>
                  </a:lnTo>
                  <a:lnTo>
                    <a:pt x="2607362" y="21302"/>
                  </a:lnTo>
                  <a:lnTo>
                    <a:pt x="2652627" y="37513"/>
                  </a:lnTo>
                  <a:lnTo>
                    <a:pt x="2696097" y="58057"/>
                  </a:lnTo>
                  <a:lnTo>
                    <a:pt x="2737449" y="82799"/>
                  </a:lnTo>
                  <a:lnTo>
                    <a:pt x="2776361" y="111605"/>
                  </a:lnTo>
                  <a:lnTo>
                    <a:pt x="2812509" y="144343"/>
                  </a:lnTo>
                  <a:lnTo>
                    <a:pt x="2845246" y="180490"/>
                  </a:lnTo>
                  <a:lnTo>
                    <a:pt x="2874053" y="219402"/>
                  </a:lnTo>
                  <a:lnTo>
                    <a:pt x="2898795" y="260755"/>
                  </a:lnTo>
                  <a:lnTo>
                    <a:pt x="2919339" y="304225"/>
                  </a:lnTo>
                  <a:lnTo>
                    <a:pt x="2935550" y="349489"/>
                  </a:lnTo>
                  <a:lnTo>
                    <a:pt x="2947296" y="396225"/>
                  </a:lnTo>
                  <a:lnTo>
                    <a:pt x="2954441" y="444109"/>
                  </a:lnTo>
                  <a:lnTo>
                    <a:pt x="2956852" y="492818"/>
                  </a:lnTo>
                  <a:lnTo>
                    <a:pt x="2956852" y="2635010"/>
                  </a:lnTo>
                  <a:lnTo>
                    <a:pt x="2954596" y="2682472"/>
                  </a:lnTo>
                  <a:lnTo>
                    <a:pt x="2947966" y="2728657"/>
                  </a:lnTo>
                  <a:lnTo>
                    <a:pt x="2937168" y="2773359"/>
                  </a:lnTo>
                  <a:lnTo>
                    <a:pt x="2922409" y="2816372"/>
                  </a:lnTo>
                  <a:lnTo>
                    <a:pt x="2903895" y="2857489"/>
                  </a:lnTo>
                  <a:lnTo>
                    <a:pt x="2881833" y="2896503"/>
                  </a:lnTo>
                  <a:lnTo>
                    <a:pt x="2856429" y="2933209"/>
                  </a:lnTo>
                  <a:lnTo>
                    <a:pt x="2827890" y="2967398"/>
                  </a:lnTo>
                  <a:lnTo>
                    <a:pt x="2796422" y="2998866"/>
                  </a:lnTo>
                  <a:lnTo>
                    <a:pt x="2762232" y="3027405"/>
                  </a:lnTo>
                  <a:lnTo>
                    <a:pt x="2725527" y="3052809"/>
                  </a:lnTo>
                  <a:lnTo>
                    <a:pt x="2686513" y="3074871"/>
                  </a:lnTo>
                  <a:lnTo>
                    <a:pt x="2645396" y="3093385"/>
                  </a:lnTo>
                  <a:lnTo>
                    <a:pt x="2602383" y="3108144"/>
                  </a:lnTo>
                  <a:lnTo>
                    <a:pt x="2557681" y="3118942"/>
                  </a:lnTo>
                  <a:lnTo>
                    <a:pt x="2511495" y="3125573"/>
                  </a:lnTo>
                  <a:lnTo>
                    <a:pt x="2464034" y="3127828"/>
                  </a:lnTo>
                  <a:lnTo>
                    <a:pt x="492818" y="3127828"/>
                  </a:lnTo>
                  <a:lnTo>
                    <a:pt x="445356" y="3125573"/>
                  </a:lnTo>
                  <a:lnTo>
                    <a:pt x="399171" y="3118942"/>
                  </a:lnTo>
                  <a:lnTo>
                    <a:pt x="354469" y="3108144"/>
                  </a:lnTo>
                  <a:lnTo>
                    <a:pt x="311456" y="3093385"/>
                  </a:lnTo>
                  <a:lnTo>
                    <a:pt x="270339" y="3074871"/>
                  </a:lnTo>
                  <a:lnTo>
                    <a:pt x="231325" y="3052809"/>
                  </a:lnTo>
                  <a:lnTo>
                    <a:pt x="194619" y="3027405"/>
                  </a:lnTo>
                  <a:lnTo>
                    <a:pt x="160430" y="2998866"/>
                  </a:lnTo>
                  <a:lnTo>
                    <a:pt x="128962" y="2967398"/>
                  </a:lnTo>
                  <a:lnTo>
                    <a:pt x="100423" y="2933209"/>
                  </a:lnTo>
                  <a:lnTo>
                    <a:pt x="75019" y="2896503"/>
                  </a:lnTo>
                  <a:lnTo>
                    <a:pt x="52957" y="2857489"/>
                  </a:lnTo>
                  <a:lnTo>
                    <a:pt x="34443" y="2816372"/>
                  </a:lnTo>
                  <a:lnTo>
                    <a:pt x="19684" y="2773359"/>
                  </a:lnTo>
                  <a:lnTo>
                    <a:pt x="8886" y="2728657"/>
                  </a:lnTo>
                  <a:lnTo>
                    <a:pt x="2255" y="2682472"/>
                  </a:lnTo>
                  <a:lnTo>
                    <a:pt x="0" y="2635010"/>
                  </a:lnTo>
                  <a:lnTo>
                    <a:pt x="0" y="492818"/>
                  </a:lnTo>
                  <a:close/>
                </a:path>
                <a:path w="2957195" h="3128010">
                  <a:moveTo>
                    <a:pt x="315252" y="1663703"/>
                  </a:moveTo>
                  <a:lnTo>
                    <a:pt x="319786" y="1618728"/>
                  </a:lnTo>
                  <a:lnTo>
                    <a:pt x="332790" y="1576838"/>
                  </a:lnTo>
                  <a:lnTo>
                    <a:pt x="353365" y="1538931"/>
                  </a:lnTo>
                  <a:lnTo>
                    <a:pt x="380615" y="1505904"/>
                  </a:lnTo>
                  <a:lnTo>
                    <a:pt x="413642" y="1478654"/>
                  </a:lnTo>
                  <a:lnTo>
                    <a:pt x="451549" y="1458079"/>
                  </a:lnTo>
                  <a:lnTo>
                    <a:pt x="493439" y="1445075"/>
                  </a:lnTo>
                  <a:lnTo>
                    <a:pt x="538414" y="1440541"/>
                  </a:lnTo>
                  <a:lnTo>
                    <a:pt x="2523234" y="1440541"/>
                  </a:lnTo>
                  <a:lnTo>
                    <a:pt x="2566974" y="1444869"/>
                  </a:lnTo>
                  <a:lnTo>
                    <a:pt x="2608634" y="1457529"/>
                  </a:lnTo>
                  <a:lnTo>
                    <a:pt x="2647044" y="1478035"/>
                  </a:lnTo>
                  <a:lnTo>
                    <a:pt x="2681033" y="1505904"/>
                  </a:lnTo>
                  <a:lnTo>
                    <a:pt x="2708902" y="1539893"/>
                  </a:lnTo>
                  <a:lnTo>
                    <a:pt x="2729408" y="1578303"/>
                  </a:lnTo>
                  <a:lnTo>
                    <a:pt x="2742068" y="1619963"/>
                  </a:lnTo>
                  <a:lnTo>
                    <a:pt x="2746395" y="1663703"/>
                  </a:lnTo>
                  <a:lnTo>
                    <a:pt x="2746395" y="2556322"/>
                  </a:lnTo>
                  <a:lnTo>
                    <a:pt x="2741862" y="2601297"/>
                  </a:lnTo>
                  <a:lnTo>
                    <a:pt x="2728858" y="2643187"/>
                  </a:lnTo>
                  <a:lnTo>
                    <a:pt x="2708283" y="2681094"/>
                  </a:lnTo>
                  <a:lnTo>
                    <a:pt x="2681033" y="2714121"/>
                  </a:lnTo>
                  <a:lnTo>
                    <a:pt x="2648006" y="2741371"/>
                  </a:lnTo>
                  <a:lnTo>
                    <a:pt x="2610099" y="2761946"/>
                  </a:lnTo>
                  <a:lnTo>
                    <a:pt x="2568209" y="2774950"/>
                  </a:lnTo>
                  <a:lnTo>
                    <a:pt x="2523234" y="2779483"/>
                  </a:lnTo>
                  <a:lnTo>
                    <a:pt x="538414" y="2779483"/>
                  </a:lnTo>
                  <a:lnTo>
                    <a:pt x="493439" y="2774950"/>
                  </a:lnTo>
                  <a:lnTo>
                    <a:pt x="451549" y="2761946"/>
                  </a:lnTo>
                  <a:lnTo>
                    <a:pt x="413642" y="2741371"/>
                  </a:lnTo>
                  <a:lnTo>
                    <a:pt x="380615" y="2714121"/>
                  </a:lnTo>
                  <a:lnTo>
                    <a:pt x="353365" y="2681094"/>
                  </a:lnTo>
                  <a:lnTo>
                    <a:pt x="332790" y="2643187"/>
                  </a:lnTo>
                  <a:lnTo>
                    <a:pt x="319786" y="2601297"/>
                  </a:lnTo>
                  <a:lnTo>
                    <a:pt x="315252" y="2556322"/>
                  </a:lnTo>
                  <a:lnTo>
                    <a:pt x="315252" y="1663703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641521" y="2971800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208822" y="351063"/>
                  </a:move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641521" y="2971800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0" y="175531"/>
                  </a:move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741655" y="3044145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4" h="217804">
                  <a:moveTo>
                    <a:pt x="214960" y="217483"/>
                  </a:moveTo>
                  <a:lnTo>
                    <a:pt x="0" y="217483"/>
                  </a:lnTo>
                  <a:lnTo>
                    <a:pt x="0" y="0"/>
                  </a:lnTo>
                  <a:lnTo>
                    <a:pt x="214960" y="0"/>
                  </a:lnTo>
                  <a:lnTo>
                    <a:pt x="214960" y="217483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741655" y="3044145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4" h="217804">
                  <a:moveTo>
                    <a:pt x="0" y="0"/>
                  </a:moveTo>
                  <a:lnTo>
                    <a:pt x="214960" y="0"/>
                  </a:lnTo>
                  <a:lnTo>
                    <a:pt x="214960" y="217483"/>
                  </a:lnTo>
                  <a:lnTo>
                    <a:pt x="0" y="217483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763561" y="3418946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208822" y="351063"/>
                  </a:move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6" y="285318"/>
                  </a:lnTo>
                  <a:lnTo>
                    <a:pt x="21225" y="252726"/>
                  </a:lnTo>
                  <a:lnTo>
                    <a:pt x="5515" y="215779"/>
                  </a:lnTo>
                  <a:lnTo>
                    <a:pt x="0" y="175531"/>
                  </a:lnTo>
                  <a:lnTo>
                    <a:pt x="5515" y="135284"/>
                  </a:lnTo>
                  <a:lnTo>
                    <a:pt x="21225" y="98337"/>
                  </a:lnTo>
                  <a:lnTo>
                    <a:pt x="45876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30" y="135284"/>
                  </a:lnTo>
                  <a:lnTo>
                    <a:pt x="417645" y="175531"/>
                  </a:lnTo>
                  <a:lnTo>
                    <a:pt x="412130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763561" y="3418946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0" y="175531"/>
                  </a:moveTo>
                  <a:lnTo>
                    <a:pt x="5515" y="135284"/>
                  </a:lnTo>
                  <a:lnTo>
                    <a:pt x="21225" y="98337"/>
                  </a:lnTo>
                  <a:lnTo>
                    <a:pt x="45876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30" y="135284"/>
                  </a:lnTo>
                  <a:lnTo>
                    <a:pt x="417645" y="175531"/>
                  </a:lnTo>
                  <a:lnTo>
                    <a:pt x="412130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6" y="285318"/>
                  </a:lnTo>
                  <a:lnTo>
                    <a:pt x="21225" y="252726"/>
                  </a:lnTo>
                  <a:lnTo>
                    <a:pt x="5515" y="215779"/>
                  </a:lnTo>
                  <a:lnTo>
                    <a:pt x="0" y="17553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749250" y="2938976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208822" y="351063"/>
                  </a:move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30" y="135284"/>
                  </a:lnTo>
                  <a:lnTo>
                    <a:pt x="417645" y="175531"/>
                  </a:lnTo>
                  <a:lnTo>
                    <a:pt x="412130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749250" y="2938976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0" y="175531"/>
                  </a:move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30" y="135284"/>
                  </a:lnTo>
                  <a:lnTo>
                    <a:pt x="417645" y="175531"/>
                  </a:lnTo>
                  <a:lnTo>
                    <a:pt x="412130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660380" y="3463138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208822" y="351063"/>
                  </a:move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660380" y="3463138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0" y="175531"/>
                  </a:move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859467" y="3492401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5" h="217804">
                  <a:moveTo>
                    <a:pt x="214960" y="217483"/>
                  </a:moveTo>
                  <a:lnTo>
                    <a:pt x="0" y="217483"/>
                  </a:lnTo>
                  <a:lnTo>
                    <a:pt x="0" y="0"/>
                  </a:lnTo>
                  <a:lnTo>
                    <a:pt x="214960" y="0"/>
                  </a:lnTo>
                  <a:lnTo>
                    <a:pt x="214960" y="217483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859467" y="3492401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5" h="217804">
                  <a:moveTo>
                    <a:pt x="0" y="0"/>
                  </a:moveTo>
                  <a:lnTo>
                    <a:pt x="214960" y="0"/>
                  </a:lnTo>
                  <a:lnTo>
                    <a:pt x="214960" y="217483"/>
                  </a:lnTo>
                  <a:lnTo>
                    <a:pt x="0" y="217483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238357" y="3109519"/>
              <a:ext cx="999490" cy="0"/>
            </a:xfrm>
            <a:custGeom>
              <a:avLst/>
              <a:gdLst/>
              <a:ahLst/>
              <a:cxnLst/>
              <a:rect l="l" t="t" r="r" b="b"/>
              <a:pathLst>
                <a:path w="999490">
                  <a:moveTo>
                    <a:pt x="999406" y="0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195132" y="309378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24" y="31465"/>
                  </a:moveTo>
                  <a:lnTo>
                    <a:pt x="0" y="15732"/>
                  </a:lnTo>
                  <a:lnTo>
                    <a:pt x="43224" y="0"/>
                  </a:lnTo>
                  <a:lnTo>
                    <a:pt x="43224" y="3146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195132" y="309378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24" y="0"/>
                  </a:moveTo>
                  <a:lnTo>
                    <a:pt x="0" y="15732"/>
                  </a:lnTo>
                  <a:lnTo>
                    <a:pt x="43224" y="31465"/>
                  </a:lnTo>
                  <a:lnTo>
                    <a:pt x="43224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119843" y="3590881"/>
              <a:ext cx="1047115" cy="3810"/>
            </a:xfrm>
            <a:custGeom>
              <a:avLst/>
              <a:gdLst/>
              <a:ahLst/>
              <a:cxnLst/>
              <a:rect l="l" t="t" r="r" b="b"/>
              <a:pathLst>
                <a:path w="1047115" h="3810">
                  <a:moveTo>
                    <a:pt x="1046793" y="3597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076617" y="357514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170" y="31465"/>
                  </a:moveTo>
                  <a:lnTo>
                    <a:pt x="0" y="15584"/>
                  </a:lnTo>
                  <a:lnTo>
                    <a:pt x="43279" y="0"/>
                  </a:lnTo>
                  <a:lnTo>
                    <a:pt x="43170" y="3146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076617" y="357514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79" y="0"/>
                  </a:moveTo>
                  <a:lnTo>
                    <a:pt x="0" y="15584"/>
                  </a:lnTo>
                  <a:lnTo>
                    <a:pt x="43170" y="31465"/>
                  </a:lnTo>
                  <a:lnTo>
                    <a:pt x="43279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" name="object 24"/>
          <p:cNvGrpSpPr/>
          <p:nvPr/>
        </p:nvGrpSpPr>
        <p:grpSpPr>
          <a:xfrm>
            <a:off x="1303129" y="1216477"/>
            <a:ext cx="2501900" cy="2952115"/>
            <a:chOff x="1303129" y="1216477"/>
            <a:chExt cx="2501900" cy="2952115"/>
          </a:xfrm>
        </p:grpSpPr>
        <p:sp>
          <p:nvSpPr>
            <p:cNvPr id="25" name="object 25"/>
            <p:cNvSpPr/>
            <p:nvPr/>
          </p:nvSpPr>
          <p:spPr>
            <a:xfrm>
              <a:off x="1309479" y="1222827"/>
              <a:ext cx="2489200" cy="2939415"/>
            </a:xfrm>
            <a:custGeom>
              <a:avLst/>
              <a:gdLst/>
              <a:ahLst/>
              <a:cxnLst/>
              <a:rect l="l" t="t" r="r" b="b"/>
              <a:pathLst>
                <a:path w="2489200" h="2939415">
                  <a:moveTo>
                    <a:pt x="2074324" y="2939142"/>
                  </a:moveTo>
                  <a:lnTo>
                    <a:pt x="414874" y="2939142"/>
                  </a:lnTo>
                  <a:lnTo>
                    <a:pt x="366491" y="2936351"/>
                  </a:lnTo>
                  <a:lnTo>
                    <a:pt x="319747" y="2928185"/>
                  </a:lnTo>
                  <a:lnTo>
                    <a:pt x="274954" y="2914956"/>
                  </a:lnTo>
                  <a:lnTo>
                    <a:pt x="232423" y="2896974"/>
                  </a:lnTo>
                  <a:lnTo>
                    <a:pt x="192465" y="2874551"/>
                  </a:lnTo>
                  <a:lnTo>
                    <a:pt x="155391" y="2847999"/>
                  </a:lnTo>
                  <a:lnTo>
                    <a:pt x="121514" y="2817628"/>
                  </a:lnTo>
                  <a:lnTo>
                    <a:pt x="91143" y="2783751"/>
                  </a:lnTo>
                  <a:lnTo>
                    <a:pt x="64591" y="2746677"/>
                  </a:lnTo>
                  <a:lnTo>
                    <a:pt x="42168" y="2706719"/>
                  </a:lnTo>
                  <a:lnTo>
                    <a:pt x="24186" y="2664188"/>
                  </a:lnTo>
                  <a:lnTo>
                    <a:pt x="10957" y="2619394"/>
                  </a:lnTo>
                  <a:lnTo>
                    <a:pt x="2791" y="2572651"/>
                  </a:lnTo>
                  <a:lnTo>
                    <a:pt x="0" y="2524267"/>
                  </a:lnTo>
                  <a:lnTo>
                    <a:pt x="0" y="414874"/>
                  </a:lnTo>
                  <a:lnTo>
                    <a:pt x="2700" y="368062"/>
                  </a:lnTo>
                  <a:lnTo>
                    <a:pt x="10957" y="319747"/>
                  </a:lnTo>
                  <a:lnTo>
                    <a:pt x="24186" y="274954"/>
                  </a:lnTo>
                  <a:lnTo>
                    <a:pt x="42168" y="232423"/>
                  </a:lnTo>
                  <a:lnTo>
                    <a:pt x="64591" y="192465"/>
                  </a:lnTo>
                  <a:lnTo>
                    <a:pt x="91143" y="155391"/>
                  </a:lnTo>
                  <a:lnTo>
                    <a:pt x="121514" y="121514"/>
                  </a:lnTo>
                  <a:lnTo>
                    <a:pt x="155391" y="91143"/>
                  </a:lnTo>
                  <a:lnTo>
                    <a:pt x="192465" y="64591"/>
                  </a:lnTo>
                  <a:lnTo>
                    <a:pt x="232423" y="42168"/>
                  </a:lnTo>
                  <a:lnTo>
                    <a:pt x="274954" y="24186"/>
                  </a:lnTo>
                  <a:lnTo>
                    <a:pt x="319747" y="10957"/>
                  </a:lnTo>
                  <a:lnTo>
                    <a:pt x="366491" y="2791"/>
                  </a:lnTo>
                  <a:lnTo>
                    <a:pt x="414874" y="0"/>
                  </a:lnTo>
                  <a:lnTo>
                    <a:pt x="2074324" y="0"/>
                  </a:lnTo>
                  <a:lnTo>
                    <a:pt x="2121137" y="2648"/>
                  </a:lnTo>
                  <a:lnTo>
                    <a:pt x="2166992" y="10480"/>
                  </a:lnTo>
                  <a:lnTo>
                    <a:pt x="2211483" y="23328"/>
                  </a:lnTo>
                  <a:lnTo>
                    <a:pt x="2254204" y="41023"/>
                  </a:lnTo>
                  <a:lnTo>
                    <a:pt x="2294749" y="63398"/>
                  </a:lnTo>
                  <a:lnTo>
                    <a:pt x="2332711" y="90284"/>
                  </a:lnTo>
                  <a:lnTo>
                    <a:pt x="2367685" y="121514"/>
                  </a:lnTo>
                  <a:lnTo>
                    <a:pt x="2398915" y="156488"/>
                  </a:lnTo>
                  <a:lnTo>
                    <a:pt x="2425801" y="194450"/>
                  </a:lnTo>
                  <a:lnTo>
                    <a:pt x="2448176" y="234995"/>
                  </a:lnTo>
                  <a:lnTo>
                    <a:pt x="2465871" y="277716"/>
                  </a:lnTo>
                  <a:lnTo>
                    <a:pt x="2478719" y="322207"/>
                  </a:lnTo>
                  <a:lnTo>
                    <a:pt x="2486551" y="368062"/>
                  </a:lnTo>
                  <a:lnTo>
                    <a:pt x="2489199" y="414874"/>
                  </a:lnTo>
                  <a:lnTo>
                    <a:pt x="2489199" y="2524267"/>
                  </a:lnTo>
                  <a:lnTo>
                    <a:pt x="2486408" y="2572651"/>
                  </a:lnTo>
                  <a:lnTo>
                    <a:pt x="2478242" y="2619394"/>
                  </a:lnTo>
                  <a:lnTo>
                    <a:pt x="2465013" y="2664188"/>
                  </a:lnTo>
                  <a:lnTo>
                    <a:pt x="2447031" y="2706719"/>
                  </a:lnTo>
                  <a:lnTo>
                    <a:pt x="2424608" y="2746677"/>
                  </a:lnTo>
                  <a:lnTo>
                    <a:pt x="2398056" y="2783751"/>
                  </a:lnTo>
                  <a:lnTo>
                    <a:pt x="2367685" y="2817628"/>
                  </a:lnTo>
                  <a:lnTo>
                    <a:pt x="2333808" y="2847999"/>
                  </a:lnTo>
                  <a:lnTo>
                    <a:pt x="2296734" y="2874551"/>
                  </a:lnTo>
                  <a:lnTo>
                    <a:pt x="2256776" y="2896974"/>
                  </a:lnTo>
                  <a:lnTo>
                    <a:pt x="2214245" y="2914956"/>
                  </a:lnTo>
                  <a:lnTo>
                    <a:pt x="2169451" y="2928185"/>
                  </a:lnTo>
                  <a:lnTo>
                    <a:pt x="2122708" y="2936351"/>
                  </a:lnTo>
                  <a:lnTo>
                    <a:pt x="2074324" y="2939142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309479" y="1222827"/>
              <a:ext cx="2489200" cy="2939415"/>
            </a:xfrm>
            <a:custGeom>
              <a:avLst/>
              <a:gdLst/>
              <a:ahLst/>
              <a:cxnLst/>
              <a:rect l="l" t="t" r="r" b="b"/>
              <a:pathLst>
                <a:path w="2489200" h="2939415">
                  <a:moveTo>
                    <a:pt x="0" y="414874"/>
                  </a:moveTo>
                  <a:lnTo>
                    <a:pt x="2791" y="366491"/>
                  </a:lnTo>
                  <a:lnTo>
                    <a:pt x="10957" y="319747"/>
                  </a:lnTo>
                  <a:lnTo>
                    <a:pt x="24186" y="274954"/>
                  </a:lnTo>
                  <a:lnTo>
                    <a:pt x="42168" y="232423"/>
                  </a:lnTo>
                  <a:lnTo>
                    <a:pt x="64591" y="192465"/>
                  </a:lnTo>
                  <a:lnTo>
                    <a:pt x="91143" y="155391"/>
                  </a:lnTo>
                  <a:lnTo>
                    <a:pt x="121514" y="121514"/>
                  </a:lnTo>
                  <a:lnTo>
                    <a:pt x="155391" y="91143"/>
                  </a:lnTo>
                  <a:lnTo>
                    <a:pt x="192465" y="64591"/>
                  </a:lnTo>
                  <a:lnTo>
                    <a:pt x="232423" y="42168"/>
                  </a:lnTo>
                  <a:lnTo>
                    <a:pt x="274954" y="24186"/>
                  </a:lnTo>
                  <a:lnTo>
                    <a:pt x="319747" y="10957"/>
                  </a:lnTo>
                  <a:lnTo>
                    <a:pt x="366491" y="2791"/>
                  </a:lnTo>
                  <a:lnTo>
                    <a:pt x="414874" y="0"/>
                  </a:lnTo>
                  <a:lnTo>
                    <a:pt x="2074324" y="0"/>
                  </a:lnTo>
                  <a:lnTo>
                    <a:pt x="2121137" y="2648"/>
                  </a:lnTo>
                  <a:lnTo>
                    <a:pt x="2166992" y="10480"/>
                  </a:lnTo>
                  <a:lnTo>
                    <a:pt x="2211483" y="23328"/>
                  </a:lnTo>
                  <a:lnTo>
                    <a:pt x="2254204" y="41023"/>
                  </a:lnTo>
                  <a:lnTo>
                    <a:pt x="2294749" y="63398"/>
                  </a:lnTo>
                  <a:lnTo>
                    <a:pt x="2332711" y="90284"/>
                  </a:lnTo>
                  <a:lnTo>
                    <a:pt x="2367685" y="121514"/>
                  </a:lnTo>
                  <a:lnTo>
                    <a:pt x="2398915" y="156488"/>
                  </a:lnTo>
                  <a:lnTo>
                    <a:pt x="2425801" y="194450"/>
                  </a:lnTo>
                  <a:lnTo>
                    <a:pt x="2448176" y="234995"/>
                  </a:lnTo>
                  <a:lnTo>
                    <a:pt x="2465871" y="277716"/>
                  </a:lnTo>
                  <a:lnTo>
                    <a:pt x="2478719" y="322207"/>
                  </a:lnTo>
                  <a:lnTo>
                    <a:pt x="2486551" y="368062"/>
                  </a:lnTo>
                  <a:lnTo>
                    <a:pt x="2489199" y="414874"/>
                  </a:lnTo>
                  <a:lnTo>
                    <a:pt x="2489199" y="2524267"/>
                  </a:lnTo>
                  <a:lnTo>
                    <a:pt x="2486408" y="2572651"/>
                  </a:lnTo>
                  <a:lnTo>
                    <a:pt x="2478242" y="2619394"/>
                  </a:lnTo>
                  <a:lnTo>
                    <a:pt x="2465013" y="2664188"/>
                  </a:lnTo>
                  <a:lnTo>
                    <a:pt x="2447031" y="2706719"/>
                  </a:lnTo>
                  <a:lnTo>
                    <a:pt x="2424608" y="2746677"/>
                  </a:lnTo>
                  <a:lnTo>
                    <a:pt x="2398056" y="2783751"/>
                  </a:lnTo>
                  <a:lnTo>
                    <a:pt x="2367685" y="2817628"/>
                  </a:lnTo>
                  <a:lnTo>
                    <a:pt x="2333808" y="2847999"/>
                  </a:lnTo>
                  <a:lnTo>
                    <a:pt x="2296734" y="2874551"/>
                  </a:lnTo>
                  <a:lnTo>
                    <a:pt x="2256776" y="2896974"/>
                  </a:lnTo>
                  <a:lnTo>
                    <a:pt x="2214245" y="2914956"/>
                  </a:lnTo>
                  <a:lnTo>
                    <a:pt x="2169451" y="2928185"/>
                  </a:lnTo>
                  <a:lnTo>
                    <a:pt x="2122708" y="2936351"/>
                  </a:lnTo>
                  <a:lnTo>
                    <a:pt x="2074324" y="2939142"/>
                  </a:lnTo>
                  <a:lnTo>
                    <a:pt x="414874" y="2939142"/>
                  </a:lnTo>
                  <a:lnTo>
                    <a:pt x="366491" y="2936351"/>
                  </a:lnTo>
                  <a:lnTo>
                    <a:pt x="319747" y="2928185"/>
                  </a:lnTo>
                  <a:lnTo>
                    <a:pt x="274954" y="2914956"/>
                  </a:lnTo>
                  <a:lnTo>
                    <a:pt x="232423" y="2896974"/>
                  </a:lnTo>
                  <a:lnTo>
                    <a:pt x="192465" y="2874551"/>
                  </a:lnTo>
                  <a:lnTo>
                    <a:pt x="155391" y="2847999"/>
                  </a:lnTo>
                  <a:lnTo>
                    <a:pt x="121514" y="2817628"/>
                  </a:lnTo>
                  <a:lnTo>
                    <a:pt x="91143" y="2783751"/>
                  </a:lnTo>
                  <a:lnTo>
                    <a:pt x="64591" y="2746677"/>
                  </a:lnTo>
                  <a:lnTo>
                    <a:pt x="42168" y="2706719"/>
                  </a:lnTo>
                  <a:lnTo>
                    <a:pt x="24186" y="2664188"/>
                  </a:lnTo>
                  <a:lnTo>
                    <a:pt x="10957" y="2619394"/>
                  </a:lnTo>
                  <a:lnTo>
                    <a:pt x="2791" y="2572651"/>
                  </a:lnTo>
                  <a:lnTo>
                    <a:pt x="0" y="2524267"/>
                  </a:lnTo>
                  <a:lnTo>
                    <a:pt x="0" y="414874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554079" y="1599548"/>
              <a:ext cx="1082040" cy="521334"/>
            </a:xfrm>
            <a:custGeom>
              <a:avLst/>
              <a:gdLst/>
              <a:ahLst/>
              <a:cxnLst/>
              <a:rect l="l" t="t" r="r" b="b"/>
              <a:pathLst>
                <a:path w="1082039" h="521335">
                  <a:moveTo>
                    <a:pt x="994909" y="521024"/>
                  </a:moveTo>
                  <a:lnTo>
                    <a:pt x="86839" y="521024"/>
                  </a:lnTo>
                  <a:lnTo>
                    <a:pt x="53037" y="514200"/>
                  </a:lnTo>
                  <a:lnTo>
                    <a:pt x="25434" y="495590"/>
                  </a:lnTo>
                  <a:lnTo>
                    <a:pt x="6824" y="467987"/>
                  </a:lnTo>
                  <a:lnTo>
                    <a:pt x="0" y="434185"/>
                  </a:lnTo>
                  <a:lnTo>
                    <a:pt x="0" y="86839"/>
                  </a:lnTo>
                  <a:lnTo>
                    <a:pt x="6824" y="53037"/>
                  </a:lnTo>
                  <a:lnTo>
                    <a:pt x="25434" y="25434"/>
                  </a:lnTo>
                  <a:lnTo>
                    <a:pt x="53037" y="6824"/>
                  </a:lnTo>
                  <a:lnTo>
                    <a:pt x="86839" y="0"/>
                  </a:lnTo>
                  <a:lnTo>
                    <a:pt x="994909" y="0"/>
                  </a:lnTo>
                  <a:lnTo>
                    <a:pt x="1043088" y="14590"/>
                  </a:lnTo>
                  <a:lnTo>
                    <a:pt x="1075138" y="53607"/>
                  </a:lnTo>
                  <a:lnTo>
                    <a:pt x="1081748" y="86839"/>
                  </a:lnTo>
                  <a:lnTo>
                    <a:pt x="1081748" y="434185"/>
                  </a:lnTo>
                  <a:lnTo>
                    <a:pt x="1074924" y="467987"/>
                  </a:lnTo>
                  <a:lnTo>
                    <a:pt x="1056314" y="495590"/>
                  </a:lnTo>
                  <a:lnTo>
                    <a:pt x="1028711" y="514200"/>
                  </a:lnTo>
                  <a:lnTo>
                    <a:pt x="994909" y="521024"/>
                  </a:lnTo>
                  <a:close/>
                </a:path>
              </a:pathLst>
            </a:custGeom>
            <a:solidFill>
              <a:srgbClr val="00B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554079" y="1599548"/>
              <a:ext cx="1082040" cy="521334"/>
            </a:xfrm>
            <a:custGeom>
              <a:avLst/>
              <a:gdLst/>
              <a:ahLst/>
              <a:cxnLst/>
              <a:rect l="l" t="t" r="r" b="b"/>
              <a:pathLst>
                <a:path w="1082039" h="521335">
                  <a:moveTo>
                    <a:pt x="0" y="86839"/>
                  </a:moveTo>
                  <a:lnTo>
                    <a:pt x="6824" y="53037"/>
                  </a:lnTo>
                  <a:lnTo>
                    <a:pt x="25434" y="25434"/>
                  </a:lnTo>
                  <a:lnTo>
                    <a:pt x="53037" y="6824"/>
                  </a:lnTo>
                  <a:lnTo>
                    <a:pt x="86839" y="0"/>
                  </a:lnTo>
                  <a:lnTo>
                    <a:pt x="994909" y="0"/>
                  </a:lnTo>
                  <a:lnTo>
                    <a:pt x="1043088" y="14590"/>
                  </a:lnTo>
                  <a:lnTo>
                    <a:pt x="1075138" y="53607"/>
                  </a:lnTo>
                  <a:lnTo>
                    <a:pt x="1081748" y="86839"/>
                  </a:lnTo>
                  <a:lnTo>
                    <a:pt x="1081748" y="434185"/>
                  </a:lnTo>
                  <a:lnTo>
                    <a:pt x="1074924" y="467987"/>
                  </a:lnTo>
                  <a:lnTo>
                    <a:pt x="1056314" y="495590"/>
                  </a:lnTo>
                  <a:lnTo>
                    <a:pt x="1028711" y="514200"/>
                  </a:lnTo>
                  <a:lnTo>
                    <a:pt x="994909" y="521024"/>
                  </a:lnTo>
                  <a:lnTo>
                    <a:pt x="86839" y="521024"/>
                  </a:lnTo>
                  <a:lnTo>
                    <a:pt x="53037" y="514200"/>
                  </a:lnTo>
                  <a:lnTo>
                    <a:pt x="25434" y="495590"/>
                  </a:lnTo>
                  <a:lnTo>
                    <a:pt x="6824" y="467987"/>
                  </a:lnTo>
                  <a:lnTo>
                    <a:pt x="0" y="434185"/>
                  </a:lnTo>
                  <a:lnTo>
                    <a:pt x="0" y="86839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2315483" y="4220825"/>
            <a:ext cx="5689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Arial"/>
                <a:cs typeface="Arial"/>
              </a:rPr>
              <a:t>Master</a:t>
            </a:r>
            <a:endParaRPr sz="14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682167" y="1735474"/>
            <a:ext cx="82613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Scheduler</a:t>
            </a:r>
            <a:endParaRPr sz="14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554079" y="2315029"/>
            <a:ext cx="1082040" cy="501015"/>
          </a:xfrm>
          <a:prstGeom prst="rect">
            <a:avLst/>
          </a:prstGeom>
          <a:solidFill>
            <a:srgbClr val="92D050"/>
          </a:solidFill>
          <a:ln w="12699">
            <a:solidFill>
              <a:srgbClr val="127BB4"/>
            </a:solidFill>
          </a:ln>
        </p:spPr>
        <p:txBody>
          <a:bodyPr vert="horz" wrap="square" lIns="0" tIns="138430" rIns="0" bIns="0" rtlCol="0">
            <a:spAutoFit/>
          </a:bodyPr>
          <a:lstStyle/>
          <a:p>
            <a:pPr marL="111125">
              <a:lnSpc>
                <a:spcPct val="100000"/>
              </a:lnSpc>
              <a:spcBef>
                <a:spcPts val="1090"/>
              </a:spcBef>
            </a:pP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API</a:t>
            </a:r>
            <a:r>
              <a:rPr sz="14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Server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6842718" y="2994428"/>
            <a:ext cx="227965" cy="230504"/>
            <a:chOff x="6842718" y="2994428"/>
            <a:chExt cx="227965" cy="230504"/>
          </a:xfrm>
        </p:grpSpPr>
        <p:sp>
          <p:nvSpPr>
            <p:cNvPr id="33" name="object 33"/>
            <p:cNvSpPr/>
            <p:nvPr/>
          </p:nvSpPr>
          <p:spPr>
            <a:xfrm>
              <a:off x="6849068" y="3000778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5" h="217805">
                  <a:moveTo>
                    <a:pt x="214961" y="217483"/>
                  </a:moveTo>
                  <a:lnTo>
                    <a:pt x="0" y="217483"/>
                  </a:lnTo>
                  <a:lnTo>
                    <a:pt x="0" y="0"/>
                  </a:lnTo>
                  <a:lnTo>
                    <a:pt x="214961" y="0"/>
                  </a:lnTo>
                  <a:lnTo>
                    <a:pt x="214961" y="217483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849068" y="3000778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5" h="217805">
                  <a:moveTo>
                    <a:pt x="0" y="0"/>
                  </a:moveTo>
                  <a:lnTo>
                    <a:pt x="214961" y="0"/>
                  </a:lnTo>
                  <a:lnTo>
                    <a:pt x="214961" y="217483"/>
                  </a:lnTo>
                  <a:lnTo>
                    <a:pt x="0" y="217483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5" name="object 35"/>
          <p:cNvGrpSpPr/>
          <p:nvPr/>
        </p:nvGrpSpPr>
        <p:grpSpPr>
          <a:xfrm>
            <a:off x="5749502" y="3538770"/>
            <a:ext cx="227965" cy="230504"/>
            <a:chOff x="5749502" y="3538770"/>
            <a:chExt cx="227965" cy="230504"/>
          </a:xfrm>
        </p:grpSpPr>
        <p:sp>
          <p:nvSpPr>
            <p:cNvPr id="36" name="object 36"/>
            <p:cNvSpPr/>
            <p:nvPr/>
          </p:nvSpPr>
          <p:spPr>
            <a:xfrm>
              <a:off x="5755852" y="3545120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4" h="217804">
                  <a:moveTo>
                    <a:pt x="214960" y="217483"/>
                  </a:moveTo>
                  <a:lnTo>
                    <a:pt x="0" y="217483"/>
                  </a:lnTo>
                  <a:lnTo>
                    <a:pt x="0" y="0"/>
                  </a:lnTo>
                  <a:lnTo>
                    <a:pt x="214960" y="0"/>
                  </a:lnTo>
                  <a:lnTo>
                    <a:pt x="214960" y="217483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5755852" y="3545120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4" h="217804">
                  <a:moveTo>
                    <a:pt x="0" y="0"/>
                  </a:moveTo>
                  <a:lnTo>
                    <a:pt x="214960" y="0"/>
                  </a:lnTo>
                  <a:lnTo>
                    <a:pt x="214960" y="217483"/>
                  </a:lnTo>
                  <a:lnTo>
                    <a:pt x="0" y="217483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8230221" y="2901642"/>
            <a:ext cx="796925" cy="8102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59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"/>
                <a:cs typeface="Arial"/>
              </a:rPr>
              <a:t>Pod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05"/>
              </a:spcBef>
            </a:pP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00" spc="-10" dirty="0">
                <a:latin typeface="Arial"/>
                <a:cs typeface="Arial"/>
              </a:rPr>
              <a:t>Container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1098434" y="2120574"/>
            <a:ext cx="3896360" cy="592455"/>
            <a:chOff x="1098434" y="2120574"/>
            <a:chExt cx="3896360" cy="592455"/>
          </a:xfrm>
        </p:grpSpPr>
        <p:sp>
          <p:nvSpPr>
            <p:cNvPr id="40" name="object 40"/>
            <p:cNvSpPr/>
            <p:nvPr/>
          </p:nvSpPr>
          <p:spPr>
            <a:xfrm>
              <a:off x="1098434" y="2537277"/>
              <a:ext cx="1289050" cy="0"/>
            </a:xfrm>
            <a:custGeom>
              <a:avLst/>
              <a:gdLst/>
              <a:ahLst/>
              <a:cxnLst/>
              <a:rect l="l" t="t" r="r" b="b"/>
              <a:pathLst>
                <a:path w="1289050">
                  <a:moveTo>
                    <a:pt x="0" y="0"/>
                  </a:moveTo>
                  <a:lnTo>
                    <a:pt x="1288615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387050" y="252154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387050" y="252154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094954" y="2120574"/>
              <a:ext cx="0" cy="96520"/>
            </a:xfrm>
            <a:custGeom>
              <a:avLst/>
              <a:gdLst/>
              <a:ahLst/>
              <a:cxnLst/>
              <a:rect l="l" t="t" r="r" b="b"/>
              <a:pathLst>
                <a:path h="96519">
                  <a:moveTo>
                    <a:pt x="0" y="0"/>
                  </a:moveTo>
                  <a:lnTo>
                    <a:pt x="0" y="96482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079221" y="221705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15732" y="43225"/>
                  </a:moveTo>
                  <a:lnTo>
                    <a:pt x="0" y="0"/>
                  </a:lnTo>
                  <a:lnTo>
                    <a:pt x="31465" y="0"/>
                  </a:lnTo>
                  <a:lnTo>
                    <a:pt x="15732" y="4322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079221" y="221705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0"/>
                  </a:moveTo>
                  <a:lnTo>
                    <a:pt x="15732" y="43225"/>
                  </a:lnTo>
                  <a:lnTo>
                    <a:pt x="31465" y="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635828" y="2692399"/>
              <a:ext cx="1310640" cy="0"/>
            </a:xfrm>
            <a:custGeom>
              <a:avLst/>
              <a:gdLst/>
              <a:ahLst/>
              <a:cxnLst/>
              <a:rect l="l" t="t" r="r" b="b"/>
              <a:pathLst>
                <a:path w="1310639">
                  <a:moveTo>
                    <a:pt x="0" y="0"/>
                  </a:moveTo>
                  <a:lnTo>
                    <a:pt x="1310535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4946365" y="2676666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4946365" y="2676666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49" name="object 4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5214" y="2407476"/>
            <a:ext cx="412744" cy="507992"/>
          </a:xfrm>
          <a:prstGeom prst="rect">
            <a:avLst/>
          </a:prstGeom>
        </p:spPr>
      </p:pic>
      <p:sp>
        <p:nvSpPr>
          <p:cNvPr id="50" name="object 5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41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707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Scaling</a:t>
            </a:r>
            <a:r>
              <a:rPr spc="-10" dirty="0"/>
              <a:t> </a:t>
            </a:r>
            <a:r>
              <a:rPr dirty="0"/>
              <a:t>the</a:t>
            </a:r>
            <a:r>
              <a:rPr spc="-10" dirty="0"/>
              <a:t> </a:t>
            </a:r>
            <a:r>
              <a:rPr dirty="0"/>
              <a:t>Pods</a:t>
            </a:r>
            <a:r>
              <a:rPr spc="-5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accommodate</a:t>
            </a:r>
            <a:r>
              <a:rPr spc="-5" dirty="0"/>
              <a:t> </a:t>
            </a:r>
            <a:r>
              <a:rPr dirty="0"/>
              <a:t>increasing</a:t>
            </a:r>
            <a:r>
              <a:rPr spc="-10" dirty="0"/>
              <a:t> traffic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51051" y="4327541"/>
            <a:ext cx="10693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Worker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Node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113997" y="1133020"/>
            <a:ext cx="3128645" cy="3140710"/>
            <a:chOff x="5113997" y="1133020"/>
            <a:chExt cx="3128645" cy="3140710"/>
          </a:xfrm>
        </p:grpSpPr>
        <p:sp>
          <p:nvSpPr>
            <p:cNvPr id="5" name="object 5"/>
            <p:cNvSpPr/>
            <p:nvPr/>
          </p:nvSpPr>
          <p:spPr>
            <a:xfrm>
              <a:off x="5120347" y="1139370"/>
              <a:ext cx="2957195" cy="3128010"/>
            </a:xfrm>
            <a:custGeom>
              <a:avLst/>
              <a:gdLst/>
              <a:ahLst/>
              <a:cxnLst/>
              <a:rect l="l" t="t" r="r" b="b"/>
              <a:pathLst>
                <a:path w="2957195" h="3128010">
                  <a:moveTo>
                    <a:pt x="0" y="492818"/>
                  </a:moveTo>
                  <a:lnTo>
                    <a:pt x="2255" y="445356"/>
                  </a:lnTo>
                  <a:lnTo>
                    <a:pt x="8886" y="399171"/>
                  </a:lnTo>
                  <a:lnTo>
                    <a:pt x="19684" y="354469"/>
                  </a:lnTo>
                  <a:lnTo>
                    <a:pt x="34443" y="311456"/>
                  </a:lnTo>
                  <a:lnTo>
                    <a:pt x="52957" y="270339"/>
                  </a:lnTo>
                  <a:lnTo>
                    <a:pt x="75019" y="231325"/>
                  </a:lnTo>
                  <a:lnTo>
                    <a:pt x="100423" y="194619"/>
                  </a:lnTo>
                  <a:lnTo>
                    <a:pt x="128962" y="160430"/>
                  </a:lnTo>
                  <a:lnTo>
                    <a:pt x="160430" y="128962"/>
                  </a:lnTo>
                  <a:lnTo>
                    <a:pt x="194619" y="100423"/>
                  </a:lnTo>
                  <a:lnTo>
                    <a:pt x="231325" y="75019"/>
                  </a:lnTo>
                  <a:lnTo>
                    <a:pt x="270339" y="52957"/>
                  </a:lnTo>
                  <a:lnTo>
                    <a:pt x="311456" y="34443"/>
                  </a:lnTo>
                  <a:lnTo>
                    <a:pt x="354469" y="19684"/>
                  </a:lnTo>
                  <a:lnTo>
                    <a:pt x="399171" y="8886"/>
                  </a:lnTo>
                  <a:lnTo>
                    <a:pt x="445356" y="2255"/>
                  </a:lnTo>
                  <a:lnTo>
                    <a:pt x="492818" y="0"/>
                  </a:lnTo>
                  <a:lnTo>
                    <a:pt x="2464034" y="0"/>
                  </a:lnTo>
                  <a:lnTo>
                    <a:pt x="2512743" y="2411"/>
                  </a:lnTo>
                  <a:lnTo>
                    <a:pt x="2560627" y="9556"/>
                  </a:lnTo>
                  <a:lnTo>
                    <a:pt x="2607362" y="21302"/>
                  </a:lnTo>
                  <a:lnTo>
                    <a:pt x="2652627" y="37513"/>
                  </a:lnTo>
                  <a:lnTo>
                    <a:pt x="2696097" y="58057"/>
                  </a:lnTo>
                  <a:lnTo>
                    <a:pt x="2737449" y="82799"/>
                  </a:lnTo>
                  <a:lnTo>
                    <a:pt x="2776361" y="111605"/>
                  </a:lnTo>
                  <a:lnTo>
                    <a:pt x="2812509" y="144343"/>
                  </a:lnTo>
                  <a:lnTo>
                    <a:pt x="2845246" y="180490"/>
                  </a:lnTo>
                  <a:lnTo>
                    <a:pt x="2874053" y="219402"/>
                  </a:lnTo>
                  <a:lnTo>
                    <a:pt x="2898795" y="260755"/>
                  </a:lnTo>
                  <a:lnTo>
                    <a:pt x="2919339" y="304225"/>
                  </a:lnTo>
                  <a:lnTo>
                    <a:pt x="2935550" y="349489"/>
                  </a:lnTo>
                  <a:lnTo>
                    <a:pt x="2947296" y="396225"/>
                  </a:lnTo>
                  <a:lnTo>
                    <a:pt x="2954441" y="444109"/>
                  </a:lnTo>
                  <a:lnTo>
                    <a:pt x="2956852" y="492818"/>
                  </a:lnTo>
                  <a:lnTo>
                    <a:pt x="2956852" y="2635010"/>
                  </a:lnTo>
                  <a:lnTo>
                    <a:pt x="2954596" y="2682472"/>
                  </a:lnTo>
                  <a:lnTo>
                    <a:pt x="2947966" y="2728657"/>
                  </a:lnTo>
                  <a:lnTo>
                    <a:pt x="2937168" y="2773359"/>
                  </a:lnTo>
                  <a:lnTo>
                    <a:pt x="2922409" y="2816372"/>
                  </a:lnTo>
                  <a:lnTo>
                    <a:pt x="2903895" y="2857489"/>
                  </a:lnTo>
                  <a:lnTo>
                    <a:pt x="2881833" y="2896503"/>
                  </a:lnTo>
                  <a:lnTo>
                    <a:pt x="2856429" y="2933209"/>
                  </a:lnTo>
                  <a:lnTo>
                    <a:pt x="2827890" y="2967398"/>
                  </a:lnTo>
                  <a:lnTo>
                    <a:pt x="2796422" y="2998866"/>
                  </a:lnTo>
                  <a:lnTo>
                    <a:pt x="2762232" y="3027405"/>
                  </a:lnTo>
                  <a:lnTo>
                    <a:pt x="2725527" y="3052809"/>
                  </a:lnTo>
                  <a:lnTo>
                    <a:pt x="2686513" y="3074871"/>
                  </a:lnTo>
                  <a:lnTo>
                    <a:pt x="2645396" y="3093385"/>
                  </a:lnTo>
                  <a:lnTo>
                    <a:pt x="2602383" y="3108144"/>
                  </a:lnTo>
                  <a:lnTo>
                    <a:pt x="2557681" y="3118942"/>
                  </a:lnTo>
                  <a:lnTo>
                    <a:pt x="2511495" y="3125573"/>
                  </a:lnTo>
                  <a:lnTo>
                    <a:pt x="2464034" y="3127828"/>
                  </a:lnTo>
                  <a:lnTo>
                    <a:pt x="492818" y="3127828"/>
                  </a:lnTo>
                  <a:lnTo>
                    <a:pt x="445356" y="3125573"/>
                  </a:lnTo>
                  <a:lnTo>
                    <a:pt x="399171" y="3118942"/>
                  </a:lnTo>
                  <a:lnTo>
                    <a:pt x="354469" y="3108144"/>
                  </a:lnTo>
                  <a:lnTo>
                    <a:pt x="311456" y="3093385"/>
                  </a:lnTo>
                  <a:lnTo>
                    <a:pt x="270339" y="3074871"/>
                  </a:lnTo>
                  <a:lnTo>
                    <a:pt x="231325" y="3052809"/>
                  </a:lnTo>
                  <a:lnTo>
                    <a:pt x="194619" y="3027405"/>
                  </a:lnTo>
                  <a:lnTo>
                    <a:pt x="160430" y="2998866"/>
                  </a:lnTo>
                  <a:lnTo>
                    <a:pt x="128962" y="2967398"/>
                  </a:lnTo>
                  <a:lnTo>
                    <a:pt x="100423" y="2933209"/>
                  </a:lnTo>
                  <a:lnTo>
                    <a:pt x="75019" y="2896503"/>
                  </a:lnTo>
                  <a:lnTo>
                    <a:pt x="52957" y="2857489"/>
                  </a:lnTo>
                  <a:lnTo>
                    <a:pt x="34443" y="2816372"/>
                  </a:lnTo>
                  <a:lnTo>
                    <a:pt x="19684" y="2773359"/>
                  </a:lnTo>
                  <a:lnTo>
                    <a:pt x="8886" y="2728657"/>
                  </a:lnTo>
                  <a:lnTo>
                    <a:pt x="2255" y="2682472"/>
                  </a:lnTo>
                  <a:lnTo>
                    <a:pt x="0" y="2635010"/>
                  </a:lnTo>
                  <a:lnTo>
                    <a:pt x="0" y="492818"/>
                  </a:lnTo>
                  <a:close/>
                </a:path>
                <a:path w="2957195" h="3128010">
                  <a:moveTo>
                    <a:pt x="315252" y="1663703"/>
                  </a:moveTo>
                  <a:lnTo>
                    <a:pt x="319786" y="1618728"/>
                  </a:lnTo>
                  <a:lnTo>
                    <a:pt x="332790" y="1576838"/>
                  </a:lnTo>
                  <a:lnTo>
                    <a:pt x="353365" y="1538931"/>
                  </a:lnTo>
                  <a:lnTo>
                    <a:pt x="380615" y="1505904"/>
                  </a:lnTo>
                  <a:lnTo>
                    <a:pt x="413642" y="1478654"/>
                  </a:lnTo>
                  <a:lnTo>
                    <a:pt x="451549" y="1458079"/>
                  </a:lnTo>
                  <a:lnTo>
                    <a:pt x="493439" y="1445075"/>
                  </a:lnTo>
                  <a:lnTo>
                    <a:pt x="538414" y="1440541"/>
                  </a:lnTo>
                  <a:lnTo>
                    <a:pt x="2523234" y="1440541"/>
                  </a:lnTo>
                  <a:lnTo>
                    <a:pt x="2566974" y="1444869"/>
                  </a:lnTo>
                  <a:lnTo>
                    <a:pt x="2608634" y="1457529"/>
                  </a:lnTo>
                  <a:lnTo>
                    <a:pt x="2647044" y="1478035"/>
                  </a:lnTo>
                  <a:lnTo>
                    <a:pt x="2681033" y="1505904"/>
                  </a:lnTo>
                  <a:lnTo>
                    <a:pt x="2708902" y="1539893"/>
                  </a:lnTo>
                  <a:lnTo>
                    <a:pt x="2729408" y="1578303"/>
                  </a:lnTo>
                  <a:lnTo>
                    <a:pt x="2742068" y="1619963"/>
                  </a:lnTo>
                  <a:lnTo>
                    <a:pt x="2746395" y="1663703"/>
                  </a:lnTo>
                  <a:lnTo>
                    <a:pt x="2746395" y="2556322"/>
                  </a:lnTo>
                  <a:lnTo>
                    <a:pt x="2741862" y="2601297"/>
                  </a:lnTo>
                  <a:lnTo>
                    <a:pt x="2728858" y="2643187"/>
                  </a:lnTo>
                  <a:lnTo>
                    <a:pt x="2708283" y="2681094"/>
                  </a:lnTo>
                  <a:lnTo>
                    <a:pt x="2681033" y="2714121"/>
                  </a:lnTo>
                  <a:lnTo>
                    <a:pt x="2648006" y="2741371"/>
                  </a:lnTo>
                  <a:lnTo>
                    <a:pt x="2610099" y="2761946"/>
                  </a:lnTo>
                  <a:lnTo>
                    <a:pt x="2568209" y="2774950"/>
                  </a:lnTo>
                  <a:lnTo>
                    <a:pt x="2523234" y="2779483"/>
                  </a:lnTo>
                  <a:lnTo>
                    <a:pt x="538414" y="2779483"/>
                  </a:lnTo>
                  <a:lnTo>
                    <a:pt x="493439" y="2774950"/>
                  </a:lnTo>
                  <a:lnTo>
                    <a:pt x="451549" y="2761946"/>
                  </a:lnTo>
                  <a:lnTo>
                    <a:pt x="413642" y="2741371"/>
                  </a:lnTo>
                  <a:lnTo>
                    <a:pt x="380615" y="2714121"/>
                  </a:lnTo>
                  <a:lnTo>
                    <a:pt x="353365" y="2681094"/>
                  </a:lnTo>
                  <a:lnTo>
                    <a:pt x="332790" y="2643187"/>
                  </a:lnTo>
                  <a:lnTo>
                    <a:pt x="319786" y="2601297"/>
                  </a:lnTo>
                  <a:lnTo>
                    <a:pt x="315252" y="2556322"/>
                  </a:lnTo>
                  <a:lnTo>
                    <a:pt x="315252" y="1663703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641521" y="2971800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208822" y="351063"/>
                  </a:move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641521" y="2971800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0" y="175531"/>
                  </a:move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741655" y="3044145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4" h="217804">
                  <a:moveTo>
                    <a:pt x="214960" y="217483"/>
                  </a:moveTo>
                  <a:lnTo>
                    <a:pt x="0" y="217483"/>
                  </a:lnTo>
                  <a:lnTo>
                    <a:pt x="0" y="0"/>
                  </a:lnTo>
                  <a:lnTo>
                    <a:pt x="214960" y="0"/>
                  </a:lnTo>
                  <a:lnTo>
                    <a:pt x="214960" y="217483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741655" y="3044145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4" h="217804">
                  <a:moveTo>
                    <a:pt x="0" y="0"/>
                  </a:moveTo>
                  <a:lnTo>
                    <a:pt x="214960" y="0"/>
                  </a:lnTo>
                  <a:lnTo>
                    <a:pt x="214960" y="217483"/>
                  </a:lnTo>
                  <a:lnTo>
                    <a:pt x="0" y="217483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763561" y="3418946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208822" y="351063"/>
                  </a:move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6" y="285318"/>
                  </a:lnTo>
                  <a:lnTo>
                    <a:pt x="21225" y="252726"/>
                  </a:lnTo>
                  <a:lnTo>
                    <a:pt x="5515" y="215779"/>
                  </a:lnTo>
                  <a:lnTo>
                    <a:pt x="0" y="175531"/>
                  </a:lnTo>
                  <a:lnTo>
                    <a:pt x="5515" y="135284"/>
                  </a:lnTo>
                  <a:lnTo>
                    <a:pt x="21225" y="98337"/>
                  </a:lnTo>
                  <a:lnTo>
                    <a:pt x="45876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30" y="135284"/>
                  </a:lnTo>
                  <a:lnTo>
                    <a:pt x="417645" y="175531"/>
                  </a:lnTo>
                  <a:lnTo>
                    <a:pt x="412130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763561" y="3418946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0" y="175531"/>
                  </a:moveTo>
                  <a:lnTo>
                    <a:pt x="5515" y="135284"/>
                  </a:lnTo>
                  <a:lnTo>
                    <a:pt x="21225" y="98337"/>
                  </a:lnTo>
                  <a:lnTo>
                    <a:pt x="45876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30" y="135284"/>
                  </a:lnTo>
                  <a:lnTo>
                    <a:pt x="417645" y="175531"/>
                  </a:lnTo>
                  <a:lnTo>
                    <a:pt x="412130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6" y="285318"/>
                  </a:lnTo>
                  <a:lnTo>
                    <a:pt x="21225" y="252726"/>
                  </a:lnTo>
                  <a:lnTo>
                    <a:pt x="5515" y="215779"/>
                  </a:lnTo>
                  <a:lnTo>
                    <a:pt x="0" y="17553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749250" y="2938976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208822" y="351063"/>
                  </a:move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30" y="135284"/>
                  </a:lnTo>
                  <a:lnTo>
                    <a:pt x="417645" y="175531"/>
                  </a:lnTo>
                  <a:lnTo>
                    <a:pt x="412130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749250" y="2938976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0" y="175531"/>
                  </a:move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30" y="135284"/>
                  </a:lnTo>
                  <a:lnTo>
                    <a:pt x="417645" y="175531"/>
                  </a:lnTo>
                  <a:lnTo>
                    <a:pt x="412130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660380" y="3463138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208822" y="351063"/>
                  </a:move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660380" y="3463138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0" y="175531"/>
                  </a:move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859467" y="3492401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5" h="217804">
                  <a:moveTo>
                    <a:pt x="214960" y="217483"/>
                  </a:moveTo>
                  <a:lnTo>
                    <a:pt x="0" y="217483"/>
                  </a:lnTo>
                  <a:lnTo>
                    <a:pt x="0" y="0"/>
                  </a:lnTo>
                  <a:lnTo>
                    <a:pt x="214960" y="0"/>
                  </a:lnTo>
                  <a:lnTo>
                    <a:pt x="214960" y="217483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859467" y="3492401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5" h="217804">
                  <a:moveTo>
                    <a:pt x="0" y="0"/>
                  </a:moveTo>
                  <a:lnTo>
                    <a:pt x="214960" y="0"/>
                  </a:lnTo>
                  <a:lnTo>
                    <a:pt x="214960" y="217483"/>
                  </a:lnTo>
                  <a:lnTo>
                    <a:pt x="0" y="217483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238357" y="3109519"/>
              <a:ext cx="999490" cy="0"/>
            </a:xfrm>
            <a:custGeom>
              <a:avLst/>
              <a:gdLst/>
              <a:ahLst/>
              <a:cxnLst/>
              <a:rect l="l" t="t" r="r" b="b"/>
              <a:pathLst>
                <a:path w="999490">
                  <a:moveTo>
                    <a:pt x="999406" y="0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195132" y="309378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24" y="31465"/>
                  </a:moveTo>
                  <a:lnTo>
                    <a:pt x="0" y="15732"/>
                  </a:lnTo>
                  <a:lnTo>
                    <a:pt x="43224" y="0"/>
                  </a:lnTo>
                  <a:lnTo>
                    <a:pt x="43224" y="3146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195132" y="309378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24" y="0"/>
                  </a:moveTo>
                  <a:lnTo>
                    <a:pt x="0" y="15732"/>
                  </a:lnTo>
                  <a:lnTo>
                    <a:pt x="43224" y="31465"/>
                  </a:lnTo>
                  <a:lnTo>
                    <a:pt x="43224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119843" y="3590881"/>
              <a:ext cx="1047115" cy="3810"/>
            </a:xfrm>
            <a:custGeom>
              <a:avLst/>
              <a:gdLst/>
              <a:ahLst/>
              <a:cxnLst/>
              <a:rect l="l" t="t" r="r" b="b"/>
              <a:pathLst>
                <a:path w="1047115" h="3810">
                  <a:moveTo>
                    <a:pt x="1046793" y="3597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076617" y="357514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170" y="31465"/>
                  </a:moveTo>
                  <a:lnTo>
                    <a:pt x="0" y="15584"/>
                  </a:lnTo>
                  <a:lnTo>
                    <a:pt x="43279" y="0"/>
                  </a:lnTo>
                  <a:lnTo>
                    <a:pt x="43170" y="3146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076617" y="357514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79" y="0"/>
                  </a:moveTo>
                  <a:lnTo>
                    <a:pt x="0" y="15584"/>
                  </a:lnTo>
                  <a:lnTo>
                    <a:pt x="43170" y="31465"/>
                  </a:lnTo>
                  <a:lnTo>
                    <a:pt x="43279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" name="object 24"/>
          <p:cNvGrpSpPr/>
          <p:nvPr/>
        </p:nvGrpSpPr>
        <p:grpSpPr>
          <a:xfrm>
            <a:off x="1303129" y="1216477"/>
            <a:ext cx="2501900" cy="2952115"/>
            <a:chOff x="1303129" y="1216477"/>
            <a:chExt cx="2501900" cy="2952115"/>
          </a:xfrm>
        </p:grpSpPr>
        <p:sp>
          <p:nvSpPr>
            <p:cNvPr id="25" name="object 25"/>
            <p:cNvSpPr/>
            <p:nvPr/>
          </p:nvSpPr>
          <p:spPr>
            <a:xfrm>
              <a:off x="1309479" y="1222827"/>
              <a:ext cx="2489200" cy="2939415"/>
            </a:xfrm>
            <a:custGeom>
              <a:avLst/>
              <a:gdLst/>
              <a:ahLst/>
              <a:cxnLst/>
              <a:rect l="l" t="t" r="r" b="b"/>
              <a:pathLst>
                <a:path w="2489200" h="2939415">
                  <a:moveTo>
                    <a:pt x="2074324" y="2939142"/>
                  </a:moveTo>
                  <a:lnTo>
                    <a:pt x="414874" y="2939142"/>
                  </a:lnTo>
                  <a:lnTo>
                    <a:pt x="366491" y="2936351"/>
                  </a:lnTo>
                  <a:lnTo>
                    <a:pt x="319747" y="2928185"/>
                  </a:lnTo>
                  <a:lnTo>
                    <a:pt x="274954" y="2914956"/>
                  </a:lnTo>
                  <a:lnTo>
                    <a:pt x="232423" y="2896974"/>
                  </a:lnTo>
                  <a:lnTo>
                    <a:pt x="192465" y="2874551"/>
                  </a:lnTo>
                  <a:lnTo>
                    <a:pt x="155391" y="2847999"/>
                  </a:lnTo>
                  <a:lnTo>
                    <a:pt x="121514" y="2817628"/>
                  </a:lnTo>
                  <a:lnTo>
                    <a:pt x="91143" y="2783751"/>
                  </a:lnTo>
                  <a:lnTo>
                    <a:pt x="64591" y="2746677"/>
                  </a:lnTo>
                  <a:lnTo>
                    <a:pt x="42168" y="2706719"/>
                  </a:lnTo>
                  <a:lnTo>
                    <a:pt x="24186" y="2664188"/>
                  </a:lnTo>
                  <a:lnTo>
                    <a:pt x="10957" y="2619394"/>
                  </a:lnTo>
                  <a:lnTo>
                    <a:pt x="2791" y="2572651"/>
                  </a:lnTo>
                  <a:lnTo>
                    <a:pt x="0" y="2524267"/>
                  </a:lnTo>
                  <a:lnTo>
                    <a:pt x="0" y="414874"/>
                  </a:lnTo>
                  <a:lnTo>
                    <a:pt x="2700" y="368062"/>
                  </a:lnTo>
                  <a:lnTo>
                    <a:pt x="10957" y="319747"/>
                  </a:lnTo>
                  <a:lnTo>
                    <a:pt x="24186" y="274954"/>
                  </a:lnTo>
                  <a:lnTo>
                    <a:pt x="42168" y="232423"/>
                  </a:lnTo>
                  <a:lnTo>
                    <a:pt x="64591" y="192465"/>
                  </a:lnTo>
                  <a:lnTo>
                    <a:pt x="91143" y="155391"/>
                  </a:lnTo>
                  <a:lnTo>
                    <a:pt x="121514" y="121514"/>
                  </a:lnTo>
                  <a:lnTo>
                    <a:pt x="155391" y="91143"/>
                  </a:lnTo>
                  <a:lnTo>
                    <a:pt x="192465" y="64591"/>
                  </a:lnTo>
                  <a:lnTo>
                    <a:pt x="232423" y="42168"/>
                  </a:lnTo>
                  <a:lnTo>
                    <a:pt x="274954" y="24186"/>
                  </a:lnTo>
                  <a:lnTo>
                    <a:pt x="319747" y="10957"/>
                  </a:lnTo>
                  <a:lnTo>
                    <a:pt x="366491" y="2791"/>
                  </a:lnTo>
                  <a:lnTo>
                    <a:pt x="414874" y="0"/>
                  </a:lnTo>
                  <a:lnTo>
                    <a:pt x="2074324" y="0"/>
                  </a:lnTo>
                  <a:lnTo>
                    <a:pt x="2121137" y="2648"/>
                  </a:lnTo>
                  <a:lnTo>
                    <a:pt x="2166992" y="10480"/>
                  </a:lnTo>
                  <a:lnTo>
                    <a:pt x="2211483" y="23328"/>
                  </a:lnTo>
                  <a:lnTo>
                    <a:pt x="2254204" y="41023"/>
                  </a:lnTo>
                  <a:lnTo>
                    <a:pt x="2294749" y="63398"/>
                  </a:lnTo>
                  <a:lnTo>
                    <a:pt x="2332711" y="90284"/>
                  </a:lnTo>
                  <a:lnTo>
                    <a:pt x="2367685" y="121514"/>
                  </a:lnTo>
                  <a:lnTo>
                    <a:pt x="2398915" y="156488"/>
                  </a:lnTo>
                  <a:lnTo>
                    <a:pt x="2425801" y="194450"/>
                  </a:lnTo>
                  <a:lnTo>
                    <a:pt x="2448176" y="234995"/>
                  </a:lnTo>
                  <a:lnTo>
                    <a:pt x="2465871" y="277716"/>
                  </a:lnTo>
                  <a:lnTo>
                    <a:pt x="2478719" y="322207"/>
                  </a:lnTo>
                  <a:lnTo>
                    <a:pt x="2486551" y="368062"/>
                  </a:lnTo>
                  <a:lnTo>
                    <a:pt x="2489199" y="414874"/>
                  </a:lnTo>
                  <a:lnTo>
                    <a:pt x="2489199" y="2524267"/>
                  </a:lnTo>
                  <a:lnTo>
                    <a:pt x="2486408" y="2572651"/>
                  </a:lnTo>
                  <a:lnTo>
                    <a:pt x="2478242" y="2619394"/>
                  </a:lnTo>
                  <a:lnTo>
                    <a:pt x="2465013" y="2664188"/>
                  </a:lnTo>
                  <a:lnTo>
                    <a:pt x="2447031" y="2706719"/>
                  </a:lnTo>
                  <a:lnTo>
                    <a:pt x="2424608" y="2746677"/>
                  </a:lnTo>
                  <a:lnTo>
                    <a:pt x="2398056" y="2783751"/>
                  </a:lnTo>
                  <a:lnTo>
                    <a:pt x="2367685" y="2817628"/>
                  </a:lnTo>
                  <a:lnTo>
                    <a:pt x="2333808" y="2847999"/>
                  </a:lnTo>
                  <a:lnTo>
                    <a:pt x="2296734" y="2874551"/>
                  </a:lnTo>
                  <a:lnTo>
                    <a:pt x="2256776" y="2896974"/>
                  </a:lnTo>
                  <a:lnTo>
                    <a:pt x="2214245" y="2914956"/>
                  </a:lnTo>
                  <a:lnTo>
                    <a:pt x="2169451" y="2928185"/>
                  </a:lnTo>
                  <a:lnTo>
                    <a:pt x="2122708" y="2936351"/>
                  </a:lnTo>
                  <a:lnTo>
                    <a:pt x="2074324" y="2939142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309479" y="1222827"/>
              <a:ext cx="2489200" cy="2939415"/>
            </a:xfrm>
            <a:custGeom>
              <a:avLst/>
              <a:gdLst/>
              <a:ahLst/>
              <a:cxnLst/>
              <a:rect l="l" t="t" r="r" b="b"/>
              <a:pathLst>
                <a:path w="2489200" h="2939415">
                  <a:moveTo>
                    <a:pt x="0" y="414874"/>
                  </a:moveTo>
                  <a:lnTo>
                    <a:pt x="2791" y="366491"/>
                  </a:lnTo>
                  <a:lnTo>
                    <a:pt x="10957" y="319747"/>
                  </a:lnTo>
                  <a:lnTo>
                    <a:pt x="24186" y="274954"/>
                  </a:lnTo>
                  <a:lnTo>
                    <a:pt x="42168" y="232423"/>
                  </a:lnTo>
                  <a:lnTo>
                    <a:pt x="64591" y="192465"/>
                  </a:lnTo>
                  <a:lnTo>
                    <a:pt x="91143" y="155391"/>
                  </a:lnTo>
                  <a:lnTo>
                    <a:pt x="121514" y="121514"/>
                  </a:lnTo>
                  <a:lnTo>
                    <a:pt x="155391" y="91143"/>
                  </a:lnTo>
                  <a:lnTo>
                    <a:pt x="192465" y="64591"/>
                  </a:lnTo>
                  <a:lnTo>
                    <a:pt x="232423" y="42168"/>
                  </a:lnTo>
                  <a:lnTo>
                    <a:pt x="274954" y="24186"/>
                  </a:lnTo>
                  <a:lnTo>
                    <a:pt x="319747" y="10957"/>
                  </a:lnTo>
                  <a:lnTo>
                    <a:pt x="366491" y="2791"/>
                  </a:lnTo>
                  <a:lnTo>
                    <a:pt x="414874" y="0"/>
                  </a:lnTo>
                  <a:lnTo>
                    <a:pt x="2074324" y="0"/>
                  </a:lnTo>
                  <a:lnTo>
                    <a:pt x="2121137" y="2648"/>
                  </a:lnTo>
                  <a:lnTo>
                    <a:pt x="2166992" y="10480"/>
                  </a:lnTo>
                  <a:lnTo>
                    <a:pt x="2211483" y="23328"/>
                  </a:lnTo>
                  <a:lnTo>
                    <a:pt x="2254204" y="41023"/>
                  </a:lnTo>
                  <a:lnTo>
                    <a:pt x="2294749" y="63398"/>
                  </a:lnTo>
                  <a:lnTo>
                    <a:pt x="2332711" y="90284"/>
                  </a:lnTo>
                  <a:lnTo>
                    <a:pt x="2367685" y="121514"/>
                  </a:lnTo>
                  <a:lnTo>
                    <a:pt x="2398915" y="156488"/>
                  </a:lnTo>
                  <a:lnTo>
                    <a:pt x="2425801" y="194450"/>
                  </a:lnTo>
                  <a:lnTo>
                    <a:pt x="2448176" y="234995"/>
                  </a:lnTo>
                  <a:lnTo>
                    <a:pt x="2465871" y="277716"/>
                  </a:lnTo>
                  <a:lnTo>
                    <a:pt x="2478719" y="322207"/>
                  </a:lnTo>
                  <a:lnTo>
                    <a:pt x="2486551" y="368062"/>
                  </a:lnTo>
                  <a:lnTo>
                    <a:pt x="2489199" y="414874"/>
                  </a:lnTo>
                  <a:lnTo>
                    <a:pt x="2489199" y="2524267"/>
                  </a:lnTo>
                  <a:lnTo>
                    <a:pt x="2486408" y="2572651"/>
                  </a:lnTo>
                  <a:lnTo>
                    <a:pt x="2478242" y="2619394"/>
                  </a:lnTo>
                  <a:lnTo>
                    <a:pt x="2465013" y="2664188"/>
                  </a:lnTo>
                  <a:lnTo>
                    <a:pt x="2447031" y="2706719"/>
                  </a:lnTo>
                  <a:lnTo>
                    <a:pt x="2424608" y="2746677"/>
                  </a:lnTo>
                  <a:lnTo>
                    <a:pt x="2398056" y="2783751"/>
                  </a:lnTo>
                  <a:lnTo>
                    <a:pt x="2367685" y="2817628"/>
                  </a:lnTo>
                  <a:lnTo>
                    <a:pt x="2333808" y="2847999"/>
                  </a:lnTo>
                  <a:lnTo>
                    <a:pt x="2296734" y="2874551"/>
                  </a:lnTo>
                  <a:lnTo>
                    <a:pt x="2256776" y="2896974"/>
                  </a:lnTo>
                  <a:lnTo>
                    <a:pt x="2214245" y="2914956"/>
                  </a:lnTo>
                  <a:lnTo>
                    <a:pt x="2169451" y="2928185"/>
                  </a:lnTo>
                  <a:lnTo>
                    <a:pt x="2122708" y="2936351"/>
                  </a:lnTo>
                  <a:lnTo>
                    <a:pt x="2074324" y="2939142"/>
                  </a:lnTo>
                  <a:lnTo>
                    <a:pt x="414874" y="2939142"/>
                  </a:lnTo>
                  <a:lnTo>
                    <a:pt x="366491" y="2936351"/>
                  </a:lnTo>
                  <a:lnTo>
                    <a:pt x="319747" y="2928185"/>
                  </a:lnTo>
                  <a:lnTo>
                    <a:pt x="274954" y="2914956"/>
                  </a:lnTo>
                  <a:lnTo>
                    <a:pt x="232423" y="2896974"/>
                  </a:lnTo>
                  <a:lnTo>
                    <a:pt x="192465" y="2874551"/>
                  </a:lnTo>
                  <a:lnTo>
                    <a:pt x="155391" y="2847999"/>
                  </a:lnTo>
                  <a:lnTo>
                    <a:pt x="121514" y="2817628"/>
                  </a:lnTo>
                  <a:lnTo>
                    <a:pt x="91143" y="2783751"/>
                  </a:lnTo>
                  <a:lnTo>
                    <a:pt x="64591" y="2746677"/>
                  </a:lnTo>
                  <a:lnTo>
                    <a:pt x="42168" y="2706719"/>
                  </a:lnTo>
                  <a:lnTo>
                    <a:pt x="24186" y="2664188"/>
                  </a:lnTo>
                  <a:lnTo>
                    <a:pt x="10957" y="2619394"/>
                  </a:lnTo>
                  <a:lnTo>
                    <a:pt x="2791" y="2572651"/>
                  </a:lnTo>
                  <a:lnTo>
                    <a:pt x="0" y="2524267"/>
                  </a:lnTo>
                  <a:lnTo>
                    <a:pt x="0" y="414874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554079" y="1599548"/>
              <a:ext cx="1082040" cy="521334"/>
            </a:xfrm>
            <a:custGeom>
              <a:avLst/>
              <a:gdLst/>
              <a:ahLst/>
              <a:cxnLst/>
              <a:rect l="l" t="t" r="r" b="b"/>
              <a:pathLst>
                <a:path w="1082039" h="521335">
                  <a:moveTo>
                    <a:pt x="994909" y="521024"/>
                  </a:moveTo>
                  <a:lnTo>
                    <a:pt x="86839" y="521024"/>
                  </a:lnTo>
                  <a:lnTo>
                    <a:pt x="53037" y="514200"/>
                  </a:lnTo>
                  <a:lnTo>
                    <a:pt x="25434" y="495590"/>
                  </a:lnTo>
                  <a:lnTo>
                    <a:pt x="6824" y="467987"/>
                  </a:lnTo>
                  <a:lnTo>
                    <a:pt x="0" y="434185"/>
                  </a:lnTo>
                  <a:lnTo>
                    <a:pt x="0" y="86839"/>
                  </a:lnTo>
                  <a:lnTo>
                    <a:pt x="6824" y="53037"/>
                  </a:lnTo>
                  <a:lnTo>
                    <a:pt x="25434" y="25434"/>
                  </a:lnTo>
                  <a:lnTo>
                    <a:pt x="53037" y="6824"/>
                  </a:lnTo>
                  <a:lnTo>
                    <a:pt x="86839" y="0"/>
                  </a:lnTo>
                  <a:lnTo>
                    <a:pt x="994909" y="0"/>
                  </a:lnTo>
                  <a:lnTo>
                    <a:pt x="1043088" y="14590"/>
                  </a:lnTo>
                  <a:lnTo>
                    <a:pt x="1075138" y="53607"/>
                  </a:lnTo>
                  <a:lnTo>
                    <a:pt x="1081748" y="86839"/>
                  </a:lnTo>
                  <a:lnTo>
                    <a:pt x="1081748" y="434185"/>
                  </a:lnTo>
                  <a:lnTo>
                    <a:pt x="1074924" y="467987"/>
                  </a:lnTo>
                  <a:lnTo>
                    <a:pt x="1056314" y="495590"/>
                  </a:lnTo>
                  <a:lnTo>
                    <a:pt x="1028711" y="514200"/>
                  </a:lnTo>
                  <a:lnTo>
                    <a:pt x="994909" y="521024"/>
                  </a:lnTo>
                  <a:close/>
                </a:path>
              </a:pathLst>
            </a:custGeom>
            <a:solidFill>
              <a:srgbClr val="00B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554079" y="1599548"/>
              <a:ext cx="1082040" cy="521334"/>
            </a:xfrm>
            <a:custGeom>
              <a:avLst/>
              <a:gdLst/>
              <a:ahLst/>
              <a:cxnLst/>
              <a:rect l="l" t="t" r="r" b="b"/>
              <a:pathLst>
                <a:path w="1082039" h="521335">
                  <a:moveTo>
                    <a:pt x="0" y="86839"/>
                  </a:moveTo>
                  <a:lnTo>
                    <a:pt x="6824" y="53037"/>
                  </a:lnTo>
                  <a:lnTo>
                    <a:pt x="25434" y="25434"/>
                  </a:lnTo>
                  <a:lnTo>
                    <a:pt x="53037" y="6824"/>
                  </a:lnTo>
                  <a:lnTo>
                    <a:pt x="86839" y="0"/>
                  </a:lnTo>
                  <a:lnTo>
                    <a:pt x="994909" y="0"/>
                  </a:lnTo>
                  <a:lnTo>
                    <a:pt x="1043088" y="14590"/>
                  </a:lnTo>
                  <a:lnTo>
                    <a:pt x="1075138" y="53607"/>
                  </a:lnTo>
                  <a:lnTo>
                    <a:pt x="1081748" y="86839"/>
                  </a:lnTo>
                  <a:lnTo>
                    <a:pt x="1081748" y="434185"/>
                  </a:lnTo>
                  <a:lnTo>
                    <a:pt x="1074924" y="467987"/>
                  </a:lnTo>
                  <a:lnTo>
                    <a:pt x="1056314" y="495590"/>
                  </a:lnTo>
                  <a:lnTo>
                    <a:pt x="1028711" y="514200"/>
                  </a:lnTo>
                  <a:lnTo>
                    <a:pt x="994909" y="521024"/>
                  </a:lnTo>
                  <a:lnTo>
                    <a:pt x="86839" y="521024"/>
                  </a:lnTo>
                  <a:lnTo>
                    <a:pt x="53037" y="514200"/>
                  </a:lnTo>
                  <a:lnTo>
                    <a:pt x="25434" y="495590"/>
                  </a:lnTo>
                  <a:lnTo>
                    <a:pt x="6824" y="467987"/>
                  </a:lnTo>
                  <a:lnTo>
                    <a:pt x="0" y="434185"/>
                  </a:lnTo>
                  <a:lnTo>
                    <a:pt x="0" y="86839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2315483" y="4220825"/>
            <a:ext cx="5689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Arial"/>
                <a:cs typeface="Arial"/>
              </a:rPr>
              <a:t>Master</a:t>
            </a:r>
            <a:endParaRPr sz="14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682167" y="1735474"/>
            <a:ext cx="82613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Scheduler</a:t>
            </a:r>
            <a:endParaRPr sz="14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554079" y="2315029"/>
            <a:ext cx="1082040" cy="501015"/>
          </a:xfrm>
          <a:prstGeom prst="rect">
            <a:avLst/>
          </a:prstGeom>
          <a:solidFill>
            <a:srgbClr val="92D050"/>
          </a:solidFill>
          <a:ln w="12699">
            <a:solidFill>
              <a:srgbClr val="127BB4"/>
            </a:solidFill>
          </a:ln>
        </p:spPr>
        <p:txBody>
          <a:bodyPr vert="horz" wrap="square" lIns="0" tIns="138430" rIns="0" bIns="0" rtlCol="0">
            <a:spAutoFit/>
          </a:bodyPr>
          <a:lstStyle/>
          <a:p>
            <a:pPr marL="111125">
              <a:lnSpc>
                <a:spcPct val="100000"/>
              </a:lnSpc>
              <a:spcBef>
                <a:spcPts val="1090"/>
              </a:spcBef>
            </a:pP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API</a:t>
            </a:r>
            <a:r>
              <a:rPr sz="14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Server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6842718" y="2994428"/>
            <a:ext cx="227965" cy="230504"/>
            <a:chOff x="6842718" y="2994428"/>
            <a:chExt cx="227965" cy="230504"/>
          </a:xfrm>
        </p:grpSpPr>
        <p:sp>
          <p:nvSpPr>
            <p:cNvPr id="33" name="object 33"/>
            <p:cNvSpPr/>
            <p:nvPr/>
          </p:nvSpPr>
          <p:spPr>
            <a:xfrm>
              <a:off x="6849068" y="3000778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5" h="217805">
                  <a:moveTo>
                    <a:pt x="214961" y="217483"/>
                  </a:moveTo>
                  <a:lnTo>
                    <a:pt x="0" y="217483"/>
                  </a:lnTo>
                  <a:lnTo>
                    <a:pt x="0" y="0"/>
                  </a:lnTo>
                  <a:lnTo>
                    <a:pt x="214961" y="0"/>
                  </a:lnTo>
                  <a:lnTo>
                    <a:pt x="214961" y="217483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849068" y="3000778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5" h="217805">
                  <a:moveTo>
                    <a:pt x="0" y="0"/>
                  </a:moveTo>
                  <a:lnTo>
                    <a:pt x="214961" y="0"/>
                  </a:lnTo>
                  <a:lnTo>
                    <a:pt x="214961" y="217483"/>
                  </a:lnTo>
                  <a:lnTo>
                    <a:pt x="0" y="217483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5" name="object 35"/>
          <p:cNvGrpSpPr/>
          <p:nvPr/>
        </p:nvGrpSpPr>
        <p:grpSpPr>
          <a:xfrm>
            <a:off x="5749502" y="3538770"/>
            <a:ext cx="227965" cy="230504"/>
            <a:chOff x="5749502" y="3538770"/>
            <a:chExt cx="227965" cy="230504"/>
          </a:xfrm>
        </p:grpSpPr>
        <p:sp>
          <p:nvSpPr>
            <p:cNvPr id="36" name="object 36"/>
            <p:cNvSpPr/>
            <p:nvPr/>
          </p:nvSpPr>
          <p:spPr>
            <a:xfrm>
              <a:off x="5755852" y="3545120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4" h="217804">
                  <a:moveTo>
                    <a:pt x="214960" y="217483"/>
                  </a:moveTo>
                  <a:lnTo>
                    <a:pt x="0" y="217483"/>
                  </a:lnTo>
                  <a:lnTo>
                    <a:pt x="0" y="0"/>
                  </a:lnTo>
                  <a:lnTo>
                    <a:pt x="214960" y="0"/>
                  </a:lnTo>
                  <a:lnTo>
                    <a:pt x="214960" y="217483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5755852" y="3545120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4" h="217804">
                  <a:moveTo>
                    <a:pt x="0" y="0"/>
                  </a:moveTo>
                  <a:lnTo>
                    <a:pt x="214960" y="0"/>
                  </a:lnTo>
                  <a:lnTo>
                    <a:pt x="214960" y="217483"/>
                  </a:lnTo>
                  <a:lnTo>
                    <a:pt x="0" y="217483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8230221" y="2901642"/>
            <a:ext cx="796925" cy="8102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59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"/>
                <a:cs typeface="Arial"/>
              </a:rPr>
              <a:t>Pod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05"/>
              </a:spcBef>
            </a:pP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00" spc="-10" dirty="0">
                <a:latin typeface="Arial"/>
                <a:cs typeface="Arial"/>
              </a:rPr>
              <a:t>Container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1098434" y="2120574"/>
            <a:ext cx="3896360" cy="592455"/>
            <a:chOff x="1098434" y="2120574"/>
            <a:chExt cx="3896360" cy="592455"/>
          </a:xfrm>
        </p:grpSpPr>
        <p:sp>
          <p:nvSpPr>
            <p:cNvPr id="40" name="object 40"/>
            <p:cNvSpPr/>
            <p:nvPr/>
          </p:nvSpPr>
          <p:spPr>
            <a:xfrm>
              <a:off x="1098434" y="2537277"/>
              <a:ext cx="1289050" cy="0"/>
            </a:xfrm>
            <a:custGeom>
              <a:avLst/>
              <a:gdLst/>
              <a:ahLst/>
              <a:cxnLst/>
              <a:rect l="l" t="t" r="r" b="b"/>
              <a:pathLst>
                <a:path w="1289050">
                  <a:moveTo>
                    <a:pt x="0" y="0"/>
                  </a:moveTo>
                  <a:lnTo>
                    <a:pt x="1288615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387050" y="252154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387050" y="252154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094954" y="2120574"/>
              <a:ext cx="0" cy="96520"/>
            </a:xfrm>
            <a:custGeom>
              <a:avLst/>
              <a:gdLst/>
              <a:ahLst/>
              <a:cxnLst/>
              <a:rect l="l" t="t" r="r" b="b"/>
              <a:pathLst>
                <a:path h="96519">
                  <a:moveTo>
                    <a:pt x="0" y="0"/>
                  </a:moveTo>
                  <a:lnTo>
                    <a:pt x="0" y="96482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079221" y="221705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15732" y="43225"/>
                  </a:moveTo>
                  <a:lnTo>
                    <a:pt x="0" y="0"/>
                  </a:lnTo>
                  <a:lnTo>
                    <a:pt x="31465" y="0"/>
                  </a:lnTo>
                  <a:lnTo>
                    <a:pt x="15732" y="4322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079221" y="221705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0"/>
                  </a:moveTo>
                  <a:lnTo>
                    <a:pt x="15732" y="43225"/>
                  </a:lnTo>
                  <a:lnTo>
                    <a:pt x="31465" y="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635828" y="2692399"/>
              <a:ext cx="1310640" cy="0"/>
            </a:xfrm>
            <a:custGeom>
              <a:avLst/>
              <a:gdLst/>
              <a:ahLst/>
              <a:cxnLst/>
              <a:rect l="l" t="t" r="r" b="b"/>
              <a:pathLst>
                <a:path w="1310639">
                  <a:moveTo>
                    <a:pt x="0" y="0"/>
                  </a:moveTo>
                  <a:lnTo>
                    <a:pt x="1310535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4946365" y="2676666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4946365" y="2676666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49" name="object 4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5214" y="2407476"/>
            <a:ext cx="412744" cy="507992"/>
          </a:xfrm>
          <a:prstGeom prst="rect">
            <a:avLst/>
          </a:prstGeom>
        </p:spPr>
      </p:pic>
      <p:grpSp>
        <p:nvGrpSpPr>
          <p:cNvPr id="50" name="object 50"/>
          <p:cNvGrpSpPr/>
          <p:nvPr/>
        </p:nvGrpSpPr>
        <p:grpSpPr>
          <a:xfrm>
            <a:off x="6103517" y="2653339"/>
            <a:ext cx="501650" cy="833755"/>
            <a:chOff x="6103517" y="2653339"/>
            <a:chExt cx="501650" cy="833755"/>
          </a:xfrm>
        </p:grpSpPr>
        <p:sp>
          <p:nvSpPr>
            <p:cNvPr id="51" name="object 51"/>
            <p:cNvSpPr/>
            <p:nvPr/>
          </p:nvSpPr>
          <p:spPr>
            <a:xfrm>
              <a:off x="6109867" y="2659689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5">
                  <a:moveTo>
                    <a:pt x="208822" y="351064"/>
                  </a:move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8" y="65745"/>
                  </a:lnTo>
                  <a:lnTo>
                    <a:pt x="396419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19" y="252726"/>
                  </a:lnTo>
                  <a:lnTo>
                    <a:pt x="371768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6109867" y="2659689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5">
                  <a:moveTo>
                    <a:pt x="0" y="175531"/>
                  </a:move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8" y="65745"/>
                  </a:lnTo>
                  <a:lnTo>
                    <a:pt x="396419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19" y="252726"/>
                  </a:lnTo>
                  <a:lnTo>
                    <a:pt x="371768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4"/>
                  </a:ln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6209685" y="2721491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4" h="217805">
                  <a:moveTo>
                    <a:pt x="214960" y="217483"/>
                  </a:moveTo>
                  <a:lnTo>
                    <a:pt x="0" y="217483"/>
                  </a:lnTo>
                  <a:lnTo>
                    <a:pt x="0" y="0"/>
                  </a:lnTo>
                  <a:lnTo>
                    <a:pt x="214960" y="0"/>
                  </a:lnTo>
                  <a:lnTo>
                    <a:pt x="214960" y="217483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6209685" y="2721491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4" h="217805">
                  <a:moveTo>
                    <a:pt x="0" y="0"/>
                  </a:moveTo>
                  <a:lnTo>
                    <a:pt x="214960" y="0"/>
                  </a:lnTo>
                  <a:lnTo>
                    <a:pt x="214960" y="217483"/>
                  </a:lnTo>
                  <a:lnTo>
                    <a:pt x="0" y="217483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6181087" y="3129328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208822" y="351063"/>
                  </a:move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6181087" y="3129328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0" y="175531"/>
                  </a:move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6280905" y="3191130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4" h="217804">
                  <a:moveTo>
                    <a:pt x="214960" y="217484"/>
                  </a:moveTo>
                  <a:lnTo>
                    <a:pt x="0" y="217484"/>
                  </a:lnTo>
                  <a:lnTo>
                    <a:pt x="0" y="0"/>
                  </a:lnTo>
                  <a:lnTo>
                    <a:pt x="214960" y="0"/>
                  </a:lnTo>
                  <a:lnTo>
                    <a:pt x="214960" y="217484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6280905" y="3191130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4" h="217804">
                  <a:moveTo>
                    <a:pt x="0" y="0"/>
                  </a:moveTo>
                  <a:lnTo>
                    <a:pt x="214960" y="0"/>
                  </a:lnTo>
                  <a:lnTo>
                    <a:pt x="214960" y="217484"/>
                  </a:lnTo>
                  <a:lnTo>
                    <a:pt x="0" y="217484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9" name="object 5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42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707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What</a:t>
            </a:r>
            <a:r>
              <a:rPr spc="5" dirty="0"/>
              <a:t> </a:t>
            </a:r>
            <a:r>
              <a:rPr dirty="0"/>
              <a:t>if node</a:t>
            </a:r>
            <a:r>
              <a:rPr spc="10" dirty="0"/>
              <a:t> </a:t>
            </a:r>
            <a:r>
              <a:rPr dirty="0"/>
              <a:t>resources</a:t>
            </a:r>
            <a:r>
              <a:rPr spc="5" dirty="0"/>
              <a:t> </a:t>
            </a:r>
            <a:r>
              <a:rPr dirty="0"/>
              <a:t>is</a:t>
            </a:r>
            <a:r>
              <a:rPr spc="10" dirty="0"/>
              <a:t> </a:t>
            </a:r>
            <a:r>
              <a:rPr dirty="0"/>
              <a:t>getting</a:t>
            </a:r>
            <a:r>
              <a:rPr spc="5" dirty="0"/>
              <a:t> </a:t>
            </a:r>
            <a:r>
              <a:rPr spc="-10" dirty="0"/>
              <a:t>insufficient?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51051" y="4327541"/>
            <a:ext cx="10693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Worker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Node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113997" y="1133020"/>
            <a:ext cx="3128645" cy="3140710"/>
            <a:chOff x="5113997" y="1133020"/>
            <a:chExt cx="3128645" cy="3140710"/>
          </a:xfrm>
        </p:grpSpPr>
        <p:sp>
          <p:nvSpPr>
            <p:cNvPr id="5" name="object 5"/>
            <p:cNvSpPr/>
            <p:nvPr/>
          </p:nvSpPr>
          <p:spPr>
            <a:xfrm>
              <a:off x="5120347" y="1139370"/>
              <a:ext cx="2957195" cy="3128010"/>
            </a:xfrm>
            <a:custGeom>
              <a:avLst/>
              <a:gdLst/>
              <a:ahLst/>
              <a:cxnLst/>
              <a:rect l="l" t="t" r="r" b="b"/>
              <a:pathLst>
                <a:path w="2957195" h="3128010">
                  <a:moveTo>
                    <a:pt x="0" y="492818"/>
                  </a:moveTo>
                  <a:lnTo>
                    <a:pt x="2255" y="445356"/>
                  </a:lnTo>
                  <a:lnTo>
                    <a:pt x="8886" y="399171"/>
                  </a:lnTo>
                  <a:lnTo>
                    <a:pt x="19684" y="354469"/>
                  </a:lnTo>
                  <a:lnTo>
                    <a:pt x="34443" y="311456"/>
                  </a:lnTo>
                  <a:lnTo>
                    <a:pt x="52957" y="270339"/>
                  </a:lnTo>
                  <a:lnTo>
                    <a:pt x="75019" y="231325"/>
                  </a:lnTo>
                  <a:lnTo>
                    <a:pt x="100423" y="194619"/>
                  </a:lnTo>
                  <a:lnTo>
                    <a:pt x="128962" y="160430"/>
                  </a:lnTo>
                  <a:lnTo>
                    <a:pt x="160430" y="128962"/>
                  </a:lnTo>
                  <a:lnTo>
                    <a:pt x="194619" y="100423"/>
                  </a:lnTo>
                  <a:lnTo>
                    <a:pt x="231325" y="75019"/>
                  </a:lnTo>
                  <a:lnTo>
                    <a:pt x="270339" y="52957"/>
                  </a:lnTo>
                  <a:lnTo>
                    <a:pt x="311456" y="34443"/>
                  </a:lnTo>
                  <a:lnTo>
                    <a:pt x="354469" y="19684"/>
                  </a:lnTo>
                  <a:lnTo>
                    <a:pt x="399171" y="8886"/>
                  </a:lnTo>
                  <a:lnTo>
                    <a:pt x="445356" y="2255"/>
                  </a:lnTo>
                  <a:lnTo>
                    <a:pt x="492818" y="0"/>
                  </a:lnTo>
                  <a:lnTo>
                    <a:pt x="2464034" y="0"/>
                  </a:lnTo>
                  <a:lnTo>
                    <a:pt x="2512743" y="2411"/>
                  </a:lnTo>
                  <a:lnTo>
                    <a:pt x="2560627" y="9556"/>
                  </a:lnTo>
                  <a:lnTo>
                    <a:pt x="2607362" y="21302"/>
                  </a:lnTo>
                  <a:lnTo>
                    <a:pt x="2652627" y="37513"/>
                  </a:lnTo>
                  <a:lnTo>
                    <a:pt x="2696097" y="58057"/>
                  </a:lnTo>
                  <a:lnTo>
                    <a:pt x="2737449" y="82799"/>
                  </a:lnTo>
                  <a:lnTo>
                    <a:pt x="2776361" y="111605"/>
                  </a:lnTo>
                  <a:lnTo>
                    <a:pt x="2812509" y="144343"/>
                  </a:lnTo>
                  <a:lnTo>
                    <a:pt x="2845246" y="180490"/>
                  </a:lnTo>
                  <a:lnTo>
                    <a:pt x="2874053" y="219402"/>
                  </a:lnTo>
                  <a:lnTo>
                    <a:pt x="2898795" y="260755"/>
                  </a:lnTo>
                  <a:lnTo>
                    <a:pt x="2919339" y="304225"/>
                  </a:lnTo>
                  <a:lnTo>
                    <a:pt x="2935550" y="349489"/>
                  </a:lnTo>
                  <a:lnTo>
                    <a:pt x="2947296" y="396225"/>
                  </a:lnTo>
                  <a:lnTo>
                    <a:pt x="2954441" y="444109"/>
                  </a:lnTo>
                  <a:lnTo>
                    <a:pt x="2956852" y="492818"/>
                  </a:lnTo>
                  <a:lnTo>
                    <a:pt x="2956852" y="2635010"/>
                  </a:lnTo>
                  <a:lnTo>
                    <a:pt x="2954596" y="2682472"/>
                  </a:lnTo>
                  <a:lnTo>
                    <a:pt x="2947966" y="2728657"/>
                  </a:lnTo>
                  <a:lnTo>
                    <a:pt x="2937168" y="2773359"/>
                  </a:lnTo>
                  <a:lnTo>
                    <a:pt x="2922409" y="2816372"/>
                  </a:lnTo>
                  <a:lnTo>
                    <a:pt x="2903895" y="2857489"/>
                  </a:lnTo>
                  <a:lnTo>
                    <a:pt x="2881833" y="2896503"/>
                  </a:lnTo>
                  <a:lnTo>
                    <a:pt x="2856429" y="2933209"/>
                  </a:lnTo>
                  <a:lnTo>
                    <a:pt x="2827890" y="2967398"/>
                  </a:lnTo>
                  <a:lnTo>
                    <a:pt x="2796422" y="2998866"/>
                  </a:lnTo>
                  <a:lnTo>
                    <a:pt x="2762232" y="3027405"/>
                  </a:lnTo>
                  <a:lnTo>
                    <a:pt x="2725527" y="3052809"/>
                  </a:lnTo>
                  <a:lnTo>
                    <a:pt x="2686513" y="3074871"/>
                  </a:lnTo>
                  <a:lnTo>
                    <a:pt x="2645396" y="3093385"/>
                  </a:lnTo>
                  <a:lnTo>
                    <a:pt x="2602383" y="3108144"/>
                  </a:lnTo>
                  <a:lnTo>
                    <a:pt x="2557681" y="3118942"/>
                  </a:lnTo>
                  <a:lnTo>
                    <a:pt x="2511495" y="3125573"/>
                  </a:lnTo>
                  <a:lnTo>
                    <a:pt x="2464034" y="3127828"/>
                  </a:lnTo>
                  <a:lnTo>
                    <a:pt x="492818" y="3127828"/>
                  </a:lnTo>
                  <a:lnTo>
                    <a:pt x="445356" y="3125573"/>
                  </a:lnTo>
                  <a:lnTo>
                    <a:pt x="399171" y="3118942"/>
                  </a:lnTo>
                  <a:lnTo>
                    <a:pt x="354469" y="3108144"/>
                  </a:lnTo>
                  <a:lnTo>
                    <a:pt x="311456" y="3093385"/>
                  </a:lnTo>
                  <a:lnTo>
                    <a:pt x="270339" y="3074871"/>
                  </a:lnTo>
                  <a:lnTo>
                    <a:pt x="231325" y="3052809"/>
                  </a:lnTo>
                  <a:lnTo>
                    <a:pt x="194619" y="3027405"/>
                  </a:lnTo>
                  <a:lnTo>
                    <a:pt x="160430" y="2998866"/>
                  </a:lnTo>
                  <a:lnTo>
                    <a:pt x="128962" y="2967398"/>
                  </a:lnTo>
                  <a:lnTo>
                    <a:pt x="100423" y="2933209"/>
                  </a:lnTo>
                  <a:lnTo>
                    <a:pt x="75019" y="2896503"/>
                  </a:lnTo>
                  <a:lnTo>
                    <a:pt x="52957" y="2857489"/>
                  </a:lnTo>
                  <a:lnTo>
                    <a:pt x="34443" y="2816372"/>
                  </a:lnTo>
                  <a:lnTo>
                    <a:pt x="19684" y="2773359"/>
                  </a:lnTo>
                  <a:lnTo>
                    <a:pt x="8886" y="2728657"/>
                  </a:lnTo>
                  <a:lnTo>
                    <a:pt x="2255" y="2682472"/>
                  </a:lnTo>
                  <a:lnTo>
                    <a:pt x="0" y="2635010"/>
                  </a:lnTo>
                  <a:lnTo>
                    <a:pt x="0" y="492818"/>
                  </a:lnTo>
                  <a:close/>
                </a:path>
                <a:path w="2957195" h="3128010">
                  <a:moveTo>
                    <a:pt x="315252" y="1663703"/>
                  </a:moveTo>
                  <a:lnTo>
                    <a:pt x="319786" y="1618728"/>
                  </a:lnTo>
                  <a:lnTo>
                    <a:pt x="332790" y="1576838"/>
                  </a:lnTo>
                  <a:lnTo>
                    <a:pt x="353365" y="1538931"/>
                  </a:lnTo>
                  <a:lnTo>
                    <a:pt x="380615" y="1505904"/>
                  </a:lnTo>
                  <a:lnTo>
                    <a:pt x="413642" y="1478654"/>
                  </a:lnTo>
                  <a:lnTo>
                    <a:pt x="451549" y="1458079"/>
                  </a:lnTo>
                  <a:lnTo>
                    <a:pt x="493439" y="1445075"/>
                  </a:lnTo>
                  <a:lnTo>
                    <a:pt x="538414" y="1440541"/>
                  </a:lnTo>
                  <a:lnTo>
                    <a:pt x="2523234" y="1440541"/>
                  </a:lnTo>
                  <a:lnTo>
                    <a:pt x="2566974" y="1444869"/>
                  </a:lnTo>
                  <a:lnTo>
                    <a:pt x="2608634" y="1457529"/>
                  </a:lnTo>
                  <a:lnTo>
                    <a:pt x="2647044" y="1478035"/>
                  </a:lnTo>
                  <a:lnTo>
                    <a:pt x="2681033" y="1505904"/>
                  </a:lnTo>
                  <a:lnTo>
                    <a:pt x="2708902" y="1539893"/>
                  </a:lnTo>
                  <a:lnTo>
                    <a:pt x="2729408" y="1578303"/>
                  </a:lnTo>
                  <a:lnTo>
                    <a:pt x="2742068" y="1619963"/>
                  </a:lnTo>
                  <a:lnTo>
                    <a:pt x="2746395" y="1663703"/>
                  </a:lnTo>
                  <a:lnTo>
                    <a:pt x="2746395" y="2556322"/>
                  </a:lnTo>
                  <a:lnTo>
                    <a:pt x="2741862" y="2601297"/>
                  </a:lnTo>
                  <a:lnTo>
                    <a:pt x="2728858" y="2643187"/>
                  </a:lnTo>
                  <a:lnTo>
                    <a:pt x="2708283" y="2681094"/>
                  </a:lnTo>
                  <a:lnTo>
                    <a:pt x="2681033" y="2714121"/>
                  </a:lnTo>
                  <a:lnTo>
                    <a:pt x="2648006" y="2741371"/>
                  </a:lnTo>
                  <a:lnTo>
                    <a:pt x="2610099" y="2761946"/>
                  </a:lnTo>
                  <a:lnTo>
                    <a:pt x="2568209" y="2774950"/>
                  </a:lnTo>
                  <a:lnTo>
                    <a:pt x="2523234" y="2779483"/>
                  </a:lnTo>
                  <a:lnTo>
                    <a:pt x="538414" y="2779483"/>
                  </a:lnTo>
                  <a:lnTo>
                    <a:pt x="493439" y="2774950"/>
                  </a:lnTo>
                  <a:lnTo>
                    <a:pt x="451549" y="2761946"/>
                  </a:lnTo>
                  <a:lnTo>
                    <a:pt x="413642" y="2741371"/>
                  </a:lnTo>
                  <a:lnTo>
                    <a:pt x="380615" y="2714121"/>
                  </a:lnTo>
                  <a:lnTo>
                    <a:pt x="353365" y="2681094"/>
                  </a:lnTo>
                  <a:lnTo>
                    <a:pt x="332790" y="2643187"/>
                  </a:lnTo>
                  <a:lnTo>
                    <a:pt x="319786" y="2601297"/>
                  </a:lnTo>
                  <a:lnTo>
                    <a:pt x="315252" y="2556322"/>
                  </a:lnTo>
                  <a:lnTo>
                    <a:pt x="315252" y="1663703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641521" y="2971800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208822" y="351063"/>
                  </a:move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641521" y="2971800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0" y="175531"/>
                  </a:move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741655" y="3044145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4" h="217804">
                  <a:moveTo>
                    <a:pt x="214960" y="217483"/>
                  </a:moveTo>
                  <a:lnTo>
                    <a:pt x="0" y="217483"/>
                  </a:lnTo>
                  <a:lnTo>
                    <a:pt x="0" y="0"/>
                  </a:lnTo>
                  <a:lnTo>
                    <a:pt x="214960" y="0"/>
                  </a:lnTo>
                  <a:lnTo>
                    <a:pt x="214960" y="217483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741655" y="3044145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4" h="217804">
                  <a:moveTo>
                    <a:pt x="0" y="0"/>
                  </a:moveTo>
                  <a:lnTo>
                    <a:pt x="214960" y="0"/>
                  </a:lnTo>
                  <a:lnTo>
                    <a:pt x="214960" y="217483"/>
                  </a:lnTo>
                  <a:lnTo>
                    <a:pt x="0" y="217483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763561" y="3418946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208822" y="351063"/>
                  </a:move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6" y="285318"/>
                  </a:lnTo>
                  <a:lnTo>
                    <a:pt x="21225" y="252726"/>
                  </a:lnTo>
                  <a:lnTo>
                    <a:pt x="5515" y="215779"/>
                  </a:lnTo>
                  <a:lnTo>
                    <a:pt x="0" y="175531"/>
                  </a:lnTo>
                  <a:lnTo>
                    <a:pt x="5515" y="135284"/>
                  </a:lnTo>
                  <a:lnTo>
                    <a:pt x="21225" y="98337"/>
                  </a:lnTo>
                  <a:lnTo>
                    <a:pt x="45876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30" y="135284"/>
                  </a:lnTo>
                  <a:lnTo>
                    <a:pt x="417645" y="175531"/>
                  </a:lnTo>
                  <a:lnTo>
                    <a:pt x="412130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763561" y="3418946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0" y="175531"/>
                  </a:moveTo>
                  <a:lnTo>
                    <a:pt x="5515" y="135284"/>
                  </a:lnTo>
                  <a:lnTo>
                    <a:pt x="21225" y="98337"/>
                  </a:lnTo>
                  <a:lnTo>
                    <a:pt x="45876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30" y="135284"/>
                  </a:lnTo>
                  <a:lnTo>
                    <a:pt x="417645" y="175531"/>
                  </a:lnTo>
                  <a:lnTo>
                    <a:pt x="412130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6" y="285318"/>
                  </a:lnTo>
                  <a:lnTo>
                    <a:pt x="21225" y="252726"/>
                  </a:lnTo>
                  <a:lnTo>
                    <a:pt x="5515" y="215779"/>
                  </a:lnTo>
                  <a:lnTo>
                    <a:pt x="0" y="17553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749250" y="2938976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208822" y="351063"/>
                  </a:move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30" y="135284"/>
                  </a:lnTo>
                  <a:lnTo>
                    <a:pt x="417645" y="175531"/>
                  </a:lnTo>
                  <a:lnTo>
                    <a:pt x="412130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749250" y="2938976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0" y="175531"/>
                  </a:move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30" y="135284"/>
                  </a:lnTo>
                  <a:lnTo>
                    <a:pt x="417645" y="175531"/>
                  </a:lnTo>
                  <a:lnTo>
                    <a:pt x="412130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660380" y="3463138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208822" y="351063"/>
                  </a:move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660380" y="3463138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0" y="175531"/>
                  </a:move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859467" y="3492401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5" h="217804">
                  <a:moveTo>
                    <a:pt x="214960" y="217483"/>
                  </a:moveTo>
                  <a:lnTo>
                    <a:pt x="0" y="217483"/>
                  </a:lnTo>
                  <a:lnTo>
                    <a:pt x="0" y="0"/>
                  </a:lnTo>
                  <a:lnTo>
                    <a:pt x="214960" y="0"/>
                  </a:lnTo>
                  <a:lnTo>
                    <a:pt x="214960" y="217483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859467" y="3492401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5" h="217804">
                  <a:moveTo>
                    <a:pt x="0" y="0"/>
                  </a:moveTo>
                  <a:lnTo>
                    <a:pt x="214960" y="0"/>
                  </a:lnTo>
                  <a:lnTo>
                    <a:pt x="214960" y="217483"/>
                  </a:lnTo>
                  <a:lnTo>
                    <a:pt x="0" y="217483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238357" y="3109519"/>
              <a:ext cx="999490" cy="0"/>
            </a:xfrm>
            <a:custGeom>
              <a:avLst/>
              <a:gdLst/>
              <a:ahLst/>
              <a:cxnLst/>
              <a:rect l="l" t="t" r="r" b="b"/>
              <a:pathLst>
                <a:path w="999490">
                  <a:moveTo>
                    <a:pt x="999406" y="0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195132" y="309378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24" y="31465"/>
                  </a:moveTo>
                  <a:lnTo>
                    <a:pt x="0" y="15732"/>
                  </a:lnTo>
                  <a:lnTo>
                    <a:pt x="43224" y="0"/>
                  </a:lnTo>
                  <a:lnTo>
                    <a:pt x="43224" y="3146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195132" y="309378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24" y="0"/>
                  </a:moveTo>
                  <a:lnTo>
                    <a:pt x="0" y="15732"/>
                  </a:lnTo>
                  <a:lnTo>
                    <a:pt x="43224" y="31465"/>
                  </a:lnTo>
                  <a:lnTo>
                    <a:pt x="43224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119843" y="3590881"/>
              <a:ext cx="1047115" cy="3810"/>
            </a:xfrm>
            <a:custGeom>
              <a:avLst/>
              <a:gdLst/>
              <a:ahLst/>
              <a:cxnLst/>
              <a:rect l="l" t="t" r="r" b="b"/>
              <a:pathLst>
                <a:path w="1047115" h="3810">
                  <a:moveTo>
                    <a:pt x="1046793" y="3597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076617" y="357514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170" y="31465"/>
                  </a:moveTo>
                  <a:lnTo>
                    <a:pt x="0" y="15584"/>
                  </a:lnTo>
                  <a:lnTo>
                    <a:pt x="43279" y="0"/>
                  </a:lnTo>
                  <a:lnTo>
                    <a:pt x="43170" y="3146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076617" y="357514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79" y="0"/>
                  </a:moveTo>
                  <a:lnTo>
                    <a:pt x="0" y="15584"/>
                  </a:lnTo>
                  <a:lnTo>
                    <a:pt x="43170" y="31465"/>
                  </a:lnTo>
                  <a:lnTo>
                    <a:pt x="43279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" name="object 24"/>
          <p:cNvGrpSpPr/>
          <p:nvPr/>
        </p:nvGrpSpPr>
        <p:grpSpPr>
          <a:xfrm>
            <a:off x="1303129" y="1216477"/>
            <a:ext cx="2501900" cy="2952115"/>
            <a:chOff x="1303129" y="1216477"/>
            <a:chExt cx="2501900" cy="2952115"/>
          </a:xfrm>
        </p:grpSpPr>
        <p:sp>
          <p:nvSpPr>
            <p:cNvPr id="25" name="object 25"/>
            <p:cNvSpPr/>
            <p:nvPr/>
          </p:nvSpPr>
          <p:spPr>
            <a:xfrm>
              <a:off x="1309479" y="1222827"/>
              <a:ext cx="2489200" cy="2939415"/>
            </a:xfrm>
            <a:custGeom>
              <a:avLst/>
              <a:gdLst/>
              <a:ahLst/>
              <a:cxnLst/>
              <a:rect l="l" t="t" r="r" b="b"/>
              <a:pathLst>
                <a:path w="2489200" h="2939415">
                  <a:moveTo>
                    <a:pt x="2074324" y="2939142"/>
                  </a:moveTo>
                  <a:lnTo>
                    <a:pt x="414874" y="2939142"/>
                  </a:lnTo>
                  <a:lnTo>
                    <a:pt x="366491" y="2936351"/>
                  </a:lnTo>
                  <a:lnTo>
                    <a:pt x="319747" y="2928185"/>
                  </a:lnTo>
                  <a:lnTo>
                    <a:pt x="274954" y="2914956"/>
                  </a:lnTo>
                  <a:lnTo>
                    <a:pt x="232423" y="2896974"/>
                  </a:lnTo>
                  <a:lnTo>
                    <a:pt x="192465" y="2874551"/>
                  </a:lnTo>
                  <a:lnTo>
                    <a:pt x="155391" y="2847999"/>
                  </a:lnTo>
                  <a:lnTo>
                    <a:pt x="121514" y="2817628"/>
                  </a:lnTo>
                  <a:lnTo>
                    <a:pt x="91143" y="2783751"/>
                  </a:lnTo>
                  <a:lnTo>
                    <a:pt x="64591" y="2746677"/>
                  </a:lnTo>
                  <a:lnTo>
                    <a:pt x="42168" y="2706719"/>
                  </a:lnTo>
                  <a:lnTo>
                    <a:pt x="24186" y="2664188"/>
                  </a:lnTo>
                  <a:lnTo>
                    <a:pt x="10957" y="2619394"/>
                  </a:lnTo>
                  <a:lnTo>
                    <a:pt x="2791" y="2572651"/>
                  </a:lnTo>
                  <a:lnTo>
                    <a:pt x="0" y="2524267"/>
                  </a:lnTo>
                  <a:lnTo>
                    <a:pt x="0" y="414874"/>
                  </a:lnTo>
                  <a:lnTo>
                    <a:pt x="2700" y="368062"/>
                  </a:lnTo>
                  <a:lnTo>
                    <a:pt x="10957" y="319747"/>
                  </a:lnTo>
                  <a:lnTo>
                    <a:pt x="24186" y="274954"/>
                  </a:lnTo>
                  <a:lnTo>
                    <a:pt x="42168" y="232423"/>
                  </a:lnTo>
                  <a:lnTo>
                    <a:pt x="64591" y="192465"/>
                  </a:lnTo>
                  <a:lnTo>
                    <a:pt x="91143" y="155391"/>
                  </a:lnTo>
                  <a:lnTo>
                    <a:pt x="121514" y="121514"/>
                  </a:lnTo>
                  <a:lnTo>
                    <a:pt x="155391" y="91143"/>
                  </a:lnTo>
                  <a:lnTo>
                    <a:pt x="192465" y="64591"/>
                  </a:lnTo>
                  <a:lnTo>
                    <a:pt x="232423" y="42168"/>
                  </a:lnTo>
                  <a:lnTo>
                    <a:pt x="274954" y="24186"/>
                  </a:lnTo>
                  <a:lnTo>
                    <a:pt x="319747" y="10957"/>
                  </a:lnTo>
                  <a:lnTo>
                    <a:pt x="366491" y="2791"/>
                  </a:lnTo>
                  <a:lnTo>
                    <a:pt x="414874" y="0"/>
                  </a:lnTo>
                  <a:lnTo>
                    <a:pt x="2074324" y="0"/>
                  </a:lnTo>
                  <a:lnTo>
                    <a:pt x="2121137" y="2648"/>
                  </a:lnTo>
                  <a:lnTo>
                    <a:pt x="2166992" y="10480"/>
                  </a:lnTo>
                  <a:lnTo>
                    <a:pt x="2211483" y="23328"/>
                  </a:lnTo>
                  <a:lnTo>
                    <a:pt x="2254204" y="41023"/>
                  </a:lnTo>
                  <a:lnTo>
                    <a:pt x="2294749" y="63398"/>
                  </a:lnTo>
                  <a:lnTo>
                    <a:pt x="2332711" y="90284"/>
                  </a:lnTo>
                  <a:lnTo>
                    <a:pt x="2367685" y="121514"/>
                  </a:lnTo>
                  <a:lnTo>
                    <a:pt x="2398915" y="156488"/>
                  </a:lnTo>
                  <a:lnTo>
                    <a:pt x="2425801" y="194450"/>
                  </a:lnTo>
                  <a:lnTo>
                    <a:pt x="2448176" y="234995"/>
                  </a:lnTo>
                  <a:lnTo>
                    <a:pt x="2465871" y="277716"/>
                  </a:lnTo>
                  <a:lnTo>
                    <a:pt x="2478719" y="322207"/>
                  </a:lnTo>
                  <a:lnTo>
                    <a:pt x="2486551" y="368062"/>
                  </a:lnTo>
                  <a:lnTo>
                    <a:pt x="2489199" y="414874"/>
                  </a:lnTo>
                  <a:lnTo>
                    <a:pt x="2489199" y="2524267"/>
                  </a:lnTo>
                  <a:lnTo>
                    <a:pt x="2486408" y="2572651"/>
                  </a:lnTo>
                  <a:lnTo>
                    <a:pt x="2478242" y="2619394"/>
                  </a:lnTo>
                  <a:lnTo>
                    <a:pt x="2465013" y="2664188"/>
                  </a:lnTo>
                  <a:lnTo>
                    <a:pt x="2447031" y="2706719"/>
                  </a:lnTo>
                  <a:lnTo>
                    <a:pt x="2424608" y="2746677"/>
                  </a:lnTo>
                  <a:lnTo>
                    <a:pt x="2398056" y="2783751"/>
                  </a:lnTo>
                  <a:lnTo>
                    <a:pt x="2367685" y="2817628"/>
                  </a:lnTo>
                  <a:lnTo>
                    <a:pt x="2333808" y="2847999"/>
                  </a:lnTo>
                  <a:lnTo>
                    <a:pt x="2296734" y="2874551"/>
                  </a:lnTo>
                  <a:lnTo>
                    <a:pt x="2256776" y="2896974"/>
                  </a:lnTo>
                  <a:lnTo>
                    <a:pt x="2214245" y="2914956"/>
                  </a:lnTo>
                  <a:lnTo>
                    <a:pt x="2169451" y="2928185"/>
                  </a:lnTo>
                  <a:lnTo>
                    <a:pt x="2122708" y="2936351"/>
                  </a:lnTo>
                  <a:lnTo>
                    <a:pt x="2074324" y="2939142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309479" y="1222827"/>
              <a:ext cx="2489200" cy="2939415"/>
            </a:xfrm>
            <a:custGeom>
              <a:avLst/>
              <a:gdLst/>
              <a:ahLst/>
              <a:cxnLst/>
              <a:rect l="l" t="t" r="r" b="b"/>
              <a:pathLst>
                <a:path w="2489200" h="2939415">
                  <a:moveTo>
                    <a:pt x="0" y="414874"/>
                  </a:moveTo>
                  <a:lnTo>
                    <a:pt x="2791" y="366491"/>
                  </a:lnTo>
                  <a:lnTo>
                    <a:pt x="10957" y="319747"/>
                  </a:lnTo>
                  <a:lnTo>
                    <a:pt x="24186" y="274954"/>
                  </a:lnTo>
                  <a:lnTo>
                    <a:pt x="42168" y="232423"/>
                  </a:lnTo>
                  <a:lnTo>
                    <a:pt x="64591" y="192465"/>
                  </a:lnTo>
                  <a:lnTo>
                    <a:pt x="91143" y="155391"/>
                  </a:lnTo>
                  <a:lnTo>
                    <a:pt x="121514" y="121514"/>
                  </a:lnTo>
                  <a:lnTo>
                    <a:pt x="155391" y="91143"/>
                  </a:lnTo>
                  <a:lnTo>
                    <a:pt x="192465" y="64591"/>
                  </a:lnTo>
                  <a:lnTo>
                    <a:pt x="232423" y="42168"/>
                  </a:lnTo>
                  <a:lnTo>
                    <a:pt x="274954" y="24186"/>
                  </a:lnTo>
                  <a:lnTo>
                    <a:pt x="319747" y="10957"/>
                  </a:lnTo>
                  <a:lnTo>
                    <a:pt x="366491" y="2791"/>
                  </a:lnTo>
                  <a:lnTo>
                    <a:pt x="414874" y="0"/>
                  </a:lnTo>
                  <a:lnTo>
                    <a:pt x="2074324" y="0"/>
                  </a:lnTo>
                  <a:lnTo>
                    <a:pt x="2121137" y="2648"/>
                  </a:lnTo>
                  <a:lnTo>
                    <a:pt x="2166992" y="10480"/>
                  </a:lnTo>
                  <a:lnTo>
                    <a:pt x="2211483" y="23328"/>
                  </a:lnTo>
                  <a:lnTo>
                    <a:pt x="2254204" y="41023"/>
                  </a:lnTo>
                  <a:lnTo>
                    <a:pt x="2294749" y="63398"/>
                  </a:lnTo>
                  <a:lnTo>
                    <a:pt x="2332711" y="90284"/>
                  </a:lnTo>
                  <a:lnTo>
                    <a:pt x="2367685" y="121514"/>
                  </a:lnTo>
                  <a:lnTo>
                    <a:pt x="2398915" y="156488"/>
                  </a:lnTo>
                  <a:lnTo>
                    <a:pt x="2425801" y="194450"/>
                  </a:lnTo>
                  <a:lnTo>
                    <a:pt x="2448176" y="234995"/>
                  </a:lnTo>
                  <a:lnTo>
                    <a:pt x="2465871" y="277716"/>
                  </a:lnTo>
                  <a:lnTo>
                    <a:pt x="2478719" y="322207"/>
                  </a:lnTo>
                  <a:lnTo>
                    <a:pt x="2486551" y="368062"/>
                  </a:lnTo>
                  <a:lnTo>
                    <a:pt x="2489199" y="414874"/>
                  </a:lnTo>
                  <a:lnTo>
                    <a:pt x="2489199" y="2524267"/>
                  </a:lnTo>
                  <a:lnTo>
                    <a:pt x="2486408" y="2572651"/>
                  </a:lnTo>
                  <a:lnTo>
                    <a:pt x="2478242" y="2619394"/>
                  </a:lnTo>
                  <a:lnTo>
                    <a:pt x="2465013" y="2664188"/>
                  </a:lnTo>
                  <a:lnTo>
                    <a:pt x="2447031" y="2706719"/>
                  </a:lnTo>
                  <a:lnTo>
                    <a:pt x="2424608" y="2746677"/>
                  </a:lnTo>
                  <a:lnTo>
                    <a:pt x="2398056" y="2783751"/>
                  </a:lnTo>
                  <a:lnTo>
                    <a:pt x="2367685" y="2817628"/>
                  </a:lnTo>
                  <a:lnTo>
                    <a:pt x="2333808" y="2847999"/>
                  </a:lnTo>
                  <a:lnTo>
                    <a:pt x="2296734" y="2874551"/>
                  </a:lnTo>
                  <a:lnTo>
                    <a:pt x="2256776" y="2896974"/>
                  </a:lnTo>
                  <a:lnTo>
                    <a:pt x="2214245" y="2914956"/>
                  </a:lnTo>
                  <a:lnTo>
                    <a:pt x="2169451" y="2928185"/>
                  </a:lnTo>
                  <a:lnTo>
                    <a:pt x="2122708" y="2936351"/>
                  </a:lnTo>
                  <a:lnTo>
                    <a:pt x="2074324" y="2939142"/>
                  </a:lnTo>
                  <a:lnTo>
                    <a:pt x="414874" y="2939142"/>
                  </a:lnTo>
                  <a:lnTo>
                    <a:pt x="366491" y="2936351"/>
                  </a:lnTo>
                  <a:lnTo>
                    <a:pt x="319747" y="2928185"/>
                  </a:lnTo>
                  <a:lnTo>
                    <a:pt x="274954" y="2914956"/>
                  </a:lnTo>
                  <a:lnTo>
                    <a:pt x="232423" y="2896974"/>
                  </a:lnTo>
                  <a:lnTo>
                    <a:pt x="192465" y="2874551"/>
                  </a:lnTo>
                  <a:lnTo>
                    <a:pt x="155391" y="2847999"/>
                  </a:lnTo>
                  <a:lnTo>
                    <a:pt x="121514" y="2817628"/>
                  </a:lnTo>
                  <a:lnTo>
                    <a:pt x="91143" y="2783751"/>
                  </a:lnTo>
                  <a:lnTo>
                    <a:pt x="64591" y="2746677"/>
                  </a:lnTo>
                  <a:lnTo>
                    <a:pt x="42168" y="2706719"/>
                  </a:lnTo>
                  <a:lnTo>
                    <a:pt x="24186" y="2664188"/>
                  </a:lnTo>
                  <a:lnTo>
                    <a:pt x="10957" y="2619394"/>
                  </a:lnTo>
                  <a:lnTo>
                    <a:pt x="2791" y="2572651"/>
                  </a:lnTo>
                  <a:lnTo>
                    <a:pt x="0" y="2524267"/>
                  </a:lnTo>
                  <a:lnTo>
                    <a:pt x="0" y="414874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554079" y="1599548"/>
              <a:ext cx="1082040" cy="521334"/>
            </a:xfrm>
            <a:custGeom>
              <a:avLst/>
              <a:gdLst/>
              <a:ahLst/>
              <a:cxnLst/>
              <a:rect l="l" t="t" r="r" b="b"/>
              <a:pathLst>
                <a:path w="1082039" h="521335">
                  <a:moveTo>
                    <a:pt x="994909" y="521024"/>
                  </a:moveTo>
                  <a:lnTo>
                    <a:pt x="86839" y="521024"/>
                  </a:lnTo>
                  <a:lnTo>
                    <a:pt x="53037" y="514200"/>
                  </a:lnTo>
                  <a:lnTo>
                    <a:pt x="25434" y="495590"/>
                  </a:lnTo>
                  <a:lnTo>
                    <a:pt x="6824" y="467987"/>
                  </a:lnTo>
                  <a:lnTo>
                    <a:pt x="0" y="434185"/>
                  </a:lnTo>
                  <a:lnTo>
                    <a:pt x="0" y="86839"/>
                  </a:lnTo>
                  <a:lnTo>
                    <a:pt x="6824" y="53037"/>
                  </a:lnTo>
                  <a:lnTo>
                    <a:pt x="25434" y="25434"/>
                  </a:lnTo>
                  <a:lnTo>
                    <a:pt x="53037" y="6824"/>
                  </a:lnTo>
                  <a:lnTo>
                    <a:pt x="86839" y="0"/>
                  </a:lnTo>
                  <a:lnTo>
                    <a:pt x="994909" y="0"/>
                  </a:lnTo>
                  <a:lnTo>
                    <a:pt x="1043088" y="14590"/>
                  </a:lnTo>
                  <a:lnTo>
                    <a:pt x="1075138" y="53607"/>
                  </a:lnTo>
                  <a:lnTo>
                    <a:pt x="1081748" y="86839"/>
                  </a:lnTo>
                  <a:lnTo>
                    <a:pt x="1081748" y="434185"/>
                  </a:lnTo>
                  <a:lnTo>
                    <a:pt x="1074924" y="467987"/>
                  </a:lnTo>
                  <a:lnTo>
                    <a:pt x="1056314" y="495590"/>
                  </a:lnTo>
                  <a:lnTo>
                    <a:pt x="1028711" y="514200"/>
                  </a:lnTo>
                  <a:lnTo>
                    <a:pt x="994909" y="521024"/>
                  </a:lnTo>
                  <a:close/>
                </a:path>
              </a:pathLst>
            </a:custGeom>
            <a:solidFill>
              <a:srgbClr val="00B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554079" y="1599548"/>
              <a:ext cx="1082040" cy="521334"/>
            </a:xfrm>
            <a:custGeom>
              <a:avLst/>
              <a:gdLst/>
              <a:ahLst/>
              <a:cxnLst/>
              <a:rect l="l" t="t" r="r" b="b"/>
              <a:pathLst>
                <a:path w="1082039" h="521335">
                  <a:moveTo>
                    <a:pt x="0" y="86839"/>
                  </a:moveTo>
                  <a:lnTo>
                    <a:pt x="6824" y="53037"/>
                  </a:lnTo>
                  <a:lnTo>
                    <a:pt x="25434" y="25434"/>
                  </a:lnTo>
                  <a:lnTo>
                    <a:pt x="53037" y="6824"/>
                  </a:lnTo>
                  <a:lnTo>
                    <a:pt x="86839" y="0"/>
                  </a:lnTo>
                  <a:lnTo>
                    <a:pt x="994909" y="0"/>
                  </a:lnTo>
                  <a:lnTo>
                    <a:pt x="1043088" y="14590"/>
                  </a:lnTo>
                  <a:lnTo>
                    <a:pt x="1075138" y="53607"/>
                  </a:lnTo>
                  <a:lnTo>
                    <a:pt x="1081748" y="86839"/>
                  </a:lnTo>
                  <a:lnTo>
                    <a:pt x="1081748" y="434185"/>
                  </a:lnTo>
                  <a:lnTo>
                    <a:pt x="1074924" y="467987"/>
                  </a:lnTo>
                  <a:lnTo>
                    <a:pt x="1056314" y="495590"/>
                  </a:lnTo>
                  <a:lnTo>
                    <a:pt x="1028711" y="514200"/>
                  </a:lnTo>
                  <a:lnTo>
                    <a:pt x="994909" y="521024"/>
                  </a:lnTo>
                  <a:lnTo>
                    <a:pt x="86839" y="521024"/>
                  </a:lnTo>
                  <a:lnTo>
                    <a:pt x="53037" y="514200"/>
                  </a:lnTo>
                  <a:lnTo>
                    <a:pt x="25434" y="495590"/>
                  </a:lnTo>
                  <a:lnTo>
                    <a:pt x="6824" y="467987"/>
                  </a:lnTo>
                  <a:lnTo>
                    <a:pt x="0" y="434185"/>
                  </a:lnTo>
                  <a:lnTo>
                    <a:pt x="0" y="86839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2315483" y="4220825"/>
            <a:ext cx="5689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Arial"/>
                <a:cs typeface="Arial"/>
              </a:rPr>
              <a:t>Master</a:t>
            </a:r>
            <a:endParaRPr sz="14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682167" y="1735474"/>
            <a:ext cx="82613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Scheduler</a:t>
            </a:r>
            <a:endParaRPr sz="14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554079" y="2315029"/>
            <a:ext cx="1082040" cy="501015"/>
          </a:xfrm>
          <a:prstGeom prst="rect">
            <a:avLst/>
          </a:prstGeom>
          <a:solidFill>
            <a:srgbClr val="92D050"/>
          </a:solidFill>
          <a:ln w="12699">
            <a:solidFill>
              <a:srgbClr val="127BB4"/>
            </a:solidFill>
          </a:ln>
        </p:spPr>
        <p:txBody>
          <a:bodyPr vert="horz" wrap="square" lIns="0" tIns="138430" rIns="0" bIns="0" rtlCol="0">
            <a:spAutoFit/>
          </a:bodyPr>
          <a:lstStyle/>
          <a:p>
            <a:pPr marL="111125">
              <a:lnSpc>
                <a:spcPct val="100000"/>
              </a:lnSpc>
              <a:spcBef>
                <a:spcPts val="1090"/>
              </a:spcBef>
            </a:pP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API</a:t>
            </a:r>
            <a:r>
              <a:rPr sz="14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Server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6842718" y="2994428"/>
            <a:ext cx="227965" cy="230504"/>
            <a:chOff x="6842718" y="2994428"/>
            <a:chExt cx="227965" cy="230504"/>
          </a:xfrm>
        </p:grpSpPr>
        <p:sp>
          <p:nvSpPr>
            <p:cNvPr id="33" name="object 33"/>
            <p:cNvSpPr/>
            <p:nvPr/>
          </p:nvSpPr>
          <p:spPr>
            <a:xfrm>
              <a:off x="6849068" y="3000778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5" h="217805">
                  <a:moveTo>
                    <a:pt x="214961" y="217483"/>
                  </a:moveTo>
                  <a:lnTo>
                    <a:pt x="0" y="217483"/>
                  </a:lnTo>
                  <a:lnTo>
                    <a:pt x="0" y="0"/>
                  </a:lnTo>
                  <a:lnTo>
                    <a:pt x="214961" y="0"/>
                  </a:lnTo>
                  <a:lnTo>
                    <a:pt x="214961" y="217483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849068" y="3000778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5" h="217805">
                  <a:moveTo>
                    <a:pt x="0" y="0"/>
                  </a:moveTo>
                  <a:lnTo>
                    <a:pt x="214961" y="0"/>
                  </a:lnTo>
                  <a:lnTo>
                    <a:pt x="214961" y="217483"/>
                  </a:lnTo>
                  <a:lnTo>
                    <a:pt x="0" y="217483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5" name="object 35"/>
          <p:cNvGrpSpPr/>
          <p:nvPr/>
        </p:nvGrpSpPr>
        <p:grpSpPr>
          <a:xfrm>
            <a:off x="5749502" y="3538770"/>
            <a:ext cx="227965" cy="230504"/>
            <a:chOff x="5749502" y="3538770"/>
            <a:chExt cx="227965" cy="230504"/>
          </a:xfrm>
        </p:grpSpPr>
        <p:sp>
          <p:nvSpPr>
            <p:cNvPr id="36" name="object 36"/>
            <p:cNvSpPr/>
            <p:nvPr/>
          </p:nvSpPr>
          <p:spPr>
            <a:xfrm>
              <a:off x="5755852" y="3545120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4" h="217804">
                  <a:moveTo>
                    <a:pt x="214960" y="217483"/>
                  </a:moveTo>
                  <a:lnTo>
                    <a:pt x="0" y="217483"/>
                  </a:lnTo>
                  <a:lnTo>
                    <a:pt x="0" y="0"/>
                  </a:lnTo>
                  <a:lnTo>
                    <a:pt x="214960" y="0"/>
                  </a:lnTo>
                  <a:lnTo>
                    <a:pt x="214960" y="217483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5755852" y="3545120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4" h="217804">
                  <a:moveTo>
                    <a:pt x="0" y="0"/>
                  </a:moveTo>
                  <a:lnTo>
                    <a:pt x="214960" y="0"/>
                  </a:lnTo>
                  <a:lnTo>
                    <a:pt x="214960" y="217483"/>
                  </a:lnTo>
                  <a:lnTo>
                    <a:pt x="0" y="217483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8230221" y="2901642"/>
            <a:ext cx="796925" cy="8102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59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"/>
                <a:cs typeface="Arial"/>
              </a:rPr>
              <a:t>Pod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05"/>
              </a:spcBef>
            </a:pP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00" spc="-10" dirty="0">
                <a:latin typeface="Arial"/>
                <a:cs typeface="Arial"/>
              </a:rPr>
              <a:t>Container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1098434" y="2120574"/>
            <a:ext cx="3896360" cy="592455"/>
            <a:chOff x="1098434" y="2120574"/>
            <a:chExt cx="3896360" cy="592455"/>
          </a:xfrm>
        </p:grpSpPr>
        <p:sp>
          <p:nvSpPr>
            <p:cNvPr id="40" name="object 40"/>
            <p:cNvSpPr/>
            <p:nvPr/>
          </p:nvSpPr>
          <p:spPr>
            <a:xfrm>
              <a:off x="1098434" y="2537277"/>
              <a:ext cx="1289050" cy="0"/>
            </a:xfrm>
            <a:custGeom>
              <a:avLst/>
              <a:gdLst/>
              <a:ahLst/>
              <a:cxnLst/>
              <a:rect l="l" t="t" r="r" b="b"/>
              <a:pathLst>
                <a:path w="1289050">
                  <a:moveTo>
                    <a:pt x="0" y="0"/>
                  </a:moveTo>
                  <a:lnTo>
                    <a:pt x="1288615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387050" y="252154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387050" y="252154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094954" y="2120574"/>
              <a:ext cx="0" cy="96520"/>
            </a:xfrm>
            <a:custGeom>
              <a:avLst/>
              <a:gdLst/>
              <a:ahLst/>
              <a:cxnLst/>
              <a:rect l="l" t="t" r="r" b="b"/>
              <a:pathLst>
                <a:path h="96519">
                  <a:moveTo>
                    <a:pt x="0" y="0"/>
                  </a:moveTo>
                  <a:lnTo>
                    <a:pt x="0" y="96482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079221" y="221705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15732" y="43225"/>
                  </a:moveTo>
                  <a:lnTo>
                    <a:pt x="0" y="0"/>
                  </a:lnTo>
                  <a:lnTo>
                    <a:pt x="31465" y="0"/>
                  </a:lnTo>
                  <a:lnTo>
                    <a:pt x="15732" y="4322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079221" y="221705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0"/>
                  </a:moveTo>
                  <a:lnTo>
                    <a:pt x="15732" y="43225"/>
                  </a:lnTo>
                  <a:lnTo>
                    <a:pt x="31465" y="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635828" y="2692399"/>
              <a:ext cx="1310640" cy="0"/>
            </a:xfrm>
            <a:custGeom>
              <a:avLst/>
              <a:gdLst/>
              <a:ahLst/>
              <a:cxnLst/>
              <a:rect l="l" t="t" r="r" b="b"/>
              <a:pathLst>
                <a:path w="1310639">
                  <a:moveTo>
                    <a:pt x="0" y="0"/>
                  </a:moveTo>
                  <a:lnTo>
                    <a:pt x="1310535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4946365" y="2676666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4946365" y="2676666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49" name="object 4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5214" y="2407476"/>
            <a:ext cx="412744" cy="507992"/>
          </a:xfrm>
          <a:prstGeom prst="rect">
            <a:avLst/>
          </a:prstGeom>
        </p:spPr>
      </p:pic>
      <p:grpSp>
        <p:nvGrpSpPr>
          <p:cNvPr id="50" name="object 50"/>
          <p:cNvGrpSpPr/>
          <p:nvPr/>
        </p:nvGrpSpPr>
        <p:grpSpPr>
          <a:xfrm>
            <a:off x="6103517" y="2653339"/>
            <a:ext cx="501650" cy="833755"/>
            <a:chOff x="6103517" y="2653339"/>
            <a:chExt cx="501650" cy="833755"/>
          </a:xfrm>
        </p:grpSpPr>
        <p:sp>
          <p:nvSpPr>
            <p:cNvPr id="51" name="object 51"/>
            <p:cNvSpPr/>
            <p:nvPr/>
          </p:nvSpPr>
          <p:spPr>
            <a:xfrm>
              <a:off x="6109867" y="2659689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5">
                  <a:moveTo>
                    <a:pt x="208822" y="351064"/>
                  </a:move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8" y="65745"/>
                  </a:lnTo>
                  <a:lnTo>
                    <a:pt x="396419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19" y="252726"/>
                  </a:lnTo>
                  <a:lnTo>
                    <a:pt x="371768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6109867" y="2659689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5">
                  <a:moveTo>
                    <a:pt x="0" y="175531"/>
                  </a:move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8" y="65745"/>
                  </a:lnTo>
                  <a:lnTo>
                    <a:pt x="396419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19" y="252726"/>
                  </a:lnTo>
                  <a:lnTo>
                    <a:pt x="371768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4"/>
                  </a:ln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6209685" y="2721491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4" h="217805">
                  <a:moveTo>
                    <a:pt x="214960" y="217483"/>
                  </a:moveTo>
                  <a:lnTo>
                    <a:pt x="0" y="217483"/>
                  </a:lnTo>
                  <a:lnTo>
                    <a:pt x="0" y="0"/>
                  </a:lnTo>
                  <a:lnTo>
                    <a:pt x="214960" y="0"/>
                  </a:lnTo>
                  <a:lnTo>
                    <a:pt x="214960" y="217483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6209685" y="2721491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4" h="217805">
                  <a:moveTo>
                    <a:pt x="0" y="0"/>
                  </a:moveTo>
                  <a:lnTo>
                    <a:pt x="214960" y="0"/>
                  </a:lnTo>
                  <a:lnTo>
                    <a:pt x="214960" y="217483"/>
                  </a:lnTo>
                  <a:lnTo>
                    <a:pt x="0" y="217483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6181087" y="3129328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208822" y="351063"/>
                  </a:move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6181087" y="3129328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0" y="175531"/>
                  </a:move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6280905" y="3191130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4" h="217804">
                  <a:moveTo>
                    <a:pt x="214960" y="217484"/>
                  </a:moveTo>
                  <a:lnTo>
                    <a:pt x="0" y="217484"/>
                  </a:lnTo>
                  <a:lnTo>
                    <a:pt x="0" y="0"/>
                  </a:lnTo>
                  <a:lnTo>
                    <a:pt x="214960" y="0"/>
                  </a:lnTo>
                  <a:lnTo>
                    <a:pt x="214960" y="217484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6280905" y="3191130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4" h="217804">
                  <a:moveTo>
                    <a:pt x="0" y="0"/>
                  </a:moveTo>
                  <a:lnTo>
                    <a:pt x="214960" y="0"/>
                  </a:lnTo>
                  <a:lnTo>
                    <a:pt x="214960" y="217484"/>
                  </a:lnTo>
                  <a:lnTo>
                    <a:pt x="0" y="217484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9" name="object 5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43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707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What</a:t>
            </a:r>
            <a:r>
              <a:rPr spc="5" dirty="0"/>
              <a:t> </a:t>
            </a:r>
            <a:r>
              <a:rPr dirty="0"/>
              <a:t>if node</a:t>
            </a:r>
            <a:r>
              <a:rPr spc="10" dirty="0"/>
              <a:t> </a:t>
            </a:r>
            <a:r>
              <a:rPr dirty="0"/>
              <a:t>resources</a:t>
            </a:r>
            <a:r>
              <a:rPr spc="5" dirty="0"/>
              <a:t> </a:t>
            </a:r>
            <a:r>
              <a:rPr dirty="0"/>
              <a:t>is</a:t>
            </a:r>
            <a:r>
              <a:rPr spc="10" dirty="0"/>
              <a:t> </a:t>
            </a:r>
            <a:r>
              <a:rPr dirty="0"/>
              <a:t>getting</a:t>
            </a:r>
            <a:r>
              <a:rPr spc="5" dirty="0"/>
              <a:t> </a:t>
            </a:r>
            <a:r>
              <a:rPr spc="-10" dirty="0"/>
              <a:t>insufficient?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51051" y="4327541"/>
            <a:ext cx="5886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Arial"/>
                <a:cs typeface="Arial"/>
              </a:rPr>
              <a:t>Cluster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113997" y="1133020"/>
            <a:ext cx="3128645" cy="3140710"/>
            <a:chOff x="5113997" y="1133020"/>
            <a:chExt cx="3128645" cy="3140710"/>
          </a:xfrm>
        </p:grpSpPr>
        <p:sp>
          <p:nvSpPr>
            <p:cNvPr id="5" name="object 5"/>
            <p:cNvSpPr/>
            <p:nvPr/>
          </p:nvSpPr>
          <p:spPr>
            <a:xfrm>
              <a:off x="5120347" y="1139370"/>
              <a:ext cx="2957195" cy="3128010"/>
            </a:xfrm>
            <a:custGeom>
              <a:avLst/>
              <a:gdLst/>
              <a:ahLst/>
              <a:cxnLst/>
              <a:rect l="l" t="t" r="r" b="b"/>
              <a:pathLst>
                <a:path w="2957195" h="3128010">
                  <a:moveTo>
                    <a:pt x="0" y="492818"/>
                  </a:moveTo>
                  <a:lnTo>
                    <a:pt x="2255" y="445356"/>
                  </a:lnTo>
                  <a:lnTo>
                    <a:pt x="8886" y="399171"/>
                  </a:lnTo>
                  <a:lnTo>
                    <a:pt x="19684" y="354469"/>
                  </a:lnTo>
                  <a:lnTo>
                    <a:pt x="34443" y="311456"/>
                  </a:lnTo>
                  <a:lnTo>
                    <a:pt x="52957" y="270339"/>
                  </a:lnTo>
                  <a:lnTo>
                    <a:pt x="75019" y="231325"/>
                  </a:lnTo>
                  <a:lnTo>
                    <a:pt x="100423" y="194619"/>
                  </a:lnTo>
                  <a:lnTo>
                    <a:pt x="128962" y="160430"/>
                  </a:lnTo>
                  <a:lnTo>
                    <a:pt x="160430" y="128962"/>
                  </a:lnTo>
                  <a:lnTo>
                    <a:pt x="194619" y="100423"/>
                  </a:lnTo>
                  <a:lnTo>
                    <a:pt x="231325" y="75019"/>
                  </a:lnTo>
                  <a:lnTo>
                    <a:pt x="270339" y="52957"/>
                  </a:lnTo>
                  <a:lnTo>
                    <a:pt x="311456" y="34443"/>
                  </a:lnTo>
                  <a:lnTo>
                    <a:pt x="354469" y="19684"/>
                  </a:lnTo>
                  <a:lnTo>
                    <a:pt x="399171" y="8886"/>
                  </a:lnTo>
                  <a:lnTo>
                    <a:pt x="445356" y="2255"/>
                  </a:lnTo>
                  <a:lnTo>
                    <a:pt x="492818" y="0"/>
                  </a:lnTo>
                  <a:lnTo>
                    <a:pt x="2464034" y="0"/>
                  </a:lnTo>
                  <a:lnTo>
                    <a:pt x="2512743" y="2411"/>
                  </a:lnTo>
                  <a:lnTo>
                    <a:pt x="2560627" y="9556"/>
                  </a:lnTo>
                  <a:lnTo>
                    <a:pt x="2607362" y="21302"/>
                  </a:lnTo>
                  <a:lnTo>
                    <a:pt x="2652627" y="37513"/>
                  </a:lnTo>
                  <a:lnTo>
                    <a:pt x="2696097" y="58057"/>
                  </a:lnTo>
                  <a:lnTo>
                    <a:pt x="2737449" y="82799"/>
                  </a:lnTo>
                  <a:lnTo>
                    <a:pt x="2776361" y="111605"/>
                  </a:lnTo>
                  <a:lnTo>
                    <a:pt x="2812509" y="144343"/>
                  </a:lnTo>
                  <a:lnTo>
                    <a:pt x="2845246" y="180490"/>
                  </a:lnTo>
                  <a:lnTo>
                    <a:pt x="2874053" y="219402"/>
                  </a:lnTo>
                  <a:lnTo>
                    <a:pt x="2898795" y="260755"/>
                  </a:lnTo>
                  <a:lnTo>
                    <a:pt x="2919339" y="304225"/>
                  </a:lnTo>
                  <a:lnTo>
                    <a:pt x="2935550" y="349489"/>
                  </a:lnTo>
                  <a:lnTo>
                    <a:pt x="2947296" y="396225"/>
                  </a:lnTo>
                  <a:lnTo>
                    <a:pt x="2954441" y="444109"/>
                  </a:lnTo>
                  <a:lnTo>
                    <a:pt x="2956852" y="492818"/>
                  </a:lnTo>
                  <a:lnTo>
                    <a:pt x="2956852" y="2635010"/>
                  </a:lnTo>
                  <a:lnTo>
                    <a:pt x="2954596" y="2682472"/>
                  </a:lnTo>
                  <a:lnTo>
                    <a:pt x="2947966" y="2728657"/>
                  </a:lnTo>
                  <a:lnTo>
                    <a:pt x="2937168" y="2773359"/>
                  </a:lnTo>
                  <a:lnTo>
                    <a:pt x="2922409" y="2816372"/>
                  </a:lnTo>
                  <a:lnTo>
                    <a:pt x="2903895" y="2857489"/>
                  </a:lnTo>
                  <a:lnTo>
                    <a:pt x="2881833" y="2896503"/>
                  </a:lnTo>
                  <a:lnTo>
                    <a:pt x="2856429" y="2933209"/>
                  </a:lnTo>
                  <a:lnTo>
                    <a:pt x="2827890" y="2967398"/>
                  </a:lnTo>
                  <a:lnTo>
                    <a:pt x="2796422" y="2998866"/>
                  </a:lnTo>
                  <a:lnTo>
                    <a:pt x="2762232" y="3027405"/>
                  </a:lnTo>
                  <a:lnTo>
                    <a:pt x="2725527" y="3052809"/>
                  </a:lnTo>
                  <a:lnTo>
                    <a:pt x="2686513" y="3074871"/>
                  </a:lnTo>
                  <a:lnTo>
                    <a:pt x="2645396" y="3093385"/>
                  </a:lnTo>
                  <a:lnTo>
                    <a:pt x="2602383" y="3108144"/>
                  </a:lnTo>
                  <a:lnTo>
                    <a:pt x="2557681" y="3118942"/>
                  </a:lnTo>
                  <a:lnTo>
                    <a:pt x="2511495" y="3125573"/>
                  </a:lnTo>
                  <a:lnTo>
                    <a:pt x="2464034" y="3127828"/>
                  </a:lnTo>
                  <a:lnTo>
                    <a:pt x="492818" y="3127828"/>
                  </a:lnTo>
                  <a:lnTo>
                    <a:pt x="445356" y="3125573"/>
                  </a:lnTo>
                  <a:lnTo>
                    <a:pt x="399171" y="3118942"/>
                  </a:lnTo>
                  <a:lnTo>
                    <a:pt x="354469" y="3108144"/>
                  </a:lnTo>
                  <a:lnTo>
                    <a:pt x="311456" y="3093385"/>
                  </a:lnTo>
                  <a:lnTo>
                    <a:pt x="270339" y="3074871"/>
                  </a:lnTo>
                  <a:lnTo>
                    <a:pt x="231325" y="3052809"/>
                  </a:lnTo>
                  <a:lnTo>
                    <a:pt x="194619" y="3027405"/>
                  </a:lnTo>
                  <a:lnTo>
                    <a:pt x="160430" y="2998866"/>
                  </a:lnTo>
                  <a:lnTo>
                    <a:pt x="128962" y="2967398"/>
                  </a:lnTo>
                  <a:lnTo>
                    <a:pt x="100423" y="2933209"/>
                  </a:lnTo>
                  <a:lnTo>
                    <a:pt x="75019" y="2896503"/>
                  </a:lnTo>
                  <a:lnTo>
                    <a:pt x="52957" y="2857489"/>
                  </a:lnTo>
                  <a:lnTo>
                    <a:pt x="34443" y="2816372"/>
                  </a:lnTo>
                  <a:lnTo>
                    <a:pt x="19684" y="2773359"/>
                  </a:lnTo>
                  <a:lnTo>
                    <a:pt x="8886" y="2728657"/>
                  </a:lnTo>
                  <a:lnTo>
                    <a:pt x="2255" y="2682472"/>
                  </a:lnTo>
                  <a:lnTo>
                    <a:pt x="0" y="2635010"/>
                  </a:lnTo>
                  <a:lnTo>
                    <a:pt x="0" y="492818"/>
                  </a:lnTo>
                  <a:close/>
                </a:path>
                <a:path w="2957195" h="3128010">
                  <a:moveTo>
                    <a:pt x="315252" y="1663703"/>
                  </a:moveTo>
                  <a:lnTo>
                    <a:pt x="319786" y="1618728"/>
                  </a:lnTo>
                  <a:lnTo>
                    <a:pt x="332790" y="1576838"/>
                  </a:lnTo>
                  <a:lnTo>
                    <a:pt x="353365" y="1538931"/>
                  </a:lnTo>
                  <a:lnTo>
                    <a:pt x="380615" y="1505904"/>
                  </a:lnTo>
                  <a:lnTo>
                    <a:pt x="413642" y="1478654"/>
                  </a:lnTo>
                  <a:lnTo>
                    <a:pt x="451549" y="1458079"/>
                  </a:lnTo>
                  <a:lnTo>
                    <a:pt x="493439" y="1445075"/>
                  </a:lnTo>
                  <a:lnTo>
                    <a:pt x="538414" y="1440541"/>
                  </a:lnTo>
                  <a:lnTo>
                    <a:pt x="2523234" y="1440541"/>
                  </a:lnTo>
                  <a:lnTo>
                    <a:pt x="2566974" y="1444869"/>
                  </a:lnTo>
                  <a:lnTo>
                    <a:pt x="2608634" y="1457529"/>
                  </a:lnTo>
                  <a:lnTo>
                    <a:pt x="2647044" y="1478035"/>
                  </a:lnTo>
                  <a:lnTo>
                    <a:pt x="2681033" y="1505904"/>
                  </a:lnTo>
                  <a:lnTo>
                    <a:pt x="2708902" y="1539893"/>
                  </a:lnTo>
                  <a:lnTo>
                    <a:pt x="2729408" y="1578303"/>
                  </a:lnTo>
                  <a:lnTo>
                    <a:pt x="2742068" y="1619963"/>
                  </a:lnTo>
                  <a:lnTo>
                    <a:pt x="2746395" y="1663703"/>
                  </a:lnTo>
                  <a:lnTo>
                    <a:pt x="2746395" y="2556322"/>
                  </a:lnTo>
                  <a:lnTo>
                    <a:pt x="2741862" y="2601297"/>
                  </a:lnTo>
                  <a:lnTo>
                    <a:pt x="2728858" y="2643187"/>
                  </a:lnTo>
                  <a:lnTo>
                    <a:pt x="2708283" y="2681094"/>
                  </a:lnTo>
                  <a:lnTo>
                    <a:pt x="2681033" y="2714121"/>
                  </a:lnTo>
                  <a:lnTo>
                    <a:pt x="2648006" y="2741371"/>
                  </a:lnTo>
                  <a:lnTo>
                    <a:pt x="2610099" y="2761946"/>
                  </a:lnTo>
                  <a:lnTo>
                    <a:pt x="2568209" y="2774950"/>
                  </a:lnTo>
                  <a:lnTo>
                    <a:pt x="2523234" y="2779483"/>
                  </a:lnTo>
                  <a:lnTo>
                    <a:pt x="538414" y="2779483"/>
                  </a:lnTo>
                  <a:lnTo>
                    <a:pt x="493439" y="2774950"/>
                  </a:lnTo>
                  <a:lnTo>
                    <a:pt x="451549" y="2761946"/>
                  </a:lnTo>
                  <a:lnTo>
                    <a:pt x="413642" y="2741371"/>
                  </a:lnTo>
                  <a:lnTo>
                    <a:pt x="380615" y="2714121"/>
                  </a:lnTo>
                  <a:lnTo>
                    <a:pt x="353365" y="2681094"/>
                  </a:lnTo>
                  <a:lnTo>
                    <a:pt x="332790" y="2643187"/>
                  </a:lnTo>
                  <a:lnTo>
                    <a:pt x="319786" y="2601297"/>
                  </a:lnTo>
                  <a:lnTo>
                    <a:pt x="315252" y="2556322"/>
                  </a:lnTo>
                  <a:lnTo>
                    <a:pt x="315252" y="1663703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641521" y="2971800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208822" y="351063"/>
                  </a:move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641521" y="2971800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0" y="175531"/>
                  </a:move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741655" y="3044145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4" h="217804">
                  <a:moveTo>
                    <a:pt x="214960" y="217483"/>
                  </a:moveTo>
                  <a:lnTo>
                    <a:pt x="0" y="217483"/>
                  </a:lnTo>
                  <a:lnTo>
                    <a:pt x="0" y="0"/>
                  </a:lnTo>
                  <a:lnTo>
                    <a:pt x="214960" y="0"/>
                  </a:lnTo>
                  <a:lnTo>
                    <a:pt x="214960" y="217483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741655" y="3044145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4" h="217804">
                  <a:moveTo>
                    <a:pt x="0" y="0"/>
                  </a:moveTo>
                  <a:lnTo>
                    <a:pt x="214960" y="0"/>
                  </a:lnTo>
                  <a:lnTo>
                    <a:pt x="214960" y="217483"/>
                  </a:lnTo>
                  <a:lnTo>
                    <a:pt x="0" y="217483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763561" y="3418946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208822" y="351063"/>
                  </a:move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6" y="285318"/>
                  </a:lnTo>
                  <a:lnTo>
                    <a:pt x="21225" y="252726"/>
                  </a:lnTo>
                  <a:lnTo>
                    <a:pt x="5515" y="215779"/>
                  </a:lnTo>
                  <a:lnTo>
                    <a:pt x="0" y="175531"/>
                  </a:lnTo>
                  <a:lnTo>
                    <a:pt x="5515" y="135284"/>
                  </a:lnTo>
                  <a:lnTo>
                    <a:pt x="21225" y="98337"/>
                  </a:lnTo>
                  <a:lnTo>
                    <a:pt x="45876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30" y="135284"/>
                  </a:lnTo>
                  <a:lnTo>
                    <a:pt x="417645" y="175531"/>
                  </a:lnTo>
                  <a:lnTo>
                    <a:pt x="412130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763561" y="3418946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0" y="175531"/>
                  </a:moveTo>
                  <a:lnTo>
                    <a:pt x="5515" y="135284"/>
                  </a:lnTo>
                  <a:lnTo>
                    <a:pt x="21225" y="98337"/>
                  </a:lnTo>
                  <a:lnTo>
                    <a:pt x="45876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30" y="135284"/>
                  </a:lnTo>
                  <a:lnTo>
                    <a:pt x="417645" y="175531"/>
                  </a:lnTo>
                  <a:lnTo>
                    <a:pt x="412130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6" y="285318"/>
                  </a:lnTo>
                  <a:lnTo>
                    <a:pt x="21225" y="252726"/>
                  </a:lnTo>
                  <a:lnTo>
                    <a:pt x="5515" y="215779"/>
                  </a:lnTo>
                  <a:lnTo>
                    <a:pt x="0" y="17553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749250" y="2938976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208822" y="351063"/>
                  </a:move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30" y="135284"/>
                  </a:lnTo>
                  <a:lnTo>
                    <a:pt x="417645" y="175531"/>
                  </a:lnTo>
                  <a:lnTo>
                    <a:pt x="412130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749250" y="2938976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0" y="175531"/>
                  </a:move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30" y="135284"/>
                  </a:lnTo>
                  <a:lnTo>
                    <a:pt x="417645" y="175531"/>
                  </a:lnTo>
                  <a:lnTo>
                    <a:pt x="412130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660380" y="3463138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208822" y="351063"/>
                  </a:move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660380" y="3463138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0" y="175531"/>
                  </a:move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859467" y="3492401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5" h="217804">
                  <a:moveTo>
                    <a:pt x="214960" y="217483"/>
                  </a:moveTo>
                  <a:lnTo>
                    <a:pt x="0" y="217483"/>
                  </a:lnTo>
                  <a:lnTo>
                    <a:pt x="0" y="0"/>
                  </a:lnTo>
                  <a:lnTo>
                    <a:pt x="214960" y="0"/>
                  </a:lnTo>
                  <a:lnTo>
                    <a:pt x="214960" y="217483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859467" y="3492401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5" h="217804">
                  <a:moveTo>
                    <a:pt x="0" y="0"/>
                  </a:moveTo>
                  <a:lnTo>
                    <a:pt x="214960" y="0"/>
                  </a:lnTo>
                  <a:lnTo>
                    <a:pt x="214960" y="217483"/>
                  </a:lnTo>
                  <a:lnTo>
                    <a:pt x="0" y="217483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238357" y="3109519"/>
              <a:ext cx="999490" cy="0"/>
            </a:xfrm>
            <a:custGeom>
              <a:avLst/>
              <a:gdLst/>
              <a:ahLst/>
              <a:cxnLst/>
              <a:rect l="l" t="t" r="r" b="b"/>
              <a:pathLst>
                <a:path w="999490">
                  <a:moveTo>
                    <a:pt x="999406" y="0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195132" y="309378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24" y="31465"/>
                  </a:moveTo>
                  <a:lnTo>
                    <a:pt x="0" y="15732"/>
                  </a:lnTo>
                  <a:lnTo>
                    <a:pt x="43224" y="0"/>
                  </a:lnTo>
                  <a:lnTo>
                    <a:pt x="43224" y="3146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195132" y="309378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24" y="0"/>
                  </a:moveTo>
                  <a:lnTo>
                    <a:pt x="0" y="15732"/>
                  </a:lnTo>
                  <a:lnTo>
                    <a:pt x="43224" y="31465"/>
                  </a:lnTo>
                  <a:lnTo>
                    <a:pt x="43224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119843" y="3590881"/>
              <a:ext cx="1047115" cy="3810"/>
            </a:xfrm>
            <a:custGeom>
              <a:avLst/>
              <a:gdLst/>
              <a:ahLst/>
              <a:cxnLst/>
              <a:rect l="l" t="t" r="r" b="b"/>
              <a:pathLst>
                <a:path w="1047115" h="3810">
                  <a:moveTo>
                    <a:pt x="1046793" y="3597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076617" y="357514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170" y="31465"/>
                  </a:moveTo>
                  <a:lnTo>
                    <a:pt x="0" y="15584"/>
                  </a:lnTo>
                  <a:lnTo>
                    <a:pt x="43279" y="0"/>
                  </a:lnTo>
                  <a:lnTo>
                    <a:pt x="43170" y="3146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076617" y="357514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79" y="0"/>
                  </a:moveTo>
                  <a:lnTo>
                    <a:pt x="0" y="15584"/>
                  </a:lnTo>
                  <a:lnTo>
                    <a:pt x="43170" y="31465"/>
                  </a:lnTo>
                  <a:lnTo>
                    <a:pt x="43279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" name="object 24"/>
          <p:cNvGrpSpPr/>
          <p:nvPr/>
        </p:nvGrpSpPr>
        <p:grpSpPr>
          <a:xfrm>
            <a:off x="1303129" y="1216477"/>
            <a:ext cx="2501900" cy="2952115"/>
            <a:chOff x="1303129" y="1216477"/>
            <a:chExt cx="2501900" cy="2952115"/>
          </a:xfrm>
        </p:grpSpPr>
        <p:sp>
          <p:nvSpPr>
            <p:cNvPr id="25" name="object 25"/>
            <p:cNvSpPr/>
            <p:nvPr/>
          </p:nvSpPr>
          <p:spPr>
            <a:xfrm>
              <a:off x="1309479" y="1222827"/>
              <a:ext cx="2489200" cy="2939415"/>
            </a:xfrm>
            <a:custGeom>
              <a:avLst/>
              <a:gdLst/>
              <a:ahLst/>
              <a:cxnLst/>
              <a:rect l="l" t="t" r="r" b="b"/>
              <a:pathLst>
                <a:path w="2489200" h="2939415">
                  <a:moveTo>
                    <a:pt x="2074324" y="2939142"/>
                  </a:moveTo>
                  <a:lnTo>
                    <a:pt x="414874" y="2939142"/>
                  </a:lnTo>
                  <a:lnTo>
                    <a:pt x="366491" y="2936351"/>
                  </a:lnTo>
                  <a:lnTo>
                    <a:pt x="319747" y="2928185"/>
                  </a:lnTo>
                  <a:lnTo>
                    <a:pt x="274954" y="2914956"/>
                  </a:lnTo>
                  <a:lnTo>
                    <a:pt x="232423" y="2896974"/>
                  </a:lnTo>
                  <a:lnTo>
                    <a:pt x="192465" y="2874551"/>
                  </a:lnTo>
                  <a:lnTo>
                    <a:pt x="155391" y="2847999"/>
                  </a:lnTo>
                  <a:lnTo>
                    <a:pt x="121514" y="2817628"/>
                  </a:lnTo>
                  <a:lnTo>
                    <a:pt x="91143" y="2783751"/>
                  </a:lnTo>
                  <a:lnTo>
                    <a:pt x="64591" y="2746677"/>
                  </a:lnTo>
                  <a:lnTo>
                    <a:pt x="42168" y="2706719"/>
                  </a:lnTo>
                  <a:lnTo>
                    <a:pt x="24186" y="2664188"/>
                  </a:lnTo>
                  <a:lnTo>
                    <a:pt x="10957" y="2619394"/>
                  </a:lnTo>
                  <a:lnTo>
                    <a:pt x="2791" y="2572651"/>
                  </a:lnTo>
                  <a:lnTo>
                    <a:pt x="0" y="2524267"/>
                  </a:lnTo>
                  <a:lnTo>
                    <a:pt x="0" y="414874"/>
                  </a:lnTo>
                  <a:lnTo>
                    <a:pt x="2700" y="368062"/>
                  </a:lnTo>
                  <a:lnTo>
                    <a:pt x="10957" y="319747"/>
                  </a:lnTo>
                  <a:lnTo>
                    <a:pt x="24186" y="274954"/>
                  </a:lnTo>
                  <a:lnTo>
                    <a:pt x="42168" y="232423"/>
                  </a:lnTo>
                  <a:lnTo>
                    <a:pt x="64591" y="192465"/>
                  </a:lnTo>
                  <a:lnTo>
                    <a:pt x="91143" y="155391"/>
                  </a:lnTo>
                  <a:lnTo>
                    <a:pt x="121514" y="121514"/>
                  </a:lnTo>
                  <a:lnTo>
                    <a:pt x="155391" y="91143"/>
                  </a:lnTo>
                  <a:lnTo>
                    <a:pt x="192465" y="64591"/>
                  </a:lnTo>
                  <a:lnTo>
                    <a:pt x="232423" y="42168"/>
                  </a:lnTo>
                  <a:lnTo>
                    <a:pt x="274954" y="24186"/>
                  </a:lnTo>
                  <a:lnTo>
                    <a:pt x="319747" y="10957"/>
                  </a:lnTo>
                  <a:lnTo>
                    <a:pt x="366491" y="2791"/>
                  </a:lnTo>
                  <a:lnTo>
                    <a:pt x="414874" y="0"/>
                  </a:lnTo>
                  <a:lnTo>
                    <a:pt x="2074324" y="0"/>
                  </a:lnTo>
                  <a:lnTo>
                    <a:pt x="2121137" y="2648"/>
                  </a:lnTo>
                  <a:lnTo>
                    <a:pt x="2166992" y="10480"/>
                  </a:lnTo>
                  <a:lnTo>
                    <a:pt x="2211483" y="23328"/>
                  </a:lnTo>
                  <a:lnTo>
                    <a:pt x="2254204" y="41023"/>
                  </a:lnTo>
                  <a:lnTo>
                    <a:pt x="2294749" y="63398"/>
                  </a:lnTo>
                  <a:lnTo>
                    <a:pt x="2332711" y="90284"/>
                  </a:lnTo>
                  <a:lnTo>
                    <a:pt x="2367685" y="121514"/>
                  </a:lnTo>
                  <a:lnTo>
                    <a:pt x="2398915" y="156488"/>
                  </a:lnTo>
                  <a:lnTo>
                    <a:pt x="2425801" y="194450"/>
                  </a:lnTo>
                  <a:lnTo>
                    <a:pt x="2448176" y="234995"/>
                  </a:lnTo>
                  <a:lnTo>
                    <a:pt x="2465871" y="277716"/>
                  </a:lnTo>
                  <a:lnTo>
                    <a:pt x="2478719" y="322207"/>
                  </a:lnTo>
                  <a:lnTo>
                    <a:pt x="2486551" y="368062"/>
                  </a:lnTo>
                  <a:lnTo>
                    <a:pt x="2489199" y="414874"/>
                  </a:lnTo>
                  <a:lnTo>
                    <a:pt x="2489199" y="2524267"/>
                  </a:lnTo>
                  <a:lnTo>
                    <a:pt x="2486408" y="2572651"/>
                  </a:lnTo>
                  <a:lnTo>
                    <a:pt x="2478242" y="2619394"/>
                  </a:lnTo>
                  <a:lnTo>
                    <a:pt x="2465013" y="2664188"/>
                  </a:lnTo>
                  <a:lnTo>
                    <a:pt x="2447031" y="2706719"/>
                  </a:lnTo>
                  <a:lnTo>
                    <a:pt x="2424608" y="2746677"/>
                  </a:lnTo>
                  <a:lnTo>
                    <a:pt x="2398056" y="2783751"/>
                  </a:lnTo>
                  <a:lnTo>
                    <a:pt x="2367685" y="2817628"/>
                  </a:lnTo>
                  <a:lnTo>
                    <a:pt x="2333808" y="2847999"/>
                  </a:lnTo>
                  <a:lnTo>
                    <a:pt x="2296734" y="2874551"/>
                  </a:lnTo>
                  <a:lnTo>
                    <a:pt x="2256776" y="2896974"/>
                  </a:lnTo>
                  <a:lnTo>
                    <a:pt x="2214245" y="2914956"/>
                  </a:lnTo>
                  <a:lnTo>
                    <a:pt x="2169451" y="2928185"/>
                  </a:lnTo>
                  <a:lnTo>
                    <a:pt x="2122708" y="2936351"/>
                  </a:lnTo>
                  <a:lnTo>
                    <a:pt x="2074324" y="2939142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309479" y="1222827"/>
              <a:ext cx="2489200" cy="2939415"/>
            </a:xfrm>
            <a:custGeom>
              <a:avLst/>
              <a:gdLst/>
              <a:ahLst/>
              <a:cxnLst/>
              <a:rect l="l" t="t" r="r" b="b"/>
              <a:pathLst>
                <a:path w="2489200" h="2939415">
                  <a:moveTo>
                    <a:pt x="0" y="414874"/>
                  </a:moveTo>
                  <a:lnTo>
                    <a:pt x="2791" y="366491"/>
                  </a:lnTo>
                  <a:lnTo>
                    <a:pt x="10957" y="319747"/>
                  </a:lnTo>
                  <a:lnTo>
                    <a:pt x="24186" y="274954"/>
                  </a:lnTo>
                  <a:lnTo>
                    <a:pt x="42168" y="232423"/>
                  </a:lnTo>
                  <a:lnTo>
                    <a:pt x="64591" y="192465"/>
                  </a:lnTo>
                  <a:lnTo>
                    <a:pt x="91143" y="155391"/>
                  </a:lnTo>
                  <a:lnTo>
                    <a:pt x="121514" y="121514"/>
                  </a:lnTo>
                  <a:lnTo>
                    <a:pt x="155391" y="91143"/>
                  </a:lnTo>
                  <a:lnTo>
                    <a:pt x="192465" y="64591"/>
                  </a:lnTo>
                  <a:lnTo>
                    <a:pt x="232423" y="42168"/>
                  </a:lnTo>
                  <a:lnTo>
                    <a:pt x="274954" y="24186"/>
                  </a:lnTo>
                  <a:lnTo>
                    <a:pt x="319747" y="10957"/>
                  </a:lnTo>
                  <a:lnTo>
                    <a:pt x="366491" y="2791"/>
                  </a:lnTo>
                  <a:lnTo>
                    <a:pt x="414874" y="0"/>
                  </a:lnTo>
                  <a:lnTo>
                    <a:pt x="2074324" y="0"/>
                  </a:lnTo>
                  <a:lnTo>
                    <a:pt x="2121137" y="2648"/>
                  </a:lnTo>
                  <a:lnTo>
                    <a:pt x="2166992" y="10480"/>
                  </a:lnTo>
                  <a:lnTo>
                    <a:pt x="2211483" y="23328"/>
                  </a:lnTo>
                  <a:lnTo>
                    <a:pt x="2254204" y="41023"/>
                  </a:lnTo>
                  <a:lnTo>
                    <a:pt x="2294749" y="63398"/>
                  </a:lnTo>
                  <a:lnTo>
                    <a:pt x="2332711" y="90284"/>
                  </a:lnTo>
                  <a:lnTo>
                    <a:pt x="2367685" y="121514"/>
                  </a:lnTo>
                  <a:lnTo>
                    <a:pt x="2398915" y="156488"/>
                  </a:lnTo>
                  <a:lnTo>
                    <a:pt x="2425801" y="194450"/>
                  </a:lnTo>
                  <a:lnTo>
                    <a:pt x="2448176" y="234995"/>
                  </a:lnTo>
                  <a:lnTo>
                    <a:pt x="2465871" y="277716"/>
                  </a:lnTo>
                  <a:lnTo>
                    <a:pt x="2478719" y="322207"/>
                  </a:lnTo>
                  <a:lnTo>
                    <a:pt x="2486551" y="368062"/>
                  </a:lnTo>
                  <a:lnTo>
                    <a:pt x="2489199" y="414874"/>
                  </a:lnTo>
                  <a:lnTo>
                    <a:pt x="2489199" y="2524267"/>
                  </a:lnTo>
                  <a:lnTo>
                    <a:pt x="2486408" y="2572651"/>
                  </a:lnTo>
                  <a:lnTo>
                    <a:pt x="2478242" y="2619394"/>
                  </a:lnTo>
                  <a:lnTo>
                    <a:pt x="2465013" y="2664188"/>
                  </a:lnTo>
                  <a:lnTo>
                    <a:pt x="2447031" y="2706719"/>
                  </a:lnTo>
                  <a:lnTo>
                    <a:pt x="2424608" y="2746677"/>
                  </a:lnTo>
                  <a:lnTo>
                    <a:pt x="2398056" y="2783751"/>
                  </a:lnTo>
                  <a:lnTo>
                    <a:pt x="2367685" y="2817628"/>
                  </a:lnTo>
                  <a:lnTo>
                    <a:pt x="2333808" y="2847999"/>
                  </a:lnTo>
                  <a:lnTo>
                    <a:pt x="2296734" y="2874551"/>
                  </a:lnTo>
                  <a:lnTo>
                    <a:pt x="2256776" y="2896974"/>
                  </a:lnTo>
                  <a:lnTo>
                    <a:pt x="2214245" y="2914956"/>
                  </a:lnTo>
                  <a:lnTo>
                    <a:pt x="2169451" y="2928185"/>
                  </a:lnTo>
                  <a:lnTo>
                    <a:pt x="2122708" y="2936351"/>
                  </a:lnTo>
                  <a:lnTo>
                    <a:pt x="2074324" y="2939142"/>
                  </a:lnTo>
                  <a:lnTo>
                    <a:pt x="414874" y="2939142"/>
                  </a:lnTo>
                  <a:lnTo>
                    <a:pt x="366491" y="2936351"/>
                  </a:lnTo>
                  <a:lnTo>
                    <a:pt x="319747" y="2928185"/>
                  </a:lnTo>
                  <a:lnTo>
                    <a:pt x="274954" y="2914956"/>
                  </a:lnTo>
                  <a:lnTo>
                    <a:pt x="232423" y="2896974"/>
                  </a:lnTo>
                  <a:lnTo>
                    <a:pt x="192465" y="2874551"/>
                  </a:lnTo>
                  <a:lnTo>
                    <a:pt x="155391" y="2847999"/>
                  </a:lnTo>
                  <a:lnTo>
                    <a:pt x="121514" y="2817628"/>
                  </a:lnTo>
                  <a:lnTo>
                    <a:pt x="91143" y="2783751"/>
                  </a:lnTo>
                  <a:lnTo>
                    <a:pt x="64591" y="2746677"/>
                  </a:lnTo>
                  <a:lnTo>
                    <a:pt x="42168" y="2706719"/>
                  </a:lnTo>
                  <a:lnTo>
                    <a:pt x="24186" y="2664188"/>
                  </a:lnTo>
                  <a:lnTo>
                    <a:pt x="10957" y="2619394"/>
                  </a:lnTo>
                  <a:lnTo>
                    <a:pt x="2791" y="2572651"/>
                  </a:lnTo>
                  <a:lnTo>
                    <a:pt x="0" y="2524267"/>
                  </a:lnTo>
                  <a:lnTo>
                    <a:pt x="0" y="414874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398267" y="1645561"/>
              <a:ext cx="1082040" cy="521334"/>
            </a:xfrm>
            <a:custGeom>
              <a:avLst/>
              <a:gdLst/>
              <a:ahLst/>
              <a:cxnLst/>
              <a:rect l="l" t="t" r="r" b="b"/>
              <a:pathLst>
                <a:path w="1082039" h="521335">
                  <a:moveTo>
                    <a:pt x="994948" y="521099"/>
                  </a:moveTo>
                  <a:lnTo>
                    <a:pt x="86851" y="521099"/>
                  </a:lnTo>
                  <a:lnTo>
                    <a:pt x="53045" y="514274"/>
                  </a:lnTo>
                  <a:lnTo>
                    <a:pt x="25438" y="495661"/>
                  </a:lnTo>
                  <a:lnTo>
                    <a:pt x="6825" y="468054"/>
                  </a:lnTo>
                  <a:lnTo>
                    <a:pt x="0" y="434248"/>
                  </a:lnTo>
                  <a:lnTo>
                    <a:pt x="0" y="86851"/>
                  </a:lnTo>
                  <a:lnTo>
                    <a:pt x="6825" y="53045"/>
                  </a:lnTo>
                  <a:lnTo>
                    <a:pt x="25438" y="25438"/>
                  </a:lnTo>
                  <a:lnTo>
                    <a:pt x="53045" y="6825"/>
                  </a:lnTo>
                  <a:lnTo>
                    <a:pt x="86851" y="0"/>
                  </a:lnTo>
                  <a:lnTo>
                    <a:pt x="994948" y="0"/>
                  </a:lnTo>
                  <a:lnTo>
                    <a:pt x="1043133" y="14592"/>
                  </a:lnTo>
                  <a:lnTo>
                    <a:pt x="1075188" y="53615"/>
                  </a:lnTo>
                  <a:lnTo>
                    <a:pt x="1081799" y="86851"/>
                  </a:lnTo>
                  <a:lnTo>
                    <a:pt x="1081799" y="434248"/>
                  </a:lnTo>
                  <a:lnTo>
                    <a:pt x="1074974" y="468054"/>
                  </a:lnTo>
                  <a:lnTo>
                    <a:pt x="1056361" y="495661"/>
                  </a:lnTo>
                  <a:lnTo>
                    <a:pt x="1028755" y="514274"/>
                  </a:lnTo>
                  <a:lnTo>
                    <a:pt x="994948" y="521099"/>
                  </a:lnTo>
                  <a:close/>
                </a:path>
              </a:pathLst>
            </a:custGeom>
            <a:solidFill>
              <a:srgbClr val="00B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398267" y="1645561"/>
              <a:ext cx="1082040" cy="521334"/>
            </a:xfrm>
            <a:custGeom>
              <a:avLst/>
              <a:gdLst/>
              <a:ahLst/>
              <a:cxnLst/>
              <a:rect l="l" t="t" r="r" b="b"/>
              <a:pathLst>
                <a:path w="1082039" h="521335">
                  <a:moveTo>
                    <a:pt x="0" y="86851"/>
                  </a:moveTo>
                  <a:lnTo>
                    <a:pt x="6825" y="53045"/>
                  </a:lnTo>
                  <a:lnTo>
                    <a:pt x="25438" y="25438"/>
                  </a:lnTo>
                  <a:lnTo>
                    <a:pt x="53045" y="6825"/>
                  </a:lnTo>
                  <a:lnTo>
                    <a:pt x="86851" y="0"/>
                  </a:lnTo>
                  <a:lnTo>
                    <a:pt x="994948" y="0"/>
                  </a:lnTo>
                  <a:lnTo>
                    <a:pt x="1043133" y="14592"/>
                  </a:lnTo>
                  <a:lnTo>
                    <a:pt x="1075188" y="53615"/>
                  </a:lnTo>
                  <a:lnTo>
                    <a:pt x="1081799" y="86851"/>
                  </a:lnTo>
                  <a:lnTo>
                    <a:pt x="1081799" y="434248"/>
                  </a:lnTo>
                  <a:lnTo>
                    <a:pt x="1074974" y="468054"/>
                  </a:lnTo>
                  <a:lnTo>
                    <a:pt x="1056361" y="495661"/>
                  </a:lnTo>
                  <a:lnTo>
                    <a:pt x="1028755" y="514274"/>
                  </a:lnTo>
                  <a:lnTo>
                    <a:pt x="994948" y="521099"/>
                  </a:lnTo>
                  <a:lnTo>
                    <a:pt x="86851" y="521099"/>
                  </a:lnTo>
                  <a:lnTo>
                    <a:pt x="53045" y="514274"/>
                  </a:lnTo>
                  <a:lnTo>
                    <a:pt x="25438" y="495661"/>
                  </a:lnTo>
                  <a:lnTo>
                    <a:pt x="6825" y="468054"/>
                  </a:lnTo>
                  <a:lnTo>
                    <a:pt x="0" y="434248"/>
                  </a:lnTo>
                  <a:lnTo>
                    <a:pt x="0" y="86851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2315483" y="4220825"/>
            <a:ext cx="5689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Arial"/>
                <a:cs typeface="Arial"/>
              </a:rPr>
              <a:t>Master</a:t>
            </a:r>
            <a:endParaRPr sz="14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526380" y="1781524"/>
            <a:ext cx="82613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Scheduler</a:t>
            </a:r>
            <a:endParaRPr sz="14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554079" y="2315029"/>
            <a:ext cx="1082040" cy="501015"/>
          </a:xfrm>
          <a:prstGeom prst="rect">
            <a:avLst/>
          </a:prstGeom>
          <a:solidFill>
            <a:srgbClr val="92D050"/>
          </a:solidFill>
          <a:ln w="12699">
            <a:solidFill>
              <a:srgbClr val="127BB4"/>
            </a:solidFill>
          </a:ln>
        </p:spPr>
        <p:txBody>
          <a:bodyPr vert="horz" wrap="square" lIns="0" tIns="138430" rIns="0" bIns="0" rtlCol="0">
            <a:spAutoFit/>
          </a:bodyPr>
          <a:lstStyle/>
          <a:p>
            <a:pPr marL="111125">
              <a:lnSpc>
                <a:spcPct val="100000"/>
              </a:lnSpc>
              <a:spcBef>
                <a:spcPts val="1090"/>
              </a:spcBef>
            </a:pP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API</a:t>
            </a:r>
            <a:r>
              <a:rPr sz="14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Server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6842718" y="2994428"/>
            <a:ext cx="227965" cy="230504"/>
            <a:chOff x="6842718" y="2994428"/>
            <a:chExt cx="227965" cy="230504"/>
          </a:xfrm>
        </p:grpSpPr>
        <p:sp>
          <p:nvSpPr>
            <p:cNvPr id="33" name="object 33"/>
            <p:cNvSpPr/>
            <p:nvPr/>
          </p:nvSpPr>
          <p:spPr>
            <a:xfrm>
              <a:off x="6849068" y="3000778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5" h="217805">
                  <a:moveTo>
                    <a:pt x="214961" y="217483"/>
                  </a:moveTo>
                  <a:lnTo>
                    <a:pt x="0" y="217483"/>
                  </a:lnTo>
                  <a:lnTo>
                    <a:pt x="0" y="0"/>
                  </a:lnTo>
                  <a:lnTo>
                    <a:pt x="214961" y="0"/>
                  </a:lnTo>
                  <a:lnTo>
                    <a:pt x="214961" y="217483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849068" y="3000778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5" h="217805">
                  <a:moveTo>
                    <a:pt x="0" y="0"/>
                  </a:moveTo>
                  <a:lnTo>
                    <a:pt x="214961" y="0"/>
                  </a:lnTo>
                  <a:lnTo>
                    <a:pt x="214961" y="217483"/>
                  </a:lnTo>
                  <a:lnTo>
                    <a:pt x="0" y="217483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5" name="object 35"/>
          <p:cNvGrpSpPr/>
          <p:nvPr/>
        </p:nvGrpSpPr>
        <p:grpSpPr>
          <a:xfrm>
            <a:off x="5749502" y="3538770"/>
            <a:ext cx="227965" cy="230504"/>
            <a:chOff x="5749502" y="3538770"/>
            <a:chExt cx="227965" cy="230504"/>
          </a:xfrm>
        </p:grpSpPr>
        <p:sp>
          <p:nvSpPr>
            <p:cNvPr id="36" name="object 36"/>
            <p:cNvSpPr/>
            <p:nvPr/>
          </p:nvSpPr>
          <p:spPr>
            <a:xfrm>
              <a:off x="5755852" y="3545120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4" h="217804">
                  <a:moveTo>
                    <a:pt x="214960" y="217483"/>
                  </a:moveTo>
                  <a:lnTo>
                    <a:pt x="0" y="217483"/>
                  </a:lnTo>
                  <a:lnTo>
                    <a:pt x="0" y="0"/>
                  </a:lnTo>
                  <a:lnTo>
                    <a:pt x="214960" y="0"/>
                  </a:lnTo>
                  <a:lnTo>
                    <a:pt x="214960" y="217483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5755852" y="3545120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4" h="217804">
                  <a:moveTo>
                    <a:pt x="0" y="0"/>
                  </a:moveTo>
                  <a:lnTo>
                    <a:pt x="214960" y="0"/>
                  </a:lnTo>
                  <a:lnTo>
                    <a:pt x="214960" y="217483"/>
                  </a:lnTo>
                  <a:lnTo>
                    <a:pt x="0" y="217483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8230221" y="2901642"/>
            <a:ext cx="796925" cy="8102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59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"/>
                <a:cs typeface="Arial"/>
              </a:rPr>
              <a:t>Pod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05"/>
              </a:spcBef>
            </a:pP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00" spc="-10" dirty="0">
                <a:latin typeface="Arial"/>
                <a:cs typeface="Arial"/>
              </a:rPr>
              <a:t>Container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1098434" y="2120574"/>
            <a:ext cx="3896360" cy="592455"/>
            <a:chOff x="1098434" y="2120574"/>
            <a:chExt cx="3896360" cy="592455"/>
          </a:xfrm>
        </p:grpSpPr>
        <p:sp>
          <p:nvSpPr>
            <p:cNvPr id="40" name="object 40"/>
            <p:cNvSpPr/>
            <p:nvPr/>
          </p:nvSpPr>
          <p:spPr>
            <a:xfrm>
              <a:off x="1098434" y="2537277"/>
              <a:ext cx="1289050" cy="0"/>
            </a:xfrm>
            <a:custGeom>
              <a:avLst/>
              <a:gdLst/>
              <a:ahLst/>
              <a:cxnLst/>
              <a:rect l="l" t="t" r="r" b="b"/>
              <a:pathLst>
                <a:path w="1289050">
                  <a:moveTo>
                    <a:pt x="0" y="0"/>
                  </a:moveTo>
                  <a:lnTo>
                    <a:pt x="1288615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387050" y="252154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387050" y="252154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094954" y="2120574"/>
              <a:ext cx="0" cy="96520"/>
            </a:xfrm>
            <a:custGeom>
              <a:avLst/>
              <a:gdLst/>
              <a:ahLst/>
              <a:cxnLst/>
              <a:rect l="l" t="t" r="r" b="b"/>
              <a:pathLst>
                <a:path h="96519">
                  <a:moveTo>
                    <a:pt x="0" y="0"/>
                  </a:moveTo>
                  <a:lnTo>
                    <a:pt x="0" y="96482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079221" y="221705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15732" y="43225"/>
                  </a:moveTo>
                  <a:lnTo>
                    <a:pt x="0" y="0"/>
                  </a:lnTo>
                  <a:lnTo>
                    <a:pt x="31465" y="0"/>
                  </a:lnTo>
                  <a:lnTo>
                    <a:pt x="15732" y="4322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079221" y="221705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0"/>
                  </a:moveTo>
                  <a:lnTo>
                    <a:pt x="15732" y="43225"/>
                  </a:lnTo>
                  <a:lnTo>
                    <a:pt x="31465" y="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635828" y="2692399"/>
              <a:ext cx="1310640" cy="0"/>
            </a:xfrm>
            <a:custGeom>
              <a:avLst/>
              <a:gdLst/>
              <a:ahLst/>
              <a:cxnLst/>
              <a:rect l="l" t="t" r="r" b="b"/>
              <a:pathLst>
                <a:path w="1310639">
                  <a:moveTo>
                    <a:pt x="0" y="0"/>
                  </a:moveTo>
                  <a:lnTo>
                    <a:pt x="1310535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4946365" y="2676666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4946365" y="2676666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49" name="object 4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5214" y="2407476"/>
            <a:ext cx="412744" cy="507992"/>
          </a:xfrm>
          <a:prstGeom prst="rect">
            <a:avLst/>
          </a:prstGeom>
        </p:spPr>
      </p:pic>
      <p:grpSp>
        <p:nvGrpSpPr>
          <p:cNvPr id="50" name="object 50"/>
          <p:cNvGrpSpPr/>
          <p:nvPr/>
        </p:nvGrpSpPr>
        <p:grpSpPr>
          <a:xfrm>
            <a:off x="6203334" y="2715142"/>
            <a:ext cx="227965" cy="230504"/>
            <a:chOff x="6203334" y="2715142"/>
            <a:chExt cx="227965" cy="230504"/>
          </a:xfrm>
        </p:grpSpPr>
        <p:sp>
          <p:nvSpPr>
            <p:cNvPr id="51" name="object 51"/>
            <p:cNvSpPr/>
            <p:nvPr/>
          </p:nvSpPr>
          <p:spPr>
            <a:xfrm>
              <a:off x="6209684" y="2721492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4" h="217805">
                  <a:moveTo>
                    <a:pt x="214960" y="217483"/>
                  </a:moveTo>
                  <a:lnTo>
                    <a:pt x="0" y="217483"/>
                  </a:lnTo>
                  <a:lnTo>
                    <a:pt x="0" y="0"/>
                  </a:lnTo>
                  <a:lnTo>
                    <a:pt x="214960" y="0"/>
                  </a:lnTo>
                  <a:lnTo>
                    <a:pt x="214960" y="217483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6209684" y="2721492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4" h="217805">
                  <a:moveTo>
                    <a:pt x="0" y="0"/>
                  </a:moveTo>
                  <a:lnTo>
                    <a:pt x="214960" y="0"/>
                  </a:lnTo>
                  <a:lnTo>
                    <a:pt x="214960" y="217483"/>
                  </a:lnTo>
                  <a:lnTo>
                    <a:pt x="0" y="217483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3" name="object 53"/>
          <p:cNvGrpSpPr/>
          <p:nvPr/>
        </p:nvGrpSpPr>
        <p:grpSpPr>
          <a:xfrm>
            <a:off x="5414952" y="1374721"/>
            <a:ext cx="2907030" cy="2112645"/>
            <a:chOff x="5414952" y="1374721"/>
            <a:chExt cx="2907030" cy="2112645"/>
          </a:xfrm>
        </p:grpSpPr>
        <p:sp>
          <p:nvSpPr>
            <p:cNvPr id="54" name="object 54"/>
            <p:cNvSpPr/>
            <p:nvPr/>
          </p:nvSpPr>
          <p:spPr>
            <a:xfrm>
              <a:off x="6109867" y="2659689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5">
                  <a:moveTo>
                    <a:pt x="208822" y="351064"/>
                  </a:move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8" y="65745"/>
                  </a:lnTo>
                  <a:lnTo>
                    <a:pt x="396419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19" y="252726"/>
                  </a:lnTo>
                  <a:lnTo>
                    <a:pt x="371768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6109867" y="2659689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5">
                  <a:moveTo>
                    <a:pt x="0" y="175531"/>
                  </a:move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8" y="65745"/>
                  </a:lnTo>
                  <a:lnTo>
                    <a:pt x="396419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19" y="252726"/>
                  </a:lnTo>
                  <a:lnTo>
                    <a:pt x="371768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4"/>
                  </a:ln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6181086" y="3129329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208822" y="351063"/>
                  </a:move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6181086" y="3129329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0" y="175531"/>
                  </a:move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6280904" y="3191131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4" h="217804">
                  <a:moveTo>
                    <a:pt x="214960" y="217484"/>
                  </a:moveTo>
                  <a:lnTo>
                    <a:pt x="0" y="217484"/>
                  </a:lnTo>
                  <a:lnTo>
                    <a:pt x="0" y="0"/>
                  </a:lnTo>
                  <a:lnTo>
                    <a:pt x="214960" y="0"/>
                  </a:lnTo>
                  <a:lnTo>
                    <a:pt x="214960" y="217484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5421302" y="1381071"/>
              <a:ext cx="2390140" cy="2027555"/>
            </a:xfrm>
            <a:custGeom>
              <a:avLst/>
              <a:gdLst/>
              <a:ahLst/>
              <a:cxnLst/>
              <a:rect l="l" t="t" r="r" b="b"/>
              <a:pathLst>
                <a:path w="2390140" h="2027554">
                  <a:moveTo>
                    <a:pt x="859601" y="1810058"/>
                  </a:moveTo>
                  <a:lnTo>
                    <a:pt x="1074562" y="1810058"/>
                  </a:lnTo>
                  <a:lnTo>
                    <a:pt x="1074562" y="2027543"/>
                  </a:lnTo>
                  <a:lnTo>
                    <a:pt x="859601" y="2027543"/>
                  </a:lnTo>
                  <a:lnTo>
                    <a:pt x="859601" y="1810058"/>
                  </a:lnTo>
                  <a:close/>
                </a:path>
                <a:path w="2390140" h="2027554">
                  <a:moveTo>
                    <a:pt x="0" y="175002"/>
                  </a:moveTo>
                  <a:lnTo>
                    <a:pt x="6251" y="128480"/>
                  </a:lnTo>
                  <a:lnTo>
                    <a:pt x="23893" y="86675"/>
                  </a:lnTo>
                  <a:lnTo>
                    <a:pt x="51257" y="51257"/>
                  </a:lnTo>
                  <a:lnTo>
                    <a:pt x="86675" y="23893"/>
                  </a:lnTo>
                  <a:lnTo>
                    <a:pt x="128480" y="6251"/>
                  </a:lnTo>
                  <a:lnTo>
                    <a:pt x="175003" y="0"/>
                  </a:lnTo>
                  <a:lnTo>
                    <a:pt x="2214614" y="0"/>
                  </a:lnTo>
                  <a:lnTo>
                    <a:pt x="2281584" y="13321"/>
                  </a:lnTo>
                  <a:lnTo>
                    <a:pt x="2338360" y="51257"/>
                  </a:lnTo>
                  <a:lnTo>
                    <a:pt x="2376295" y="108032"/>
                  </a:lnTo>
                  <a:lnTo>
                    <a:pt x="2389616" y="175002"/>
                  </a:lnTo>
                  <a:lnTo>
                    <a:pt x="2389616" y="874993"/>
                  </a:lnTo>
                  <a:lnTo>
                    <a:pt x="2383365" y="921516"/>
                  </a:lnTo>
                  <a:lnTo>
                    <a:pt x="2365724" y="963321"/>
                  </a:lnTo>
                  <a:lnTo>
                    <a:pt x="2338359" y="998739"/>
                  </a:lnTo>
                  <a:lnTo>
                    <a:pt x="2302941" y="1026103"/>
                  </a:lnTo>
                  <a:lnTo>
                    <a:pt x="2261137" y="1043745"/>
                  </a:lnTo>
                  <a:lnTo>
                    <a:pt x="2214614" y="1049996"/>
                  </a:lnTo>
                  <a:lnTo>
                    <a:pt x="175003" y="1049996"/>
                  </a:lnTo>
                  <a:lnTo>
                    <a:pt x="128480" y="1043745"/>
                  </a:lnTo>
                  <a:lnTo>
                    <a:pt x="86675" y="1026103"/>
                  </a:lnTo>
                  <a:lnTo>
                    <a:pt x="51257" y="998739"/>
                  </a:lnTo>
                  <a:lnTo>
                    <a:pt x="23893" y="963321"/>
                  </a:lnTo>
                  <a:lnTo>
                    <a:pt x="6251" y="921516"/>
                  </a:lnTo>
                  <a:lnTo>
                    <a:pt x="0" y="874993"/>
                  </a:lnTo>
                  <a:lnTo>
                    <a:pt x="0" y="175002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7881409" y="1439460"/>
              <a:ext cx="440690" cy="0"/>
            </a:xfrm>
            <a:custGeom>
              <a:avLst/>
              <a:gdLst/>
              <a:ahLst/>
              <a:cxnLst/>
              <a:rect l="l" t="t" r="r" b="b"/>
              <a:pathLst>
                <a:path w="440690">
                  <a:moveTo>
                    <a:pt x="440259" y="0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7838184" y="142372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24" y="31465"/>
                  </a:moveTo>
                  <a:lnTo>
                    <a:pt x="0" y="15732"/>
                  </a:lnTo>
                  <a:lnTo>
                    <a:pt x="43224" y="0"/>
                  </a:lnTo>
                  <a:lnTo>
                    <a:pt x="43224" y="3146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7838184" y="142372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24" y="0"/>
                  </a:moveTo>
                  <a:lnTo>
                    <a:pt x="0" y="15732"/>
                  </a:lnTo>
                  <a:lnTo>
                    <a:pt x="43224" y="31465"/>
                  </a:lnTo>
                  <a:lnTo>
                    <a:pt x="43224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3" name="object 63"/>
          <p:cNvSpPr txBox="1"/>
          <p:nvPr/>
        </p:nvSpPr>
        <p:spPr>
          <a:xfrm>
            <a:off x="8394696" y="1291128"/>
            <a:ext cx="75311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Arial"/>
                <a:cs typeface="Arial"/>
              </a:rPr>
              <a:t>Worker-</a:t>
            </a:r>
            <a:r>
              <a:rPr sz="1400" spc="-50" dirty="0">
                <a:latin typeface="Arial"/>
                <a:cs typeface="Arial"/>
              </a:rPr>
              <a:t>2</a:t>
            </a:r>
            <a:endParaRPr sz="1400">
              <a:latin typeface="Arial"/>
              <a:cs typeface="Arial"/>
            </a:endParaRPr>
          </a:p>
        </p:txBody>
      </p:sp>
      <p:sp>
        <p:nvSpPr>
          <p:cNvPr id="65" name="object 6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44</a:t>
            </a:fld>
            <a:endParaRPr spc="-25" dirty="0"/>
          </a:p>
        </p:txBody>
      </p:sp>
      <p:sp>
        <p:nvSpPr>
          <p:cNvPr id="64" name="object 64"/>
          <p:cNvSpPr txBox="1"/>
          <p:nvPr/>
        </p:nvSpPr>
        <p:spPr>
          <a:xfrm>
            <a:off x="8145990" y="2625531"/>
            <a:ext cx="75311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Arial"/>
                <a:cs typeface="Arial"/>
              </a:rPr>
              <a:t>Worker-</a:t>
            </a:r>
            <a:r>
              <a:rPr sz="1400" spc="-50" dirty="0">
                <a:latin typeface="Arial"/>
                <a:cs typeface="Arial"/>
              </a:rPr>
              <a:t>1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707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What</a:t>
            </a:r>
            <a:r>
              <a:rPr spc="5" dirty="0"/>
              <a:t> </a:t>
            </a:r>
            <a:r>
              <a:rPr dirty="0"/>
              <a:t>if node</a:t>
            </a:r>
            <a:r>
              <a:rPr spc="10" dirty="0"/>
              <a:t> </a:t>
            </a:r>
            <a:r>
              <a:rPr dirty="0"/>
              <a:t>resources</a:t>
            </a:r>
            <a:r>
              <a:rPr spc="5" dirty="0"/>
              <a:t> </a:t>
            </a:r>
            <a:r>
              <a:rPr dirty="0"/>
              <a:t>is</a:t>
            </a:r>
            <a:r>
              <a:rPr spc="10" dirty="0"/>
              <a:t> </a:t>
            </a:r>
            <a:r>
              <a:rPr dirty="0"/>
              <a:t>getting</a:t>
            </a:r>
            <a:r>
              <a:rPr spc="5" dirty="0"/>
              <a:t> </a:t>
            </a:r>
            <a:r>
              <a:rPr spc="-10" dirty="0"/>
              <a:t>insufficient?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51051" y="4327541"/>
            <a:ext cx="5886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Arial"/>
                <a:cs typeface="Arial"/>
              </a:rPr>
              <a:t>Cluster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113997" y="1133020"/>
            <a:ext cx="3128645" cy="3140710"/>
            <a:chOff x="5113997" y="1133020"/>
            <a:chExt cx="3128645" cy="3140710"/>
          </a:xfrm>
        </p:grpSpPr>
        <p:sp>
          <p:nvSpPr>
            <p:cNvPr id="5" name="object 5"/>
            <p:cNvSpPr/>
            <p:nvPr/>
          </p:nvSpPr>
          <p:spPr>
            <a:xfrm>
              <a:off x="5120347" y="1139370"/>
              <a:ext cx="2957195" cy="3128010"/>
            </a:xfrm>
            <a:custGeom>
              <a:avLst/>
              <a:gdLst/>
              <a:ahLst/>
              <a:cxnLst/>
              <a:rect l="l" t="t" r="r" b="b"/>
              <a:pathLst>
                <a:path w="2957195" h="3128010">
                  <a:moveTo>
                    <a:pt x="0" y="492818"/>
                  </a:moveTo>
                  <a:lnTo>
                    <a:pt x="2255" y="445356"/>
                  </a:lnTo>
                  <a:lnTo>
                    <a:pt x="8886" y="399171"/>
                  </a:lnTo>
                  <a:lnTo>
                    <a:pt x="19684" y="354469"/>
                  </a:lnTo>
                  <a:lnTo>
                    <a:pt x="34443" y="311456"/>
                  </a:lnTo>
                  <a:lnTo>
                    <a:pt x="52957" y="270339"/>
                  </a:lnTo>
                  <a:lnTo>
                    <a:pt x="75019" y="231325"/>
                  </a:lnTo>
                  <a:lnTo>
                    <a:pt x="100423" y="194619"/>
                  </a:lnTo>
                  <a:lnTo>
                    <a:pt x="128962" y="160430"/>
                  </a:lnTo>
                  <a:lnTo>
                    <a:pt x="160430" y="128962"/>
                  </a:lnTo>
                  <a:lnTo>
                    <a:pt x="194619" y="100423"/>
                  </a:lnTo>
                  <a:lnTo>
                    <a:pt x="231325" y="75019"/>
                  </a:lnTo>
                  <a:lnTo>
                    <a:pt x="270339" y="52957"/>
                  </a:lnTo>
                  <a:lnTo>
                    <a:pt x="311456" y="34443"/>
                  </a:lnTo>
                  <a:lnTo>
                    <a:pt x="354469" y="19684"/>
                  </a:lnTo>
                  <a:lnTo>
                    <a:pt x="399171" y="8886"/>
                  </a:lnTo>
                  <a:lnTo>
                    <a:pt x="445356" y="2255"/>
                  </a:lnTo>
                  <a:lnTo>
                    <a:pt x="492818" y="0"/>
                  </a:lnTo>
                  <a:lnTo>
                    <a:pt x="2464034" y="0"/>
                  </a:lnTo>
                  <a:lnTo>
                    <a:pt x="2512743" y="2411"/>
                  </a:lnTo>
                  <a:lnTo>
                    <a:pt x="2560627" y="9556"/>
                  </a:lnTo>
                  <a:lnTo>
                    <a:pt x="2607362" y="21302"/>
                  </a:lnTo>
                  <a:lnTo>
                    <a:pt x="2652627" y="37513"/>
                  </a:lnTo>
                  <a:lnTo>
                    <a:pt x="2696097" y="58057"/>
                  </a:lnTo>
                  <a:lnTo>
                    <a:pt x="2737449" y="82799"/>
                  </a:lnTo>
                  <a:lnTo>
                    <a:pt x="2776361" y="111605"/>
                  </a:lnTo>
                  <a:lnTo>
                    <a:pt x="2812509" y="144343"/>
                  </a:lnTo>
                  <a:lnTo>
                    <a:pt x="2845246" y="180490"/>
                  </a:lnTo>
                  <a:lnTo>
                    <a:pt x="2874053" y="219402"/>
                  </a:lnTo>
                  <a:lnTo>
                    <a:pt x="2898795" y="260755"/>
                  </a:lnTo>
                  <a:lnTo>
                    <a:pt x="2919339" y="304225"/>
                  </a:lnTo>
                  <a:lnTo>
                    <a:pt x="2935550" y="349489"/>
                  </a:lnTo>
                  <a:lnTo>
                    <a:pt x="2947296" y="396225"/>
                  </a:lnTo>
                  <a:lnTo>
                    <a:pt x="2954441" y="444109"/>
                  </a:lnTo>
                  <a:lnTo>
                    <a:pt x="2956852" y="492818"/>
                  </a:lnTo>
                  <a:lnTo>
                    <a:pt x="2956852" y="2635010"/>
                  </a:lnTo>
                  <a:lnTo>
                    <a:pt x="2954596" y="2682472"/>
                  </a:lnTo>
                  <a:lnTo>
                    <a:pt x="2947966" y="2728657"/>
                  </a:lnTo>
                  <a:lnTo>
                    <a:pt x="2937168" y="2773359"/>
                  </a:lnTo>
                  <a:lnTo>
                    <a:pt x="2922409" y="2816372"/>
                  </a:lnTo>
                  <a:lnTo>
                    <a:pt x="2903895" y="2857489"/>
                  </a:lnTo>
                  <a:lnTo>
                    <a:pt x="2881833" y="2896503"/>
                  </a:lnTo>
                  <a:lnTo>
                    <a:pt x="2856429" y="2933209"/>
                  </a:lnTo>
                  <a:lnTo>
                    <a:pt x="2827890" y="2967398"/>
                  </a:lnTo>
                  <a:lnTo>
                    <a:pt x="2796422" y="2998866"/>
                  </a:lnTo>
                  <a:lnTo>
                    <a:pt x="2762232" y="3027405"/>
                  </a:lnTo>
                  <a:lnTo>
                    <a:pt x="2725527" y="3052809"/>
                  </a:lnTo>
                  <a:lnTo>
                    <a:pt x="2686513" y="3074871"/>
                  </a:lnTo>
                  <a:lnTo>
                    <a:pt x="2645396" y="3093385"/>
                  </a:lnTo>
                  <a:lnTo>
                    <a:pt x="2602383" y="3108144"/>
                  </a:lnTo>
                  <a:lnTo>
                    <a:pt x="2557681" y="3118942"/>
                  </a:lnTo>
                  <a:lnTo>
                    <a:pt x="2511495" y="3125573"/>
                  </a:lnTo>
                  <a:lnTo>
                    <a:pt x="2464034" y="3127828"/>
                  </a:lnTo>
                  <a:lnTo>
                    <a:pt x="492818" y="3127828"/>
                  </a:lnTo>
                  <a:lnTo>
                    <a:pt x="445356" y="3125573"/>
                  </a:lnTo>
                  <a:lnTo>
                    <a:pt x="399171" y="3118942"/>
                  </a:lnTo>
                  <a:lnTo>
                    <a:pt x="354469" y="3108144"/>
                  </a:lnTo>
                  <a:lnTo>
                    <a:pt x="311456" y="3093385"/>
                  </a:lnTo>
                  <a:lnTo>
                    <a:pt x="270339" y="3074871"/>
                  </a:lnTo>
                  <a:lnTo>
                    <a:pt x="231325" y="3052809"/>
                  </a:lnTo>
                  <a:lnTo>
                    <a:pt x="194619" y="3027405"/>
                  </a:lnTo>
                  <a:lnTo>
                    <a:pt x="160430" y="2998866"/>
                  </a:lnTo>
                  <a:lnTo>
                    <a:pt x="128962" y="2967398"/>
                  </a:lnTo>
                  <a:lnTo>
                    <a:pt x="100423" y="2933209"/>
                  </a:lnTo>
                  <a:lnTo>
                    <a:pt x="75019" y="2896503"/>
                  </a:lnTo>
                  <a:lnTo>
                    <a:pt x="52957" y="2857489"/>
                  </a:lnTo>
                  <a:lnTo>
                    <a:pt x="34443" y="2816372"/>
                  </a:lnTo>
                  <a:lnTo>
                    <a:pt x="19684" y="2773359"/>
                  </a:lnTo>
                  <a:lnTo>
                    <a:pt x="8886" y="2728657"/>
                  </a:lnTo>
                  <a:lnTo>
                    <a:pt x="2255" y="2682472"/>
                  </a:lnTo>
                  <a:lnTo>
                    <a:pt x="0" y="2635010"/>
                  </a:lnTo>
                  <a:lnTo>
                    <a:pt x="0" y="492818"/>
                  </a:lnTo>
                  <a:close/>
                </a:path>
                <a:path w="2957195" h="3128010">
                  <a:moveTo>
                    <a:pt x="315252" y="1663703"/>
                  </a:moveTo>
                  <a:lnTo>
                    <a:pt x="319786" y="1618728"/>
                  </a:lnTo>
                  <a:lnTo>
                    <a:pt x="332790" y="1576838"/>
                  </a:lnTo>
                  <a:lnTo>
                    <a:pt x="353365" y="1538931"/>
                  </a:lnTo>
                  <a:lnTo>
                    <a:pt x="380615" y="1505904"/>
                  </a:lnTo>
                  <a:lnTo>
                    <a:pt x="413642" y="1478654"/>
                  </a:lnTo>
                  <a:lnTo>
                    <a:pt x="451549" y="1458079"/>
                  </a:lnTo>
                  <a:lnTo>
                    <a:pt x="493439" y="1445075"/>
                  </a:lnTo>
                  <a:lnTo>
                    <a:pt x="538414" y="1440541"/>
                  </a:lnTo>
                  <a:lnTo>
                    <a:pt x="2523234" y="1440541"/>
                  </a:lnTo>
                  <a:lnTo>
                    <a:pt x="2566974" y="1444869"/>
                  </a:lnTo>
                  <a:lnTo>
                    <a:pt x="2608634" y="1457529"/>
                  </a:lnTo>
                  <a:lnTo>
                    <a:pt x="2647044" y="1478035"/>
                  </a:lnTo>
                  <a:lnTo>
                    <a:pt x="2681033" y="1505904"/>
                  </a:lnTo>
                  <a:lnTo>
                    <a:pt x="2708902" y="1539893"/>
                  </a:lnTo>
                  <a:lnTo>
                    <a:pt x="2729408" y="1578303"/>
                  </a:lnTo>
                  <a:lnTo>
                    <a:pt x="2742068" y="1619963"/>
                  </a:lnTo>
                  <a:lnTo>
                    <a:pt x="2746395" y="1663703"/>
                  </a:lnTo>
                  <a:lnTo>
                    <a:pt x="2746395" y="2556322"/>
                  </a:lnTo>
                  <a:lnTo>
                    <a:pt x="2741862" y="2601297"/>
                  </a:lnTo>
                  <a:lnTo>
                    <a:pt x="2728858" y="2643187"/>
                  </a:lnTo>
                  <a:lnTo>
                    <a:pt x="2708283" y="2681094"/>
                  </a:lnTo>
                  <a:lnTo>
                    <a:pt x="2681033" y="2714121"/>
                  </a:lnTo>
                  <a:lnTo>
                    <a:pt x="2648006" y="2741371"/>
                  </a:lnTo>
                  <a:lnTo>
                    <a:pt x="2610099" y="2761946"/>
                  </a:lnTo>
                  <a:lnTo>
                    <a:pt x="2568209" y="2774950"/>
                  </a:lnTo>
                  <a:lnTo>
                    <a:pt x="2523234" y="2779483"/>
                  </a:lnTo>
                  <a:lnTo>
                    <a:pt x="538414" y="2779483"/>
                  </a:lnTo>
                  <a:lnTo>
                    <a:pt x="493439" y="2774950"/>
                  </a:lnTo>
                  <a:lnTo>
                    <a:pt x="451549" y="2761946"/>
                  </a:lnTo>
                  <a:lnTo>
                    <a:pt x="413642" y="2741371"/>
                  </a:lnTo>
                  <a:lnTo>
                    <a:pt x="380615" y="2714121"/>
                  </a:lnTo>
                  <a:lnTo>
                    <a:pt x="353365" y="2681094"/>
                  </a:lnTo>
                  <a:lnTo>
                    <a:pt x="332790" y="2643187"/>
                  </a:lnTo>
                  <a:lnTo>
                    <a:pt x="319786" y="2601297"/>
                  </a:lnTo>
                  <a:lnTo>
                    <a:pt x="315252" y="2556322"/>
                  </a:lnTo>
                  <a:lnTo>
                    <a:pt x="315252" y="1663703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641521" y="2971800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208822" y="351063"/>
                  </a:move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641521" y="2971800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0" y="175531"/>
                  </a:move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741655" y="3044145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4" h="217804">
                  <a:moveTo>
                    <a:pt x="214960" y="217483"/>
                  </a:moveTo>
                  <a:lnTo>
                    <a:pt x="0" y="217483"/>
                  </a:lnTo>
                  <a:lnTo>
                    <a:pt x="0" y="0"/>
                  </a:lnTo>
                  <a:lnTo>
                    <a:pt x="214960" y="0"/>
                  </a:lnTo>
                  <a:lnTo>
                    <a:pt x="214960" y="217483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741655" y="3044145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4" h="217804">
                  <a:moveTo>
                    <a:pt x="0" y="0"/>
                  </a:moveTo>
                  <a:lnTo>
                    <a:pt x="214960" y="0"/>
                  </a:lnTo>
                  <a:lnTo>
                    <a:pt x="214960" y="217483"/>
                  </a:lnTo>
                  <a:lnTo>
                    <a:pt x="0" y="217483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763561" y="3418946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208822" y="351063"/>
                  </a:move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6" y="285318"/>
                  </a:lnTo>
                  <a:lnTo>
                    <a:pt x="21225" y="252726"/>
                  </a:lnTo>
                  <a:lnTo>
                    <a:pt x="5515" y="215779"/>
                  </a:lnTo>
                  <a:lnTo>
                    <a:pt x="0" y="175531"/>
                  </a:lnTo>
                  <a:lnTo>
                    <a:pt x="5515" y="135284"/>
                  </a:lnTo>
                  <a:lnTo>
                    <a:pt x="21225" y="98337"/>
                  </a:lnTo>
                  <a:lnTo>
                    <a:pt x="45876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30" y="135284"/>
                  </a:lnTo>
                  <a:lnTo>
                    <a:pt x="417645" y="175531"/>
                  </a:lnTo>
                  <a:lnTo>
                    <a:pt x="412130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763561" y="3418946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0" y="175531"/>
                  </a:moveTo>
                  <a:lnTo>
                    <a:pt x="5515" y="135284"/>
                  </a:lnTo>
                  <a:lnTo>
                    <a:pt x="21225" y="98337"/>
                  </a:lnTo>
                  <a:lnTo>
                    <a:pt x="45876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30" y="135284"/>
                  </a:lnTo>
                  <a:lnTo>
                    <a:pt x="417645" y="175531"/>
                  </a:lnTo>
                  <a:lnTo>
                    <a:pt x="412130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6" y="285318"/>
                  </a:lnTo>
                  <a:lnTo>
                    <a:pt x="21225" y="252726"/>
                  </a:lnTo>
                  <a:lnTo>
                    <a:pt x="5515" y="215779"/>
                  </a:lnTo>
                  <a:lnTo>
                    <a:pt x="0" y="17553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703092" y="2864498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5">
                  <a:moveTo>
                    <a:pt x="208822" y="351063"/>
                  </a:move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703092" y="2864498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5">
                  <a:moveTo>
                    <a:pt x="0" y="175531"/>
                  </a:move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660380" y="3463138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208822" y="351063"/>
                  </a:move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660380" y="3463138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0" y="175531"/>
                  </a:move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859467" y="3492401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5" h="217804">
                  <a:moveTo>
                    <a:pt x="214960" y="217483"/>
                  </a:moveTo>
                  <a:lnTo>
                    <a:pt x="0" y="217483"/>
                  </a:lnTo>
                  <a:lnTo>
                    <a:pt x="0" y="0"/>
                  </a:lnTo>
                  <a:lnTo>
                    <a:pt x="214960" y="0"/>
                  </a:lnTo>
                  <a:lnTo>
                    <a:pt x="214960" y="217483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859467" y="3492401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5" h="217804">
                  <a:moveTo>
                    <a:pt x="0" y="0"/>
                  </a:moveTo>
                  <a:lnTo>
                    <a:pt x="214960" y="0"/>
                  </a:lnTo>
                  <a:lnTo>
                    <a:pt x="214960" y="217483"/>
                  </a:lnTo>
                  <a:lnTo>
                    <a:pt x="0" y="217483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238357" y="3109519"/>
              <a:ext cx="999490" cy="0"/>
            </a:xfrm>
            <a:custGeom>
              <a:avLst/>
              <a:gdLst/>
              <a:ahLst/>
              <a:cxnLst/>
              <a:rect l="l" t="t" r="r" b="b"/>
              <a:pathLst>
                <a:path w="999490">
                  <a:moveTo>
                    <a:pt x="999406" y="0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195132" y="309378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24" y="31465"/>
                  </a:moveTo>
                  <a:lnTo>
                    <a:pt x="0" y="15732"/>
                  </a:lnTo>
                  <a:lnTo>
                    <a:pt x="43224" y="0"/>
                  </a:lnTo>
                  <a:lnTo>
                    <a:pt x="43224" y="3146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195132" y="309378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24" y="0"/>
                  </a:moveTo>
                  <a:lnTo>
                    <a:pt x="0" y="15732"/>
                  </a:lnTo>
                  <a:lnTo>
                    <a:pt x="43224" y="31465"/>
                  </a:lnTo>
                  <a:lnTo>
                    <a:pt x="43224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119843" y="3590881"/>
              <a:ext cx="1047115" cy="3810"/>
            </a:xfrm>
            <a:custGeom>
              <a:avLst/>
              <a:gdLst/>
              <a:ahLst/>
              <a:cxnLst/>
              <a:rect l="l" t="t" r="r" b="b"/>
              <a:pathLst>
                <a:path w="1047115" h="3810">
                  <a:moveTo>
                    <a:pt x="1046793" y="3597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076617" y="357514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170" y="31465"/>
                  </a:moveTo>
                  <a:lnTo>
                    <a:pt x="0" y="15584"/>
                  </a:lnTo>
                  <a:lnTo>
                    <a:pt x="43279" y="0"/>
                  </a:lnTo>
                  <a:lnTo>
                    <a:pt x="43170" y="3146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076617" y="357514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79" y="0"/>
                  </a:moveTo>
                  <a:lnTo>
                    <a:pt x="0" y="15584"/>
                  </a:lnTo>
                  <a:lnTo>
                    <a:pt x="43170" y="31465"/>
                  </a:lnTo>
                  <a:lnTo>
                    <a:pt x="43279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" name="object 24"/>
          <p:cNvGrpSpPr/>
          <p:nvPr/>
        </p:nvGrpSpPr>
        <p:grpSpPr>
          <a:xfrm>
            <a:off x="1303129" y="1216477"/>
            <a:ext cx="2501900" cy="2952115"/>
            <a:chOff x="1303129" y="1216477"/>
            <a:chExt cx="2501900" cy="2952115"/>
          </a:xfrm>
        </p:grpSpPr>
        <p:sp>
          <p:nvSpPr>
            <p:cNvPr id="25" name="object 25"/>
            <p:cNvSpPr/>
            <p:nvPr/>
          </p:nvSpPr>
          <p:spPr>
            <a:xfrm>
              <a:off x="1309479" y="1222827"/>
              <a:ext cx="2489200" cy="2939415"/>
            </a:xfrm>
            <a:custGeom>
              <a:avLst/>
              <a:gdLst/>
              <a:ahLst/>
              <a:cxnLst/>
              <a:rect l="l" t="t" r="r" b="b"/>
              <a:pathLst>
                <a:path w="2489200" h="2939415">
                  <a:moveTo>
                    <a:pt x="2074324" y="2939142"/>
                  </a:moveTo>
                  <a:lnTo>
                    <a:pt x="414874" y="2939142"/>
                  </a:lnTo>
                  <a:lnTo>
                    <a:pt x="366491" y="2936351"/>
                  </a:lnTo>
                  <a:lnTo>
                    <a:pt x="319747" y="2928185"/>
                  </a:lnTo>
                  <a:lnTo>
                    <a:pt x="274954" y="2914956"/>
                  </a:lnTo>
                  <a:lnTo>
                    <a:pt x="232423" y="2896974"/>
                  </a:lnTo>
                  <a:lnTo>
                    <a:pt x="192465" y="2874551"/>
                  </a:lnTo>
                  <a:lnTo>
                    <a:pt x="155391" y="2847999"/>
                  </a:lnTo>
                  <a:lnTo>
                    <a:pt x="121514" y="2817628"/>
                  </a:lnTo>
                  <a:lnTo>
                    <a:pt x="91143" y="2783751"/>
                  </a:lnTo>
                  <a:lnTo>
                    <a:pt x="64591" y="2746677"/>
                  </a:lnTo>
                  <a:lnTo>
                    <a:pt x="42168" y="2706719"/>
                  </a:lnTo>
                  <a:lnTo>
                    <a:pt x="24186" y="2664188"/>
                  </a:lnTo>
                  <a:lnTo>
                    <a:pt x="10957" y="2619394"/>
                  </a:lnTo>
                  <a:lnTo>
                    <a:pt x="2791" y="2572651"/>
                  </a:lnTo>
                  <a:lnTo>
                    <a:pt x="0" y="2524267"/>
                  </a:lnTo>
                  <a:lnTo>
                    <a:pt x="0" y="414874"/>
                  </a:lnTo>
                  <a:lnTo>
                    <a:pt x="2700" y="368062"/>
                  </a:lnTo>
                  <a:lnTo>
                    <a:pt x="10957" y="319747"/>
                  </a:lnTo>
                  <a:lnTo>
                    <a:pt x="24186" y="274954"/>
                  </a:lnTo>
                  <a:lnTo>
                    <a:pt x="42168" y="232423"/>
                  </a:lnTo>
                  <a:lnTo>
                    <a:pt x="64591" y="192465"/>
                  </a:lnTo>
                  <a:lnTo>
                    <a:pt x="91143" y="155391"/>
                  </a:lnTo>
                  <a:lnTo>
                    <a:pt x="121514" y="121514"/>
                  </a:lnTo>
                  <a:lnTo>
                    <a:pt x="155391" y="91143"/>
                  </a:lnTo>
                  <a:lnTo>
                    <a:pt x="192465" y="64591"/>
                  </a:lnTo>
                  <a:lnTo>
                    <a:pt x="232423" y="42168"/>
                  </a:lnTo>
                  <a:lnTo>
                    <a:pt x="274954" y="24186"/>
                  </a:lnTo>
                  <a:lnTo>
                    <a:pt x="319747" y="10957"/>
                  </a:lnTo>
                  <a:lnTo>
                    <a:pt x="366491" y="2791"/>
                  </a:lnTo>
                  <a:lnTo>
                    <a:pt x="414874" y="0"/>
                  </a:lnTo>
                  <a:lnTo>
                    <a:pt x="2074324" y="0"/>
                  </a:lnTo>
                  <a:lnTo>
                    <a:pt x="2121137" y="2648"/>
                  </a:lnTo>
                  <a:lnTo>
                    <a:pt x="2166992" y="10480"/>
                  </a:lnTo>
                  <a:lnTo>
                    <a:pt x="2211483" y="23328"/>
                  </a:lnTo>
                  <a:lnTo>
                    <a:pt x="2254204" y="41023"/>
                  </a:lnTo>
                  <a:lnTo>
                    <a:pt x="2294749" y="63398"/>
                  </a:lnTo>
                  <a:lnTo>
                    <a:pt x="2332711" y="90284"/>
                  </a:lnTo>
                  <a:lnTo>
                    <a:pt x="2367685" y="121514"/>
                  </a:lnTo>
                  <a:lnTo>
                    <a:pt x="2398915" y="156488"/>
                  </a:lnTo>
                  <a:lnTo>
                    <a:pt x="2425801" y="194450"/>
                  </a:lnTo>
                  <a:lnTo>
                    <a:pt x="2448176" y="234995"/>
                  </a:lnTo>
                  <a:lnTo>
                    <a:pt x="2465871" y="277716"/>
                  </a:lnTo>
                  <a:lnTo>
                    <a:pt x="2478719" y="322207"/>
                  </a:lnTo>
                  <a:lnTo>
                    <a:pt x="2486551" y="368062"/>
                  </a:lnTo>
                  <a:lnTo>
                    <a:pt x="2489199" y="414874"/>
                  </a:lnTo>
                  <a:lnTo>
                    <a:pt x="2489199" y="2524267"/>
                  </a:lnTo>
                  <a:lnTo>
                    <a:pt x="2486408" y="2572651"/>
                  </a:lnTo>
                  <a:lnTo>
                    <a:pt x="2478242" y="2619394"/>
                  </a:lnTo>
                  <a:lnTo>
                    <a:pt x="2465013" y="2664188"/>
                  </a:lnTo>
                  <a:lnTo>
                    <a:pt x="2447031" y="2706719"/>
                  </a:lnTo>
                  <a:lnTo>
                    <a:pt x="2424608" y="2746677"/>
                  </a:lnTo>
                  <a:lnTo>
                    <a:pt x="2398056" y="2783751"/>
                  </a:lnTo>
                  <a:lnTo>
                    <a:pt x="2367685" y="2817628"/>
                  </a:lnTo>
                  <a:lnTo>
                    <a:pt x="2333808" y="2847999"/>
                  </a:lnTo>
                  <a:lnTo>
                    <a:pt x="2296734" y="2874551"/>
                  </a:lnTo>
                  <a:lnTo>
                    <a:pt x="2256776" y="2896974"/>
                  </a:lnTo>
                  <a:lnTo>
                    <a:pt x="2214245" y="2914956"/>
                  </a:lnTo>
                  <a:lnTo>
                    <a:pt x="2169451" y="2928185"/>
                  </a:lnTo>
                  <a:lnTo>
                    <a:pt x="2122708" y="2936351"/>
                  </a:lnTo>
                  <a:lnTo>
                    <a:pt x="2074324" y="2939142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309479" y="1222827"/>
              <a:ext cx="2489200" cy="2939415"/>
            </a:xfrm>
            <a:custGeom>
              <a:avLst/>
              <a:gdLst/>
              <a:ahLst/>
              <a:cxnLst/>
              <a:rect l="l" t="t" r="r" b="b"/>
              <a:pathLst>
                <a:path w="2489200" h="2939415">
                  <a:moveTo>
                    <a:pt x="0" y="414874"/>
                  </a:moveTo>
                  <a:lnTo>
                    <a:pt x="2791" y="366491"/>
                  </a:lnTo>
                  <a:lnTo>
                    <a:pt x="10957" y="319747"/>
                  </a:lnTo>
                  <a:lnTo>
                    <a:pt x="24186" y="274954"/>
                  </a:lnTo>
                  <a:lnTo>
                    <a:pt x="42168" y="232423"/>
                  </a:lnTo>
                  <a:lnTo>
                    <a:pt x="64591" y="192465"/>
                  </a:lnTo>
                  <a:lnTo>
                    <a:pt x="91143" y="155391"/>
                  </a:lnTo>
                  <a:lnTo>
                    <a:pt x="121514" y="121514"/>
                  </a:lnTo>
                  <a:lnTo>
                    <a:pt x="155391" y="91143"/>
                  </a:lnTo>
                  <a:lnTo>
                    <a:pt x="192465" y="64591"/>
                  </a:lnTo>
                  <a:lnTo>
                    <a:pt x="232423" y="42168"/>
                  </a:lnTo>
                  <a:lnTo>
                    <a:pt x="274954" y="24186"/>
                  </a:lnTo>
                  <a:lnTo>
                    <a:pt x="319747" y="10957"/>
                  </a:lnTo>
                  <a:lnTo>
                    <a:pt x="366491" y="2791"/>
                  </a:lnTo>
                  <a:lnTo>
                    <a:pt x="414874" y="0"/>
                  </a:lnTo>
                  <a:lnTo>
                    <a:pt x="2074324" y="0"/>
                  </a:lnTo>
                  <a:lnTo>
                    <a:pt x="2121137" y="2648"/>
                  </a:lnTo>
                  <a:lnTo>
                    <a:pt x="2166992" y="10480"/>
                  </a:lnTo>
                  <a:lnTo>
                    <a:pt x="2211483" y="23328"/>
                  </a:lnTo>
                  <a:lnTo>
                    <a:pt x="2254204" y="41023"/>
                  </a:lnTo>
                  <a:lnTo>
                    <a:pt x="2294749" y="63398"/>
                  </a:lnTo>
                  <a:lnTo>
                    <a:pt x="2332711" y="90284"/>
                  </a:lnTo>
                  <a:lnTo>
                    <a:pt x="2367685" y="121514"/>
                  </a:lnTo>
                  <a:lnTo>
                    <a:pt x="2398915" y="156488"/>
                  </a:lnTo>
                  <a:lnTo>
                    <a:pt x="2425801" y="194450"/>
                  </a:lnTo>
                  <a:lnTo>
                    <a:pt x="2448176" y="234995"/>
                  </a:lnTo>
                  <a:lnTo>
                    <a:pt x="2465871" y="277716"/>
                  </a:lnTo>
                  <a:lnTo>
                    <a:pt x="2478719" y="322207"/>
                  </a:lnTo>
                  <a:lnTo>
                    <a:pt x="2486551" y="368062"/>
                  </a:lnTo>
                  <a:lnTo>
                    <a:pt x="2489199" y="414874"/>
                  </a:lnTo>
                  <a:lnTo>
                    <a:pt x="2489199" y="2524267"/>
                  </a:lnTo>
                  <a:lnTo>
                    <a:pt x="2486408" y="2572651"/>
                  </a:lnTo>
                  <a:lnTo>
                    <a:pt x="2478242" y="2619394"/>
                  </a:lnTo>
                  <a:lnTo>
                    <a:pt x="2465013" y="2664188"/>
                  </a:lnTo>
                  <a:lnTo>
                    <a:pt x="2447031" y="2706719"/>
                  </a:lnTo>
                  <a:lnTo>
                    <a:pt x="2424608" y="2746677"/>
                  </a:lnTo>
                  <a:lnTo>
                    <a:pt x="2398056" y="2783751"/>
                  </a:lnTo>
                  <a:lnTo>
                    <a:pt x="2367685" y="2817628"/>
                  </a:lnTo>
                  <a:lnTo>
                    <a:pt x="2333808" y="2847999"/>
                  </a:lnTo>
                  <a:lnTo>
                    <a:pt x="2296734" y="2874551"/>
                  </a:lnTo>
                  <a:lnTo>
                    <a:pt x="2256776" y="2896974"/>
                  </a:lnTo>
                  <a:lnTo>
                    <a:pt x="2214245" y="2914956"/>
                  </a:lnTo>
                  <a:lnTo>
                    <a:pt x="2169451" y="2928185"/>
                  </a:lnTo>
                  <a:lnTo>
                    <a:pt x="2122708" y="2936351"/>
                  </a:lnTo>
                  <a:lnTo>
                    <a:pt x="2074324" y="2939142"/>
                  </a:lnTo>
                  <a:lnTo>
                    <a:pt x="414874" y="2939142"/>
                  </a:lnTo>
                  <a:lnTo>
                    <a:pt x="366491" y="2936351"/>
                  </a:lnTo>
                  <a:lnTo>
                    <a:pt x="319747" y="2928185"/>
                  </a:lnTo>
                  <a:lnTo>
                    <a:pt x="274954" y="2914956"/>
                  </a:lnTo>
                  <a:lnTo>
                    <a:pt x="232423" y="2896974"/>
                  </a:lnTo>
                  <a:lnTo>
                    <a:pt x="192465" y="2874551"/>
                  </a:lnTo>
                  <a:lnTo>
                    <a:pt x="155391" y="2847999"/>
                  </a:lnTo>
                  <a:lnTo>
                    <a:pt x="121514" y="2817628"/>
                  </a:lnTo>
                  <a:lnTo>
                    <a:pt x="91143" y="2783751"/>
                  </a:lnTo>
                  <a:lnTo>
                    <a:pt x="64591" y="2746677"/>
                  </a:lnTo>
                  <a:lnTo>
                    <a:pt x="42168" y="2706719"/>
                  </a:lnTo>
                  <a:lnTo>
                    <a:pt x="24186" y="2664188"/>
                  </a:lnTo>
                  <a:lnTo>
                    <a:pt x="10957" y="2619394"/>
                  </a:lnTo>
                  <a:lnTo>
                    <a:pt x="2791" y="2572651"/>
                  </a:lnTo>
                  <a:lnTo>
                    <a:pt x="0" y="2524267"/>
                  </a:lnTo>
                  <a:lnTo>
                    <a:pt x="0" y="414874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554079" y="1599548"/>
              <a:ext cx="1082040" cy="521334"/>
            </a:xfrm>
            <a:custGeom>
              <a:avLst/>
              <a:gdLst/>
              <a:ahLst/>
              <a:cxnLst/>
              <a:rect l="l" t="t" r="r" b="b"/>
              <a:pathLst>
                <a:path w="1082039" h="521335">
                  <a:moveTo>
                    <a:pt x="994909" y="521024"/>
                  </a:moveTo>
                  <a:lnTo>
                    <a:pt x="86839" y="521024"/>
                  </a:lnTo>
                  <a:lnTo>
                    <a:pt x="53037" y="514200"/>
                  </a:lnTo>
                  <a:lnTo>
                    <a:pt x="25434" y="495590"/>
                  </a:lnTo>
                  <a:lnTo>
                    <a:pt x="6824" y="467987"/>
                  </a:lnTo>
                  <a:lnTo>
                    <a:pt x="0" y="434185"/>
                  </a:lnTo>
                  <a:lnTo>
                    <a:pt x="0" y="86839"/>
                  </a:lnTo>
                  <a:lnTo>
                    <a:pt x="6824" y="53037"/>
                  </a:lnTo>
                  <a:lnTo>
                    <a:pt x="25434" y="25434"/>
                  </a:lnTo>
                  <a:lnTo>
                    <a:pt x="53037" y="6824"/>
                  </a:lnTo>
                  <a:lnTo>
                    <a:pt x="86839" y="0"/>
                  </a:lnTo>
                  <a:lnTo>
                    <a:pt x="994909" y="0"/>
                  </a:lnTo>
                  <a:lnTo>
                    <a:pt x="1043088" y="14590"/>
                  </a:lnTo>
                  <a:lnTo>
                    <a:pt x="1075138" y="53607"/>
                  </a:lnTo>
                  <a:lnTo>
                    <a:pt x="1081748" y="86839"/>
                  </a:lnTo>
                  <a:lnTo>
                    <a:pt x="1081748" y="434185"/>
                  </a:lnTo>
                  <a:lnTo>
                    <a:pt x="1074924" y="467987"/>
                  </a:lnTo>
                  <a:lnTo>
                    <a:pt x="1056314" y="495590"/>
                  </a:lnTo>
                  <a:lnTo>
                    <a:pt x="1028711" y="514200"/>
                  </a:lnTo>
                  <a:lnTo>
                    <a:pt x="994909" y="521024"/>
                  </a:lnTo>
                  <a:close/>
                </a:path>
              </a:pathLst>
            </a:custGeom>
            <a:solidFill>
              <a:srgbClr val="00B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554079" y="1599548"/>
              <a:ext cx="1082040" cy="521334"/>
            </a:xfrm>
            <a:custGeom>
              <a:avLst/>
              <a:gdLst/>
              <a:ahLst/>
              <a:cxnLst/>
              <a:rect l="l" t="t" r="r" b="b"/>
              <a:pathLst>
                <a:path w="1082039" h="521335">
                  <a:moveTo>
                    <a:pt x="0" y="86839"/>
                  </a:moveTo>
                  <a:lnTo>
                    <a:pt x="6824" y="53037"/>
                  </a:lnTo>
                  <a:lnTo>
                    <a:pt x="25434" y="25434"/>
                  </a:lnTo>
                  <a:lnTo>
                    <a:pt x="53037" y="6824"/>
                  </a:lnTo>
                  <a:lnTo>
                    <a:pt x="86839" y="0"/>
                  </a:lnTo>
                  <a:lnTo>
                    <a:pt x="994909" y="0"/>
                  </a:lnTo>
                  <a:lnTo>
                    <a:pt x="1043088" y="14590"/>
                  </a:lnTo>
                  <a:lnTo>
                    <a:pt x="1075138" y="53607"/>
                  </a:lnTo>
                  <a:lnTo>
                    <a:pt x="1081748" y="86839"/>
                  </a:lnTo>
                  <a:lnTo>
                    <a:pt x="1081748" y="434185"/>
                  </a:lnTo>
                  <a:lnTo>
                    <a:pt x="1074924" y="467987"/>
                  </a:lnTo>
                  <a:lnTo>
                    <a:pt x="1056314" y="495590"/>
                  </a:lnTo>
                  <a:lnTo>
                    <a:pt x="1028711" y="514200"/>
                  </a:lnTo>
                  <a:lnTo>
                    <a:pt x="994909" y="521024"/>
                  </a:lnTo>
                  <a:lnTo>
                    <a:pt x="86839" y="521024"/>
                  </a:lnTo>
                  <a:lnTo>
                    <a:pt x="53037" y="514200"/>
                  </a:lnTo>
                  <a:lnTo>
                    <a:pt x="25434" y="495590"/>
                  </a:lnTo>
                  <a:lnTo>
                    <a:pt x="6824" y="467987"/>
                  </a:lnTo>
                  <a:lnTo>
                    <a:pt x="0" y="434185"/>
                  </a:lnTo>
                  <a:lnTo>
                    <a:pt x="0" y="86839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2315483" y="4220825"/>
            <a:ext cx="5689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Arial"/>
                <a:cs typeface="Arial"/>
              </a:rPr>
              <a:t>Master</a:t>
            </a:r>
            <a:endParaRPr sz="14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682167" y="1735474"/>
            <a:ext cx="82613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Scheduler</a:t>
            </a:r>
            <a:endParaRPr sz="14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554079" y="2315029"/>
            <a:ext cx="1082040" cy="501015"/>
          </a:xfrm>
          <a:prstGeom prst="rect">
            <a:avLst/>
          </a:prstGeom>
          <a:solidFill>
            <a:srgbClr val="92D050"/>
          </a:solidFill>
          <a:ln w="12699">
            <a:solidFill>
              <a:srgbClr val="127BB4"/>
            </a:solidFill>
          </a:ln>
        </p:spPr>
        <p:txBody>
          <a:bodyPr vert="horz" wrap="square" lIns="0" tIns="138430" rIns="0" bIns="0" rtlCol="0">
            <a:spAutoFit/>
          </a:bodyPr>
          <a:lstStyle/>
          <a:p>
            <a:pPr marL="111125">
              <a:lnSpc>
                <a:spcPct val="100000"/>
              </a:lnSpc>
              <a:spcBef>
                <a:spcPts val="1090"/>
              </a:spcBef>
            </a:pP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API</a:t>
            </a:r>
            <a:r>
              <a:rPr sz="14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Server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6796560" y="2919951"/>
            <a:ext cx="227965" cy="230504"/>
            <a:chOff x="6796560" y="2919951"/>
            <a:chExt cx="227965" cy="230504"/>
          </a:xfrm>
        </p:grpSpPr>
        <p:sp>
          <p:nvSpPr>
            <p:cNvPr id="33" name="object 33"/>
            <p:cNvSpPr/>
            <p:nvPr/>
          </p:nvSpPr>
          <p:spPr>
            <a:xfrm>
              <a:off x="6802910" y="2926301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5" h="217805">
                  <a:moveTo>
                    <a:pt x="214960" y="217483"/>
                  </a:moveTo>
                  <a:lnTo>
                    <a:pt x="0" y="217483"/>
                  </a:lnTo>
                  <a:lnTo>
                    <a:pt x="0" y="0"/>
                  </a:lnTo>
                  <a:lnTo>
                    <a:pt x="214960" y="0"/>
                  </a:lnTo>
                  <a:lnTo>
                    <a:pt x="214960" y="217483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802910" y="2926301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5" h="217805">
                  <a:moveTo>
                    <a:pt x="0" y="0"/>
                  </a:moveTo>
                  <a:lnTo>
                    <a:pt x="214960" y="0"/>
                  </a:lnTo>
                  <a:lnTo>
                    <a:pt x="214960" y="217483"/>
                  </a:lnTo>
                  <a:lnTo>
                    <a:pt x="0" y="217483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5" name="object 35"/>
          <p:cNvGrpSpPr/>
          <p:nvPr/>
        </p:nvGrpSpPr>
        <p:grpSpPr>
          <a:xfrm>
            <a:off x="5749502" y="3538770"/>
            <a:ext cx="227965" cy="230504"/>
            <a:chOff x="5749502" y="3538770"/>
            <a:chExt cx="227965" cy="230504"/>
          </a:xfrm>
        </p:grpSpPr>
        <p:sp>
          <p:nvSpPr>
            <p:cNvPr id="36" name="object 36"/>
            <p:cNvSpPr/>
            <p:nvPr/>
          </p:nvSpPr>
          <p:spPr>
            <a:xfrm>
              <a:off x="5755852" y="3545120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4" h="217804">
                  <a:moveTo>
                    <a:pt x="214960" y="217483"/>
                  </a:moveTo>
                  <a:lnTo>
                    <a:pt x="0" y="217483"/>
                  </a:lnTo>
                  <a:lnTo>
                    <a:pt x="0" y="0"/>
                  </a:lnTo>
                  <a:lnTo>
                    <a:pt x="214960" y="0"/>
                  </a:lnTo>
                  <a:lnTo>
                    <a:pt x="214960" y="217483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5755852" y="3545120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4" h="217804">
                  <a:moveTo>
                    <a:pt x="0" y="0"/>
                  </a:moveTo>
                  <a:lnTo>
                    <a:pt x="214960" y="0"/>
                  </a:lnTo>
                  <a:lnTo>
                    <a:pt x="214960" y="217483"/>
                  </a:lnTo>
                  <a:lnTo>
                    <a:pt x="0" y="217483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8230221" y="2901642"/>
            <a:ext cx="796925" cy="8102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59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"/>
                <a:cs typeface="Arial"/>
              </a:rPr>
              <a:t>Pod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05"/>
              </a:spcBef>
            </a:pP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00" spc="-10" dirty="0">
                <a:latin typeface="Arial"/>
                <a:cs typeface="Arial"/>
              </a:rPr>
              <a:t>Container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1098434" y="2120574"/>
            <a:ext cx="3896360" cy="592455"/>
            <a:chOff x="1098434" y="2120574"/>
            <a:chExt cx="3896360" cy="592455"/>
          </a:xfrm>
        </p:grpSpPr>
        <p:sp>
          <p:nvSpPr>
            <p:cNvPr id="40" name="object 40"/>
            <p:cNvSpPr/>
            <p:nvPr/>
          </p:nvSpPr>
          <p:spPr>
            <a:xfrm>
              <a:off x="1098434" y="2537277"/>
              <a:ext cx="1289050" cy="0"/>
            </a:xfrm>
            <a:custGeom>
              <a:avLst/>
              <a:gdLst/>
              <a:ahLst/>
              <a:cxnLst/>
              <a:rect l="l" t="t" r="r" b="b"/>
              <a:pathLst>
                <a:path w="1289050">
                  <a:moveTo>
                    <a:pt x="0" y="0"/>
                  </a:moveTo>
                  <a:lnTo>
                    <a:pt x="1288615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387050" y="252154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387050" y="252154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094954" y="2120574"/>
              <a:ext cx="0" cy="96520"/>
            </a:xfrm>
            <a:custGeom>
              <a:avLst/>
              <a:gdLst/>
              <a:ahLst/>
              <a:cxnLst/>
              <a:rect l="l" t="t" r="r" b="b"/>
              <a:pathLst>
                <a:path h="96519">
                  <a:moveTo>
                    <a:pt x="0" y="0"/>
                  </a:moveTo>
                  <a:lnTo>
                    <a:pt x="0" y="96482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079221" y="221705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15732" y="43225"/>
                  </a:moveTo>
                  <a:lnTo>
                    <a:pt x="0" y="0"/>
                  </a:lnTo>
                  <a:lnTo>
                    <a:pt x="31465" y="0"/>
                  </a:lnTo>
                  <a:lnTo>
                    <a:pt x="15732" y="4322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079221" y="221705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0"/>
                  </a:moveTo>
                  <a:lnTo>
                    <a:pt x="15732" y="43225"/>
                  </a:lnTo>
                  <a:lnTo>
                    <a:pt x="31465" y="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635828" y="2692399"/>
              <a:ext cx="1310640" cy="0"/>
            </a:xfrm>
            <a:custGeom>
              <a:avLst/>
              <a:gdLst/>
              <a:ahLst/>
              <a:cxnLst/>
              <a:rect l="l" t="t" r="r" b="b"/>
              <a:pathLst>
                <a:path w="1310639">
                  <a:moveTo>
                    <a:pt x="0" y="0"/>
                  </a:moveTo>
                  <a:lnTo>
                    <a:pt x="1310535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4946365" y="2676666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4946365" y="2676666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49" name="object 4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5214" y="2407476"/>
            <a:ext cx="412744" cy="507992"/>
          </a:xfrm>
          <a:prstGeom prst="rect">
            <a:avLst/>
          </a:prstGeom>
        </p:spPr>
      </p:pic>
      <p:grpSp>
        <p:nvGrpSpPr>
          <p:cNvPr id="50" name="object 50"/>
          <p:cNvGrpSpPr/>
          <p:nvPr/>
        </p:nvGrpSpPr>
        <p:grpSpPr>
          <a:xfrm>
            <a:off x="6203334" y="2715142"/>
            <a:ext cx="227965" cy="230504"/>
            <a:chOff x="6203334" y="2715142"/>
            <a:chExt cx="227965" cy="230504"/>
          </a:xfrm>
        </p:grpSpPr>
        <p:sp>
          <p:nvSpPr>
            <p:cNvPr id="51" name="object 51"/>
            <p:cNvSpPr/>
            <p:nvPr/>
          </p:nvSpPr>
          <p:spPr>
            <a:xfrm>
              <a:off x="6209684" y="2721492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4" h="217805">
                  <a:moveTo>
                    <a:pt x="214960" y="217483"/>
                  </a:moveTo>
                  <a:lnTo>
                    <a:pt x="0" y="217483"/>
                  </a:lnTo>
                  <a:lnTo>
                    <a:pt x="0" y="0"/>
                  </a:lnTo>
                  <a:lnTo>
                    <a:pt x="214960" y="0"/>
                  </a:lnTo>
                  <a:lnTo>
                    <a:pt x="214960" y="217483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6209684" y="2721492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4" h="217805">
                  <a:moveTo>
                    <a:pt x="0" y="0"/>
                  </a:moveTo>
                  <a:lnTo>
                    <a:pt x="214960" y="0"/>
                  </a:lnTo>
                  <a:lnTo>
                    <a:pt x="214960" y="217483"/>
                  </a:lnTo>
                  <a:lnTo>
                    <a:pt x="0" y="217483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3" name="object 53"/>
          <p:cNvGrpSpPr/>
          <p:nvPr/>
        </p:nvGrpSpPr>
        <p:grpSpPr>
          <a:xfrm>
            <a:off x="5414952" y="1374721"/>
            <a:ext cx="2907030" cy="2112645"/>
            <a:chOff x="5414952" y="1374721"/>
            <a:chExt cx="2907030" cy="2112645"/>
          </a:xfrm>
        </p:grpSpPr>
        <p:sp>
          <p:nvSpPr>
            <p:cNvPr id="54" name="object 54"/>
            <p:cNvSpPr/>
            <p:nvPr/>
          </p:nvSpPr>
          <p:spPr>
            <a:xfrm>
              <a:off x="6109867" y="2659689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5">
                  <a:moveTo>
                    <a:pt x="208822" y="351064"/>
                  </a:move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8" y="65745"/>
                  </a:lnTo>
                  <a:lnTo>
                    <a:pt x="396419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19" y="252726"/>
                  </a:lnTo>
                  <a:lnTo>
                    <a:pt x="371768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6109867" y="2659689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5">
                  <a:moveTo>
                    <a:pt x="0" y="175531"/>
                  </a:move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8" y="65745"/>
                  </a:lnTo>
                  <a:lnTo>
                    <a:pt x="396419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19" y="252726"/>
                  </a:lnTo>
                  <a:lnTo>
                    <a:pt x="371768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4"/>
                  </a:ln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6181086" y="3129329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208822" y="351063"/>
                  </a:move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6181086" y="3129329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0" y="175531"/>
                  </a:move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6280904" y="3191131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4" h="217804">
                  <a:moveTo>
                    <a:pt x="214960" y="217484"/>
                  </a:moveTo>
                  <a:lnTo>
                    <a:pt x="0" y="217484"/>
                  </a:lnTo>
                  <a:lnTo>
                    <a:pt x="0" y="0"/>
                  </a:lnTo>
                  <a:lnTo>
                    <a:pt x="214960" y="0"/>
                  </a:lnTo>
                  <a:lnTo>
                    <a:pt x="214960" y="217484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5421302" y="1381071"/>
              <a:ext cx="2390140" cy="2027555"/>
            </a:xfrm>
            <a:custGeom>
              <a:avLst/>
              <a:gdLst/>
              <a:ahLst/>
              <a:cxnLst/>
              <a:rect l="l" t="t" r="r" b="b"/>
              <a:pathLst>
                <a:path w="2390140" h="2027554">
                  <a:moveTo>
                    <a:pt x="859601" y="1810058"/>
                  </a:moveTo>
                  <a:lnTo>
                    <a:pt x="1074562" y="1810058"/>
                  </a:lnTo>
                  <a:lnTo>
                    <a:pt x="1074562" y="2027543"/>
                  </a:lnTo>
                  <a:lnTo>
                    <a:pt x="859601" y="2027543"/>
                  </a:lnTo>
                  <a:lnTo>
                    <a:pt x="859601" y="1810058"/>
                  </a:lnTo>
                  <a:close/>
                </a:path>
                <a:path w="2390140" h="2027554">
                  <a:moveTo>
                    <a:pt x="0" y="175002"/>
                  </a:moveTo>
                  <a:lnTo>
                    <a:pt x="6251" y="128480"/>
                  </a:lnTo>
                  <a:lnTo>
                    <a:pt x="23893" y="86675"/>
                  </a:lnTo>
                  <a:lnTo>
                    <a:pt x="51257" y="51257"/>
                  </a:lnTo>
                  <a:lnTo>
                    <a:pt x="86675" y="23893"/>
                  </a:lnTo>
                  <a:lnTo>
                    <a:pt x="128480" y="6251"/>
                  </a:lnTo>
                  <a:lnTo>
                    <a:pt x="175003" y="0"/>
                  </a:lnTo>
                  <a:lnTo>
                    <a:pt x="2214614" y="0"/>
                  </a:lnTo>
                  <a:lnTo>
                    <a:pt x="2281584" y="13321"/>
                  </a:lnTo>
                  <a:lnTo>
                    <a:pt x="2338360" y="51257"/>
                  </a:lnTo>
                  <a:lnTo>
                    <a:pt x="2376295" y="108032"/>
                  </a:lnTo>
                  <a:lnTo>
                    <a:pt x="2389616" y="175002"/>
                  </a:lnTo>
                  <a:lnTo>
                    <a:pt x="2389616" y="874993"/>
                  </a:lnTo>
                  <a:lnTo>
                    <a:pt x="2383365" y="921516"/>
                  </a:lnTo>
                  <a:lnTo>
                    <a:pt x="2365724" y="963321"/>
                  </a:lnTo>
                  <a:lnTo>
                    <a:pt x="2338359" y="998739"/>
                  </a:lnTo>
                  <a:lnTo>
                    <a:pt x="2302941" y="1026103"/>
                  </a:lnTo>
                  <a:lnTo>
                    <a:pt x="2261137" y="1043745"/>
                  </a:lnTo>
                  <a:lnTo>
                    <a:pt x="2214614" y="1049996"/>
                  </a:lnTo>
                  <a:lnTo>
                    <a:pt x="175003" y="1049996"/>
                  </a:lnTo>
                  <a:lnTo>
                    <a:pt x="128480" y="1043745"/>
                  </a:lnTo>
                  <a:lnTo>
                    <a:pt x="86675" y="1026103"/>
                  </a:lnTo>
                  <a:lnTo>
                    <a:pt x="51257" y="998739"/>
                  </a:lnTo>
                  <a:lnTo>
                    <a:pt x="23893" y="963321"/>
                  </a:lnTo>
                  <a:lnTo>
                    <a:pt x="6251" y="921516"/>
                  </a:lnTo>
                  <a:lnTo>
                    <a:pt x="0" y="874993"/>
                  </a:lnTo>
                  <a:lnTo>
                    <a:pt x="0" y="175002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7881409" y="1439460"/>
              <a:ext cx="440690" cy="0"/>
            </a:xfrm>
            <a:custGeom>
              <a:avLst/>
              <a:gdLst/>
              <a:ahLst/>
              <a:cxnLst/>
              <a:rect l="l" t="t" r="r" b="b"/>
              <a:pathLst>
                <a:path w="440690">
                  <a:moveTo>
                    <a:pt x="440259" y="0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7838184" y="142372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24" y="31465"/>
                  </a:moveTo>
                  <a:lnTo>
                    <a:pt x="0" y="15732"/>
                  </a:lnTo>
                  <a:lnTo>
                    <a:pt x="43224" y="0"/>
                  </a:lnTo>
                  <a:lnTo>
                    <a:pt x="43224" y="3146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7838184" y="142372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24" y="0"/>
                  </a:moveTo>
                  <a:lnTo>
                    <a:pt x="0" y="15732"/>
                  </a:lnTo>
                  <a:lnTo>
                    <a:pt x="43224" y="31465"/>
                  </a:lnTo>
                  <a:lnTo>
                    <a:pt x="43224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5639478" y="1595985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5">
                  <a:moveTo>
                    <a:pt x="208822" y="351063"/>
                  </a:move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8" y="65745"/>
                  </a:lnTo>
                  <a:lnTo>
                    <a:pt x="396419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19" y="252726"/>
                  </a:lnTo>
                  <a:lnTo>
                    <a:pt x="371768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5639478" y="1595985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5">
                  <a:moveTo>
                    <a:pt x="0" y="175531"/>
                  </a:move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8" y="65745"/>
                  </a:lnTo>
                  <a:lnTo>
                    <a:pt x="396419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19" y="252726"/>
                  </a:lnTo>
                  <a:lnTo>
                    <a:pt x="371768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6318688" y="1898913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5">
                  <a:moveTo>
                    <a:pt x="208822" y="351064"/>
                  </a:move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30" y="135284"/>
                  </a:lnTo>
                  <a:lnTo>
                    <a:pt x="417645" y="175531"/>
                  </a:lnTo>
                  <a:lnTo>
                    <a:pt x="412130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6318688" y="1898913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5">
                  <a:moveTo>
                    <a:pt x="0" y="175531"/>
                  </a:move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30" y="135284"/>
                  </a:lnTo>
                  <a:lnTo>
                    <a:pt x="417645" y="175531"/>
                  </a:lnTo>
                  <a:lnTo>
                    <a:pt x="412130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4"/>
                  </a:ln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6418506" y="1960715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5" h="217805">
                  <a:moveTo>
                    <a:pt x="214960" y="217483"/>
                  </a:moveTo>
                  <a:lnTo>
                    <a:pt x="0" y="217483"/>
                  </a:lnTo>
                  <a:lnTo>
                    <a:pt x="0" y="0"/>
                  </a:lnTo>
                  <a:lnTo>
                    <a:pt x="214960" y="0"/>
                  </a:lnTo>
                  <a:lnTo>
                    <a:pt x="214960" y="217483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6418506" y="1960715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5" h="217805">
                  <a:moveTo>
                    <a:pt x="0" y="0"/>
                  </a:moveTo>
                  <a:lnTo>
                    <a:pt x="214960" y="0"/>
                  </a:lnTo>
                  <a:lnTo>
                    <a:pt x="214960" y="217483"/>
                  </a:lnTo>
                  <a:lnTo>
                    <a:pt x="0" y="217483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69"/>
          <p:cNvSpPr txBox="1"/>
          <p:nvPr/>
        </p:nvSpPr>
        <p:spPr>
          <a:xfrm>
            <a:off x="8394696" y="1291128"/>
            <a:ext cx="75311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Arial"/>
                <a:cs typeface="Arial"/>
              </a:rPr>
              <a:t>Worker-</a:t>
            </a:r>
            <a:r>
              <a:rPr sz="1400" spc="-50" dirty="0">
                <a:latin typeface="Arial"/>
                <a:cs typeface="Arial"/>
              </a:rPr>
              <a:t>2</a:t>
            </a:r>
            <a:endParaRPr sz="1400">
              <a:latin typeface="Arial"/>
              <a:cs typeface="Arial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8145990" y="2625531"/>
            <a:ext cx="75311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Arial"/>
                <a:cs typeface="Arial"/>
              </a:rPr>
              <a:t>Worker-</a:t>
            </a:r>
            <a:r>
              <a:rPr sz="1400" spc="-50" dirty="0">
                <a:latin typeface="Arial"/>
                <a:cs typeface="Arial"/>
              </a:rPr>
              <a:t>1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71" name="object 71"/>
          <p:cNvGrpSpPr/>
          <p:nvPr/>
        </p:nvGrpSpPr>
        <p:grpSpPr>
          <a:xfrm>
            <a:off x="5732946" y="1651437"/>
            <a:ext cx="227965" cy="230504"/>
            <a:chOff x="5732946" y="1651437"/>
            <a:chExt cx="227965" cy="230504"/>
          </a:xfrm>
        </p:grpSpPr>
        <p:sp>
          <p:nvSpPr>
            <p:cNvPr id="72" name="object 72"/>
            <p:cNvSpPr/>
            <p:nvPr/>
          </p:nvSpPr>
          <p:spPr>
            <a:xfrm>
              <a:off x="5739296" y="1657787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4" h="217805">
                  <a:moveTo>
                    <a:pt x="214960" y="217483"/>
                  </a:moveTo>
                  <a:lnTo>
                    <a:pt x="0" y="217483"/>
                  </a:lnTo>
                  <a:lnTo>
                    <a:pt x="0" y="0"/>
                  </a:lnTo>
                  <a:lnTo>
                    <a:pt x="214960" y="0"/>
                  </a:lnTo>
                  <a:lnTo>
                    <a:pt x="214960" y="217483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5739296" y="1657787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4" h="217805">
                  <a:moveTo>
                    <a:pt x="0" y="0"/>
                  </a:moveTo>
                  <a:lnTo>
                    <a:pt x="214960" y="0"/>
                  </a:lnTo>
                  <a:lnTo>
                    <a:pt x="214960" y="217483"/>
                  </a:lnTo>
                  <a:lnTo>
                    <a:pt x="0" y="217483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4" name="object 7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45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707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2 Containers in</a:t>
            </a:r>
            <a:r>
              <a:rPr spc="5" dirty="0"/>
              <a:t> </a:t>
            </a:r>
            <a:r>
              <a:rPr dirty="0"/>
              <a:t>a</a:t>
            </a:r>
            <a:r>
              <a:rPr spc="-5" dirty="0"/>
              <a:t> </a:t>
            </a:r>
            <a:r>
              <a:rPr dirty="0"/>
              <a:t>same</a:t>
            </a:r>
            <a:r>
              <a:rPr spc="5" dirty="0"/>
              <a:t> </a:t>
            </a:r>
            <a:r>
              <a:rPr spc="-25" dirty="0"/>
              <a:t>Pod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51051" y="4327541"/>
            <a:ext cx="5886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Arial"/>
                <a:cs typeface="Arial"/>
              </a:rPr>
              <a:t>Cluster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113997" y="1133020"/>
            <a:ext cx="3128645" cy="3140710"/>
            <a:chOff x="5113997" y="1133020"/>
            <a:chExt cx="3128645" cy="3140710"/>
          </a:xfrm>
        </p:grpSpPr>
        <p:sp>
          <p:nvSpPr>
            <p:cNvPr id="5" name="object 5"/>
            <p:cNvSpPr/>
            <p:nvPr/>
          </p:nvSpPr>
          <p:spPr>
            <a:xfrm>
              <a:off x="5120347" y="1139370"/>
              <a:ext cx="2957195" cy="3128010"/>
            </a:xfrm>
            <a:custGeom>
              <a:avLst/>
              <a:gdLst/>
              <a:ahLst/>
              <a:cxnLst/>
              <a:rect l="l" t="t" r="r" b="b"/>
              <a:pathLst>
                <a:path w="2957195" h="3128010">
                  <a:moveTo>
                    <a:pt x="0" y="492818"/>
                  </a:moveTo>
                  <a:lnTo>
                    <a:pt x="2255" y="445356"/>
                  </a:lnTo>
                  <a:lnTo>
                    <a:pt x="8886" y="399171"/>
                  </a:lnTo>
                  <a:lnTo>
                    <a:pt x="19684" y="354469"/>
                  </a:lnTo>
                  <a:lnTo>
                    <a:pt x="34443" y="311456"/>
                  </a:lnTo>
                  <a:lnTo>
                    <a:pt x="52957" y="270339"/>
                  </a:lnTo>
                  <a:lnTo>
                    <a:pt x="75019" y="231325"/>
                  </a:lnTo>
                  <a:lnTo>
                    <a:pt x="100423" y="194619"/>
                  </a:lnTo>
                  <a:lnTo>
                    <a:pt x="128962" y="160430"/>
                  </a:lnTo>
                  <a:lnTo>
                    <a:pt x="160430" y="128962"/>
                  </a:lnTo>
                  <a:lnTo>
                    <a:pt x="194619" y="100423"/>
                  </a:lnTo>
                  <a:lnTo>
                    <a:pt x="231325" y="75019"/>
                  </a:lnTo>
                  <a:lnTo>
                    <a:pt x="270339" y="52957"/>
                  </a:lnTo>
                  <a:lnTo>
                    <a:pt x="311456" y="34443"/>
                  </a:lnTo>
                  <a:lnTo>
                    <a:pt x="354469" y="19684"/>
                  </a:lnTo>
                  <a:lnTo>
                    <a:pt x="399171" y="8886"/>
                  </a:lnTo>
                  <a:lnTo>
                    <a:pt x="445356" y="2255"/>
                  </a:lnTo>
                  <a:lnTo>
                    <a:pt x="492818" y="0"/>
                  </a:lnTo>
                  <a:lnTo>
                    <a:pt x="2464034" y="0"/>
                  </a:lnTo>
                  <a:lnTo>
                    <a:pt x="2512743" y="2411"/>
                  </a:lnTo>
                  <a:lnTo>
                    <a:pt x="2560627" y="9556"/>
                  </a:lnTo>
                  <a:lnTo>
                    <a:pt x="2607362" y="21302"/>
                  </a:lnTo>
                  <a:lnTo>
                    <a:pt x="2652627" y="37513"/>
                  </a:lnTo>
                  <a:lnTo>
                    <a:pt x="2696097" y="58057"/>
                  </a:lnTo>
                  <a:lnTo>
                    <a:pt x="2737449" y="82799"/>
                  </a:lnTo>
                  <a:lnTo>
                    <a:pt x="2776361" y="111605"/>
                  </a:lnTo>
                  <a:lnTo>
                    <a:pt x="2812509" y="144343"/>
                  </a:lnTo>
                  <a:lnTo>
                    <a:pt x="2845246" y="180490"/>
                  </a:lnTo>
                  <a:lnTo>
                    <a:pt x="2874053" y="219402"/>
                  </a:lnTo>
                  <a:lnTo>
                    <a:pt x="2898795" y="260755"/>
                  </a:lnTo>
                  <a:lnTo>
                    <a:pt x="2919339" y="304225"/>
                  </a:lnTo>
                  <a:lnTo>
                    <a:pt x="2935550" y="349489"/>
                  </a:lnTo>
                  <a:lnTo>
                    <a:pt x="2947296" y="396225"/>
                  </a:lnTo>
                  <a:lnTo>
                    <a:pt x="2954441" y="444109"/>
                  </a:lnTo>
                  <a:lnTo>
                    <a:pt x="2956852" y="492818"/>
                  </a:lnTo>
                  <a:lnTo>
                    <a:pt x="2956852" y="2635010"/>
                  </a:lnTo>
                  <a:lnTo>
                    <a:pt x="2954596" y="2682472"/>
                  </a:lnTo>
                  <a:lnTo>
                    <a:pt x="2947966" y="2728657"/>
                  </a:lnTo>
                  <a:lnTo>
                    <a:pt x="2937168" y="2773359"/>
                  </a:lnTo>
                  <a:lnTo>
                    <a:pt x="2922409" y="2816372"/>
                  </a:lnTo>
                  <a:lnTo>
                    <a:pt x="2903895" y="2857489"/>
                  </a:lnTo>
                  <a:lnTo>
                    <a:pt x="2881833" y="2896503"/>
                  </a:lnTo>
                  <a:lnTo>
                    <a:pt x="2856429" y="2933209"/>
                  </a:lnTo>
                  <a:lnTo>
                    <a:pt x="2827890" y="2967398"/>
                  </a:lnTo>
                  <a:lnTo>
                    <a:pt x="2796422" y="2998866"/>
                  </a:lnTo>
                  <a:lnTo>
                    <a:pt x="2762232" y="3027405"/>
                  </a:lnTo>
                  <a:lnTo>
                    <a:pt x="2725527" y="3052809"/>
                  </a:lnTo>
                  <a:lnTo>
                    <a:pt x="2686513" y="3074871"/>
                  </a:lnTo>
                  <a:lnTo>
                    <a:pt x="2645396" y="3093385"/>
                  </a:lnTo>
                  <a:lnTo>
                    <a:pt x="2602383" y="3108144"/>
                  </a:lnTo>
                  <a:lnTo>
                    <a:pt x="2557681" y="3118942"/>
                  </a:lnTo>
                  <a:lnTo>
                    <a:pt x="2511495" y="3125573"/>
                  </a:lnTo>
                  <a:lnTo>
                    <a:pt x="2464034" y="3127828"/>
                  </a:lnTo>
                  <a:lnTo>
                    <a:pt x="492818" y="3127828"/>
                  </a:lnTo>
                  <a:lnTo>
                    <a:pt x="445356" y="3125573"/>
                  </a:lnTo>
                  <a:lnTo>
                    <a:pt x="399171" y="3118942"/>
                  </a:lnTo>
                  <a:lnTo>
                    <a:pt x="354469" y="3108144"/>
                  </a:lnTo>
                  <a:lnTo>
                    <a:pt x="311456" y="3093385"/>
                  </a:lnTo>
                  <a:lnTo>
                    <a:pt x="270339" y="3074871"/>
                  </a:lnTo>
                  <a:lnTo>
                    <a:pt x="231325" y="3052809"/>
                  </a:lnTo>
                  <a:lnTo>
                    <a:pt x="194619" y="3027405"/>
                  </a:lnTo>
                  <a:lnTo>
                    <a:pt x="160430" y="2998866"/>
                  </a:lnTo>
                  <a:lnTo>
                    <a:pt x="128962" y="2967398"/>
                  </a:lnTo>
                  <a:lnTo>
                    <a:pt x="100423" y="2933209"/>
                  </a:lnTo>
                  <a:lnTo>
                    <a:pt x="75019" y="2896503"/>
                  </a:lnTo>
                  <a:lnTo>
                    <a:pt x="52957" y="2857489"/>
                  </a:lnTo>
                  <a:lnTo>
                    <a:pt x="34443" y="2816372"/>
                  </a:lnTo>
                  <a:lnTo>
                    <a:pt x="19684" y="2773359"/>
                  </a:lnTo>
                  <a:lnTo>
                    <a:pt x="8886" y="2728657"/>
                  </a:lnTo>
                  <a:lnTo>
                    <a:pt x="2255" y="2682472"/>
                  </a:lnTo>
                  <a:lnTo>
                    <a:pt x="0" y="2635010"/>
                  </a:lnTo>
                  <a:lnTo>
                    <a:pt x="0" y="492818"/>
                  </a:lnTo>
                  <a:close/>
                </a:path>
                <a:path w="2957195" h="3128010">
                  <a:moveTo>
                    <a:pt x="315252" y="1663703"/>
                  </a:moveTo>
                  <a:lnTo>
                    <a:pt x="319786" y="1618728"/>
                  </a:lnTo>
                  <a:lnTo>
                    <a:pt x="332790" y="1576838"/>
                  </a:lnTo>
                  <a:lnTo>
                    <a:pt x="353365" y="1538931"/>
                  </a:lnTo>
                  <a:lnTo>
                    <a:pt x="380615" y="1505904"/>
                  </a:lnTo>
                  <a:lnTo>
                    <a:pt x="413642" y="1478654"/>
                  </a:lnTo>
                  <a:lnTo>
                    <a:pt x="451549" y="1458079"/>
                  </a:lnTo>
                  <a:lnTo>
                    <a:pt x="493439" y="1445075"/>
                  </a:lnTo>
                  <a:lnTo>
                    <a:pt x="538414" y="1440541"/>
                  </a:lnTo>
                  <a:lnTo>
                    <a:pt x="2523234" y="1440541"/>
                  </a:lnTo>
                  <a:lnTo>
                    <a:pt x="2566974" y="1444869"/>
                  </a:lnTo>
                  <a:lnTo>
                    <a:pt x="2608634" y="1457529"/>
                  </a:lnTo>
                  <a:lnTo>
                    <a:pt x="2647044" y="1478035"/>
                  </a:lnTo>
                  <a:lnTo>
                    <a:pt x="2681033" y="1505904"/>
                  </a:lnTo>
                  <a:lnTo>
                    <a:pt x="2708902" y="1539893"/>
                  </a:lnTo>
                  <a:lnTo>
                    <a:pt x="2729408" y="1578303"/>
                  </a:lnTo>
                  <a:lnTo>
                    <a:pt x="2742068" y="1619963"/>
                  </a:lnTo>
                  <a:lnTo>
                    <a:pt x="2746395" y="1663703"/>
                  </a:lnTo>
                  <a:lnTo>
                    <a:pt x="2746395" y="2556322"/>
                  </a:lnTo>
                  <a:lnTo>
                    <a:pt x="2741862" y="2601297"/>
                  </a:lnTo>
                  <a:lnTo>
                    <a:pt x="2728858" y="2643187"/>
                  </a:lnTo>
                  <a:lnTo>
                    <a:pt x="2708283" y="2681094"/>
                  </a:lnTo>
                  <a:lnTo>
                    <a:pt x="2681033" y="2714121"/>
                  </a:lnTo>
                  <a:lnTo>
                    <a:pt x="2648006" y="2741371"/>
                  </a:lnTo>
                  <a:lnTo>
                    <a:pt x="2610099" y="2761946"/>
                  </a:lnTo>
                  <a:lnTo>
                    <a:pt x="2568209" y="2774950"/>
                  </a:lnTo>
                  <a:lnTo>
                    <a:pt x="2523234" y="2779483"/>
                  </a:lnTo>
                  <a:lnTo>
                    <a:pt x="538414" y="2779483"/>
                  </a:lnTo>
                  <a:lnTo>
                    <a:pt x="493439" y="2774950"/>
                  </a:lnTo>
                  <a:lnTo>
                    <a:pt x="451549" y="2761946"/>
                  </a:lnTo>
                  <a:lnTo>
                    <a:pt x="413642" y="2741371"/>
                  </a:lnTo>
                  <a:lnTo>
                    <a:pt x="380615" y="2714121"/>
                  </a:lnTo>
                  <a:lnTo>
                    <a:pt x="353365" y="2681094"/>
                  </a:lnTo>
                  <a:lnTo>
                    <a:pt x="332790" y="2643187"/>
                  </a:lnTo>
                  <a:lnTo>
                    <a:pt x="319786" y="2601297"/>
                  </a:lnTo>
                  <a:lnTo>
                    <a:pt x="315252" y="2556322"/>
                  </a:lnTo>
                  <a:lnTo>
                    <a:pt x="315252" y="1663703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641521" y="2971800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208822" y="351063"/>
                  </a:move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641521" y="2971800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0" y="175531"/>
                  </a:move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741655" y="3044145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4" h="217804">
                  <a:moveTo>
                    <a:pt x="214960" y="217483"/>
                  </a:moveTo>
                  <a:lnTo>
                    <a:pt x="0" y="217483"/>
                  </a:lnTo>
                  <a:lnTo>
                    <a:pt x="0" y="0"/>
                  </a:lnTo>
                  <a:lnTo>
                    <a:pt x="214960" y="0"/>
                  </a:lnTo>
                  <a:lnTo>
                    <a:pt x="214960" y="217483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741655" y="3044145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4" h="217804">
                  <a:moveTo>
                    <a:pt x="0" y="0"/>
                  </a:moveTo>
                  <a:lnTo>
                    <a:pt x="214960" y="0"/>
                  </a:lnTo>
                  <a:lnTo>
                    <a:pt x="214960" y="217483"/>
                  </a:lnTo>
                  <a:lnTo>
                    <a:pt x="0" y="217483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763561" y="3418946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208822" y="351063"/>
                  </a:move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6" y="285318"/>
                  </a:lnTo>
                  <a:lnTo>
                    <a:pt x="21225" y="252726"/>
                  </a:lnTo>
                  <a:lnTo>
                    <a:pt x="5515" y="215779"/>
                  </a:lnTo>
                  <a:lnTo>
                    <a:pt x="0" y="175531"/>
                  </a:lnTo>
                  <a:lnTo>
                    <a:pt x="5515" y="135284"/>
                  </a:lnTo>
                  <a:lnTo>
                    <a:pt x="21225" y="98337"/>
                  </a:lnTo>
                  <a:lnTo>
                    <a:pt x="45876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30" y="135284"/>
                  </a:lnTo>
                  <a:lnTo>
                    <a:pt x="417645" y="175531"/>
                  </a:lnTo>
                  <a:lnTo>
                    <a:pt x="412130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763561" y="3418946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0" y="175531"/>
                  </a:moveTo>
                  <a:lnTo>
                    <a:pt x="5515" y="135284"/>
                  </a:lnTo>
                  <a:lnTo>
                    <a:pt x="21225" y="98337"/>
                  </a:lnTo>
                  <a:lnTo>
                    <a:pt x="45876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30" y="135284"/>
                  </a:lnTo>
                  <a:lnTo>
                    <a:pt x="417645" y="175531"/>
                  </a:lnTo>
                  <a:lnTo>
                    <a:pt x="412130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6" y="285318"/>
                  </a:lnTo>
                  <a:lnTo>
                    <a:pt x="21225" y="252726"/>
                  </a:lnTo>
                  <a:lnTo>
                    <a:pt x="5515" y="215779"/>
                  </a:lnTo>
                  <a:lnTo>
                    <a:pt x="0" y="17553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703092" y="2864498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5">
                  <a:moveTo>
                    <a:pt x="208822" y="351063"/>
                  </a:move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703092" y="2864498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5">
                  <a:moveTo>
                    <a:pt x="0" y="175531"/>
                  </a:move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660380" y="3463138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208822" y="351063"/>
                  </a:move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660380" y="3463138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0" y="175531"/>
                  </a:move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859467" y="3492401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5" h="217804">
                  <a:moveTo>
                    <a:pt x="214960" y="217483"/>
                  </a:moveTo>
                  <a:lnTo>
                    <a:pt x="0" y="217483"/>
                  </a:lnTo>
                  <a:lnTo>
                    <a:pt x="0" y="0"/>
                  </a:lnTo>
                  <a:lnTo>
                    <a:pt x="214960" y="0"/>
                  </a:lnTo>
                  <a:lnTo>
                    <a:pt x="214960" y="217483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859467" y="3492401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5" h="217804">
                  <a:moveTo>
                    <a:pt x="0" y="0"/>
                  </a:moveTo>
                  <a:lnTo>
                    <a:pt x="214960" y="0"/>
                  </a:lnTo>
                  <a:lnTo>
                    <a:pt x="214960" y="217483"/>
                  </a:lnTo>
                  <a:lnTo>
                    <a:pt x="0" y="217483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238357" y="3109519"/>
              <a:ext cx="999490" cy="0"/>
            </a:xfrm>
            <a:custGeom>
              <a:avLst/>
              <a:gdLst/>
              <a:ahLst/>
              <a:cxnLst/>
              <a:rect l="l" t="t" r="r" b="b"/>
              <a:pathLst>
                <a:path w="999490">
                  <a:moveTo>
                    <a:pt x="999406" y="0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195132" y="309378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24" y="31465"/>
                  </a:moveTo>
                  <a:lnTo>
                    <a:pt x="0" y="15732"/>
                  </a:lnTo>
                  <a:lnTo>
                    <a:pt x="43224" y="0"/>
                  </a:lnTo>
                  <a:lnTo>
                    <a:pt x="43224" y="3146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195132" y="309378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24" y="0"/>
                  </a:moveTo>
                  <a:lnTo>
                    <a:pt x="0" y="15732"/>
                  </a:lnTo>
                  <a:lnTo>
                    <a:pt x="43224" y="31465"/>
                  </a:lnTo>
                  <a:lnTo>
                    <a:pt x="43224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119843" y="3590881"/>
              <a:ext cx="1047115" cy="3810"/>
            </a:xfrm>
            <a:custGeom>
              <a:avLst/>
              <a:gdLst/>
              <a:ahLst/>
              <a:cxnLst/>
              <a:rect l="l" t="t" r="r" b="b"/>
              <a:pathLst>
                <a:path w="1047115" h="3810">
                  <a:moveTo>
                    <a:pt x="1046793" y="3597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076617" y="357514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170" y="31465"/>
                  </a:moveTo>
                  <a:lnTo>
                    <a:pt x="0" y="15584"/>
                  </a:lnTo>
                  <a:lnTo>
                    <a:pt x="43279" y="0"/>
                  </a:lnTo>
                  <a:lnTo>
                    <a:pt x="43170" y="3146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076617" y="357514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79" y="0"/>
                  </a:moveTo>
                  <a:lnTo>
                    <a:pt x="0" y="15584"/>
                  </a:lnTo>
                  <a:lnTo>
                    <a:pt x="43170" y="31465"/>
                  </a:lnTo>
                  <a:lnTo>
                    <a:pt x="43279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" name="object 24"/>
          <p:cNvGrpSpPr/>
          <p:nvPr/>
        </p:nvGrpSpPr>
        <p:grpSpPr>
          <a:xfrm>
            <a:off x="1303129" y="1216477"/>
            <a:ext cx="2501900" cy="2952115"/>
            <a:chOff x="1303129" y="1216477"/>
            <a:chExt cx="2501900" cy="2952115"/>
          </a:xfrm>
        </p:grpSpPr>
        <p:sp>
          <p:nvSpPr>
            <p:cNvPr id="25" name="object 25"/>
            <p:cNvSpPr/>
            <p:nvPr/>
          </p:nvSpPr>
          <p:spPr>
            <a:xfrm>
              <a:off x="1309479" y="1222827"/>
              <a:ext cx="2489200" cy="2939415"/>
            </a:xfrm>
            <a:custGeom>
              <a:avLst/>
              <a:gdLst/>
              <a:ahLst/>
              <a:cxnLst/>
              <a:rect l="l" t="t" r="r" b="b"/>
              <a:pathLst>
                <a:path w="2489200" h="2939415">
                  <a:moveTo>
                    <a:pt x="2074324" y="2939142"/>
                  </a:moveTo>
                  <a:lnTo>
                    <a:pt x="414874" y="2939142"/>
                  </a:lnTo>
                  <a:lnTo>
                    <a:pt x="366491" y="2936351"/>
                  </a:lnTo>
                  <a:lnTo>
                    <a:pt x="319747" y="2928185"/>
                  </a:lnTo>
                  <a:lnTo>
                    <a:pt x="274954" y="2914956"/>
                  </a:lnTo>
                  <a:lnTo>
                    <a:pt x="232423" y="2896974"/>
                  </a:lnTo>
                  <a:lnTo>
                    <a:pt x="192465" y="2874551"/>
                  </a:lnTo>
                  <a:lnTo>
                    <a:pt x="155391" y="2847999"/>
                  </a:lnTo>
                  <a:lnTo>
                    <a:pt x="121514" y="2817628"/>
                  </a:lnTo>
                  <a:lnTo>
                    <a:pt x="91143" y="2783751"/>
                  </a:lnTo>
                  <a:lnTo>
                    <a:pt x="64591" y="2746677"/>
                  </a:lnTo>
                  <a:lnTo>
                    <a:pt x="42168" y="2706719"/>
                  </a:lnTo>
                  <a:lnTo>
                    <a:pt x="24186" y="2664188"/>
                  </a:lnTo>
                  <a:lnTo>
                    <a:pt x="10957" y="2619394"/>
                  </a:lnTo>
                  <a:lnTo>
                    <a:pt x="2791" y="2572651"/>
                  </a:lnTo>
                  <a:lnTo>
                    <a:pt x="0" y="2524267"/>
                  </a:lnTo>
                  <a:lnTo>
                    <a:pt x="0" y="414874"/>
                  </a:lnTo>
                  <a:lnTo>
                    <a:pt x="2700" y="368062"/>
                  </a:lnTo>
                  <a:lnTo>
                    <a:pt x="10957" y="319747"/>
                  </a:lnTo>
                  <a:lnTo>
                    <a:pt x="24186" y="274954"/>
                  </a:lnTo>
                  <a:lnTo>
                    <a:pt x="42168" y="232423"/>
                  </a:lnTo>
                  <a:lnTo>
                    <a:pt x="64591" y="192465"/>
                  </a:lnTo>
                  <a:lnTo>
                    <a:pt x="91143" y="155391"/>
                  </a:lnTo>
                  <a:lnTo>
                    <a:pt x="121514" y="121514"/>
                  </a:lnTo>
                  <a:lnTo>
                    <a:pt x="155391" y="91143"/>
                  </a:lnTo>
                  <a:lnTo>
                    <a:pt x="192465" y="64591"/>
                  </a:lnTo>
                  <a:lnTo>
                    <a:pt x="232423" y="42168"/>
                  </a:lnTo>
                  <a:lnTo>
                    <a:pt x="274954" y="24186"/>
                  </a:lnTo>
                  <a:lnTo>
                    <a:pt x="319747" y="10957"/>
                  </a:lnTo>
                  <a:lnTo>
                    <a:pt x="366491" y="2791"/>
                  </a:lnTo>
                  <a:lnTo>
                    <a:pt x="414874" y="0"/>
                  </a:lnTo>
                  <a:lnTo>
                    <a:pt x="2074324" y="0"/>
                  </a:lnTo>
                  <a:lnTo>
                    <a:pt x="2121137" y="2648"/>
                  </a:lnTo>
                  <a:lnTo>
                    <a:pt x="2166992" y="10480"/>
                  </a:lnTo>
                  <a:lnTo>
                    <a:pt x="2211483" y="23328"/>
                  </a:lnTo>
                  <a:lnTo>
                    <a:pt x="2254204" y="41023"/>
                  </a:lnTo>
                  <a:lnTo>
                    <a:pt x="2294749" y="63398"/>
                  </a:lnTo>
                  <a:lnTo>
                    <a:pt x="2332711" y="90284"/>
                  </a:lnTo>
                  <a:lnTo>
                    <a:pt x="2367685" y="121514"/>
                  </a:lnTo>
                  <a:lnTo>
                    <a:pt x="2398915" y="156488"/>
                  </a:lnTo>
                  <a:lnTo>
                    <a:pt x="2425801" y="194450"/>
                  </a:lnTo>
                  <a:lnTo>
                    <a:pt x="2448176" y="234995"/>
                  </a:lnTo>
                  <a:lnTo>
                    <a:pt x="2465871" y="277716"/>
                  </a:lnTo>
                  <a:lnTo>
                    <a:pt x="2478719" y="322207"/>
                  </a:lnTo>
                  <a:lnTo>
                    <a:pt x="2486551" y="368062"/>
                  </a:lnTo>
                  <a:lnTo>
                    <a:pt x="2489199" y="414874"/>
                  </a:lnTo>
                  <a:lnTo>
                    <a:pt x="2489199" y="2524267"/>
                  </a:lnTo>
                  <a:lnTo>
                    <a:pt x="2486408" y="2572651"/>
                  </a:lnTo>
                  <a:lnTo>
                    <a:pt x="2478242" y="2619394"/>
                  </a:lnTo>
                  <a:lnTo>
                    <a:pt x="2465013" y="2664188"/>
                  </a:lnTo>
                  <a:lnTo>
                    <a:pt x="2447031" y="2706719"/>
                  </a:lnTo>
                  <a:lnTo>
                    <a:pt x="2424608" y="2746677"/>
                  </a:lnTo>
                  <a:lnTo>
                    <a:pt x="2398056" y="2783751"/>
                  </a:lnTo>
                  <a:lnTo>
                    <a:pt x="2367685" y="2817628"/>
                  </a:lnTo>
                  <a:lnTo>
                    <a:pt x="2333808" y="2847999"/>
                  </a:lnTo>
                  <a:lnTo>
                    <a:pt x="2296734" y="2874551"/>
                  </a:lnTo>
                  <a:lnTo>
                    <a:pt x="2256776" y="2896974"/>
                  </a:lnTo>
                  <a:lnTo>
                    <a:pt x="2214245" y="2914956"/>
                  </a:lnTo>
                  <a:lnTo>
                    <a:pt x="2169451" y="2928185"/>
                  </a:lnTo>
                  <a:lnTo>
                    <a:pt x="2122708" y="2936351"/>
                  </a:lnTo>
                  <a:lnTo>
                    <a:pt x="2074324" y="2939142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309479" y="1222827"/>
              <a:ext cx="2489200" cy="2939415"/>
            </a:xfrm>
            <a:custGeom>
              <a:avLst/>
              <a:gdLst/>
              <a:ahLst/>
              <a:cxnLst/>
              <a:rect l="l" t="t" r="r" b="b"/>
              <a:pathLst>
                <a:path w="2489200" h="2939415">
                  <a:moveTo>
                    <a:pt x="0" y="414874"/>
                  </a:moveTo>
                  <a:lnTo>
                    <a:pt x="2791" y="366491"/>
                  </a:lnTo>
                  <a:lnTo>
                    <a:pt x="10957" y="319747"/>
                  </a:lnTo>
                  <a:lnTo>
                    <a:pt x="24186" y="274954"/>
                  </a:lnTo>
                  <a:lnTo>
                    <a:pt x="42168" y="232423"/>
                  </a:lnTo>
                  <a:lnTo>
                    <a:pt x="64591" y="192465"/>
                  </a:lnTo>
                  <a:lnTo>
                    <a:pt x="91143" y="155391"/>
                  </a:lnTo>
                  <a:lnTo>
                    <a:pt x="121514" y="121514"/>
                  </a:lnTo>
                  <a:lnTo>
                    <a:pt x="155391" y="91143"/>
                  </a:lnTo>
                  <a:lnTo>
                    <a:pt x="192465" y="64591"/>
                  </a:lnTo>
                  <a:lnTo>
                    <a:pt x="232423" y="42168"/>
                  </a:lnTo>
                  <a:lnTo>
                    <a:pt x="274954" y="24186"/>
                  </a:lnTo>
                  <a:lnTo>
                    <a:pt x="319747" y="10957"/>
                  </a:lnTo>
                  <a:lnTo>
                    <a:pt x="366491" y="2791"/>
                  </a:lnTo>
                  <a:lnTo>
                    <a:pt x="414874" y="0"/>
                  </a:lnTo>
                  <a:lnTo>
                    <a:pt x="2074324" y="0"/>
                  </a:lnTo>
                  <a:lnTo>
                    <a:pt x="2121137" y="2648"/>
                  </a:lnTo>
                  <a:lnTo>
                    <a:pt x="2166992" y="10480"/>
                  </a:lnTo>
                  <a:lnTo>
                    <a:pt x="2211483" y="23328"/>
                  </a:lnTo>
                  <a:lnTo>
                    <a:pt x="2254204" y="41023"/>
                  </a:lnTo>
                  <a:lnTo>
                    <a:pt x="2294749" y="63398"/>
                  </a:lnTo>
                  <a:lnTo>
                    <a:pt x="2332711" y="90284"/>
                  </a:lnTo>
                  <a:lnTo>
                    <a:pt x="2367685" y="121514"/>
                  </a:lnTo>
                  <a:lnTo>
                    <a:pt x="2398915" y="156488"/>
                  </a:lnTo>
                  <a:lnTo>
                    <a:pt x="2425801" y="194450"/>
                  </a:lnTo>
                  <a:lnTo>
                    <a:pt x="2448176" y="234995"/>
                  </a:lnTo>
                  <a:lnTo>
                    <a:pt x="2465871" y="277716"/>
                  </a:lnTo>
                  <a:lnTo>
                    <a:pt x="2478719" y="322207"/>
                  </a:lnTo>
                  <a:lnTo>
                    <a:pt x="2486551" y="368062"/>
                  </a:lnTo>
                  <a:lnTo>
                    <a:pt x="2489199" y="414874"/>
                  </a:lnTo>
                  <a:lnTo>
                    <a:pt x="2489199" y="2524267"/>
                  </a:lnTo>
                  <a:lnTo>
                    <a:pt x="2486408" y="2572651"/>
                  </a:lnTo>
                  <a:lnTo>
                    <a:pt x="2478242" y="2619394"/>
                  </a:lnTo>
                  <a:lnTo>
                    <a:pt x="2465013" y="2664188"/>
                  </a:lnTo>
                  <a:lnTo>
                    <a:pt x="2447031" y="2706719"/>
                  </a:lnTo>
                  <a:lnTo>
                    <a:pt x="2424608" y="2746677"/>
                  </a:lnTo>
                  <a:lnTo>
                    <a:pt x="2398056" y="2783751"/>
                  </a:lnTo>
                  <a:lnTo>
                    <a:pt x="2367685" y="2817628"/>
                  </a:lnTo>
                  <a:lnTo>
                    <a:pt x="2333808" y="2847999"/>
                  </a:lnTo>
                  <a:lnTo>
                    <a:pt x="2296734" y="2874551"/>
                  </a:lnTo>
                  <a:lnTo>
                    <a:pt x="2256776" y="2896974"/>
                  </a:lnTo>
                  <a:lnTo>
                    <a:pt x="2214245" y="2914956"/>
                  </a:lnTo>
                  <a:lnTo>
                    <a:pt x="2169451" y="2928185"/>
                  </a:lnTo>
                  <a:lnTo>
                    <a:pt x="2122708" y="2936351"/>
                  </a:lnTo>
                  <a:lnTo>
                    <a:pt x="2074324" y="2939142"/>
                  </a:lnTo>
                  <a:lnTo>
                    <a:pt x="414874" y="2939142"/>
                  </a:lnTo>
                  <a:lnTo>
                    <a:pt x="366491" y="2936351"/>
                  </a:lnTo>
                  <a:lnTo>
                    <a:pt x="319747" y="2928185"/>
                  </a:lnTo>
                  <a:lnTo>
                    <a:pt x="274954" y="2914956"/>
                  </a:lnTo>
                  <a:lnTo>
                    <a:pt x="232423" y="2896974"/>
                  </a:lnTo>
                  <a:lnTo>
                    <a:pt x="192465" y="2874551"/>
                  </a:lnTo>
                  <a:lnTo>
                    <a:pt x="155391" y="2847999"/>
                  </a:lnTo>
                  <a:lnTo>
                    <a:pt x="121514" y="2817628"/>
                  </a:lnTo>
                  <a:lnTo>
                    <a:pt x="91143" y="2783751"/>
                  </a:lnTo>
                  <a:lnTo>
                    <a:pt x="64591" y="2746677"/>
                  </a:lnTo>
                  <a:lnTo>
                    <a:pt x="42168" y="2706719"/>
                  </a:lnTo>
                  <a:lnTo>
                    <a:pt x="24186" y="2664188"/>
                  </a:lnTo>
                  <a:lnTo>
                    <a:pt x="10957" y="2619394"/>
                  </a:lnTo>
                  <a:lnTo>
                    <a:pt x="2791" y="2572651"/>
                  </a:lnTo>
                  <a:lnTo>
                    <a:pt x="0" y="2524267"/>
                  </a:lnTo>
                  <a:lnTo>
                    <a:pt x="0" y="414874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554079" y="1599548"/>
              <a:ext cx="1082040" cy="521334"/>
            </a:xfrm>
            <a:custGeom>
              <a:avLst/>
              <a:gdLst/>
              <a:ahLst/>
              <a:cxnLst/>
              <a:rect l="l" t="t" r="r" b="b"/>
              <a:pathLst>
                <a:path w="1082039" h="521335">
                  <a:moveTo>
                    <a:pt x="994909" y="521024"/>
                  </a:moveTo>
                  <a:lnTo>
                    <a:pt x="86839" y="521024"/>
                  </a:lnTo>
                  <a:lnTo>
                    <a:pt x="53037" y="514200"/>
                  </a:lnTo>
                  <a:lnTo>
                    <a:pt x="25434" y="495590"/>
                  </a:lnTo>
                  <a:lnTo>
                    <a:pt x="6824" y="467987"/>
                  </a:lnTo>
                  <a:lnTo>
                    <a:pt x="0" y="434185"/>
                  </a:lnTo>
                  <a:lnTo>
                    <a:pt x="0" y="86839"/>
                  </a:lnTo>
                  <a:lnTo>
                    <a:pt x="6824" y="53037"/>
                  </a:lnTo>
                  <a:lnTo>
                    <a:pt x="25434" y="25434"/>
                  </a:lnTo>
                  <a:lnTo>
                    <a:pt x="53037" y="6824"/>
                  </a:lnTo>
                  <a:lnTo>
                    <a:pt x="86839" y="0"/>
                  </a:lnTo>
                  <a:lnTo>
                    <a:pt x="994909" y="0"/>
                  </a:lnTo>
                  <a:lnTo>
                    <a:pt x="1043088" y="14590"/>
                  </a:lnTo>
                  <a:lnTo>
                    <a:pt x="1075138" y="53607"/>
                  </a:lnTo>
                  <a:lnTo>
                    <a:pt x="1081748" y="86839"/>
                  </a:lnTo>
                  <a:lnTo>
                    <a:pt x="1081748" y="434185"/>
                  </a:lnTo>
                  <a:lnTo>
                    <a:pt x="1074924" y="467987"/>
                  </a:lnTo>
                  <a:lnTo>
                    <a:pt x="1056314" y="495590"/>
                  </a:lnTo>
                  <a:lnTo>
                    <a:pt x="1028711" y="514200"/>
                  </a:lnTo>
                  <a:lnTo>
                    <a:pt x="994909" y="521024"/>
                  </a:lnTo>
                  <a:close/>
                </a:path>
              </a:pathLst>
            </a:custGeom>
            <a:solidFill>
              <a:srgbClr val="00B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554079" y="1599548"/>
              <a:ext cx="1082040" cy="521334"/>
            </a:xfrm>
            <a:custGeom>
              <a:avLst/>
              <a:gdLst/>
              <a:ahLst/>
              <a:cxnLst/>
              <a:rect l="l" t="t" r="r" b="b"/>
              <a:pathLst>
                <a:path w="1082039" h="521335">
                  <a:moveTo>
                    <a:pt x="0" y="86839"/>
                  </a:moveTo>
                  <a:lnTo>
                    <a:pt x="6824" y="53037"/>
                  </a:lnTo>
                  <a:lnTo>
                    <a:pt x="25434" y="25434"/>
                  </a:lnTo>
                  <a:lnTo>
                    <a:pt x="53037" y="6824"/>
                  </a:lnTo>
                  <a:lnTo>
                    <a:pt x="86839" y="0"/>
                  </a:lnTo>
                  <a:lnTo>
                    <a:pt x="994909" y="0"/>
                  </a:lnTo>
                  <a:lnTo>
                    <a:pt x="1043088" y="14590"/>
                  </a:lnTo>
                  <a:lnTo>
                    <a:pt x="1075138" y="53607"/>
                  </a:lnTo>
                  <a:lnTo>
                    <a:pt x="1081748" y="86839"/>
                  </a:lnTo>
                  <a:lnTo>
                    <a:pt x="1081748" y="434185"/>
                  </a:lnTo>
                  <a:lnTo>
                    <a:pt x="1074924" y="467987"/>
                  </a:lnTo>
                  <a:lnTo>
                    <a:pt x="1056314" y="495590"/>
                  </a:lnTo>
                  <a:lnTo>
                    <a:pt x="1028711" y="514200"/>
                  </a:lnTo>
                  <a:lnTo>
                    <a:pt x="994909" y="521024"/>
                  </a:lnTo>
                  <a:lnTo>
                    <a:pt x="86839" y="521024"/>
                  </a:lnTo>
                  <a:lnTo>
                    <a:pt x="53037" y="514200"/>
                  </a:lnTo>
                  <a:lnTo>
                    <a:pt x="25434" y="495590"/>
                  </a:lnTo>
                  <a:lnTo>
                    <a:pt x="6824" y="467987"/>
                  </a:lnTo>
                  <a:lnTo>
                    <a:pt x="0" y="434185"/>
                  </a:lnTo>
                  <a:lnTo>
                    <a:pt x="0" y="86839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2315483" y="4220825"/>
            <a:ext cx="5689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Arial"/>
                <a:cs typeface="Arial"/>
              </a:rPr>
              <a:t>Master</a:t>
            </a:r>
            <a:endParaRPr sz="14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682167" y="1735474"/>
            <a:ext cx="82613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Scheduler</a:t>
            </a:r>
            <a:endParaRPr sz="14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554079" y="2315029"/>
            <a:ext cx="1082040" cy="501015"/>
          </a:xfrm>
          <a:prstGeom prst="rect">
            <a:avLst/>
          </a:prstGeom>
          <a:solidFill>
            <a:srgbClr val="92D050"/>
          </a:solidFill>
          <a:ln w="12699">
            <a:solidFill>
              <a:srgbClr val="127BB4"/>
            </a:solidFill>
          </a:ln>
        </p:spPr>
        <p:txBody>
          <a:bodyPr vert="horz" wrap="square" lIns="0" tIns="138430" rIns="0" bIns="0" rtlCol="0">
            <a:spAutoFit/>
          </a:bodyPr>
          <a:lstStyle/>
          <a:p>
            <a:pPr marL="111125">
              <a:lnSpc>
                <a:spcPct val="100000"/>
              </a:lnSpc>
              <a:spcBef>
                <a:spcPts val="1090"/>
              </a:spcBef>
            </a:pP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API</a:t>
            </a:r>
            <a:r>
              <a:rPr sz="14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Server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6784471" y="3004404"/>
            <a:ext cx="116839" cy="146050"/>
            <a:chOff x="6784471" y="3004404"/>
            <a:chExt cx="116839" cy="146050"/>
          </a:xfrm>
        </p:grpSpPr>
        <p:sp>
          <p:nvSpPr>
            <p:cNvPr id="33" name="object 33"/>
            <p:cNvSpPr/>
            <p:nvPr/>
          </p:nvSpPr>
          <p:spPr>
            <a:xfrm>
              <a:off x="6790821" y="3010754"/>
              <a:ext cx="104139" cy="133350"/>
            </a:xfrm>
            <a:custGeom>
              <a:avLst/>
              <a:gdLst/>
              <a:ahLst/>
              <a:cxnLst/>
              <a:rect l="l" t="t" r="r" b="b"/>
              <a:pathLst>
                <a:path w="104140" h="133350">
                  <a:moveTo>
                    <a:pt x="103885" y="133030"/>
                  </a:moveTo>
                  <a:lnTo>
                    <a:pt x="0" y="133030"/>
                  </a:lnTo>
                  <a:lnTo>
                    <a:pt x="0" y="0"/>
                  </a:lnTo>
                  <a:lnTo>
                    <a:pt x="103885" y="0"/>
                  </a:lnTo>
                  <a:lnTo>
                    <a:pt x="103885" y="13303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790821" y="3010754"/>
              <a:ext cx="104139" cy="133350"/>
            </a:xfrm>
            <a:custGeom>
              <a:avLst/>
              <a:gdLst/>
              <a:ahLst/>
              <a:cxnLst/>
              <a:rect l="l" t="t" r="r" b="b"/>
              <a:pathLst>
                <a:path w="104140" h="133350">
                  <a:moveTo>
                    <a:pt x="0" y="0"/>
                  </a:moveTo>
                  <a:lnTo>
                    <a:pt x="103885" y="0"/>
                  </a:lnTo>
                  <a:lnTo>
                    <a:pt x="103885" y="133030"/>
                  </a:lnTo>
                  <a:lnTo>
                    <a:pt x="0" y="133030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5" name="object 35"/>
          <p:cNvGrpSpPr/>
          <p:nvPr/>
        </p:nvGrpSpPr>
        <p:grpSpPr>
          <a:xfrm>
            <a:off x="5749502" y="3538770"/>
            <a:ext cx="227965" cy="230504"/>
            <a:chOff x="5749502" y="3538770"/>
            <a:chExt cx="227965" cy="230504"/>
          </a:xfrm>
        </p:grpSpPr>
        <p:sp>
          <p:nvSpPr>
            <p:cNvPr id="36" name="object 36"/>
            <p:cNvSpPr/>
            <p:nvPr/>
          </p:nvSpPr>
          <p:spPr>
            <a:xfrm>
              <a:off x="5755852" y="3545120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4" h="217804">
                  <a:moveTo>
                    <a:pt x="214960" y="217483"/>
                  </a:moveTo>
                  <a:lnTo>
                    <a:pt x="0" y="217483"/>
                  </a:lnTo>
                  <a:lnTo>
                    <a:pt x="0" y="0"/>
                  </a:lnTo>
                  <a:lnTo>
                    <a:pt x="214960" y="0"/>
                  </a:lnTo>
                  <a:lnTo>
                    <a:pt x="214960" y="217483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5755852" y="3545120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4" h="217804">
                  <a:moveTo>
                    <a:pt x="0" y="0"/>
                  </a:moveTo>
                  <a:lnTo>
                    <a:pt x="214960" y="0"/>
                  </a:lnTo>
                  <a:lnTo>
                    <a:pt x="214960" y="217483"/>
                  </a:lnTo>
                  <a:lnTo>
                    <a:pt x="0" y="217483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8230221" y="2901642"/>
            <a:ext cx="796925" cy="8102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59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"/>
                <a:cs typeface="Arial"/>
              </a:rPr>
              <a:t>Pod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05"/>
              </a:spcBef>
            </a:pP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00" spc="-10" dirty="0">
                <a:latin typeface="Arial"/>
                <a:cs typeface="Arial"/>
              </a:rPr>
              <a:t>Container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1098434" y="2120574"/>
            <a:ext cx="3896360" cy="592455"/>
            <a:chOff x="1098434" y="2120574"/>
            <a:chExt cx="3896360" cy="592455"/>
          </a:xfrm>
        </p:grpSpPr>
        <p:sp>
          <p:nvSpPr>
            <p:cNvPr id="40" name="object 40"/>
            <p:cNvSpPr/>
            <p:nvPr/>
          </p:nvSpPr>
          <p:spPr>
            <a:xfrm>
              <a:off x="1098434" y="2537277"/>
              <a:ext cx="1289050" cy="0"/>
            </a:xfrm>
            <a:custGeom>
              <a:avLst/>
              <a:gdLst/>
              <a:ahLst/>
              <a:cxnLst/>
              <a:rect l="l" t="t" r="r" b="b"/>
              <a:pathLst>
                <a:path w="1289050">
                  <a:moveTo>
                    <a:pt x="0" y="0"/>
                  </a:moveTo>
                  <a:lnTo>
                    <a:pt x="1288615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387050" y="252154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387050" y="252154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094954" y="2120574"/>
              <a:ext cx="0" cy="96520"/>
            </a:xfrm>
            <a:custGeom>
              <a:avLst/>
              <a:gdLst/>
              <a:ahLst/>
              <a:cxnLst/>
              <a:rect l="l" t="t" r="r" b="b"/>
              <a:pathLst>
                <a:path h="96519">
                  <a:moveTo>
                    <a:pt x="0" y="0"/>
                  </a:moveTo>
                  <a:lnTo>
                    <a:pt x="0" y="96482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079221" y="221705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15732" y="43225"/>
                  </a:moveTo>
                  <a:lnTo>
                    <a:pt x="0" y="0"/>
                  </a:lnTo>
                  <a:lnTo>
                    <a:pt x="31465" y="0"/>
                  </a:lnTo>
                  <a:lnTo>
                    <a:pt x="15732" y="4322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079221" y="221705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0"/>
                  </a:moveTo>
                  <a:lnTo>
                    <a:pt x="15732" y="43225"/>
                  </a:lnTo>
                  <a:lnTo>
                    <a:pt x="31465" y="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635828" y="2692399"/>
              <a:ext cx="1310640" cy="0"/>
            </a:xfrm>
            <a:custGeom>
              <a:avLst/>
              <a:gdLst/>
              <a:ahLst/>
              <a:cxnLst/>
              <a:rect l="l" t="t" r="r" b="b"/>
              <a:pathLst>
                <a:path w="1310639">
                  <a:moveTo>
                    <a:pt x="0" y="0"/>
                  </a:moveTo>
                  <a:lnTo>
                    <a:pt x="1310535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4946365" y="2676666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4946365" y="2676666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49" name="object 4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5214" y="2407476"/>
            <a:ext cx="412744" cy="507992"/>
          </a:xfrm>
          <a:prstGeom prst="rect">
            <a:avLst/>
          </a:prstGeom>
        </p:spPr>
      </p:pic>
      <p:grpSp>
        <p:nvGrpSpPr>
          <p:cNvPr id="50" name="object 50"/>
          <p:cNvGrpSpPr/>
          <p:nvPr/>
        </p:nvGrpSpPr>
        <p:grpSpPr>
          <a:xfrm>
            <a:off x="6203334" y="2715142"/>
            <a:ext cx="227965" cy="230504"/>
            <a:chOff x="6203334" y="2715142"/>
            <a:chExt cx="227965" cy="230504"/>
          </a:xfrm>
        </p:grpSpPr>
        <p:sp>
          <p:nvSpPr>
            <p:cNvPr id="51" name="object 51"/>
            <p:cNvSpPr/>
            <p:nvPr/>
          </p:nvSpPr>
          <p:spPr>
            <a:xfrm>
              <a:off x="6209684" y="2721492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4" h="217805">
                  <a:moveTo>
                    <a:pt x="214960" y="217483"/>
                  </a:moveTo>
                  <a:lnTo>
                    <a:pt x="0" y="217483"/>
                  </a:lnTo>
                  <a:lnTo>
                    <a:pt x="0" y="0"/>
                  </a:lnTo>
                  <a:lnTo>
                    <a:pt x="214960" y="0"/>
                  </a:lnTo>
                  <a:lnTo>
                    <a:pt x="214960" y="217483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6209684" y="2721492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4" h="217805">
                  <a:moveTo>
                    <a:pt x="0" y="0"/>
                  </a:moveTo>
                  <a:lnTo>
                    <a:pt x="214960" y="0"/>
                  </a:lnTo>
                  <a:lnTo>
                    <a:pt x="214960" y="217483"/>
                  </a:lnTo>
                  <a:lnTo>
                    <a:pt x="0" y="217483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3" name="object 53"/>
          <p:cNvGrpSpPr/>
          <p:nvPr/>
        </p:nvGrpSpPr>
        <p:grpSpPr>
          <a:xfrm>
            <a:off x="5414952" y="1374721"/>
            <a:ext cx="2907030" cy="2112645"/>
            <a:chOff x="5414952" y="1374721"/>
            <a:chExt cx="2907030" cy="2112645"/>
          </a:xfrm>
        </p:grpSpPr>
        <p:sp>
          <p:nvSpPr>
            <p:cNvPr id="54" name="object 54"/>
            <p:cNvSpPr/>
            <p:nvPr/>
          </p:nvSpPr>
          <p:spPr>
            <a:xfrm>
              <a:off x="6109867" y="2659689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5">
                  <a:moveTo>
                    <a:pt x="208822" y="351064"/>
                  </a:move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8" y="65745"/>
                  </a:lnTo>
                  <a:lnTo>
                    <a:pt x="396419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19" y="252726"/>
                  </a:lnTo>
                  <a:lnTo>
                    <a:pt x="371768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6109867" y="2659689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5">
                  <a:moveTo>
                    <a:pt x="0" y="175531"/>
                  </a:move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8" y="65745"/>
                  </a:lnTo>
                  <a:lnTo>
                    <a:pt x="396419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19" y="252726"/>
                  </a:lnTo>
                  <a:lnTo>
                    <a:pt x="371768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4"/>
                  </a:ln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6181086" y="3129329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208822" y="351063"/>
                  </a:move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6181086" y="3129329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4">
                  <a:moveTo>
                    <a:pt x="0" y="175531"/>
                  </a:move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6280904" y="3191131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4" h="217804">
                  <a:moveTo>
                    <a:pt x="214960" y="217484"/>
                  </a:moveTo>
                  <a:lnTo>
                    <a:pt x="0" y="217484"/>
                  </a:lnTo>
                  <a:lnTo>
                    <a:pt x="0" y="0"/>
                  </a:lnTo>
                  <a:lnTo>
                    <a:pt x="214960" y="0"/>
                  </a:lnTo>
                  <a:lnTo>
                    <a:pt x="214960" y="217484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5421302" y="1381071"/>
              <a:ext cx="2390140" cy="2027555"/>
            </a:xfrm>
            <a:custGeom>
              <a:avLst/>
              <a:gdLst/>
              <a:ahLst/>
              <a:cxnLst/>
              <a:rect l="l" t="t" r="r" b="b"/>
              <a:pathLst>
                <a:path w="2390140" h="2027554">
                  <a:moveTo>
                    <a:pt x="859601" y="1810058"/>
                  </a:moveTo>
                  <a:lnTo>
                    <a:pt x="1074562" y="1810058"/>
                  </a:lnTo>
                  <a:lnTo>
                    <a:pt x="1074562" y="2027543"/>
                  </a:lnTo>
                  <a:lnTo>
                    <a:pt x="859601" y="2027543"/>
                  </a:lnTo>
                  <a:lnTo>
                    <a:pt x="859601" y="1810058"/>
                  </a:lnTo>
                  <a:close/>
                </a:path>
                <a:path w="2390140" h="2027554">
                  <a:moveTo>
                    <a:pt x="0" y="175002"/>
                  </a:moveTo>
                  <a:lnTo>
                    <a:pt x="6251" y="128480"/>
                  </a:lnTo>
                  <a:lnTo>
                    <a:pt x="23893" y="86675"/>
                  </a:lnTo>
                  <a:lnTo>
                    <a:pt x="51257" y="51257"/>
                  </a:lnTo>
                  <a:lnTo>
                    <a:pt x="86675" y="23893"/>
                  </a:lnTo>
                  <a:lnTo>
                    <a:pt x="128480" y="6251"/>
                  </a:lnTo>
                  <a:lnTo>
                    <a:pt x="175003" y="0"/>
                  </a:lnTo>
                  <a:lnTo>
                    <a:pt x="2214614" y="0"/>
                  </a:lnTo>
                  <a:lnTo>
                    <a:pt x="2281584" y="13321"/>
                  </a:lnTo>
                  <a:lnTo>
                    <a:pt x="2338360" y="51257"/>
                  </a:lnTo>
                  <a:lnTo>
                    <a:pt x="2376295" y="108032"/>
                  </a:lnTo>
                  <a:lnTo>
                    <a:pt x="2389616" y="175002"/>
                  </a:lnTo>
                  <a:lnTo>
                    <a:pt x="2389616" y="874993"/>
                  </a:lnTo>
                  <a:lnTo>
                    <a:pt x="2383365" y="921516"/>
                  </a:lnTo>
                  <a:lnTo>
                    <a:pt x="2365724" y="963321"/>
                  </a:lnTo>
                  <a:lnTo>
                    <a:pt x="2338359" y="998739"/>
                  </a:lnTo>
                  <a:lnTo>
                    <a:pt x="2302941" y="1026103"/>
                  </a:lnTo>
                  <a:lnTo>
                    <a:pt x="2261137" y="1043745"/>
                  </a:lnTo>
                  <a:lnTo>
                    <a:pt x="2214614" y="1049996"/>
                  </a:lnTo>
                  <a:lnTo>
                    <a:pt x="175003" y="1049996"/>
                  </a:lnTo>
                  <a:lnTo>
                    <a:pt x="128480" y="1043745"/>
                  </a:lnTo>
                  <a:lnTo>
                    <a:pt x="86675" y="1026103"/>
                  </a:lnTo>
                  <a:lnTo>
                    <a:pt x="51257" y="998739"/>
                  </a:lnTo>
                  <a:lnTo>
                    <a:pt x="23893" y="963321"/>
                  </a:lnTo>
                  <a:lnTo>
                    <a:pt x="6251" y="921516"/>
                  </a:lnTo>
                  <a:lnTo>
                    <a:pt x="0" y="874993"/>
                  </a:lnTo>
                  <a:lnTo>
                    <a:pt x="0" y="175002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7881409" y="1439460"/>
              <a:ext cx="440690" cy="0"/>
            </a:xfrm>
            <a:custGeom>
              <a:avLst/>
              <a:gdLst/>
              <a:ahLst/>
              <a:cxnLst/>
              <a:rect l="l" t="t" r="r" b="b"/>
              <a:pathLst>
                <a:path w="440690">
                  <a:moveTo>
                    <a:pt x="440259" y="0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7838184" y="142372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24" y="31465"/>
                  </a:moveTo>
                  <a:lnTo>
                    <a:pt x="0" y="15732"/>
                  </a:lnTo>
                  <a:lnTo>
                    <a:pt x="43224" y="0"/>
                  </a:lnTo>
                  <a:lnTo>
                    <a:pt x="43224" y="3146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7838184" y="142372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24" y="0"/>
                  </a:moveTo>
                  <a:lnTo>
                    <a:pt x="0" y="15732"/>
                  </a:lnTo>
                  <a:lnTo>
                    <a:pt x="43224" y="31465"/>
                  </a:lnTo>
                  <a:lnTo>
                    <a:pt x="43224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5639478" y="1595985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5">
                  <a:moveTo>
                    <a:pt x="208822" y="351063"/>
                  </a:move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8" y="65745"/>
                  </a:lnTo>
                  <a:lnTo>
                    <a:pt x="396419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19" y="252726"/>
                  </a:lnTo>
                  <a:lnTo>
                    <a:pt x="371768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5639478" y="1595985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5">
                  <a:moveTo>
                    <a:pt x="0" y="175531"/>
                  </a:move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8" y="65745"/>
                  </a:lnTo>
                  <a:lnTo>
                    <a:pt x="396419" y="98337"/>
                  </a:lnTo>
                  <a:lnTo>
                    <a:pt x="412129" y="135284"/>
                  </a:lnTo>
                  <a:lnTo>
                    <a:pt x="417644" y="175531"/>
                  </a:lnTo>
                  <a:lnTo>
                    <a:pt x="412129" y="215779"/>
                  </a:lnTo>
                  <a:lnTo>
                    <a:pt x="396419" y="252726"/>
                  </a:lnTo>
                  <a:lnTo>
                    <a:pt x="371768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3"/>
                  </a:ln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6318688" y="1898913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5">
                  <a:moveTo>
                    <a:pt x="208822" y="351064"/>
                  </a:move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30" y="135284"/>
                  </a:lnTo>
                  <a:lnTo>
                    <a:pt x="417645" y="175531"/>
                  </a:lnTo>
                  <a:lnTo>
                    <a:pt x="412130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6318688" y="1898913"/>
              <a:ext cx="417830" cy="351155"/>
            </a:xfrm>
            <a:custGeom>
              <a:avLst/>
              <a:gdLst/>
              <a:ahLst/>
              <a:cxnLst/>
              <a:rect l="l" t="t" r="r" b="b"/>
              <a:pathLst>
                <a:path w="417829" h="351155">
                  <a:moveTo>
                    <a:pt x="0" y="175531"/>
                  </a:moveTo>
                  <a:lnTo>
                    <a:pt x="5515" y="135284"/>
                  </a:lnTo>
                  <a:lnTo>
                    <a:pt x="21224" y="98337"/>
                  </a:lnTo>
                  <a:lnTo>
                    <a:pt x="45875" y="65745"/>
                  </a:lnTo>
                  <a:lnTo>
                    <a:pt x="78214" y="38562"/>
                  </a:lnTo>
                  <a:lnTo>
                    <a:pt x="116987" y="17841"/>
                  </a:lnTo>
                  <a:lnTo>
                    <a:pt x="160941" y="4635"/>
                  </a:lnTo>
                  <a:lnTo>
                    <a:pt x="208822" y="0"/>
                  </a:lnTo>
                  <a:lnTo>
                    <a:pt x="256703" y="4635"/>
                  </a:lnTo>
                  <a:lnTo>
                    <a:pt x="300657" y="17841"/>
                  </a:lnTo>
                  <a:lnTo>
                    <a:pt x="339430" y="38562"/>
                  </a:lnTo>
                  <a:lnTo>
                    <a:pt x="371769" y="65745"/>
                  </a:lnTo>
                  <a:lnTo>
                    <a:pt x="396420" y="98337"/>
                  </a:lnTo>
                  <a:lnTo>
                    <a:pt x="412130" y="135284"/>
                  </a:lnTo>
                  <a:lnTo>
                    <a:pt x="417645" y="175531"/>
                  </a:lnTo>
                  <a:lnTo>
                    <a:pt x="412130" y="215779"/>
                  </a:lnTo>
                  <a:lnTo>
                    <a:pt x="396420" y="252726"/>
                  </a:lnTo>
                  <a:lnTo>
                    <a:pt x="371769" y="285318"/>
                  </a:lnTo>
                  <a:lnTo>
                    <a:pt x="339430" y="312501"/>
                  </a:lnTo>
                  <a:lnTo>
                    <a:pt x="300657" y="333222"/>
                  </a:lnTo>
                  <a:lnTo>
                    <a:pt x="256703" y="346428"/>
                  </a:lnTo>
                  <a:lnTo>
                    <a:pt x="208822" y="351064"/>
                  </a:lnTo>
                  <a:lnTo>
                    <a:pt x="160941" y="346428"/>
                  </a:lnTo>
                  <a:lnTo>
                    <a:pt x="116987" y="333222"/>
                  </a:lnTo>
                  <a:lnTo>
                    <a:pt x="78214" y="312501"/>
                  </a:lnTo>
                  <a:lnTo>
                    <a:pt x="45875" y="285318"/>
                  </a:lnTo>
                  <a:lnTo>
                    <a:pt x="21224" y="252726"/>
                  </a:lnTo>
                  <a:lnTo>
                    <a:pt x="5515" y="215779"/>
                  </a:lnTo>
                  <a:lnTo>
                    <a:pt x="0" y="17553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6418506" y="1960715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5" h="217805">
                  <a:moveTo>
                    <a:pt x="214960" y="217483"/>
                  </a:moveTo>
                  <a:lnTo>
                    <a:pt x="0" y="217483"/>
                  </a:lnTo>
                  <a:lnTo>
                    <a:pt x="0" y="0"/>
                  </a:lnTo>
                  <a:lnTo>
                    <a:pt x="214960" y="0"/>
                  </a:lnTo>
                  <a:lnTo>
                    <a:pt x="214960" y="217483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6418506" y="1960715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5" h="217805">
                  <a:moveTo>
                    <a:pt x="0" y="0"/>
                  </a:moveTo>
                  <a:lnTo>
                    <a:pt x="214960" y="0"/>
                  </a:lnTo>
                  <a:lnTo>
                    <a:pt x="214960" y="217483"/>
                  </a:lnTo>
                  <a:lnTo>
                    <a:pt x="0" y="217483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69"/>
          <p:cNvSpPr txBox="1"/>
          <p:nvPr/>
        </p:nvSpPr>
        <p:spPr>
          <a:xfrm>
            <a:off x="8394696" y="1291128"/>
            <a:ext cx="75311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Arial"/>
                <a:cs typeface="Arial"/>
              </a:rPr>
              <a:t>Worker-</a:t>
            </a:r>
            <a:r>
              <a:rPr sz="1400" spc="-50" dirty="0">
                <a:latin typeface="Arial"/>
                <a:cs typeface="Arial"/>
              </a:rPr>
              <a:t>2</a:t>
            </a:r>
            <a:endParaRPr sz="1400">
              <a:latin typeface="Arial"/>
              <a:cs typeface="Arial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8145990" y="2625531"/>
            <a:ext cx="75311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Arial"/>
                <a:cs typeface="Arial"/>
              </a:rPr>
              <a:t>Worker-</a:t>
            </a:r>
            <a:r>
              <a:rPr sz="1400" spc="-50" dirty="0">
                <a:latin typeface="Arial"/>
                <a:cs typeface="Arial"/>
              </a:rPr>
              <a:t>1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71" name="object 71"/>
          <p:cNvGrpSpPr/>
          <p:nvPr/>
        </p:nvGrpSpPr>
        <p:grpSpPr>
          <a:xfrm>
            <a:off x="5732946" y="1651437"/>
            <a:ext cx="227965" cy="230504"/>
            <a:chOff x="5732946" y="1651437"/>
            <a:chExt cx="227965" cy="230504"/>
          </a:xfrm>
        </p:grpSpPr>
        <p:sp>
          <p:nvSpPr>
            <p:cNvPr id="72" name="object 72"/>
            <p:cNvSpPr/>
            <p:nvPr/>
          </p:nvSpPr>
          <p:spPr>
            <a:xfrm>
              <a:off x="5739296" y="1657787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4" h="217805">
                  <a:moveTo>
                    <a:pt x="214960" y="217483"/>
                  </a:moveTo>
                  <a:lnTo>
                    <a:pt x="0" y="217483"/>
                  </a:lnTo>
                  <a:lnTo>
                    <a:pt x="0" y="0"/>
                  </a:lnTo>
                  <a:lnTo>
                    <a:pt x="214960" y="0"/>
                  </a:lnTo>
                  <a:lnTo>
                    <a:pt x="214960" y="217483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5739296" y="1657787"/>
              <a:ext cx="215265" cy="217804"/>
            </a:xfrm>
            <a:custGeom>
              <a:avLst/>
              <a:gdLst/>
              <a:ahLst/>
              <a:cxnLst/>
              <a:rect l="l" t="t" r="r" b="b"/>
              <a:pathLst>
                <a:path w="215264" h="217805">
                  <a:moveTo>
                    <a:pt x="0" y="0"/>
                  </a:moveTo>
                  <a:lnTo>
                    <a:pt x="214960" y="0"/>
                  </a:lnTo>
                  <a:lnTo>
                    <a:pt x="214960" y="217483"/>
                  </a:lnTo>
                  <a:lnTo>
                    <a:pt x="0" y="217483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4" name="object 74"/>
          <p:cNvGrpSpPr/>
          <p:nvPr/>
        </p:nvGrpSpPr>
        <p:grpSpPr>
          <a:xfrm>
            <a:off x="6922109" y="2941528"/>
            <a:ext cx="100965" cy="131445"/>
            <a:chOff x="6922109" y="2941528"/>
            <a:chExt cx="100965" cy="131445"/>
          </a:xfrm>
        </p:grpSpPr>
        <p:sp>
          <p:nvSpPr>
            <p:cNvPr id="75" name="object 75"/>
            <p:cNvSpPr/>
            <p:nvPr/>
          </p:nvSpPr>
          <p:spPr>
            <a:xfrm>
              <a:off x="6928459" y="2947878"/>
              <a:ext cx="88265" cy="118745"/>
            </a:xfrm>
            <a:custGeom>
              <a:avLst/>
              <a:gdLst/>
              <a:ahLst/>
              <a:cxnLst/>
              <a:rect l="l" t="t" r="r" b="b"/>
              <a:pathLst>
                <a:path w="88265" h="118744">
                  <a:moveTo>
                    <a:pt x="87849" y="118574"/>
                  </a:moveTo>
                  <a:lnTo>
                    <a:pt x="0" y="118574"/>
                  </a:lnTo>
                  <a:lnTo>
                    <a:pt x="0" y="0"/>
                  </a:lnTo>
                  <a:lnTo>
                    <a:pt x="87849" y="0"/>
                  </a:lnTo>
                  <a:lnTo>
                    <a:pt x="87849" y="118574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6928459" y="2947878"/>
              <a:ext cx="88265" cy="118745"/>
            </a:xfrm>
            <a:custGeom>
              <a:avLst/>
              <a:gdLst/>
              <a:ahLst/>
              <a:cxnLst/>
              <a:rect l="l" t="t" r="r" b="b"/>
              <a:pathLst>
                <a:path w="88265" h="118744">
                  <a:moveTo>
                    <a:pt x="0" y="0"/>
                  </a:moveTo>
                  <a:lnTo>
                    <a:pt x="87849" y="0"/>
                  </a:lnTo>
                  <a:lnTo>
                    <a:pt x="87849" y="118574"/>
                  </a:lnTo>
                  <a:lnTo>
                    <a:pt x="0" y="118574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7" name="object 7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46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01625" y="249500"/>
            <a:ext cx="2606675" cy="4648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Pod</a:t>
            </a:r>
            <a:r>
              <a:rPr spc="-15" dirty="0"/>
              <a:t> </a:t>
            </a:r>
            <a:r>
              <a:rPr spc="-10" dirty="0"/>
              <a:t>Networking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034382" y="1216477"/>
            <a:ext cx="2753360" cy="2270760"/>
            <a:chOff x="1034382" y="1216477"/>
            <a:chExt cx="2753360" cy="2270760"/>
          </a:xfrm>
        </p:grpSpPr>
        <p:sp>
          <p:nvSpPr>
            <p:cNvPr id="4" name="object 4"/>
            <p:cNvSpPr/>
            <p:nvPr/>
          </p:nvSpPr>
          <p:spPr>
            <a:xfrm>
              <a:off x="1040732" y="1222827"/>
              <a:ext cx="2740660" cy="2258060"/>
            </a:xfrm>
            <a:custGeom>
              <a:avLst/>
              <a:gdLst/>
              <a:ahLst/>
              <a:cxnLst/>
              <a:rect l="l" t="t" r="r" b="b"/>
              <a:pathLst>
                <a:path w="2740660" h="2258060">
                  <a:moveTo>
                    <a:pt x="2364115" y="2257564"/>
                  </a:moveTo>
                  <a:lnTo>
                    <a:pt x="376268" y="2257564"/>
                  </a:lnTo>
                  <a:lnTo>
                    <a:pt x="329070" y="2254633"/>
                  </a:lnTo>
                  <a:lnTo>
                    <a:pt x="283621" y="2246073"/>
                  </a:lnTo>
                  <a:lnTo>
                    <a:pt x="240274" y="2232237"/>
                  </a:lnTo>
                  <a:lnTo>
                    <a:pt x="199382" y="2213479"/>
                  </a:lnTo>
                  <a:lnTo>
                    <a:pt x="161298" y="2190150"/>
                  </a:lnTo>
                  <a:lnTo>
                    <a:pt x="126373" y="2162603"/>
                  </a:lnTo>
                  <a:lnTo>
                    <a:pt x="94961" y="2131191"/>
                  </a:lnTo>
                  <a:lnTo>
                    <a:pt x="67414" y="2096266"/>
                  </a:lnTo>
                  <a:lnTo>
                    <a:pt x="44085" y="2058182"/>
                  </a:lnTo>
                  <a:lnTo>
                    <a:pt x="25327" y="2017290"/>
                  </a:lnTo>
                  <a:lnTo>
                    <a:pt x="11491" y="1973943"/>
                  </a:lnTo>
                  <a:lnTo>
                    <a:pt x="2931" y="1928495"/>
                  </a:lnTo>
                  <a:lnTo>
                    <a:pt x="0" y="1881296"/>
                  </a:lnTo>
                  <a:lnTo>
                    <a:pt x="0" y="376268"/>
                  </a:lnTo>
                  <a:lnTo>
                    <a:pt x="2931" y="329070"/>
                  </a:lnTo>
                  <a:lnTo>
                    <a:pt x="11491" y="283621"/>
                  </a:lnTo>
                  <a:lnTo>
                    <a:pt x="25327" y="240274"/>
                  </a:lnTo>
                  <a:lnTo>
                    <a:pt x="44085" y="199382"/>
                  </a:lnTo>
                  <a:lnTo>
                    <a:pt x="67414" y="161298"/>
                  </a:lnTo>
                  <a:lnTo>
                    <a:pt x="94961" y="126373"/>
                  </a:lnTo>
                  <a:lnTo>
                    <a:pt x="126373" y="94961"/>
                  </a:lnTo>
                  <a:lnTo>
                    <a:pt x="161298" y="67414"/>
                  </a:lnTo>
                  <a:lnTo>
                    <a:pt x="199382" y="44085"/>
                  </a:lnTo>
                  <a:lnTo>
                    <a:pt x="240274" y="25327"/>
                  </a:lnTo>
                  <a:lnTo>
                    <a:pt x="283621" y="11491"/>
                  </a:lnTo>
                  <a:lnTo>
                    <a:pt x="329070" y="2931"/>
                  </a:lnTo>
                  <a:lnTo>
                    <a:pt x="376268" y="0"/>
                  </a:lnTo>
                  <a:lnTo>
                    <a:pt x="2364115" y="0"/>
                  </a:lnTo>
                  <a:lnTo>
                    <a:pt x="2413573" y="3263"/>
                  </a:lnTo>
                  <a:lnTo>
                    <a:pt x="2461766" y="12891"/>
                  </a:lnTo>
                  <a:lnTo>
                    <a:pt x="2508107" y="28641"/>
                  </a:lnTo>
                  <a:lnTo>
                    <a:pt x="2552012" y="50272"/>
                  </a:lnTo>
                  <a:lnTo>
                    <a:pt x="2592897" y="77541"/>
                  </a:lnTo>
                  <a:lnTo>
                    <a:pt x="2630177" y="110206"/>
                  </a:lnTo>
                  <a:lnTo>
                    <a:pt x="2662842" y="147486"/>
                  </a:lnTo>
                  <a:lnTo>
                    <a:pt x="2690111" y="188371"/>
                  </a:lnTo>
                  <a:lnTo>
                    <a:pt x="2711742" y="232276"/>
                  </a:lnTo>
                  <a:lnTo>
                    <a:pt x="2727492" y="278618"/>
                  </a:lnTo>
                  <a:lnTo>
                    <a:pt x="2737120" y="326810"/>
                  </a:lnTo>
                  <a:lnTo>
                    <a:pt x="2740383" y="376268"/>
                  </a:lnTo>
                  <a:lnTo>
                    <a:pt x="2740383" y="1881296"/>
                  </a:lnTo>
                  <a:lnTo>
                    <a:pt x="2737452" y="1928495"/>
                  </a:lnTo>
                  <a:lnTo>
                    <a:pt x="2728892" y="1973943"/>
                  </a:lnTo>
                  <a:lnTo>
                    <a:pt x="2715056" y="2017290"/>
                  </a:lnTo>
                  <a:lnTo>
                    <a:pt x="2696298" y="2058182"/>
                  </a:lnTo>
                  <a:lnTo>
                    <a:pt x="2672969" y="2096266"/>
                  </a:lnTo>
                  <a:lnTo>
                    <a:pt x="2645422" y="2131191"/>
                  </a:lnTo>
                  <a:lnTo>
                    <a:pt x="2614010" y="2162603"/>
                  </a:lnTo>
                  <a:lnTo>
                    <a:pt x="2579085" y="2190150"/>
                  </a:lnTo>
                  <a:lnTo>
                    <a:pt x="2541001" y="2213479"/>
                  </a:lnTo>
                  <a:lnTo>
                    <a:pt x="2500109" y="2232237"/>
                  </a:lnTo>
                  <a:lnTo>
                    <a:pt x="2456762" y="2246073"/>
                  </a:lnTo>
                  <a:lnTo>
                    <a:pt x="2411313" y="2254633"/>
                  </a:lnTo>
                  <a:lnTo>
                    <a:pt x="2364115" y="2257564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40732" y="1222827"/>
              <a:ext cx="2740660" cy="2258060"/>
            </a:xfrm>
            <a:custGeom>
              <a:avLst/>
              <a:gdLst/>
              <a:ahLst/>
              <a:cxnLst/>
              <a:rect l="l" t="t" r="r" b="b"/>
              <a:pathLst>
                <a:path w="2740660" h="2258060">
                  <a:moveTo>
                    <a:pt x="0" y="376268"/>
                  </a:moveTo>
                  <a:lnTo>
                    <a:pt x="2931" y="329070"/>
                  </a:lnTo>
                  <a:lnTo>
                    <a:pt x="11491" y="283621"/>
                  </a:lnTo>
                  <a:lnTo>
                    <a:pt x="25327" y="240274"/>
                  </a:lnTo>
                  <a:lnTo>
                    <a:pt x="44085" y="199382"/>
                  </a:lnTo>
                  <a:lnTo>
                    <a:pt x="67414" y="161298"/>
                  </a:lnTo>
                  <a:lnTo>
                    <a:pt x="94961" y="126373"/>
                  </a:lnTo>
                  <a:lnTo>
                    <a:pt x="126373" y="94961"/>
                  </a:lnTo>
                  <a:lnTo>
                    <a:pt x="161298" y="67414"/>
                  </a:lnTo>
                  <a:lnTo>
                    <a:pt x="199382" y="44085"/>
                  </a:lnTo>
                  <a:lnTo>
                    <a:pt x="240274" y="25327"/>
                  </a:lnTo>
                  <a:lnTo>
                    <a:pt x="283621" y="11491"/>
                  </a:lnTo>
                  <a:lnTo>
                    <a:pt x="329070" y="2931"/>
                  </a:lnTo>
                  <a:lnTo>
                    <a:pt x="376268" y="0"/>
                  </a:lnTo>
                  <a:lnTo>
                    <a:pt x="2364115" y="0"/>
                  </a:lnTo>
                  <a:lnTo>
                    <a:pt x="2413573" y="3263"/>
                  </a:lnTo>
                  <a:lnTo>
                    <a:pt x="2461766" y="12891"/>
                  </a:lnTo>
                  <a:lnTo>
                    <a:pt x="2508107" y="28641"/>
                  </a:lnTo>
                  <a:lnTo>
                    <a:pt x="2552012" y="50272"/>
                  </a:lnTo>
                  <a:lnTo>
                    <a:pt x="2592897" y="77541"/>
                  </a:lnTo>
                  <a:lnTo>
                    <a:pt x="2630177" y="110206"/>
                  </a:lnTo>
                  <a:lnTo>
                    <a:pt x="2662842" y="147486"/>
                  </a:lnTo>
                  <a:lnTo>
                    <a:pt x="2690111" y="188371"/>
                  </a:lnTo>
                  <a:lnTo>
                    <a:pt x="2711742" y="232276"/>
                  </a:lnTo>
                  <a:lnTo>
                    <a:pt x="2727492" y="278618"/>
                  </a:lnTo>
                  <a:lnTo>
                    <a:pt x="2737120" y="326810"/>
                  </a:lnTo>
                  <a:lnTo>
                    <a:pt x="2740383" y="376268"/>
                  </a:lnTo>
                  <a:lnTo>
                    <a:pt x="2740383" y="1881296"/>
                  </a:lnTo>
                  <a:lnTo>
                    <a:pt x="2737452" y="1928495"/>
                  </a:lnTo>
                  <a:lnTo>
                    <a:pt x="2728892" y="1973943"/>
                  </a:lnTo>
                  <a:lnTo>
                    <a:pt x="2715056" y="2017290"/>
                  </a:lnTo>
                  <a:lnTo>
                    <a:pt x="2696298" y="2058182"/>
                  </a:lnTo>
                  <a:lnTo>
                    <a:pt x="2672969" y="2096266"/>
                  </a:lnTo>
                  <a:lnTo>
                    <a:pt x="2645422" y="2131191"/>
                  </a:lnTo>
                  <a:lnTo>
                    <a:pt x="2614010" y="2162603"/>
                  </a:lnTo>
                  <a:lnTo>
                    <a:pt x="2579085" y="2190150"/>
                  </a:lnTo>
                  <a:lnTo>
                    <a:pt x="2541001" y="2213479"/>
                  </a:lnTo>
                  <a:lnTo>
                    <a:pt x="2500109" y="2232237"/>
                  </a:lnTo>
                  <a:lnTo>
                    <a:pt x="2456762" y="2246073"/>
                  </a:lnTo>
                  <a:lnTo>
                    <a:pt x="2411313" y="2254633"/>
                  </a:lnTo>
                  <a:lnTo>
                    <a:pt x="2364115" y="2257564"/>
                  </a:lnTo>
                  <a:lnTo>
                    <a:pt x="376268" y="2257564"/>
                  </a:lnTo>
                  <a:lnTo>
                    <a:pt x="329070" y="2254633"/>
                  </a:lnTo>
                  <a:lnTo>
                    <a:pt x="283621" y="2246073"/>
                  </a:lnTo>
                  <a:lnTo>
                    <a:pt x="240274" y="2232237"/>
                  </a:lnTo>
                  <a:lnTo>
                    <a:pt x="199382" y="2213479"/>
                  </a:lnTo>
                  <a:lnTo>
                    <a:pt x="161298" y="2190150"/>
                  </a:lnTo>
                  <a:lnTo>
                    <a:pt x="126373" y="2162603"/>
                  </a:lnTo>
                  <a:lnTo>
                    <a:pt x="94961" y="2131191"/>
                  </a:lnTo>
                  <a:lnTo>
                    <a:pt x="67414" y="2096266"/>
                  </a:lnTo>
                  <a:lnTo>
                    <a:pt x="44085" y="2058182"/>
                  </a:lnTo>
                  <a:lnTo>
                    <a:pt x="25327" y="2017290"/>
                  </a:lnTo>
                  <a:lnTo>
                    <a:pt x="11491" y="1973943"/>
                  </a:lnTo>
                  <a:lnTo>
                    <a:pt x="2931" y="1928495"/>
                  </a:lnTo>
                  <a:lnTo>
                    <a:pt x="0" y="1881296"/>
                  </a:lnTo>
                  <a:lnTo>
                    <a:pt x="0" y="376268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99312" y="1855604"/>
              <a:ext cx="1062355" cy="516255"/>
            </a:xfrm>
            <a:custGeom>
              <a:avLst/>
              <a:gdLst/>
              <a:ahLst/>
              <a:cxnLst/>
              <a:rect l="l" t="t" r="r" b="b"/>
              <a:pathLst>
                <a:path w="1062355" h="516255">
                  <a:moveTo>
                    <a:pt x="976112" y="515757"/>
                  </a:moveTo>
                  <a:lnTo>
                    <a:pt x="85961" y="515757"/>
                  </a:lnTo>
                  <a:lnTo>
                    <a:pt x="52501" y="509001"/>
                  </a:lnTo>
                  <a:lnTo>
                    <a:pt x="25177" y="490579"/>
                  </a:lnTo>
                  <a:lnTo>
                    <a:pt x="6755" y="463255"/>
                  </a:lnTo>
                  <a:lnTo>
                    <a:pt x="0" y="429795"/>
                  </a:lnTo>
                  <a:lnTo>
                    <a:pt x="0" y="85961"/>
                  </a:lnTo>
                  <a:lnTo>
                    <a:pt x="6641" y="53065"/>
                  </a:lnTo>
                  <a:lnTo>
                    <a:pt x="6755" y="52501"/>
                  </a:lnTo>
                  <a:lnTo>
                    <a:pt x="25177" y="25177"/>
                  </a:lnTo>
                  <a:lnTo>
                    <a:pt x="52501" y="6755"/>
                  </a:lnTo>
                  <a:lnTo>
                    <a:pt x="85961" y="0"/>
                  </a:lnTo>
                  <a:lnTo>
                    <a:pt x="976112" y="0"/>
                  </a:lnTo>
                  <a:lnTo>
                    <a:pt x="1023804" y="14442"/>
                  </a:lnTo>
                  <a:lnTo>
                    <a:pt x="1055530" y="53065"/>
                  </a:lnTo>
                  <a:lnTo>
                    <a:pt x="1062074" y="85961"/>
                  </a:lnTo>
                  <a:lnTo>
                    <a:pt x="1062074" y="429795"/>
                  </a:lnTo>
                  <a:lnTo>
                    <a:pt x="1055318" y="463255"/>
                  </a:lnTo>
                  <a:lnTo>
                    <a:pt x="1036896" y="490579"/>
                  </a:lnTo>
                  <a:lnTo>
                    <a:pt x="1009572" y="509001"/>
                  </a:lnTo>
                  <a:lnTo>
                    <a:pt x="976112" y="515757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99312" y="1855604"/>
              <a:ext cx="1062355" cy="516255"/>
            </a:xfrm>
            <a:custGeom>
              <a:avLst/>
              <a:gdLst/>
              <a:ahLst/>
              <a:cxnLst/>
              <a:rect l="l" t="t" r="r" b="b"/>
              <a:pathLst>
                <a:path w="1062355" h="516255">
                  <a:moveTo>
                    <a:pt x="0" y="85961"/>
                  </a:moveTo>
                  <a:lnTo>
                    <a:pt x="6755" y="52501"/>
                  </a:lnTo>
                  <a:lnTo>
                    <a:pt x="25177" y="25177"/>
                  </a:lnTo>
                  <a:lnTo>
                    <a:pt x="52501" y="6755"/>
                  </a:lnTo>
                  <a:lnTo>
                    <a:pt x="85961" y="0"/>
                  </a:lnTo>
                  <a:lnTo>
                    <a:pt x="976112" y="0"/>
                  </a:lnTo>
                  <a:lnTo>
                    <a:pt x="1023804" y="14442"/>
                  </a:lnTo>
                  <a:lnTo>
                    <a:pt x="1055530" y="53065"/>
                  </a:lnTo>
                  <a:lnTo>
                    <a:pt x="1062074" y="85961"/>
                  </a:lnTo>
                  <a:lnTo>
                    <a:pt x="1062074" y="429795"/>
                  </a:lnTo>
                  <a:lnTo>
                    <a:pt x="1055318" y="463255"/>
                  </a:lnTo>
                  <a:lnTo>
                    <a:pt x="1036896" y="490579"/>
                  </a:lnTo>
                  <a:lnTo>
                    <a:pt x="1009572" y="509001"/>
                  </a:lnTo>
                  <a:lnTo>
                    <a:pt x="976112" y="515757"/>
                  </a:lnTo>
                  <a:lnTo>
                    <a:pt x="85961" y="515757"/>
                  </a:lnTo>
                  <a:lnTo>
                    <a:pt x="52501" y="509001"/>
                  </a:lnTo>
                  <a:lnTo>
                    <a:pt x="25177" y="490579"/>
                  </a:lnTo>
                  <a:lnTo>
                    <a:pt x="6755" y="463255"/>
                  </a:lnTo>
                  <a:lnTo>
                    <a:pt x="0" y="429795"/>
                  </a:lnTo>
                  <a:lnTo>
                    <a:pt x="0" y="8596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196399" y="905783"/>
            <a:ext cx="49022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Pod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50" dirty="0">
                <a:latin typeface="Arial"/>
                <a:cs typeface="Arial"/>
              </a:rPr>
              <a:t>1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28615" y="1933524"/>
            <a:ext cx="603885" cy="34734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indent="144145">
              <a:lnSpc>
                <a:spcPct val="101200"/>
              </a:lnSpc>
              <a:spcBef>
                <a:spcPts val="85"/>
              </a:spcBef>
            </a:pPr>
            <a:r>
              <a:rPr sz="1050" spc="-20" dirty="0">
                <a:latin typeface="Arial"/>
                <a:cs typeface="Arial"/>
              </a:rPr>
              <a:t>Main </a:t>
            </a:r>
            <a:r>
              <a:rPr sz="1050" spc="-10" dirty="0">
                <a:latin typeface="Arial"/>
                <a:cs typeface="Arial"/>
              </a:rPr>
              <a:t>Controller</a:t>
            </a:r>
            <a:endParaRPr sz="10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24527" y="2324670"/>
            <a:ext cx="599440" cy="213360"/>
          </a:xfrm>
          <a:prstGeom prst="rect">
            <a:avLst/>
          </a:prstGeom>
          <a:solidFill>
            <a:srgbClr val="B49FFF"/>
          </a:solidFill>
          <a:ln w="12699">
            <a:solidFill>
              <a:srgbClr val="127BB4"/>
            </a:solidFill>
          </a:ln>
        </p:spPr>
        <p:txBody>
          <a:bodyPr vert="horz" wrap="square" lIns="0" tIns="9525" rIns="0" bIns="0" rtlCol="0">
            <a:spAutoFit/>
          </a:bodyPr>
          <a:lstStyle/>
          <a:p>
            <a:pPr marL="108585">
              <a:lnSpc>
                <a:spcPct val="100000"/>
              </a:lnSpc>
              <a:spcBef>
                <a:spcPts val="75"/>
              </a:spcBef>
            </a:pP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:8080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905891" y="3308115"/>
            <a:ext cx="1010285" cy="323215"/>
            <a:chOff x="1905891" y="3308115"/>
            <a:chExt cx="1010285" cy="323215"/>
          </a:xfrm>
        </p:grpSpPr>
        <p:sp>
          <p:nvSpPr>
            <p:cNvPr id="12" name="object 12"/>
            <p:cNvSpPr/>
            <p:nvPr/>
          </p:nvSpPr>
          <p:spPr>
            <a:xfrm>
              <a:off x="1912241" y="3314465"/>
              <a:ext cx="997585" cy="310515"/>
            </a:xfrm>
            <a:custGeom>
              <a:avLst/>
              <a:gdLst/>
              <a:ahLst/>
              <a:cxnLst/>
              <a:rect l="l" t="t" r="r" b="b"/>
              <a:pathLst>
                <a:path w="997585" h="310514">
                  <a:moveTo>
                    <a:pt x="945647" y="310284"/>
                  </a:moveTo>
                  <a:lnTo>
                    <a:pt x="51715" y="310284"/>
                  </a:lnTo>
                  <a:lnTo>
                    <a:pt x="31585" y="306220"/>
                  </a:lnTo>
                  <a:lnTo>
                    <a:pt x="15147" y="295137"/>
                  </a:lnTo>
                  <a:lnTo>
                    <a:pt x="4064" y="278699"/>
                  </a:lnTo>
                  <a:lnTo>
                    <a:pt x="0" y="258569"/>
                  </a:lnTo>
                  <a:lnTo>
                    <a:pt x="0" y="51714"/>
                  </a:lnTo>
                  <a:lnTo>
                    <a:pt x="4064" y="31585"/>
                  </a:lnTo>
                  <a:lnTo>
                    <a:pt x="15147" y="15146"/>
                  </a:lnTo>
                  <a:lnTo>
                    <a:pt x="31585" y="4063"/>
                  </a:lnTo>
                  <a:lnTo>
                    <a:pt x="51715" y="0"/>
                  </a:lnTo>
                  <a:lnTo>
                    <a:pt x="945647" y="0"/>
                  </a:lnTo>
                  <a:lnTo>
                    <a:pt x="982215" y="15146"/>
                  </a:lnTo>
                  <a:lnTo>
                    <a:pt x="997362" y="51714"/>
                  </a:lnTo>
                  <a:lnTo>
                    <a:pt x="997362" y="258569"/>
                  </a:lnTo>
                  <a:lnTo>
                    <a:pt x="993298" y="278699"/>
                  </a:lnTo>
                  <a:lnTo>
                    <a:pt x="982215" y="295137"/>
                  </a:lnTo>
                  <a:lnTo>
                    <a:pt x="965777" y="306220"/>
                  </a:lnTo>
                  <a:lnTo>
                    <a:pt x="945647" y="310284"/>
                  </a:lnTo>
                  <a:close/>
                </a:path>
              </a:pathLst>
            </a:custGeom>
            <a:solidFill>
              <a:srgbClr val="73CC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912241" y="3314465"/>
              <a:ext cx="997585" cy="310515"/>
            </a:xfrm>
            <a:custGeom>
              <a:avLst/>
              <a:gdLst/>
              <a:ahLst/>
              <a:cxnLst/>
              <a:rect l="l" t="t" r="r" b="b"/>
              <a:pathLst>
                <a:path w="997585" h="310514">
                  <a:moveTo>
                    <a:pt x="0" y="51714"/>
                  </a:moveTo>
                  <a:lnTo>
                    <a:pt x="4064" y="31585"/>
                  </a:lnTo>
                  <a:lnTo>
                    <a:pt x="15147" y="15146"/>
                  </a:lnTo>
                  <a:lnTo>
                    <a:pt x="31585" y="4063"/>
                  </a:lnTo>
                  <a:lnTo>
                    <a:pt x="51715" y="0"/>
                  </a:lnTo>
                  <a:lnTo>
                    <a:pt x="945647" y="0"/>
                  </a:lnTo>
                  <a:lnTo>
                    <a:pt x="982215" y="15146"/>
                  </a:lnTo>
                  <a:lnTo>
                    <a:pt x="997362" y="51714"/>
                  </a:lnTo>
                  <a:lnTo>
                    <a:pt x="997362" y="258569"/>
                  </a:lnTo>
                  <a:lnTo>
                    <a:pt x="993298" y="278699"/>
                  </a:lnTo>
                  <a:lnTo>
                    <a:pt x="982215" y="295137"/>
                  </a:lnTo>
                  <a:lnTo>
                    <a:pt x="965777" y="306220"/>
                  </a:lnTo>
                  <a:lnTo>
                    <a:pt x="945647" y="310284"/>
                  </a:lnTo>
                  <a:lnTo>
                    <a:pt x="51715" y="310284"/>
                  </a:lnTo>
                  <a:lnTo>
                    <a:pt x="31585" y="306220"/>
                  </a:lnTo>
                  <a:lnTo>
                    <a:pt x="15147" y="295137"/>
                  </a:lnTo>
                  <a:lnTo>
                    <a:pt x="4064" y="278699"/>
                  </a:lnTo>
                  <a:lnTo>
                    <a:pt x="0" y="258569"/>
                  </a:lnTo>
                  <a:lnTo>
                    <a:pt x="0" y="51714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038059" y="3360323"/>
            <a:ext cx="7454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"/>
                <a:cs typeface="Arial"/>
              </a:rPr>
              <a:t>10.0.30.50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399185" y="1216477"/>
            <a:ext cx="2753360" cy="2270760"/>
            <a:chOff x="5399185" y="1216477"/>
            <a:chExt cx="2753360" cy="2270760"/>
          </a:xfrm>
        </p:grpSpPr>
        <p:sp>
          <p:nvSpPr>
            <p:cNvPr id="16" name="object 16"/>
            <p:cNvSpPr/>
            <p:nvPr/>
          </p:nvSpPr>
          <p:spPr>
            <a:xfrm>
              <a:off x="5405535" y="1222827"/>
              <a:ext cx="2740660" cy="2258060"/>
            </a:xfrm>
            <a:custGeom>
              <a:avLst/>
              <a:gdLst/>
              <a:ahLst/>
              <a:cxnLst/>
              <a:rect l="l" t="t" r="r" b="b"/>
              <a:pathLst>
                <a:path w="2740659" h="2258060">
                  <a:moveTo>
                    <a:pt x="2364115" y="2257564"/>
                  </a:moveTo>
                  <a:lnTo>
                    <a:pt x="376268" y="2257564"/>
                  </a:lnTo>
                  <a:lnTo>
                    <a:pt x="329069" y="2254633"/>
                  </a:lnTo>
                  <a:lnTo>
                    <a:pt x="283621" y="2246073"/>
                  </a:lnTo>
                  <a:lnTo>
                    <a:pt x="240274" y="2232237"/>
                  </a:lnTo>
                  <a:lnTo>
                    <a:pt x="199382" y="2213479"/>
                  </a:lnTo>
                  <a:lnTo>
                    <a:pt x="161298" y="2190150"/>
                  </a:lnTo>
                  <a:lnTo>
                    <a:pt x="126373" y="2162603"/>
                  </a:lnTo>
                  <a:lnTo>
                    <a:pt x="94961" y="2131191"/>
                  </a:lnTo>
                  <a:lnTo>
                    <a:pt x="67414" y="2096266"/>
                  </a:lnTo>
                  <a:lnTo>
                    <a:pt x="44085" y="2058182"/>
                  </a:lnTo>
                  <a:lnTo>
                    <a:pt x="25327" y="2017290"/>
                  </a:lnTo>
                  <a:lnTo>
                    <a:pt x="11491" y="1973943"/>
                  </a:lnTo>
                  <a:lnTo>
                    <a:pt x="2931" y="1928495"/>
                  </a:lnTo>
                  <a:lnTo>
                    <a:pt x="0" y="1881296"/>
                  </a:lnTo>
                  <a:lnTo>
                    <a:pt x="0" y="376268"/>
                  </a:lnTo>
                  <a:lnTo>
                    <a:pt x="2931" y="329070"/>
                  </a:lnTo>
                  <a:lnTo>
                    <a:pt x="11491" y="283621"/>
                  </a:lnTo>
                  <a:lnTo>
                    <a:pt x="25327" y="240274"/>
                  </a:lnTo>
                  <a:lnTo>
                    <a:pt x="44085" y="199382"/>
                  </a:lnTo>
                  <a:lnTo>
                    <a:pt x="67414" y="161298"/>
                  </a:lnTo>
                  <a:lnTo>
                    <a:pt x="94961" y="126373"/>
                  </a:lnTo>
                  <a:lnTo>
                    <a:pt x="126373" y="94961"/>
                  </a:lnTo>
                  <a:lnTo>
                    <a:pt x="161298" y="67414"/>
                  </a:lnTo>
                  <a:lnTo>
                    <a:pt x="199382" y="44085"/>
                  </a:lnTo>
                  <a:lnTo>
                    <a:pt x="240274" y="25327"/>
                  </a:lnTo>
                  <a:lnTo>
                    <a:pt x="283621" y="11491"/>
                  </a:lnTo>
                  <a:lnTo>
                    <a:pt x="329069" y="2931"/>
                  </a:lnTo>
                  <a:lnTo>
                    <a:pt x="376268" y="0"/>
                  </a:lnTo>
                  <a:lnTo>
                    <a:pt x="2364115" y="0"/>
                  </a:lnTo>
                  <a:lnTo>
                    <a:pt x="2413573" y="3263"/>
                  </a:lnTo>
                  <a:lnTo>
                    <a:pt x="2461765" y="12891"/>
                  </a:lnTo>
                  <a:lnTo>
                    <a:pt x="2508106" y="28641"/>
                  </a:lnTo>
                  <a:lnTo>
                    <a:pt x="2552012" y="50272"/>
                  </a:lnTo>
                  <a:lnTo>
                    <a:pt x="2592897" y="77541"/>
                  </a:lnTo>
                  <a:lnTo>
                    <a:pt x="2630177" y="110206"/>
                  </a:lnTo>
                  <a:lnTo>
                    <a:pt x="2662842" y="147486"/>
                  </a:lnTo>
                  <a:lnTo>
                    <a:pt x="2690111" y="188371"/>
                  </a:lnTo>
                  <a:lnTo>
                    <a:pt x="2711741" y="232276"/>
                  </a:lnTo>
                  <a:lnTo>
                    <a:pt x="2727492" y="278618"/>
                  </a:lnTo>
                  <a:lnTo>
                    <a:pt x="2737120" y="326810"/>
                  </a:lnTo>
                  <a:lnTo>
                    <a:pt x="2740383" y="376268"/>
                  </a:lnTo>
                  <a:lnTo>
                    <a:pt x="2740383" y="1881296"/>
                  </a:lnTo>
                  <a:lnTo>
                    <a:pt x="2737451" y="1928495"/>
                  </a:lnTo>
                  <a:lnTo>
                    <a:pt x="2728891" y="1973943"/>
                  </a:lnTo>
                  <a:lnTo>
                    <a:pt x="2715056" y="2017290"/>
                  </a:lnTo>
                  <a:lnTo>
                    <a:pt x="2696297" y="2058182"/>
                  </a:lnTo>
                  <a:lnTo>
                    <a:pt x="2672968" y="2096266"/>
                  </a:lnTo>
                  <a:lnTo>
                    <a:pt x="2645421" y="2131191"/>
                  </a:lnTo>
                  <a:lnTo>
                    <a:pt x="2614010" y="2162603"/>
                  </a:lnTo>
                  <a:lnTo>
                    <a:pt x="2579085" y="2190150"/>
                  </a:lnTo>
                  <a:lnTo>
                    <a:pt x="2541000" y="2213479"/>
                  </a:lnTo>
                  <a:lnTo>
                    <a:pt x="2500109" y="2232237"/>
                  </a:lnTo>
                  <a:lnTo>
                    <a:pt x="2456762" y="2246073"/>
                  </a:lnTo>
                  <a:lnTo>
                    <a:pt x="2411313" y="2254633"/>
                  </a:lnTo>
                  <a:lnTo>
                    <a:pt x="2364115" y="2257564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405535" y="1222827"/>
              <a:ext cx="2740660" cy="2258060"/>
            </a:xfrm>
            <a:custGeom>
              <a:avLst/>
              <a:gdLst/>
              <a:ahLst/>
              <a:cxnLst/>
              <a:rect l="l" t="t" r="r" b="b"/>
              <a:pathLst>
                <a:path w="2740659" h="2258060">
                  <a:moveTo>
                    <a:pt x="0" y="376268"/>
                  </a:moveTo>
                  <a:lnTo>
                    <a:pt x="2931" y="329070"/>
                  </a:lnTo>
                  <a:lnTo>
                    <a:pt x="11491" y="283621"/>
                  </a:lnTo>
                  <a:lnTo>
                    <a:pt x="25327" y="240274"/>
                  </a:lnTo>
                  <a:lnTo>
                    <a:pt x="44085" y="199382"/>
                  </a:lnTo>
                  <a:lnTo>
                    <a:pt x="67414" y="161298"/>
                  </a:lnTo>
                  <a:lnTo>
                    <a:pt x="94961" y="126373"/>
                  </a:lnTo>
                  <a:lnTo>
                    <a:pt x="126373" y="94961"/>
                  </a:lnTo>
                  <a:lnTo>
                    <a:pt x="161298" y="67414"/>
                  </a:lnTo>
                  <a:lnTo>
                    <a:pt x="199382" y="44085"/>
                  </a:lnTo>
                  <a:lnTo>
                    <a:pt x="240274" y="25327"/>
                  </a:lnTo>
                  <a:lnTo>
                    <a:pt x="283621" y="11491"/>
                  </a:lnTo>
                  <a:lnTo>
                    <a:pt x="329069" y="2931"/>
                  </a:lnTo>
                  <a:lnTo>
                    <a:pt x="376268" y="0"/>
                  </a:lnTo>
                  <a:lnTo>
                    <a:pt x="2364115" y="0"/>
                  </a:lnTo>
                  <a:lnTo>
                    <a:pt x="2413573" y="3263"/>
                  </a:lnTo>
                  <a:lnTo>
                    <a:pt x="2461765" y="12891"/>
                  </a:lnTo>
                  <a:lnTo>
                    <a:pt x="2508106" y="28641"/>
                  </a:lnTo>
                  <a:lnTo>
                    <a:pt x="2552012" y="50272"/>
                  </a:lnTo>
                  <a:lnTo>
                    <a:pt x="2592897" y="77541"/>
                  </a:lnTo>
                  <a:lnTo>
                    <a:pt x="2630177" y="110206"/>
                  </a:lnTo>
                  <a:lnTo>
                    <a:pt x="2662842" y="147486"/>
                  </a:lnTo>
                  <a:lnTo>
                    <a:pt x="2690111" y="188371"/>
                  </a:lnTo>
                  <a:lnTo>
                    <a:pt x="2711741" y="232276"/>
                  </a:lnTo>
                  <a:lnTo>
                    <a:pt x="2727492" y="278618"/>
                  </a:lnTo>
                  <a:lnTo>
                    <a:pt x="2737120" y="326810"/>
                  </a:lnTo>
                  <a:lnTo>
                    <a:pt x="2740383" y="376268"/>
                  </a:lnTo>
                  <a:lnTo>
                    <a:pt x="2740383" y="1881296"/>
                  </a:lnTo>
                  <a:lnTo>
                    <a:pt x="2737451" y="1928495"/>
                  </a:lnTo>
                  <a:lnTo>
                    <a:pt x="2728891" y="1973943"/>
                  </a:lnTo>
                  <a:lnTo>
                    <a:pt x="2715056" y="2017290"/>
                  </a:lnTo>
                  <a:lnTo>
                    <a:pt x="2696297" y="2058182"/>
                  </a:lnTo>
                  <a:lnTo>
                    <a:pt x="2672968" y="2096266"/>
                  </a:lnTo>
                  <a:lnTo>
                    <a:pt x="2645421" y="2131191"/>
                  </a:lnTo>
                  <a:lnTo>
                    <a:pt x="2614010" y="2162603"/>
                  </a:lnTo>
                  <a:lnTo>
                    <a:pt x="2579085" y="2190150"/>
                  </a:lnTo>
                  <a:lnTo>
                    <a:pt x="2541000" y="2213479"/>
                  </a:lnTo>
                  <a:lnTo>
                    <a:pt x="2500109" y="2232237"/>
                  </a:lnTo>
                  <a:lnTo>
                    <a:pt x="2456762" y="2246073"/>
                  </a:lnTo>
                  <a:lnTo>
                    <a:pt x="2411313" y="2254633"/>
                  </a:lnTo>
                  <a:lnTo>
                    <a:pt x="2364115" y="2257564"/>
                  </a:lnTo>
                  <a:lnTo>
                    <a:pt x="376268" y="2257564"/>
                  </a:lnTo>
                  <a:lnTo>
                    <a:pt x="329069" y="2254633"/>
                  </a:lnTo>
                  <a:lnTo>
                    <a:pt x="283621" y="2246073"/>
                  </a:lnTo>
                  <a:lnTo>
                    <a:pt x="240274" y="2232237"/>
                  </a:lnTo>
                  <a:lnTo>
                    <a:pt x="199382" y="2213479"/>
                  </a:lnTo>
                  <a:lnTo>
                    <a:pt x="161298" y="2190150"/>
                  </a:lnTo>
                  <a:lnTo>
                    <a:pt x="126373" y="2162603"/>
                  </a:lnTo>
                  <a:lnTo>
                    <a:pt x="94961" y="2131191"/>
                  </a:lnTo>
                  <a:lnTo>
                    <a:pt x="67414" y="2096266"/>
                  </a:lnTo>
                  <a:lnTo>
                    <a:pt x="44085" y="2058182"/>
                  </a:lnTo>
                  <a:lnTo>
                    <a:pt x="25327" y="2017290"/>
                  </a:lnTo>
                  <a:lnTo>
                    <a:pt x="11491" y="1973943"/>
                  </a:lnTo>
                  <a:lnTo>
                    <a:pt x="2931" y="1928495"/>
                  </a:lnTo>
                  <a:lnTo>
                    <a:pt x="0" y="1881296"/>
                  </a:lnTo>
                  <a:lnTo>
                    <a:pt x="0" y="376268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267305" y="1821423"/>
              <a:ext cx="1346200" cy="716280"/>
            </a:xfrm>
            <a:custGeom>
              <a:avLst/>
              <a:gdLst/>
              <a:ahLst/>
              <a:cxnLst/>
              <a:rect l="l" t="t" r="r" b="b"/>
              <a:pathLst>
                <a:path w="1346200" h="716280">
                  <a:moveTo>
                    <a:pt x="1226501" y="716042"/>
                  </a:moveTo>
                  <a:lnTo>
                    <a:pt x="119342" y="716042"/>
                  </a:lnTo>
                  <a:lnTo>
                    <a:pt x="72889" y="706664"/>
                  </a:lnTo>
                  <a:lnTo>
                    <a:pt x="34954" y="681088"/>
                  </a:lnTo>
                  <a:lnTo>
                    <a:pt x="9378" y="643153"/>
                  </a:lnTo>
                  <a:lnTo>
                    <a:pt x="0" y="596700"/>
                  </a:lnTo>
                  <a:lnTo>
                    <a:pt x="0" y="119342"/>
                  </a:lnTo>
                  <a:lnTo>
                    <a:pt x="9378" y="72889"/>
                  </a:lnTo>
                  <a:lnTo>
                    <a:pt x="34954" y="34954"/>
                  </a:lnTo>
                  <a:lnTo>
                    <a:pt x="72889" y="9378"/>
                  </a:lnTo>
                  <a:lnTo>
                    <a:pt x="119342" y="0"/>
                  </a:lnTo>
                  <a:lnTo>
                    <a:pt x="1226501" y="0"/>
                  </a:lnTo>
                  <a:lnTo>
                    <a:pt x="1272172" y="9084"/>
                  </a:lnTo>
                  <a:lnTo>
                    <a:pt x="1310890" y="34954"/>
                  </a:lnTo>
                  <a:lnTo>
                    <a:pt x="1336760" y="73672"/>
                  </a:lnTo>
                  <a:lnTo>
                    <a:pt x="1345844" y="119342"/>
                  </a:lnTo>
                  <a:lnTo>
                    <a:pt x="1345844" y="596700"/>
                  </a:lnTo>
                  <a:lnTo>
                    <a:pt x="1336466" y="643153"/>
                  </a:lnTo>
                  <a:lnTo>
                    <a:pt x="1310890" y="681088"/>
                  </a:lnTo>
                  <a:lnTo>
                    <a:pt x="1272955" y="706664"/>
                  </a:lnTo>
                  <a:lnTo>
                    <a:pt x="1226501" y="716042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267305" y="1821423"/>
              <a:ext cx="1346200" cy="716280"/>
            </a:xfrm>
            <a:custGeom>
              <a:avLst/>
              <a:gdLst/>
              <a:ahLst/>
              <a:cxnLst/>
              <a:rect l="l" t="t" r="r" b="b"/>
              <a:pathLst>
                <a:path w="1346200" h="716280">
                  <a:moveTo>
                    <a:pt x="0" y="119342"/>
                  </a:moveTo>
                  <a:lnTo>
                    <a:pt x="9378" y="72889"/>
                  </a:lnTo>
                  <a:lnTo>
                    <a:pt x="34954" y="34954"/>
                  </a:lnTo>
                  <a:lnTo>
                    <a:pt x="72889" y="9378"/>
                  </a:lnTo>
                  <a:lnTo>
                    <a:pt x="119342" y="0"/>
                  </a:lnTo>
                  <a:lnTo>
                    <a:pt x="1226501" y="0"/>
                  </a:lnTo>
                  <a:lnTo>
                    <a:pt x="1272172" y="9084"/>
                  </a:lnTo>
                  <a:lnTo>
                    <a:pt x="1310890" y="34954"/>
                  </a:lnTo>
                  <a:lnTo>
                    <a:pt x="1336760" y="73672"/>
                  </a:lnTo>
                  <a:lnTo>
                    <a:pt x="1345844" y="119342"/>
                  </a:lnTo>
                  <a:lnTo>
                    <a:pt x="1345844" y="596700"/>
                  </a:lnTo>
                  <a:lnTo>
                    <a:pt x="1336466" y="643153"/>
                  </a:lnTo>
                  <a:lnTo>
                    <a:pt x="1310890" y="681088"/>
                  </a:lnTo>
                  <a:lnTo>
                    <a:pt x="1272955" y="706664"/>
                  </a:lnTo>
                  <a:lnTo>
                    <a:pt x="1226501" y="716042"/>
                  </a:lnTo>
                  <a:lnTo>
                    <a:pt x="119342" y="716042"/>
                  </a:lnTo>
                  <a:lnTo>
                    <a:pt x="72889" y="706664"/>
                  </a:lnTo>
                  <a:lnTo>
                    <a:pt x="34954" y="681088"/>
                  </a:lnTo>
                  <a:lnTo>
                    <a:pt x="9378" y="643153"/>
                  </a:lnTo>
                  <a:lnTo>
                    <a:pt x="0" y="596700"/>
                  </a:lnTo>
                  <a:lnTo>
                    <a:pt x="0" y="119342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6561203" y="905783"/>
            <a:ext cx="49022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Pod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50" dirty="0">
                <a:latin typeface="Arial"/>
                <a:cs typeface="Arial"/>
              </a:rPr>
              <a:t>2</a:t>
            </a:r>
            <a:endParaRPr sz="14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558955" y="1979674"/>
            <a:ext cx="762635" cy="38925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50800" marR="5080" indent="-38735">
              <a:lnSpc>
                <a:spcPts val="1430"/>
              </a:lnSpc>
              <a:spcBef>
                <a:spcPts val="155"/>
              </a:spcBef>
            </a:pPr>
            <a:r>
              <a:rPr sz="1200" spc="-10" dirty="0">
                <a:latin typeface="Arial"/>
                <a:cs typeface="Arial"/>
              </a:rPr>
              <a:t>Supporting Controller</a:t>
            </a:r>
            <a:endParaRPr sz="12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640803" y="2453518"/>
            <a:ext cx="599440" cy="213360"/>
          </a:xfrm>
          <a:prstGeom prst="rect">
            <a:avLst/>
          </a:prstGeom>
          <a:solidFill>
            <a:srgbClr val="B49FFF"/>
          </a:solidFill>
          <a:ln w="12699">
            <a:solidFill>
              <a:srgbClr val="127BB4"/>
            </a:solidFill>
          </a:ln>
        </p:spPr>
        <p:txBody>
          <a:bodyPr vert="horz" wrap="square" lIns="0" tIns="9525" rIns="0" bIns="0" rtlCol="0">
            <a:spAutoFit/>
          </a:bodyPr>
          <a:lstStyle/>
          <a:p>
            <a:pPr marL="108585">
              <a:lnSpc>
                <a:spcPct val="100000"/>
              </a:lnSpc>
              <a:spcBef>
                <a:spcPts val="75"/>
              </a:spcBef>
            </a:pP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:7777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6435194" y="3289512"/>
            <a:ext cx="1010285" cy="323215"/>
            <a:chOff x="6435194" y="3289512"/>
            <a:chExt cx="1010285" cy="323215"/>
          </a:xfrm>
        </p:grpSpPr>
        <p:sp>
          <p:nvSpPr>
            <p:cNvPr id="24" name="object 24"/>
            <p:cNvSpPr/>
            <p:nvPr/>
          </p:nvSpPr>
          <p:spPr>
            <a:xfrm>
              <a:off x="6441544" y="3295862"/>
              <a:ext cx="997585" cy="310515"/>
            </a:xfrm>
            <a:custGeom>
              <a:avLst/>
              <a:gdLst/>
              <a:ahLst/>
              <a:cxnLst/>
              <a:rect l="l" t="t" r="r" b="b"/>
              <a:pathLst>
                <a:path w="997584" h="310514">
                  <a:moveTo>
                    <a:pt x="945647" y="310285"/>
                  </a:moveTo>
                  <a:lnTo>
                    <a:pt x="51714" y="310285"/>
                  </a:lnTo>
                  <a:lnTo>
                    <a:pt x="31585" y="306221"/>
                  </a:lnTo>
                  <a:lnTo>
                    <a:pt x="15146" y="295138"/>
                  </a:lnTo>
                  <a:lnTo>
                    <a:pt x="4064" y="278699"/>
                  </a:lnTo>
                  <a:lnTo>
                    <a:pt x="0" y="258569"/>
                  </a:lnTo>
                  <a:lnTo>
                    <a:pt x="0" y="51715"/>
                  </a:lnTo>
                  <a:lnTo>
                    <a:pt x="4064" y="31585"/>
                  </a:lnTo>
                  <a:lnTo>
                    <a:pt x="15146" y="15146"/>
                  </a:lnTo>
                  <a:lnTo>
                    <a:pt x="31585" y="4064"/>
                  </a:lnTo>
                  <a:lnTo>
                    <a:pt x="51714" y="0"/>
                  </a:lnTo>
                  <a:lnTo>
                    <a:pt x="945647" y="0"/>
                  </a:lnTo>
                  <a:lnTo>
                    <a:pt x="982215" y="15146"/>
                  </a:lnTo>
                  <a:lnTo>
                    <a:pt x="997362" y="51715"/>
                  </a:lnTo>
                  <a:lnTo>
                    <a:pt x="997362" y="258569"/>
                  </a:lnTo>
                  <a:lnTo>
                    <a:pt x="993298" y="278699"/>
                  </a:lnTo>
                  <a:lnTo>
                    <a:pt x="982215" y="295138"/>
                  </a:lnTo>
                  <a:lnTo>
                    <a:pt x="965777" y="306221"/>
                  </a:lnTo>
                  <a:lnTo>
                    <a:pt x="945647" y="310285"/>
                  </a:lnTo>
                  <a:close/>
                </a:path>
              </a:pathLst>
            </a:custGeom>
            <a:solidFill>
              <a:srgbClr val="73CC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441544" y="3295862"/>
              <a:ext cx="997585" cy="310515"/>
            </a:xfrm>
            <a:custGeom>
              <a:avLst/>
              <a:gdLst/>
              <a:ahLst/>
              <a:cxnLst/>
              <a:rect l="l" t="t" r="r" b="b"/>
              <a:pathLst>
                <a:path w="997584" h="310514">
                  <a:moveTo>
                    <a:pt x="0" y="51715"/>
                  </a:moveTo>
                  <a:lnTo>
                    <a:pt x="4064" y="31585"/>
                  </a:lnTo>
                  <a:lnTo>
                    <a:pt x="15146" y="15146"/>
                  </a:lnTo>
                  <a:lnTo>
                    <a:pt x="31585" y="4064"/>
                  </a:lnTo>
                  <a:lnTo>
                    <a:pt x="51714" y="0"/>
                  </a:lnTo>
                  <a:lnTo>
                    <a:pt x="945647" y="0"/>
                  </a:lnTo>
                  <a:lnTo>
                    <a:pt x="982215" y="15146"/>
                  </a:lnTo>
                  <a:lnTo>
                    <a:pt x="997362" y="51715"/>
                  </a:lnTo>
                  <a:lnTo>
                    <a:pt x="997362" y="258569"/>
                  </a:lnTo>
                  <a:lnTo>
                    <a:pt x="993298" y="278699"/>
                  </a:lnTo>
                  <a:lnTo>
                    <a:pt x="982215" y="295138"/>
                  </a:lnTo>
                  <a:lnTo>
                    <a:pt x="965777" y="306221"/>
                  </a:lnTo>
                  <a:lnTo>
                    <a:pt x="945647" y="310285"/>
                  </a:lnTo>
                  <a:lnTo>
                    <a:pt x="51714" y="310285"/>
                  </a:lnTo>
                  <a:lnTo>
                    <a:pt x="31585" y="306221"/>
                  </a:lnTo>
                  <a:lnTo>
                    <a:pt x="15146" y="295138"/>
                  </a:lnTo>
                  <a:lnTo>
                    <a:pt x="4064" y="278699"/>
                  </a:lnTo>
                  <a:lnTo>
                    <a:pt x="0" y="258569"/>
                  </a:lnTo>
                  <a:lnTo>
                    <a:pt x="0" y="51715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6567362" y="3341721"/>
            <a:ext cx="7454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"/>
                <a:cs typeface="Arial"/>
              </a:rPr>
              <a:t>10.0.30.60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2442238" y="1865040"/>
            <a:ext cx="1252220" cy="497205"/>
            <a:chOff x="2442238" y="1865040"/>
            <a:chExt cx="1252220" cy="497205"/>
          </a:xfrm>
        </p:grpSpPr>
        <p:sp>
          <p:nvSpPr>
            <p:cNvPr id="28" name="object 28"/>
            <p:cNvSpPr/>
            <p:nvPr/>
          </p:nvSpPr>
          <p:spPr>
            <a:xfrm>
              <a:off x="2448588" y="1871390"/>
              <a:ext cx="1239520" cy="484505"/>
            </a:xfrm>
            <a:custGeom>
              <a:avLst/>
              <a:gdLst/>
              <a:ahLst/>
              <a:cxnLst/>
              <a:rect l="l" t="t" r="r" b="b"/>
              <a:pathLst>
                <a:path w="1239520" h="484505">
                  <a:moveTo>
                    <a:pt x="1158634" y="484185"/>
                  </a:moveTo>
                  <a:lnTo>
                    <a:pt x="80699" y="484185"/>
                  </a:lnTo>
                  <a:lnTo>
                    <a:pt x="49287" y="477844"/>
                  </a:lnTo>
                  <a:lnTo>
                    <a:pt x="23636" y="460549"/>
                  </a:lnTo>
                  <a:lnTo>
                    <a:pt x="6341" y="434898"/>
                  </a:lnTo>
                  <a:lnTo>
                    <a:pt x="0" y="403486"/>
                  </a:lnTo>
                  <a:lnTo>
                    <a:pt x="0" y="80699"/>
                  </a:lnTo>
                  <a:lnTo>
                    <a:pt x="6234" y="49817"/>
                  </a:lnTo>
                  <a:lnTo>
                    <a:pt x="6341" y="49287"/>
                  </a:lnTo>
                  <a:lnTo>
                    <a:pt x="23636" y="23636"/>
                  </a:lnTo>
                  <a:lnTo>
                    <a:pt x="49287" y="6341"/>
                  </a:lnTo>
                  <a:lnTo>
                    <a:pt x="80699" y="0"/>
                  </a:lnTo>
                  <a:lnTo>
                    <a:pt x="1158634" y="0"/>
                  </a:lnTo>
                  <a:lnTo>
                    <a:pt x="1203406" y="13558"/>
                  </a:lnTo>
                  <a:lnTo>
                    <a:pt x="1233191" y="49817"/>
                  </a:lnTo>
                  <a:lnTo>
                    <a:pt x="1239333" y="80699"/>
                  </a:lnTo>
                  <a:lnTo>
                    <a:pt x="1239333" y="403486"/>
                  </a:lnTo>
                  <a:lnTo>
                    <a:pt x="1232992" y="434898"/>
                  </a:lnTo>
                  <a:lnTo>
                    <a:pt x="1215697" y="460549"/>
                  </a:lnTo>
                  <a:lnTo>
                    <a:pt x="1190046" y="477844"/>
                  </a:lnTo>
                  <a:lnTo>
                    <a:pt x="1158634" y="484185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448588" y="1871390"/>
              <a:ext cx="1239520" cy="484505"/>
            </a:xfrm>
            <a:custGeom>
              <a:avLst/>
              <a:gdLst/>
              <a:ahLst/>
              <a:cxnLst/>
              <a:rect l="l" t="t" r="r" b="b"/>
              <a:pathLst>
                <a:path w="1239520" h="484505">
                  <a:moveTo>
                    <a:pt x="0" y="80699"/>
                  </a:moveTo>
                  <a:lnTo>
                    <a:pt x="6341" y="49287"/>
                  </a:lnTo>
                  <a:lnTo>
                    <a:pt x="23636" y="23636"/>
                  </a:lnTo>
                  <a:lnTo>
                    <a:pt x="49287" y="6341"/>
                  </a:lnTo>
                  <a:lnTo>
                    <a:pt x="80699" y="0"/>
                  </a:lnTo>
                  <a:lnTo>
                    <a:pt x="1158634" y="0"/>
                  </a:lnTo>
                  <a:lnTo>
                    <a:pt x="1203406" y="13558"/>
                  </a:lnTo>
                  <a:lnTo>
                    <a:pt x="1233191" y="49817"/>
                  </a:lnTo>
                  <a:lnTo>
                    <a:pt x="1239333" y="80699"/>
                  </a:lnTo>
                  <a:lnTo>
                    <a:pt x="1239333" y="403486"/>
                  </a:lnTo>
                  <a:lnTo>
                    <a:pt x="1232992" y="434898"/>
                  </a:lnTo>
                  <a:lnTo>
                    <a:pt x="1215697" y="460549"/>
                  </a:lnTo>
                  <a:lnTo>
                    <a:pt x="1190046" y="477844"/>
                  </a:lnTo>
                  <a:lnTo>
                    <a:pt x="1158634" y="484185"/>
                  </a:lnTo>
                  <a:lnTo>
                    <a:pt x="80699" y="484185"/>
                  </a:lnTo>
                  <a:lnTo>
                    <a:pt x="49287" y="477844"/>
                  </a:lnTo>
                  <a:lnTo>
                    <a:pt x="23636" y="460549"/>
                  </a:lnTo>
                  <a:lnTo>
                    <a:pt x="6341" y="434898"/>
                  </a:lnTo>
                  <a:lnTo>
                    <a:pt x="0" y="403486"/>
                  </a:lnTo>
                  <a:lnTo>
                    <a:pt x="0" y="80699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2686983" y="1913712"/>
            <a:ext cx="762635" cy="38925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50800" marR="5080" indent="-38735">
              <a:lnSpc>
                <a:spcPts val="1430"/>
              </a:lnSpc>
              <a:spcBef>
                <a:spcPts val="155"/>
              </a:spcBef>
            </a:pPr>
            <a:r>
              <a:rPr sz="1200" spc="-10" dirty="0">
                <a:latin typeface="Arial"/>
                <a:cs typeface="Arial"/>
              </a:rPr>
              <a:t>Supporting Controller</a:t>
            </a:r>
            <a:endParaRPr sz="1200">
              <a:latin typeface="Arial"/>
              <a:cs typeface="Arial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47</a:t>
            </a:fld>
            <a:endParaRPr spc="-25" dirty="0"/>
          </a:p>
        </p:txBody>
      </p:sp>
      <p:sp>
        <p:nvSpPr>
          <p:cNvPr id="31" name="object 31"/>
          <p:cNvSpPr txBox="1"/>
          <p:nvPr/>
        </p:nvSpPr>
        <p:spPr>
          <a:xfrm>
            <a:off x="2759794" y="2314292"/>
            <a:ext cx="599440" cy="213360"/>
          </a:xfrm>
          <a:prstGeom prst="rect">
            <a:avLst/>
          </a:prstGeom>
          <a:solidFill>
            <a:srgbClr val="B49FFF"/>
          </a:solidFill>
          <a:ln w="12699">
            <a:solidFill>
              <a:srgbClr val="127BB4"/>
            </a:solidFill>
          </a:ln>
        </p:spPr>
        <p:txBody>
          <a:bodyPr vert="horz" wrap="square" lIns="0" tIns="9525" rIns="0" bIns="0" rtlCol="0">
            <a:spAutoFit/>
          </a:bodyPr>
          <a:lstStyle/>
          <a:p>
            <a:pPr marL="108585">
              <a:lnSpc>
                <a:spcPct val="100000"/>
              </a:lnSpc>
              <a:spcBef>
                <a:spcPts val="75"/>
              </a:spcBef>
            </a:pP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:3000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2730" cy="5143500"/>
            <a:chOff x="0" y="0"/>
            <a:chExt cx="9142730" cy="5143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54" y="0"/>
              <a:ext cx="9141290" cy="410870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4175999" cy="514349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193024" y="4326076"/>
              <a:ext cx="722375" cy="604028"/>
            </a:xfrm>
            <a:prstGeom prst="rect">
              <a:avLst/>
            </a:prstGeom>
          </p:spPr>
        </p:pic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933484" y="1225699"/>
            <a:ext cx="6855459" cy="1854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4000" dirty="0">
                <a:solidFill>
                  <a:srgbClr val="FFFFFF"/>
                </a:solidFill>
              </a:rPr>
              <a:t>How</a:t>
            </a:r>
            <a:r>
              <a:rPr sz="4000" spc="-80" dirty="0">
                <a:solidFill>
                  <a:srgbClr val="FFFFFF"/>
                </a:solidFill>
              </a:rPr>
              <a:t> </a:t>
            </a:r>
            <a:r>
              <a:rPr sz="4000" dirty="0">
                <a:solidFill>
                  <a:srgbClr val="FFFFFF"/>
                </a:solidFill>
              </a:rPr>
              <a:t>does</a:t>
            </a:r>
            <a:r>
              <a:rPr sz="4000" spc="-75" dirty="0">
                <a:solidFill>
                  <a:srgbClr val="FFFFFF"/>
                </a:solidFill>
              </a:rPr>
              <a:t> </a:t>
            </a:r>
            <a:r>
              <a:rPr sz="4000" dirty="0">
                <a:solidFill>
                  <a:srgbClr val="FFFFFF"/>
                </a:solidFill>
              </a:rPr>
              <a:t>these</a:t>
            </a:r>
            <a:r>
              <a:rPr sz="4000" spc="-75" dirty="0">
                <a:solidFill>
                  <a:srgbClr val="FFFFFF"/>
                </a:solidFill>
              </a:rPr>
              <a:t> </a:t>
            </a:r>
            <a:r>
              <a:rPr sz="4000" spc="-10" dirty="0">
                <a:solidFill>
                  <a:srgbClr val="FFFFFF"/>
                </a:solidFill>
              </a:rPr>
              <a:t>containers </a:t>
            </a:r>
            <a:r>
              <a:rPr sz="4000" dirty="0">
                <a:solidFill>
                  <a:srgbClr val="FFFFFF"/>
                </a:solidFill>
              </a:rPr>
              <a:t>inside</a:t>
            </a:r>
            <a:r>
              <a:rPr sz="4000" spc="-75" dirty="0">
                <a:solidFill>
                  <a:srgbClr val="FFFFFF"/>
                </a:solidFill>
              </a:rPr>
              <a:t> </a:t>
            </a:r>
            <a:r>
              <a:rPr sz="4000" dirty="0">
                <a:solidFill>
                  <a:srgbClr val="FFFFFF"/>
                </a:solidFill>
              </a:rPr>
              <a:t>Pods</a:t>
            </a:r>
            <a:r>
              <a:rPr sz="4000" spc="-75" dirty="0">
                <a:solidFill>
                  <a:srgbClr val="FFFFFF"/>
                </a:solidFill>
              </a:rPr>
              <a:t> </a:t>
            </a:r>
            <a:r>
              <a:rPr sz="4000" spc="-10" dirty="0">
                <a:solidFill>
                  <a:srgbClr val="FFFFFF"/>
                </a:solidFill>
              </a:rPr>
              <a:t>communicate</a:t>
            </a:r>
            <a:r>
              <a:rPr sz="4000" spc="-70" dirty="0">
                <a:solidFill>
                  <a:srgbClr val="FFFFFF"/>
                </a:solidFill>
              </a:rPr>
              <a:t> </a:t>
            </a:r>
            <a:r>
              <a:rPr sz="4000" spc="-20" dirty="0">
                <a:solidFill>
                  <a:srgbClr val="FFFFFF"/>
                </a:solidFill>
              </a:rPr>
              <a:t>with </a:t>
            </a:r>
            <a:r>
              <a:rPr sz="4000" dirty="0">
                <a:solidFill>
                  <a:srgbClr val="FFFFFF"/>
                </a:solidFill>
              </a:rPr>
              <a:t>External</a:t>
            </a:r>
            <a:r>
              <a:rPr sz="4000" spc="-200" dirty="0">
                <a:solidFill>
                  <a:srgbClr val="FFFFFF"/>
                </a:solidFill>
              </a:rPr>
              <a:t> </a:t>
            </a:r>
            <a:r>
              <a:rPr sz="4000" spc="-10" dirty="0">
                <a:solidFill>
                  <a:srgbClr val="FFFFFF"/>
                </a:solidFill>
              </a:rPr>
              <a:t>World?</a:t>
            </a:r>
            <a:endParaRPr sz="4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01625" y="106495"/>
            <a:ext cx="3419475" cy="4648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Network</a:t>
            </a:r>
            <a:r>
              <a:rPr spc="5" dirty="0"/>
              <a:t> </a:t>
            </a:r>
            <a:r>
              <a:rPr spc="-10" dirty="0"/>
              <a:t>Namespace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034382" y="1216477"/>
            <a:ext cx="2753360" cy="2270760"/>
            <a:chOff x="1034382" y="1216477"/>
            <a:chExt cx="2753360" cy="2270760"/>
          </a:xfrm>
        </p:grpSpPr>
        <p:sp>
          <p:nvSpPr>
            <p:cNvPr id="4" name="object 4"/>
            <p:cNvSpPr/>
            <p:nvPr/>
          </p:nvSpPr>
          <p:spPr>
            <a:xfrm>
              <a:off x="1040732" y="1222827"/>
              <a:ext cx="2740660" cy="2258060"/>
            </a:xfrm>
            <a:custGeom>
              <a:avLst/>
              <a:gdLst/>
              <a:ahLst/>
              <a:cxnLst/>
              <a:rect l="l" t="t" r="r" b="b"/>
              <a:pathLst>
                <a:path w="2740660" h="2258060">
                  <a:moveTo>
                    <a:pt x="2364115" y="2257564"/>
                  </a:moveTo>
                  <a:lnTo>
                    <a:pt x="376268" y="2257564"/>
                  </a:lnTo>
                  <a:lnTo>
                    <a:pt x="329070" y="2254633"/>
                  </a:lnTo>
                  <a:lnTo>
                    <a:pt x="283621" y="2246073"/>
                  </a:lnTo>
                  <a:lnTo>
                    <a:pt x="240274" y="2232237"/>
                  </a:lnTo>
                  <a:lnTo>
                    <a:pt x="199382" y="2213479"/>
                  </a:lnTo>
                  <a:lnTo>
                    <a:pt x="161298" y="2190150"/>
                  </a:lnTo>
                  <a:lnTo>
                    <a:pt x="126373" y="2162603"/>
                  </a:lnTo>
                  <a:lnTo>
                    <a:pt x="94961" y="2131191"/>
                  </a:lnTo>
                  <a:lnTo>
                    <a:pt x="67414" y="2096266"/>
                  </a:lnTo>
                  <a:lnTo>
                    <a:pt x="44085" y="2058182"/>
                  </a:lnTo>
                  <a:lnTo>
                    <a:pt x="25327" y="2017290"/>
                  </a:lnTo>
                  <a:lnTo>
                    <a:pt x="11491" y="1973943"/>
                  </a:lnTo>
                  <a:lnTo>
                    <a:pt x="2931" y="1928495"/>
                  </a:lnTo>
                  <a:lnTo>
                    <a:pt x="0" y="1881296"/>
                  </a:lnTo>
                  <a:lnTo>
                    <a:pt x="0" y="376268"/>
                  </a:lnTo>
                  <a:lnTo>
                    <a:pt x="2931" y="329070"/>
                  </a:lnTo>
                  <a:lnTo>
                    <a:pt x="11491" y="283621"/>
                  </a:lnTo>
                  <a:lnTo>
                    <a:pt x="25327" y="240274"/>
                  </a:lnTo>
                  <a:lnTo>
                    <a:pt x="44085" y="199382"/>
                  </a:lnTo>
                  <a:lnTo>
                    <a:pt x="67414" y="161298"/>
                  </a:lnTo>
                  <a:lnTo>
                    <a:pt x="94961" y="126373"/>
                  </a:lnTo>
                  <a:lnTo>
                    <a:pt x="126373" y="94961"/>
                  </a:lnTo>
                  <a:lnTo>
                    <a:pt x="161298" y="67414"/>
                  </a:lnTo>
                  <a:lnTo>
                    <a:pt x="199382" y="44085"/>
                  </a:lnTo>
                  <a:lnTo>
                    <a:pt x="240274" y="25327"/>
                  </a:lnTo>
                  <a:lnTo>
                    <a:pt x="283621" y="11491"/>
                  </a:lnTo>
                  <a:lnTo>
                    <a:pt x="329070" y="2931"/>
                  </a:lnTo>
                  <a:lnTo>
                    <a:pt x="376268" y="0"/>
                  </a:lnTo>
                  <a:lnTo>
                    <a:pt x="2364115" y="0"/>
                  </a:lnTo>
                  <a:lnTo>
                    <a:pt x="2413573" y="3263"/>
                  </a:lnTo>
                  <a:lnTo>
                    <a:pt x="2461766" y="12891"/>
                  </a:lnTo>
                  <a:lnTo>
                    <a:pt x="2508107" y="28641"/>
                  </a:lnTo>
                  <a:lnTo>
                    <a:pt x="2552012" y="50272"/>
                  </a:lnTo>
                  <a:lnTo>
                    <a:pt x="2592897" y="77541"/>
                  </a:lnTo>
                  <a:lnTo>
                    <a:pt x="2630177" y="110206"/>
                  </a:lnTo>
                  <a:lnTo>
                    <a:pt x="2662842" y="147486"/>
                  </a:lnTo>
                  <a:lnTo>
                    <a:pt x="2690111" y="188371"/>
                  </a:lnTo>
                  <a:lnTo>
                    <a:pt x="2711742" y="232276"/>
                  </a:lnTo>
                  <a:lnTo>
                    <a:pt x="2727492" y="278618"/>
                  </a:lnTo>
                  <a:lnTo>
                    <a:pt x="2737120" y="326810"/>
                  </a:lnTo>
                  <a:lnTo>
                    <a:pt x="2740383" y="376268"/>
                  </a:lnTo>
                  <a:lnTo>
                    <a:pt x="2740383" y="1881296"/>
                  </a:lnTo>
                  <a:lnTo>
                    <a:pt x="2737452" y="1928495"/>
                  </a:lnTo>
                  <a:lnTo>
                    <a:pt x="2728892" y="1973943"/>
                  </a:lnTo>
                  <a:lnTo>
                    <a:pt x="2715056" y="2017290"/>
                  </a:lnTo>
                  <a:lnTo>
                    <a:pt x="2696298" y="2058182"/>
                  </a:lnTo>
                  <a:lnTo>
                    <a:pt x="2672969" y="2096266"/>
                  </a:lnTo>
                  <a:lnTo>
                    <a:pt x="2645422" y="2131191"/>
                  </a:lnTo>
                  <a:lnTo>
                    <a:pt x="2614010" y="2162603"/>
                  </a:lnTo>
                  <a:lnTo>
                    <a:pt x="2579085" y="2190150"/>
                  </a:lnTo>
                  <a:lnTo>
                    <a:pt x="2541001" y="2213479"/>
                  </a:lnTo>
                  <a:lnTo>
                    <a:pt x="2500109" y="2232237"/>
                  </a:lnTo>
                  <a:lnTo>
                    <a:pt x="2456762" y="2246073"/>
                  </a:lnTo>
                  <a:lnTo>
                    <a:pt x="2411313" y="2254633"/>
                  </a:lnTo>
                  <a:lnTo>
                    <a:pt x="2364115" y="2257564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40732" y="1222827"/>
              <a:ext cx="2740660" cy="2258060"/>
            </a:xfrm>
            <a:custGeom>
              <a:avLst/>
              <a:gdLst/>
              <a:ahLst/>
              <a:cxnLst/>
              <a:rect l="l" t="t" r="r" b="b"/>
              <a:pathLst>
                <a:path w="2740660" h="2258060">
                  <a:moveTo>
                    <a:pt x="0" y="376268"/>
                  </a:moveTo>
                  <a:lnTo>
                    <a:pt x="2931" y="329070"/>
                  </a:lnTo>
                  <a:lnTo>
                    <a:pt x="11491" y="283621"/>
                  </a:lnTo>
                  <a:lnTo>
                    <a:pt x="25327" y="240274"/>
                  </a:lnTo>
                  <a:lnTo>
                    <a:pt x="44085" y="199382"/>
                  </a:lnTo>
                  <a:lnTo>
                    <a:pt x="67414" y="161298"/>
                  </a:lnTo>
                  <a:lnTo>
                    <a:pt x="94961" y="126373"/>
                  </a:lnTo>
                  <a:lnTo>
                    <a:pt x="126373" y="94961"/>
                  </a:lnTo>
                  <a:lnTo>
                    <a:pt x="161298" y="67414"/>
                  </a:lnTo>
                  <a:lnTo>
                    <a:pt x="199382" y="44085"/>
                  </a:lnTo>
                  <a:lnTo>
                    <a:pt x="240274" y="25327"/>
                  </a:lnTo>
                  <a:lnTo>
                    <a:pt x="283621" y="11491"/>
                  </a:lnTo>
                  <a:lnTo>
                    <a:pt x="329070" y="2931"/>
                  </a:lnTo>
                  <a:lnTo>
                    <a:pt x="376268" y="0"/>
                  </a:lnTo>
                  <a:lnTo>
                    <a:pt x="2364115" y="0"/>
                  </a:lnTo>
                  <a:lnTo>
                    <a:pt x="2413573" y="3263"/>
                  </a:lnTo>
                  <a:lnTo>
                    <a:pt x="2461766" y="12891"/>
                  </a:lnTo>
                  <a:lnTo>
                    <a:pt x="2508107" y="28641"/>
                  </a:lnTo>
                  <a:lnTo>
                    <a:pt x="2552012" y="50272"/>
                  </a:lnTo>
                  <a:lnTo>
                    <a:pt x="2592897" y="77541"/>
                  </a:lnTo>
                  <a:lnTo>
                    <a:pt x="2630177" y="110206"/>
                  </a:lnTo>
                  <a:lnTo>
                    <a:pt x="2662842" y="147486"/>
                  </a:lnTo>
                  <a:lnTo>
                    <a:pt x="2690111" y="188371"/>
                  </a:lnTo>
                  <a:lnTo>
                    <a:pt x="2711742" y="232276"/>
                  </a:lnTo>
                  <a:lnTo>
                    <a:pt x="2727492" y="278618"/>
                  </a:lnTo>
                  <a:lnTo>
                    <a:pt x="2737120" y="326810"/>
                  </a:lnTo>
                  <a:lnTo>
                    <a:pt x="2740383" y="376268"/>
                  </a:lnTo>
                  <a:lnTo>
                    <a:pt x="2740383" y="1881296"/>
                  </a:lnTo>
                  <a:lnTo>
                    <a:pt x="2737452" y="1928495"/>
                  </a:lnTo>
                  <a:lnTo>
                    <a:pt x="2728892" y="1973943"/>
                  </a:lnTo>
                  <a:lnTo>
                    <a:pt x="2715056" y="2017290"/>
                  </a:lnTo>
                  <a:lnTo>
                    <a:pt x="2696298" y="2058182"/>
                  </a:lnTo>
                  <a:lnTo>
                    <a:pt x="2672969" y="2096266"/>
                  </a:lnTo>
                  <a:lnTo>
                    <a:pt x="2645422" y="2131191"/>
                  </a:lnTo>
                  <a:lnTo>
                    <a:pt x="2614010" y="2162603"/>
                  </a:lnTo>
                  <a:lnTo>
                    <a:pt x="2579085" y="2190150"/>
                  </a:lnTo>
                  <a:lnTo>
                    <a:pt x="2541001" y="2213479"/>
                  </a:lnTo>
                  <a:lnTo>
                    <a:pt x="2500109" y="2232237"/>
                  </a:lnTo>
                  <a:lnTo>
                    <a:pt x="2456762" y="2246073"/>
                  </a:lnTo>
                  <a:lnTo>
                    <a:pt x="2411313" y="2254633"/>
                  </a:lnTo>
                  <a:lnTo>
                    <a:pt x="2364115" y="2257564"/>
                  </a:lnTo>
                  <a:lnTo>
                    <a:pt x="376268" y="2257564"/>
                  </a:lnTo>
                  <a:lnTo>
                    <a:pt x="329070" y="2254633"/>
                  </a:lnTo>
                  <a:lnTo>
                    <a:pt x="283621" y="2246073"/>
                  </a:lnTo>
                  <a:lnTo>
                    <a:pt x="240274" y="2232237"/>
                  </a:lnTo>
                  <a:lnTo>
                    <a:pt x="199382" y="2213479"/>
                  </a:lnTo>
                  <a:lnTo>
                    <a:pt x="161298" y="2190150"/>
                  </a:lnTo>
                  <a:lnTo>
                    <a:pt x="126373" y="2162603"/>
                  </a:lnTo>
                  <a:lnTo>
                    <a:pt x="94961" y="2131191"/>
                  </a:lnTo>
                  <a:lnTo>
                    <a:pt x="67414" y="2096266"/>
                  </a:lnTo>
                  <a:lnTo>
                    <a:pt x="44085" y="2058182"/>
                  </a:lnTo>
                  <a:lnTo>
                    <a:pt x="25327" y="2017290"/>
                  </a:lnTo>
                  <a:lnTo>
                    <a:pt x="11491" y="1973943"/>
                  </a:lnTo>
                  <a:lnTo>
                    <a:pt x="2931" y="1928495"/>
                  </a:lnTo>
                  <a:lnTo>
                    <a:pt x="0" y="1881296"/>
                  </a:lnTo>
                  <a:lnTo>
                    <a:pt x="0" y="376268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99312" y="1855604"/>
              <a:ext cx="1062355" cy="516255"/>
            </a:xfrm>
            <a:custGeom>
              <a:avLst/>
              <a:gdLst/>
              <a:ahLst/>
              <a:cxnLst/>
              <a:rect l="l" t="t" r="r" b="b"/>
              <a:pathLst>
                <a:path w="1062355" h="516255">
                  <a:moveTo>
                    <a:pt x="976112" y="515757"/>
                  </a:moveTo>
                  <a:lnTo>
                    <a:pt x="85961" y="515757"/>
                  </a:lnTo>
                  <a:lnTo>
                    <a:pt x="52501" y="509001"/>
                  </a:lnTo>
                  <a:lnTo>
                    <a:pt x="25177" y="490579"/>
                  </a:lnTo>
                  <a:lnTo>
                    <a:pt x="6755" y="463255"/>
                  </a:lnTo>
                  <a:lnTo>
                    <a:pt x="0" y="429795"/>
                  </a:lnTo>
                  <a:lnTo>
                    <a:pt x="0" y="85961"/>
                  </a:lnTo>
                  <a:lnTo>
                    <a:pt x="6641" y="53065"/>
                  </a:lnTo>
                  <a:lnTo>
                    <a:pt x="6755" y="52501"/>
                  </a:lnTo>
                  <a:lnTo>
                    <a:pt x="25177" y="25177"/>
                  </a:lnTo>
                  <a:lnTo>
                    <a:pt x="52501" y="6755"/>
                  </a:lnTo>
                  <a:lnTo>
                    <a:pt x="85961" y="0"/>
                  </a:lnTo>
                  <a:lnTo>
                    <a:pt x="976112" y="0"/>
                  </a:lnTo>
                  <a:lnTo>
                    <a:pt x="1023804" y="14442"/>
                  </a:lnTo>
                  <a:lnTo>
                    <a:pt x="1055530" y="53065"/>
                  </a:lnTo>
                  <a:lnTo>
                    <a:pt x="1062074" y="85961"/>
                  </a:lnTo>
                  <a:lnTo>
                    <a:pt x="1062074" y="429795"/>
                  </a:lnTo>
                  <a:lnTo>
                    <a:pt x="1055318" y="463255"/>
                  </a:lnTo>
                  <a:lnTo>
                    <a:pt x="1036896" y="490579"/>
                  </a:lnTo>
                  <a:lnTo>
                    <a:pt x="1009572" y="509001"/>
                  </a:lnTo>
                  <a:lnTo>
                    <a:pt x="976112" y="515757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99312" y="1855604"/>
              <a:ext cx="1062355" cy="516255"/>
            </a:xfrm>
            <a:custGeom>
              <a:avLst/>
              <a:gdLst/>
              <a:ahLst/>
              <a:cxnLst/>
              <a:rect l="l" t="t" r="r" b="b"/>
              <a:pathLst>
                <a:path w="1062355" h="516255">
                  <a:moveTo>
                    <a:pt x="0" y="85961"/>
                  </a:moveTo>
                  <a:lnTo>
                    <a:pt x="6755" y="52501"/>
                  </a:lnTo>
                  <a:lnTo>
                    <a:pt x="25177" y="25177"/>
                  </a:lnTo>
                  <a:lnTo>
                    <a:pt x="52501" y="6755"/>
                  </a:lnTo>
                  <a:lnTo>
                    <a:pt x="85961" y="0"/>
                  </a:lnTo>
                  <a:lnTo>
                    <a:pt x="976112" y="0"/>
                  </a:lnTo>
                  <a:lnTo>
                    <a:pt x="1023804" y="14442"/>
                  </a:lnTo>
                  <a:lnTo>
                    <a:pt x="1055530" y="53065"/>
                  </a:lnTo>
                  <a:lnTo>
                    <a:pt x="1062074" y="85961"/>
                  </a:lnTo>
                  <a:lnTo>
                    <a:pt x="1062074" y="429795"/>
                  </a:lnTo>
                  <a:lnTo>
                    <a:pt x="1055318" y="463255"/>
                  </a:lnTo>
                  <a:lnTo>
                    <a:pt x="1036896" y="490579"/>
                  </a:lnTo>
                  <a:lnTo>
                    <a:pt x="1009572" y="509001"/>
                  </a:lnTo>
                  <a:lnTo>
                    <a:pt x="976112" y="515757"/>
                  </a:lnTo>
                  <a:lnTo>
                    <a:pt x="85961" y="515757"/>
                  </a:lnTo>
                  <a:lnTo>
                    <a:pt x="52501" y="509001"/>
                  </a:lnTo>
                  <a:lnTo>
                    <a:pt x="25177" y="490579"/>
                  </a:lnTo>
                  <a:lnTo>
                    <a:pt x="6755" y="463255"/>
                  </a:lnTo>
                  <a:lnTo>
                    <a:pt x="0" y="429795"/>
                  </a:lnTo>
                  <a:lnTo>
                    <a:pt x="0" y="8596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196399" y="905783"/>
            <a:ext cx="49022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Pod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50" dirty="0">
                <a:latin typeface="Arial"/>
                <a:cs typeface="Arial"/>
              </a:rPr>
              <a:t>1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28615" y="1933524"/>
            <a:ext cx="603885" cy="34734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indent="144145">
              <a:lnSpc>
                <a:spcPct val="101200"/>
              </a:lnSpc>
              <a:spcBef>
                <a:spcPts val="85"/>
              </a:spcBef>
            </a:pPr>
            <a:r>
              <a:rPr sz="1050" spc="-20" dirty="0">
                <a:latin typeface="Arial"/>
                <a:cs typeface="Arial"/>
              </a:rPr>
              <a:t>Main </a:t>
            </a:r>
            <a:r>
              <a:rPr sz="1050" spc="-10" dirty="0">
                <a:latin typeface="Arial"/>
                <a:cs typeface="Arial"/>
              </a:rPr>
              <a:t>Controller</a:t>
            </a:r>
            <a:endParaRPr sz="10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24527" y="2324670"/>
            <a:ext cx="599440" cy="213360"/>
          </a:xfrm>
          <a:prstGeom prst="rect">
            <a:avLst/>
          </a:prstGeom>
          <a:solidFill>
            <a:srgbClr val="B49FFF"/>
          </a:solidFill>
          <a:ln w="12699">
            <a:solidFill>
              <a:srgbClr val="127BB4"/>
            </a:solidFill>
          </a:ln>
        </p:spPr>
        <p:txBody>
          <a:bodyPr vert="horz" wrap="square" lIns="0" tIns="9525" rIns="0" bIns="0" rtlCol="0">
            <a:spAutoFit/>
          </a:bodyPr>
          <a:lstStyle/>
          <a:p>
            <a:pPr marL="108585">
              <a:lnSpc>
                <a:spcPct val="100000"/>
              </a:lnSpc>
              <a:spcBef>
                <a:spcPts val="75"/>
              </a:spcBef>
            </a:pP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:8080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905891" y="3308115"/>
            <a:ext cx="1010285" cy="323215"/>
            <a:chOff x="1905891" y="3308115"/>
            <a:chExt cx="1010285" cy="323215"/>
          </a:xfrm>
        </p:grpSpPr>
        <p:sp>
          <p:nvSpPr>
            <p:cNvPr id="12" name="object 12"/>
            <p:cNvSpPr/>
            <p:nvPr/>
          </p:nvSpPr>
          <p:spPr>
            <a:xfrm>
              <a:off x="1912241" y="3314465"/>
              <a:ext cx="997585" cy="310515"/>
            </a:xfrm>
            <a:custGeom>
              <a:avLst/>
              <a:gdLst/>
              <a:ahLst/>
              <a:cxnLst/>
              <a:rect l="l" t="t" r="r" b="b"/>
              <a:pathLst>
                <a:path w="997585" h="310514">
                  <a:moveTo>
                    <a:pt x="945647" y="310284"/>
                  </a:moveTo>
                  <a:lnTo>
                    <a:pt x="51715" y="310284"/>
                  </a:lnTo>
                  <a:lnTo>
                    <a:pt x="31585" y="306220"/>
                  </a:lnTo>
                  <a:lnTo>
                    <a:pt x="15147" y="295137"/>
                  </a:lnTo>
                  <a:lnTo>
                    <a:pt x="4064" y="278699"/>
                  </a:lnTo>
                  <a:lnTo>
                    <a:pt x="0" y="258569"/>
                  </a:lnTo>
                  <a:lnTo>
                    <a:pt x="0" y="51714"/>
                  </a:lnTo>
                  <a:lnTo>
                    <a:pt x="4064" y="31585"/>
                  </a:lnTo>
                  <a:lnTo>
                    <a:pt x="15147" y="15146"/>
                  </a:lnTo>
                  <a:lnTo>
                    <a:pt x="31585" y="4063"/>
                  </a:lnTo>
                  <a:lnTo>
                    <a:pt x="51715" y="0"/>
                  </a:lnTo>
                  <a:lnTo>
                    <a:pt x="945647" y="0"/>
                  </a:lnTo>
                  <a:lnTo>
                    <a:pt x="982215" y="15146"/>
                  </a:lnTo>
                  <a:lnTo>
                    <a:pt x="997362" y="51714"/>
                  </a:lnTo>
                  <a:lnTo>
                    <a:pt x="997362" y="258569"/>
                  </a:lnTo>
                  <a:lnTo>
                    <a:pt x="993298" y="278699"/>
                  </a:lnTo>
                  <a:lnTo>
                    <a:pt x="982215" y="295137"/>
                  </a:lnTo>
                  <a:lnTo>
                    <a:pt x="965777" y="306220"/>
                  </a:lnTo>
                  <a:lnTo>
                    <a:pt x="945647" y="310284"/>
                  </a:lnTo>
                  <a:close/>
                </a:path>
              </a:pathLst>
            </a:custGeom>
            <a:solidFill>
              <a:srgbClr val="73CC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912241" y="3314465"/>
              <a:ext cx="997585" cy="310515"/>
            </a:xfrm>
            <a:custGeom>
              <a:avLst/>
              <a:gdLst/>
              <a:ahLst/>
              <a:cxnLst/>
              <a:rect l="l" t="t" r="r" b="b"/>
              <a:pathLst>
                <a:path w="997585" h="310514">
                  <a:moveTo>
                    <a:pt x="0" y="51714"/>
                  </a:moveTo>
                  <a:lnTo>
                    <a:pt x="4064" y="31585"/>
                  </a:lnTo>
                  <a:lnTo>
                    <a:pt x="15147" y="15146"/>
                  </a:lnTo>
                  <a:lnTo>
                    <a:pt x="31585" y="4063"/>
                  </a:lnTo>
                  <a:lnTo>
                    <a:pt x="51715" y="0"/>
                  </a:lnTo>
                  <a:lnTo>
                    <a:pt x="945647" y="0"/>
                  </a:lnTo>
                  <a:lnTo>
                    <a:pt x="982215" y="15146"/>
                  </a:lnTo>
                  <a:lnTo>
                    <a:pt x="997362" y="51714"/>
                  </a:lnTo>
                  <a:lnTo>
                    <a:pt x="997362" y="258569"/>
                  </a:lnTo>
                  <a:lnTo>
                    <a:pt x="993298" y="278699"/>
                  </a:lnTo>
                  <a:lnTo>
                    <a:pt x="982215" y="295137"/>
                  </a:lnTo>
                  <a:lnTo>
                    <a:pt x="965777" y="306220"/>
                  </a:lnTo>
                  <a:lnTo>
                    <a:pt x="945647" y="310284"/>
                  </a:lnTo>
                  <a:lnTo>
                    <a:pt x="51715" y="310284"/>
                  </a:lnTo>
                  <a:lnTo>
                    <a:pt x="31585" y="306220"/>
                  </a:lnTo>
                  <a:lnTo>
                    <a:pt x="15147" y="295137"/>
                  </a:lnTo>
                  <a:lnTo>
                    <a:pt x="4064" y="278699"/>
                  </a:lnTo>
                  <a:lnTo>
                    <a:pt x="0" y="258569"/>
                  </a:lnTo>
                  <a:lnTo>
                    <a:pt x="0" y="51714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038059" y="3360323"/>
            <a:ext cx="7454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"/>
                <a:cs typeface="Arial"/>
              </a:rPr>
              <a:t>10.0.30.50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399185" y="1216477"/>
            <a:ext cx="2753360" cy="2270760"/>
            <a:chOff x="5399185" y="1216477"/>
            <a:chExt cx="2753360" cy="2270760"/>
          </a:xfrm>
        </p:grpSpPr>
        <p:sp>
          <p:nvSpPr>
            <p:cNvPr id="16" name="object 16"/>
            <p:cNvSpPr/>
            <p:nvPr/>
          </p:nvSpPr>
          <p:spPr>
            <a:xfrm>
              <a:off x="5405535" y="1222827"/>
              <a:ext cx="2740660" cy="2258060"/>
            </a:xfrm>
            <a:custGeom>
              <a:avLst/>
              <a:gdLst/>
              <a:ahLst/>
              <a:cxnLst/>
              <a:rect l="l" t="t" r="r" b="b"/>
              <a:pathLst>
                <a:path w="2740659" h="2258060">
                  <a:moveTo>
                    <a:pt x="2364115" y="2257564"/>
                  </a:moveTo>
                  <a:lnTo>
                    <a:pt x="376268" y="2257564"/>
                  </a:lnTo>
                  <a:lnTo>
                    <a:pt x="329069" y="2254633"/>
                  </a:lnTo>
                  <a:lnTo>
                    <a:pt x="283621" y="2246073"/>
                  </a:lnTo>
                  <a:lnTo>
                    <a:pt x="240274" y="2232237"/>
                  </a:lnTo>
                  <a:lnTo>
                    <a:pt x="199382" y="2213479"/>
                  </a:lnTo>
                  <a:lnTo>
                    <a:pt x="161298" y="2190150"/>
                  </a:lnTo>
                  <a:lnTo>
                    <a:pt x="126373" y="2162603"/>
                  </a:lnTo>
                  <a:lnTo>
                    <a:pt x="94961" y="2131191"/>
                  </a:lnTo>
                  <a:lnTo>
                    <a:pt x="67414" y="2096266"/>
                  </a:lnTo>
                  <a:lnTo>
                    <a:pt x="44085" y="2058182"/>
                  </a:lnTo>
                  <a:lnTo>
                    <a:pt x="25327" y="2017290"/>
                  </a:lnTo>
                  <a:lnTo>
                    <a:pt x="11491" y="1973943"/>
                  </a:lnTo>
                  <a:lnTo>
                    <a:pt x="2931" y="1928495"/>
                  </a:lnTo>
                  <a:lnTo>
                    <a:pt x="0" y="1881296"/>
                  </a:lnTo>
                  <a:lnTo>
                    <a:pt x="0" y="376268"/>
                  </a:lnTo>
                  <a:lnTo>
                    <a:pt x="2931" y="329070"/>
                  </a:lnTo>
                  <a:lnTo>
                    <a:pt x="11491" y="283621"/>
                  </a:lnTo>
                  <a:lnTo>
                    <a:pt x="25327" y="240274"/>
                  </a:lnTo>
                  <a:lnTo>
                    <a:pt x="44085" y="199382"/>
                  </a:lnTo>
                  <a:lnTo>
                    <a:pt x="67414" y="161298"/>
                  </a:lnTo>
                  <a:lnTo>
                    <a:pt x="94961" y="126373"/>
                  </a:lnTo>
                  <a:lnTo>
                    <a:pt x="126373" y="94961"/>
                  </a:lnTo>
                  <a:lnTo>
                    <a:pt x="161298" y="67414"/>
                  </a:lnTo>
                  <a:lnTo>
                    <a:pt x="199382" y="44085"/>
                  </a:lnTo>
                  <a:lnTo>
                    <a:pt x="240274" y="25327"/>
                  </a:lnTo>
                  <a:lnTo>
                    <a:pt x="283621" y="11491"/>
                  </a:lnTo>
                  <a:lnTo>
                    <a:pt x="329069" y="2931"/>
                  </a:lnTo>
                  <a:lnTo>
                    <a:pt x="376268" y="0"/>
                  </a:lnTo>
                  <a:lnTo>
                    <a:pt x="2364115" y="0"/>
                  </a:lnTo>
                  <a:lnTo>
                    <a:pt x="2413573" y="3263"/>
                  </a:lnTo>
                  <a:lnTo>
                    <a:pt x="2461765" y="12891"/>
                  </a:lnTo>
                  <a:lnTo>
                    <a:pt x="2508106" y="28641"/>
                  </a:lnTo>
                  <a:lnTo>
                    <a:pt x="2552012" y="50272"/>
                  </a:lnTo>
                  <a:lnTo>
                    <a:pt x="2592897" y="77541"/>
                  </a:lnTo>
                  <a:lnTo>
                    <a:pt x="2630177" y="110206"/>
                  </a:lnTo>
                  <a:lnTo>
                    <a:pt x="2662842" y="147486"/>
                  </a:lnTo>
                  <a:lnTo>
                    <a:pt x="2690111" y="188371"/>
                  </a:lnTo>
                  <a:lnTo>
                    <a:pt x="2711741" y="232276"/>
                  </a:lnTo>
                  <a:lnTo>
                    <a:pt x="2727492" y="278618"/>
                  </a:lnTo>
                  <a:lnTo>
                    <a:pt x="2737120" y="326810"/>
                  </a:lnTo>
                  <a:lnTo>
                    <a:pt x="2740383" y="376268"/>
                  </a:lnTo>
                  <a:lnTo>
                    <a:pt x="2740383" y="1881296"/>
                  </a:lnTo>
                  <a:lnTo>
                    <a:pt x="2737451" y="1928495"/>
                  </a:lnTo>
                  <a:lnTo>
                    <a:pt x="2728891" y="1973943"/>
                  </a:lnTo>
                  <a:lnTo>
                    <a:pt x="2715056" y="2017290"/>
                  </a:lnTo>
                  <a:lnTo>
                    <a:pt x="2696297" y="2058182"/>
                  </a:lnTo>
                  <a:lnTo>
                    <a:pt x="2672968" y="2096266"/>
                  </a:lnTo>
                  <a:lnTo>
                    <a:pt x="2645421" y="2131191"/>
                  </a:lnTo>
                  <a:lnTo>
                    <a:pt x="2614010" y="2162603"/>
                  </a:lnTo>
                  <a:lnTo>
                    <a:pt x="2579085" y="2190150"/>
                  </a:lnTo>
                  <a:lnTo>
                    <a:pt x="2541000" y="2213479"/>
                  </a:lnTo>
                  <a:lnTo>
                    <a:pt x="2500109" y="2232237"/>
                  </a:lnTo>
                  <a:lnTo>
                    <a:pt x="2456762" y="2246073"/>
                  </a:lnTo>
                  <a:lnTo>
                    <a:pt x="2411313" y="2254633"/>
                  </a:lnTo>
                  <a:lnTo>
                    <a:pt x="2364115" y="2257564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405535" y="1222827"/>
              <a:ext cx="2740660" cy="2258060"/>
            </a:xfrm>
            <a:custGeom>
              <a:avLst/>
              <a:gdLst/>
              <a:ahLst/>
              <a:cxnLst/>
              <a:rect l="l" t="t" r="r" b="b"/>
              <a:pathLst>
                <a:path w="2740659" h="2258060">
                  <a:moveTo>
                    <a:pt x="0" y="376268"/>
                  </a:moveTo>
                  <a:lnTo>
                    <a:pt x="2931" y="329070"/>
                  </a:lnTo>
                  <a:lnTo>
                    <a:pt x="11491" y="283621"/>
                  </a:lnTo>
                  <a:lnTo>
                    <a:pt x="25327" y="240274"/>
                  </a:lnTo>
                  <a:lnTo>
                    <a:pt x="44085" y="199382"/>
                  </a:lnTo>
                  <a:lnTo>
                    <a:pt x="67414" y="161298"/>
                  </a:lnTo>
                  <a:lnTo>
                    <a:pt x="94961" y="126373"/>
                  </a:lnTo>
                  <a:lnTo>
                    <a:pt x="126373" y="94961"/>
                  </a:lnTo>
                  <a:lnTo>
                    <a:pt x="161298" y="67414"/>
                  </a:lnTo>
                  <a:lnTo>
                    <a:pt x="199382" y="44085"/>
                  </a:lnTo>
                  <a:lnTo>
                    <a:pt x="240274" y="25327"/>
                  </a:lnTo>
                  <a:lnTo>
                    <a:pt x="283621" y="11491"/>
                  </a:lnTo>
                  <a:lnTo>
                    <a:pt x="329069" y="2931"/>
                  </a:lnTo>
                  <a:lnTo>
                    <a:pt x="376268" y="0"/>
                  </a:lnTo>
                  <a:lnTo>
                    <a:pt x="2364115" y="0"/>
                  </a:lnTo>
                  <a:lnTo>
                    <a:pt x="2413573" y="3263"/>
                  </a:lnTo>
                  <a:lnTo>
                    <a:pt x="2461765" y="12891"/>
                  </a:lnTo>
                  <a:lnTo>
                    <a:pt x="2508106" y="28641"/>
                  </a:lnTo>
                  <a:lnTo>
                    <a:pt x="2552012" y="50272"/>
                  </a:lnTo>
                  <a:lnTo>
                    <a:pt x="2592897" y="77541"/>
                  </a:lnTo>
                  <a:lnTo>
                    <a:pt x="2630177" y="110206"/>
                  </a:lnTo>
                  <a:lnTo>
                    <a:pt x="2662842" y="147486"/>
                  </a:lnTo>
                  <a:lnTo>
                    <a:pt x="2690111" y="188371"/>
                  </a:lnTo>
                  <a:lnTo>
                    <a:pt x="2711741" y="232276"/>
                  </a:lnTo>
                  <a:lnTo>
                    <a:pt x="2727492" y="278618"/>
                  </a:lnTo>
                  <a:lnTo>
                    <a:pt x="2737120" y="326810"/>
                  </a:lnTo>
                  <a:lnTo>
                    <a:pt x="2740383" y="376268"/>
                  </a:lnTo>
                  <a:lnTo>
                    <a:pt x="2740383" y="1881296"/>
                  </a:lnTo>
                  <a:lnTo>
                    <a:pt x="2737451" y="1928495"/>
                  </a:lnTo>
                  <a:lnTo>
                    <a:pt x="2728891" y="1973943"/>
                  </a:lnTo>
                  <a:lnTo>
                    <a:pt x="2715056" y="2017290"/>
                  </a:lnTo>
                  <a:lnTo>
                    <a:pt x="2696297" y="2058182"/>
                  </a:lnTo>
                  <a:lnTo>
                    <a:pt x="2672968" y="2096266"/>
                  </a:lnTo>
                  <a:lnTo>
                    <a:pt x="2645421" y="2131191"/>
                  </a:lnTo>
                  <a:lnTo>
                    <a:pt x="2614010" y="2162603"/>
                  </a:lnTo>
                  <a:lnTo>
                    <a:pt x="2579085" y="2190150"/>
                  </a:lnTo>
                  <a:lnTo>
                    <a:pt x="2541000" y="2213479"/>
                  </a:lnTo>
                  <a:lnTo>
                    <a:pt x="2500109" y="2232237"/>
                  </a:lnTo>
                  <a:lnTo>
                    <a:pt x="2456762" y="2246073"/>
                  </a:lnTo>
                  <a:lnTo>
                    <a:pt x="2411313" y="2254633"/>
                  </a:lnTo>
                  <a:lnTo>
                    <a:pt x="2364115" y="2257564"/>
                  </a:lnTo>
                  <a:lnTo>
                    <a:pt x="376268" y="2257564"/>
                  </a:lnTo>
                  <a:lnTo>
                    <a:pt x="329069" y="2254633"/>
                  </a:lnTo>
                  <a:lnTo>
                    <a:pt x="283621" y="2246073"/>
                  </a:lnTo>
                  <a:lnTo>
                    <a:pt x="240274" y="2232237"/>
                  </a:lnTo>
                  <a:lnTo>
                    <a:pt x="199382" y="2213479"/>
                  </a:lnTo>
                  <a:lnTo>
                    <a:pt x="161298" y="2190150"/>
                  </a:lnTo>
                  <a:lnTo>
                    <a:pt x="126373" y="2162603"/>
                  </a:lnTo>
                  <a:lnTo>
                    <a:pt x="94961" y="2131191"/>
                  </a:lnTo>
                  <a:lnTo>
                    <a:pt x="67414" y="2096266"/>
                  </a:lnTo>
                  <a:lnTo>
                    <a:pt x="44085" y="2058182"/>
                  </a:lnTo>
                  <a:lnTo>
                    <a:pt x="25327" y="2017290"/>
                  </a:lnTo>
                  <a:lnTo>
                    <a:pt x="11491" y="1973943"/>
                  </a:lnTo>
                  <a:lnTo>
                    <a:pt x="2931" y="1928495"/>
                  </a:lnTo>
                  <a:lnTo>
                    <a:pt x="0" y="1881296"/>
                  </a:lnTo>
                  <a:lnTo>
                    <a:pt x="0" y="376268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267305" y="1821423"/>
              <a:ext cx="1346200" cy="716280"/>
            </a:xfrm>
            <a:custGeom>
              <a:avLst/>
              <a:gdLst/>
              <a:ahLst/>
              <a:cxnLst/>
              <a:rect l="l" t="t" r="r" b="b"/>
              <a:pathLst>
                <a:path w="1346200" h="716280">
                  <a:moveTo>
                    <a:pt x="1226501" y="716042"/>
                  </a:moveTo>
                  <a:lnTo>
                    <a:pt x="119342" y="716042"/>
                  </a:lnTo>
                  <a:lnTo>
                    <a:pt x="72889" y="706664"/>
                  </a:lnTo>
                  <a:lnTo>
                    <a:pt x="34954" y="681088"/>
                  </a:lnTo>
                  <a:lnTo>
                    <a:pt x="9378" y="643153"/>
                  </a:lnTo>
                  <a:lnTo>
                    <a:pt x="0" y="596700"/>
                  </a:lnTo>
                  <a:lnTo>
                    <a:pt x="0" y="119342"/>
                  </a:lnTo>
                  <a:lnTo>
                    <a:pt x="9378" y="72889"/>
                  </a:lnTo>
                  <a:lnTo>
                    <a:pt x="34954" y="34954"/>
                  </a:lnTo>
                  <a:lnTo>
                    <a:pt x="72889" y="9378"/>
                  </a:lnTo>
                  <a:lnTo>
                    <a:pt x="119342" y="0"/>
                  </a:lnTo>
                  <a:lnTo>
                    <a:pt x="1226501" y="0"/>
                  </a:lnTo>
                  <a:lnTo>
                    <a:pt x="1272172" y="9084"/>
                  </a:lnTo>
                  <a:lnTo>
                    <a:pt x="1310890" y="34954"/>
                  </a:lnTo>
                  <a:lnTo>
                    <a:pt x="1336760" y="73672"/>
                  </a:lnTo>
                  <a:lnTo>
                    <a:pt x="1345844" y="119342"/>
                  </a:lnTo>
                  <a:lnTo>
                    <a:pt x="1345844" y="596700"/>
                  </a:lnTo>
                  <a:lnTo>
                    <a:pt x="1336466" y="643153"/>
                  </a:lnTo>
                  <a:lnTo>
                    <a:pt x="1310890" y="681088"/>
                  </a:lnTo>
                  <a:lnTo>
                    <a:pt x="1272955" y="706664"/>
                  </a:lnTo>
                  <a:lnTo>
                    <a:pt x="1226501" y="716042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267305" y="1821423"/>
              <a:ext cx="1346200" cy="716280"/>
            </a:xfrm>
            <a:custGeom>
              <a:avLst/>
              <a:gdLst/>
              <a:ahLst/>
              <a:cxnLst/>
              <a:rect l="l" t="t" r="r" b="b"/>
              <a:pathLst>
                <a:path w="1346200" h="716280">
                  <a:moveTo>
                    <a:pt x="0" y="119342"/>
                  </a:moveTo>
                  <a:lnTo>
                    <a:pt x="9378" y="72889"/>
                  </a:lnTo>
                  <a:lnTo>
                    <a:pt x="34954" y="34954"/>
                  </a:lnTo>
                  <a:lnTo>
                    <a:pt x="72889" y="9378"/>
                  </a:lnTo>
                  <a:lnTo>
                    <a:pt x="119342" y="0"/>
                  </a:lnTo>
                  <a:lnTo>
                    <a:pt x="1226501" y="0"/>
                  </a:lnTo>
                  <a:lnTo>
                    <a:pt x="1272172" y="9084"/>
                  </a:lnTo>
                  <a:lnTo>
                    <a:pt x="1310890" y="34954"/>
                  </a:lnTo>
                  <a:lnTo>
                    <a:pt x="1336760" y="73672"/>
                  </a:lnTo>
                  <a:lnTo>
                    <a:pt x="1345844" y="119342"/>
                  </a:lnTo>
                  <a:lnTo>
                    <a:pt x="1345844" y="596700"/>
                  </a:lnTo>
                  <a:lnTo>
                    <a:pt x="1336466" y="643153"/>
                  </a:lnTo>
                  <a:lnTo>
                    <a:pt x="1310890" y="681088"/>
                  </a:lnTo>
                  <a:lnTo>
                    <a:pt x="1272955" y="706664"/>
                  </a:lnTo>
                  <a:lnTo>
                    <a:pt x="1226501" y="716042"/>
                  </a:lnTo>
                  <a:lnTo>
                    <a:pt x="119342" y="716042"/>
                  </a:lnTo>
                  <a:lnTo>
                    <a:pt x="72889" y="706664"/>
                  </a:lnTo>
                  <a:lnTo>
                    <a:pt x="34954" y="681088"/>
                  </a:lnTo>
                  <a:lnTo>
                    <a:pt x="9378" y="643153"/>
                  </a:lnTo>
                  <a:lnTo>
                    <a:pt x="0" y="596700"/>
                  </a:lnTo>
                  <a:lnTo>
                    <a:pt x="0" y="119342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6561203" y="905783"/>
            <a:ext cx="49022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Pod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50" dirty="0">
                <a:latin typeface="Arial"/>
                <a:cs typeface="Arial"/>
              </a:rPr>
              <a:t>2</a:t>
            </a:r>
            <a:endParaRPr sz="14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558955" y="1979674"/>
            <a:ext cx="762635" cy="38925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50800" marR="5080" indent="-38735">
              <a:lnSpc>
                <a:spcPts val="1430"/>
              </a:lnSpc>
              <a:spcBef>
                <a:spcPts val="155"/>
              </a:spcBef>
            </a:pPr>
            <a:r>
              <a:rPr sz="1200" spc="-10" dirty="0">
                <a:latin typeface="Arial"/>
                <a:cs typeface="Arial"/>
              </a:rPr>
              <a:t>Supporting Controller</a:t>
            </a:r>
            <a:endParaRPr sz="12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640803" y="2453518"/>
            <a:ext cx="599440" cy="213360"/>
          </a:xfrm>
          <a:prstGeom prst="rect">
            <a:avLst/>
          </a:prstGeom>
          <a:solidFill>
            <a:srgbClr val="B49FFF"/>
          </a:solidFill>
          <a:ln w="12699">
            <a:solidFill>
              <a:srgbClr val="127BB4"/>
            </a:solidFill>
          </a:ln>
        </p:spPr>
        <p:txBody>
          <a:bodyPr vert="horz" wrap="square" lIns="0" tIns="9525" rIns="0" bIns="0" rtlCol="0">
            <a:spAutoFit/>
          </a:bodyPr>
          <a:lstStyle/>
          <a:p>
            <a:pPr marL="108585">
              <a:lnSpc>
                <a:spcPct val="100000"/>
              </a:lnSpc>
              <a:spcBef>
                <a:spcPts val="75"/>
              </a:spcBef>
            </a:pP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:7777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6435194" y="3289512"/>
            <a:ext cx="1010285" cy="323215"/>
            <a:chOff x="6435194" y="3289512"/>
            <a:chExt cx="1010285" cy="323215"/>
          </a:xfrm>
        </p:grpSpPr>
        <p:sp>
          <p:nvSpPr>
            <p:cNvPr id="24" name="object 24"/>
            <p:cNvSpPr/>
            <p:nvPr/>
          </p:nvSpPr>
          <p:spPr>
            <a:xfrm>
              <a:off x="6441544" y="3295862"/>
              <a:ext cx="997585" cy="310515"/>
            </a:xfrm>
            <a:custGeom>
              <a:avLst/>
              <a:gdLst/>
              <a:ahLst/>
              <a:cxnLst/>
              <a:rect l="l" t="t" r="r" b="b"/>
              <a:pathLst>
                <a:path w="997584" h="310514">
                  <a:moveTo>
                    <a:pt x="945647" y="310285"/>
                  </a:moveTo>
                  <a:lnTo>
                    <a:pt x="51714" y="310285"/>
                  </a:lnTo>
                  <a:lnTo>
                    <a:pt x="31585" y="306221"/>
                  </a:lnTo>
                  <a:lnTo>
                    <a:pt x="15146" y="295138"/>
                  </a:lnTo>
                  <a:lnTo>
                    <a:pt x="4064" y="278699"/>
                  </a:lnTo>
                  <a:lnTo>
                    <a:pt x="0" y="258569"/>
                  </a:lnTo>
                  <a:lnTo>
                    <a:pt x="0" y="51715"/>
                  </a:lnTo>
                  <a:lnTo>
                    <a:pt x="4064" y="31585"/>
                  </a:lnTo>
                  <a:lnTo>
                    <a:pt x="15146" y="15146"/>
                  </a:lnTo>
                  <a:lnTo>
                    <a:pt x="31585" y="4064"/>
                  </a:lnTo>
                  <a:lnTo>
                    <a:pt x="51714" y="0"/>
                  </a:lnTo>
                  <a:lnTo>
                    <a:pt x="945647" y="0"/>
                  </a:lnTo>
                  <a:lnTo>
                    <a:pt x="982215" y="15146"/>
                  </a:lnTo>
                  <a:lnTo>
                    <a:pt x="997362" y="51715"/>
                  </a:lnTo>
                  <a:lnTo>
                    <a:pt x="997362" y="258569"/>
                  </a:lnTo>
                  <a:lnTo>
                    <a:pt x="993298" y="278699"/>
                  </a:lnTo>
                  <a:lnTo>
                    <a:pt x="982215" y="295138"/>
                  </a:lnTo>
                  <a:lnTo>
                    <a:pt x="965777" y="306221"/>
                  </a:lnTo>
                  <a:lnTo>
                    <a:pt x="945647" y="310285"/>
                  </a:lnTo>
                  <a:close/>
                </a:path>
              </a:pathLst>
            </a:custGeom>
            <a:solidFill>
              <a:srgbClr val="73CC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441544" y="3295862"/>
              <a:ext cx="997585" cy="310515"/>
            </a:xfrm>
            <a:custGeom>
              <a:avLst/>
              <a:gdLst/>
              <a:ahLst/>
              <a:cxnLst/>
              <a:rect l="l" t="t" r="r" b="b"/>
              <a:pathLst>
                <a:path w="997584" h="310514">
                  <a:moveTo>
                    <a:pt x="0" y="51715"/>
                  </a:moveTo>
                  <a:lnTo>
                    <a:pt x="4064" y="31585"/>
                  </a:lnTo>
                  <a:lnTo>
                    <a:pt x="15146" y="15146"/>
                  </a:lnTo>
                  <a:lnTo>
                    <a:pt x="31585" y="4064"/>
                  </a:lnTo>
                  <a:lnTo>
                    <a:pt x="51714" y="0"/>
                  </a:lnTo>
                  <a:lnTo>
                    <a:pt x="945647" y="0"/>
                  </a:lnTo>
                  <a:lnTo>
                    <a:pt x="982215" y="15146"/>
                  </a:lnTo>
                  <a:lnTo>
                    <a:pt x="997362" y="51715"/>
                  </a:lnTo>
                  <a:lnTo>
                    <a:pt x="997362" y="258569"/>
                  </a:lnTo>
                  <a:lnTo>
                    <a:pt x="993298" y="278699"/>
                  </a:lnTo>
                  <a:lnTo>
                    <a:pt x="982215" y="295138"/>
                  </a:lnTo>
                  <a:lnTo>
                    <a:pt x="965777" y="306221"/>
                  </a:lnTo>
                  <a:lnTo>
                    <a:pt x="945647" y="310285"/>
                  </a:lnTo>
                  <a:lnTo>
                    <a:pt x="51714" y="310285"/>
                  </a:lnTo>
                  <a:lnTo>
                    <a:pt x="31585" y="306221"/>
                  </a:lnTo>
                  <a:lnTo>
                    <a:pt x="15146" y="295138"/>
                  </a:lnTo>
                  <a:lnTo>
                    <a:pt x="4064" y="278699"/>
                  </a:lnTo>
                  <a:lnTo>
                    <a:pt x="0" y="258569"/>
                  </a:lnTo>
                  <a:lnTo>
                    <a:pt x="0" y="51715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6567362" y="3341721"/>
            <a:ext cx="7454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"/>
                <a:cs typeface="Arial"/>
              </a:rPr>
              <a:t>10.0.30.60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2442238" y="1865040"/>
            <a:ext cx="1252220" cy="497205"/>
            <a:chOff x="2442238" y="1865040"/>
            <a:chExt cx="1252220" cy="497205"/>
          </a:xfrm>
        </p:grpSpPr>
        <p:sp>
          <p:nvSpPr>
            <p:cNvPr id="28" name="object 28"/>
            <p:cNvSpPr/>
            <p:nvPr/>
          </p:nvSpPr>
          <p:spPr>
            <a:xfrm>
              <a:off x="2448588" y="1871390"/>
              <a:ext cx="1239520" cy="484505"/>
            </a:xfrm>
            <a:custGeom>
              <a:avLst/>
              <a:gdLst/>
              <a:ahLst/>
              <a:cxnLst/>
              <a:rect l="l" t="t" r="r" b="b"/>
              <a:pathLst>
                <a:path w="1239520" h="484505">
                  <a:moveTo>
                    <a:pt x="1158634" y="484185"/>
                  </a:moveTo>
                  <a:lnTo>
                    <a:pt x="80699" y="484185"/>
                  </a:lnTo>
                  <a:lnTo>
                    <a:pt x="49287" y="477844"/>
                  </a:lnTo>
                  <a:lnTo>
                    <a:pt x="23636" y="460549"/>
                  </a:lnTo>
                  <a:lnTo>
                    <a:pt x="6341" y="434898"/>
                  </a:lnTo>
                  <a:lnTo>
                    <a:pt x="0" y="403486"/>
                  </a:lnTo>
                  <a:lnTo>
                    <a:pt x="0" y="80699"/>
                  </a:lnTo>
                  <a:lnTo>
                    <a:pt x="6234" y="49817"/>
                  </a:lnTo>
                  <a:lnTo>
                    <a:pt x="6341" y="49287"/>
                  </a:lnTo>
                  <a:lnTo>
                    <a:pt x="23636" y="23636"/>
                  </a:lnTo>
                  <a:lnTo>
                    <a:pt x="49287" y="6341"/>
                  </a:lnTo>
                  <a:lnTo>
                    <a:pt x="80699" y="0"/>
                  </a:lnTo>
                  <a:lnTo>
                    <a:pt x="1158634" y="0"/>
                  </a:lnTo>
                  <a:lnTo>
                    <a:pt x="1203406" y="13558"/>
                  </a:lnTo>
                  <a:lnTo>
                    <a:pt x="1233191" y="49817"/>
                  </a:lnTo>
                  <a:lnTo>
                    <a:pt x="1239333" y="80699"/>
                  </a:lnTo>
                  <a:lnTo>
                    <a:pt x="1239333" y="403486"/>
                  </a:lnTo>
                  <a:lnTo>
                    <a:pt x="1232992" y="434898"/>
                  </a:lnTo>
                  <a:lnTo>
                    <a:pt x="1215697" y="460549"/>
                  </a:lnTo>
                  <a:lnTo>
                    <a:pt x="1190046" y="477844"/>
                  </a:lnTo>
                  <a:lnTo>
                    <a:pt x="1158634" y="484185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448588" y="1871390"/>
              <a:ext cx="1239520" cy="484505"/>
            </a:xfrm>
            <a:custGeom>
              <a:avLst/>
              <a:gdLst/>
              <a:ahLst/>
              <a:cxnLst/>
              <a:rect l="l" t="t" r="r" b="b"/>
              <a:pathLst>
                <a:path w="1239520" h="484505">
                  <a:moveTo>
                    <a:pt x="0" y="80699"/>
                  </a:moveTo>
                  <a:lnTo>
                    <a:pt x="6341" y="49287"/>
                  </a:lnTo>
                  <a:lnTo>
                    <a:pt x="23636" y="23636"/>
                  </a:lnTo>
                  <a:lnTo>
                    <a:pt x="49287" y="6341"/>
                  </a:lnTo>
                  <a:lnTo>
                    <a:pt x="80699" y="0"/>
                  </a:lnTo>
                  <a:lnTo>
                    <a:pt x="1158634" y="0"/>
                  </a:lnTo>
                  <a:lnTo>
                    <a:pt x="1203406" y="13558"/>
                  </a:lnTo>
                  <a:lnTo>
                    <a:pt x="1233191" y="49817"/>
                  </a:lnTo>
                  <a:lnTo>
                    <a:pt x="1239333" y="80699"/>
                  </a:lnTo>
                  <a:lnTo>
                    <a:pt x="1239333" y="403486"/>
                  </a:lnTo>
                  <a:lnTo>
                    <a:pt x="1232992" y="434898"/>
                  </a:lnTo>
                  <a:lnTo>
                    <a:pt x="1215697" y="460549"/>
                  </a:lnTo>
                  <a:lnTo>
                    <a:pt x="1190046" y="477844"/>
                  </a:lnTo>
                  <a:lnTo>
                    <a:pt x="1158634" y="484185"/>
                  </a:lnTo>
                  <a:lnTo>
                    <a:pt x="80699" y="484185"/>
                  </a:lnTo>
                  <a:lnTo>
                    <a:pt x="49287" y="477844"/>
                  </a:lnTo>
                  <a:lnTo>
                    <a:pt x="23636" y="460549"/>
                  </a:lnTo>
                  <a:lnTo>
                    <a:pt x="6341" y="434898"/>
                  </a:lnTo>
                  <a:lnTo>
                    <a:pt x="0" y="403486"/>
                  </a:lnTo>
                  <a:lnTo>
                    <a:pt x="0" y="80699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2686983" y="1913712"/>
            <a:ext cx="762635" cy="38925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50800" marR="5080" indent="-38735">
              <a:lnSpc>
                <a:spcPts val="1430"/>
              </a:lnSpc>
              <a:spcBef>
                <a:spcPts val="155"/>
              </a:spcBef>
            </a:pPr>
            <a:r>
              <a:rPr sz="1200" spc="-10" dirty="0">
                <a:latin typeface="Arial"/>
                <a:cs typeface="Arial"/>
              </a:rPr>
              <a:t>Supporting Controller</a:t>
            </a:r>
            <a:endParaRPr sz="12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759794" y="2314292"/>
            <a:ext cx="599440" cy="213360"/>
          </a:xfrm>
          <a:prstGeom prst="rect">
            <a:avLst/>
          </a:prstGeom>
          <a:solidFill>
            <a:srgbClr val="B49FFF"/>
          </a:solidFill>
          <a:ln w="12699">
            <a:solidFill>
              <a:srgbClr val="127BB4"/>
            </a:solidFill>
          </a:ln>
        </p:spPr>
        <p:txBody>
          <a:bodyPr vert="horz" wrap="square" lIns="0" tIns="9525" rIns="0" bIns="0" rtlCol="0">
            <a:spAutoFit/>
          </a:bodyPr>
          <a:lstStyle/>
          <a:p>
            <a:pPr marL="108585">
              <a:lnSpc>
                <a:spcPct val="100000"/>
              </a:lnSpc>
              <a:spcBef>
                <a:spcPts val="75"/>
              </a:spcBef>
            </a:pP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:3000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694280" y="2522325"/>
            <a:ext cx="3086100" cy="1885950"/>
            <a:chOff x="694280" y="2522325"/>
            <a:chExt cx="3086100" cy="1885950"/>
          </a:xfrm>
        </p:grpSpPr>
        <p:sp>
          <p:nvSpPr>
            <p:cNvPr id="33" name="object 33"/>
            <p:cNvSpPr/>
            <p:nvPr/>
          </p:nvSpPr>
          <p:spPr>
            <a:xfrm>
              <a:off x="981319" y="2537466"/>
              <a:ext cx="765810" cy="1511300"/>
            </a:xfrm>
            <a:custGeom>
              <a:avLst/>
              <a:gdLst/>
              <a:ahLst/>
              <a:cxnLst/>
              <a:rect l="l" t="t" r="r" b="b"/>
              <a:pathLst>
                <a:path w="765810" h="1511300">
                  <a:moveTo>
                    <a:pt x="765287" y="0"/>
                  </a:moveTo>
                  <a:lnTo>
                    <a:pt x="0" y="1510938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961788" y="4041297"/>
              <a:ext cx="33655" cy="45720"/>
            </a:xfrm>
            <a:custGeom>
              <a:avLst/>
              <a:gdLst/>
              <a:ahLst/>
              <a:cxnLst/>
              <a:rect l="l" t="t" r="r" b="b"/>
              <a:pathLst>
                <a:path w="33655" h="45720">
                  <a:moveTo>
                    <a:pt x="0" y="45669"/>
                  </a:moveTo>
                  <a:lnTo>
                    <a:pt x="5495" y="0"/>
                  </a:lnTo>
                  <a:lnTo>
                    <a:pt x="33566" y="14217"/>
                  </a:lnTo>
                  <a:lnTo>
                    <a:pt x="0" y="45669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961788" y="4041297"/>
              <a:ext cx="33655" cy="45720"/>
            </a:xfrm>
            <a:custGeom>
              <a:avLst/>
              <a:gdLst/>
              <a:ahLst/>
              <a:cxnLst/>
              <a:rect l="l" t="t" r="r" b="b"/>
              <a:pathLst>
                <a:path w="33655" h="45720">
                  <a:moveTo>
                    <a:pt x="5495" y="0"/>
                  </a:moveTo>
                  <a:lnTo>
                    <a:pt x="0" y="45669"/>
                  </a:lnTo>
                  <a:lnTo>
                    <a:pt x="33566" y="14217"/>
                  </a:lnTo>
                  <a:lnTo>
                    <a:pt x="5495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059218" y="2527087"/>
              <a:ext cx="697230" cy="1459230"/>
            </a:xfrm>
            <a:custGeom>
              <a:avLst/>
              <a:gdLst/>
              <a:ahLst/>
              <a:cxnLst/>
              <a:rect l="l" t="t" r="r" b="b"/>
              <a:pathLst>
                <a:path w="697229" h="1459229">
                  <a:moveTo>
                    <a:pt x="0" y="0"/>
                  </a:moveTo>
                  <a:lnTo>
                    <a:pt x="697163" y="1459232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742186" y="3979538"/>
              <a:ext cx="33020" cy="46355"/>
            </a:xfrm>
            <a:custGeom>
              <a:avLst/>
              <a:gdLst/>
              <a:ahLst/>
              <a:cxnLst/>
              <a:rect l="l" t="t" r="r" b="b"/>
              <a:pathLst>
                <a:path w="33020" h="46354">
                  <a:moveTo>
                    <a:pt x="32829" y="45784"/>
                  </a:moveTo>
                  <a:lnTo>
                    <a:pt x="0" y="13564"/>
                  </a:lnTo>
                  <a:lnTo>
                    <a:pt x="28391" y="0"/>
                  </a:lnTo>
                  <a:lnTo>
                    <a:pt x="32829" y="45784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742186" y="3979538"/>
              <a:ext cx="33020" cy="46355"/>
            </a:xfrm>
            <a:custGeom>
              <a:avLst/>
              <a:gdLst/>
              <a:ahLst/>
              <a:cxnLst/>
              <a:rect l="l" t="t" r="r" b="b"/>
              <a:pathLst>
                <a:path w="33020" h="46354">
                  <a:moveTo>
                    <a:pt x="0" y="13564"/>
                  </a:moveTo>
                  <a:lnTo>
                    <a:pt x="32829" y="45784"/>
                  </a:lnTo>
                  <a:lnTo>
                    <a:pt x="28391" y="0"/>
                  </a:lnTo>
                  <a:lnTo>
                    <a:pt x="0" y="13564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700630" y="4141447"/>
              <a:ext cx="1423035" cy="260350"/>
            </a:xfrm>
            <a:custGeom>
              <a:avLst/>
              <a:gdLst/>
              <a:ahLst/>
              <a:cxnLst/>
              <a:rect l="l" t="t" r="r" b="b"/>
              <a:pathLst>
                <a:path w="1423035" h="260350">
                  <a:moveTo>
                    <a:pt x="1379359" y="260301"/>
                  </a:moveTo>
                  <a:lnTo>
                    <a:pt x="43384" y="260301"/>
                  </a:lnTo>
                  <a:lnTo>
                    <a:pt x="26497" y="256892"/>
                  </a:lnTo>
                  <a:lnTo>
                    <a:pt x="12707" y="247594"/>
                  </a:lnTo>
                  <a:lnTo>
                    <a:pt x="3409" y="233804"/>
                  </a:lnTo>
                  <a:lnTo>
                    <a:pt x="0" y="216917"/>
                  </a:lnTo>
                  <a:lnTo>
                    <a:pt x="0" y="43384"/>
                  </a:lnTo>
                  <a:lnTo>
                    <a:pt x="3409" y="26497"/>
                  </a:lnTo>
                  <a:lnTo>
                    <a:pt x="12707" y="12706"/>
                  </a:lnTo>
                  <a:lnTo>
                    <a:pt x="26497" y="3409"/>
                  </a:lnTo>
                  <a:lnTo>
                    <a:pt x="43384" y="0"/>
                  </a:lnTo>
                  <a:lnTo>
                    <a:pt x="1379359" y="0"/>
                  </a:lnTo>
                  <a:lnTo>
                    <a:pt x="1415454" y="19314"/>
                  </a:lnTo>
                  <a:lnTo>
                    <a:pt x="1422743" y="43384"/>
                  </a:lnTo>
                  <a:lnTo>
                    <a:pt x="1422743" y="216917"/>
                  </a:lnTo>
                  <a:lnTo>
                    <a:pt x="1419334" y="233804"/>
                  </a:lnTo>
                  <a:lnTo>
                    <a:pt x="1410036" y="247594"/>
                  </a:lnTo>
                  <a:lnTo>
                    <a:pt x="1396246" y="256892"/>
                  </a:lnTo>
                  <a:lnTo>
                    <a:pt x="1379359" y="260301"/>
                  </a:lnTo>
                  <a:close/>
                </a:path>
              </a:pathLst>
            </a:custGeom>
            <a:solidFill>
              <a:srgbClr val="73CC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700630" y="4141447"/>
              <a:ext cx="1423035" cy="260350"/>
            </a:xfrm>
            <a:custGeom>
              <a:avLst/>
              <a:gdLst/>
              <a:ahLst/>
              <a:cxnLst/>
              <a:rect l="l" t="t" r="r" b="b"/>
              <a:pathLst>
                <a:path w="1423035" h="260350">
                  <a:moveTo>
                    <a:pt x="0" y="43384"/>
                  </a:moveTo>
                  <a:lnTo>
                    <a:pt x="3409" y="26497"/>
                  </a:lnTo>
                  <a:lnTo>
                    <a:pt x="12707" y="12706"/>
                  </a:lnTo>
                  <a:lnTo>
                    <a:pt x="26497" y="3409"/>
                  </a:lnTo>
                  <a:lnTo>
                    <a:pt x="43384" y="0"/>
                  </a:lnTo>
                  <a:lnTo>
                    <a:pt x="1379359" y="0"/>
                  </a:lnTo>
                  <a:lnTo>
                    <a:pt x="1415454" y="19314"/>
                  </a:lnTo>
                  <a:lnTo>
                    <a:pt x="1422743" y="43384"/>
                  </a:lnTo>
                  <a:lnTo>
                    <a:pt x="1422743" y="216917"/>
                  </a:lnTo>
                  <a:lnTo>
                    <a:pt x="1419334" y="233804"/>
                  </a:lnTo>
                  <a:lnTo>
                    <a:pt x="1410036" y="247594"/>
                  </a:lnTo>
                  <a:lnTo>
                    <a:pt x="1396246" y="256892"/>
                  </a:lnTo>
                  <a:lnTo>
                    <a:pt x="1379359" y="260301"/>
                  </a:lnTo>
                  <a:lnTo>
                    <a:pt x="43384" y="260301"/>
                  </a:lnTo>
                  <a:lnTo>
                    <a:pt x="26497" y="256892"/>
                  </a:lnTo>
                  <a:lnTo>
                    <a:pt x="12707" y="247594"/>
                  </a:lnTo>
                  <a:lnTo>
                    <a:pt x="3409" y="233804"/>
                  </a:lnTo>
                  <a:lnTo>
                    <a:pt x="0" y="216917"/>
                  </a:lnTo>
                  <a:lnTo>
                    <a:pt x="0" y="43384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848451" y="4162314"/>
            <a:ext cx="11271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"/>
                <a:cs typeface="Arial"/>
              </a:rPr>
              <a:t>10.0.30.50:8080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3052867" y="4114050"/>
            <a:ext cx="1435735" cy="273050"/>
            <a:chOff x="3052867" y="4114050"/>
            <a:chExt cx="1435735" cy="273050"/>
          </a:xfrm>
        </p:grpSpPr>
        <p:sp>
          <p:nvSpPr>
            <p:cNvPr id="43" name="object 43"/>
            <p:cNvSpPr/>
            <p:nvPr/>
          </p:nvSpPr>
          <p:spPr>
            <a:xfrm>
              <a:off x="3059217" y="4120400"/>
              <a:ext cx="1423035" cy="260350"/>
            </a:xfrm>
            <a:custGeom>
              <a:avLst/>
              <a:gdLst/>
              <a:ahLst/>
              <a:cxnLst/>
              <a:rect l="l" t="t" r="r" b="b"/>
              <a:pathLst>
                <a:path w="1423035" h="260350">
                  <a:moveTo>
                    <a:pt x="1379359" y="260301"/>
                  </a:moveTo>
                  <a:lnTo>
                    <a:pt x="43384" y="260301"/>
                  </a:lnTo>
                  <a:lnTo>
                    <a:pt x="26497" y="256892"/>
                  </a:lnTo>
                  <a:lnTo>
                    <a:pt x="12706" y="247594"/>
                  </a:lnTo>
                  <a:lnTo>
                    <a:pt x="3409" y="233804"/>
                  </a:lnTo>
                  <a:lnTo>
                    <a:pt x="0" y="216917"/>
                  </a:lnTo>
                  <a:lnTo>
                    <a:pt x="0" y="43384"/>
                  </a:lnTo>
                  <a:lnTo>
                    <a:pt x="3409" y="26497"/>
                  </a:lnTo>
                  <a:lnTo>
                    <a:pt x="12706" y="12706"/>
                  </a:lnTo>
                  <a:lnTo>
                    <a:pt x="26497" y="3409"/>
                  </a:lnTo>
                  <a:lnTo>
                    <a:pt x="43384" y="0"/>
                  </a:lnTo>
                  <a:lnTo>
                    <a:pt x="1379359" y="0"/>
                  </a:lnTo>
                  <a:lnTo>
                    <a:pt x="1415454" y="19314"/>
                  </a:lnTo>
                  <a:lnTo>
                    <a:pt x="1422743" y="43384"/>
                  </a:lnTo>
                  <a:lnTo>
                    <a:pt x="1422743" y="216917"/>
                  </a:lnTo>
                  <a:lnTo>
                    <a:pt x="1419334" y="233804"/>
                  </a:lnTo>
                  <a:lnTo>
                    <a:pt x="1410036" y="247594"/>
                  </a:lnTo>
                  <a:lnTo>
                    <a:pt x="1396246" y="256892"/>
                  </a:lnTo>
                  <a:lnTo>
                    <a:pt x="1379359" y="260301"/>
                  </a:lnTo>
                  <a:close/>
                </a:path>
              </a:pathLst>
            </a:custGeom>
            <a:solidFill>
              <a:srgbClr val="73CC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059217" y="4120400"/>
              <a:ext cx="1423035" cy="260350"/>
            </a:xfrm>
            <a:custGeom>
              <a:avLst/>
              <a:gdLst/>
              <a:ahLst/>
              <a:cxnLst/>
              <a:rect l="l" t="t" r="r" b="b"/>
              <a:pathLst>
                <a:path w="1423035" h="260350">
                  <a:moveTo>
                    <a:pt x="0" y="43384"/>
                  </a:moveTo>
                  <a:lnTo>
                    <a:pt x="3409" y="26497"/>
                  </a:lnTo>
                  <a:lnTo>
                    <a:pt x="12706" y="12706"/>
                  </a:lnTo>
                  <a:lnTo>
                    <a:pt x="26497" y="3409"/>
                  </a:lnTo>
                  <a:lnTo>
                    <a:pt x="43384" y="0"/>
                  </a:lnTo>
                  <a:lnTo>
                    <a:pt x="1379359" y="0"/>
                  </a:lnTo>
                  <a:lnTo>
                    <a:pt x="1415454" y="19314"/>
                  </a:lnTo>
                  <a:lnTo>
                    <a:pt x="1422743" y="43384"/>
                  </a:lnTo>
                  <a:lnTo>
                    <a:pt x="1422743" y="216917"/>
                  </a:lnTo>
                  <a:lnTo>
                    <a:pt x="1419334" y="233804"/>
                  </a:lnTo>
                  <a:lnTo>
                    <a:pt x="1410036" y="247594"/>
                  </a:lnTo>
                  <a:lnTo>
                    <a:pt x="1396246" y="256892"/>
                  </a:lnTo>
                  <a:lnTo>
                    <a:pt x="1379359" y="260301"/>
                  </a:lnTo>
                  <a:lnTo>
                    <a:pt x="43384" y="260301"/>
                  </a:lnTo>
                  <a:lnTo>
                    <a:pt x="26497" y="256892"/>
                  </a:lnTo>
                  <a:lnTo>
                    <a:pt x="12706" y="247594"/>
                  </a:lnTo>
                  <a:lnTo>
                    <a:pt x="3409" y="233804"/>
                  </a:lnTo>
                  <a:lnTo>
                    <a:pt x="0" y="216917"/>
                  </a:lnTo>
                  <a:lnTo>
                    <a:pt x="0" y="43384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3207039" y="4141267"/>
            <a:ext cx="11271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"/>
                <a:cs typeface="Arial"/>
              </a:rPr>
              <a:t>10.0.30.50:3000</a:t>
            </a:r>
            <a:endParaRPr sz="120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301625" y="4823475"/>
            <a:ext cx="167005" cy="16764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spc="-25" dirty="0">
                <a:solidFill>
                  <a:srgbClr val="FFAB40"/>
                </a:solidFill>
                <a:latin typeface="Arial"/>
                <a:cs typeface="Arial"/>
              </a:rPr>
              <a:t>50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2730" cy="5143500"/>
            <a:chOff x="0" y="0"/>
            <a:chExt cx="9142730" cy="5143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54" y="0"/>
              <a:ext cx="9141290" cy="410870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4175999" cy="514349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193024" y="4326076"/>
              <a:ext cx="722375" cy="604028"/>
            </a:xfrm>
            <a:prstGeom prst="rect">
              <a:avLst/>
            </a:prstGeom>
          </p:spPr>
        </p:pic>
      </p:grpSp>
      <p:sp>
        <p:nvSpPr>
          <p:cNvPr id="6" name="object 6" descr="$PPTXTitle"/>
          <p:cNvSpPr txBox="1"/>
          <p:nvPr/>
        </p:nvSpPr>
        <p:spPr>
          <a:xfrm>
            <a:off x="758825" y="1328441"/>
            <a:ext cx="5812155" cy="1244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4000" dirty="0">
                <a:solidFill>
                  <a:srgbClr val="FFFFFF"/>
                </a:solidFill>
                <a:latin typeface="Arial"/>
                <a:cs typeface="Arial"/>
              </a:rPr>
              <a:t>How</a:t>
            </a:r>
            <a:r>
              <a:rPr sz="40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00" dirty="0">
                <a:solidFill>
                  <a:srgbClr val="FFFFFF"/>
                </a:solidFill>
                <a:latin typeface="Arial"/>
                <a:cs typeface="Arial"/>
              </a:rPr>
              <a:t>does</a:t>
            </a:r>
            <a:r>
              <a:rPr sz="40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00" dirty="0">
                <a:solidFill>
                  <a:srgbClr val="FFFFFF"/>
                </a:solidFill>
                <a:latin typeface="Arial"/>
                <a:cs typeface="Arial"/>
              </a:rPr>
              <a:t>one</a:t>
            </a:r>
            <a:r>
              <a:rPr sz="40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00" dirty="0">
                <a:solidFill>
                  <a:srgbClr val="FFFFFF"/>
                </a:solidFill>
                <a:latin typeface="Arial"/>
                <a:cs typeface="Arial"/>
              </a:rPr>
              <a:t>Pod</a:t>
            </a:r>
            <a:r>
              <a:rPr sz="40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00" dirty="0">
                <a:solidFill>
                  <a:srgbClr val="FFFFFF"/>
                </a:solidFill>
                <a:latin typeface="Arial"/>
                <a:cs typeface="Arial"/>
              </a:rPr>
              <a:t>talk</a:t>
            </a:r>
            <a:r>
              <a:rPr sz="40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00" spc="-25" dirty="0">
                <a:solidFill>
                  <a:srgbClr val="FFFFFF"/>
                </a:solidFill>
                <a:latin typeface="Arial"/>
                <a:cs typeface="Arial"/>
              </a:rPr>
              <a:t>to </a:t>
            </a:r>
            <a:r>
              <a:rPr sz="4000" dirty="0">
                <a:solidFill>
                  <a:srgbClr val="FFFFFF"/>
                </a:solidFill>
                <a:latin typeface="Arial"/>
                <a:cs typeface="Arial"/>
              </a:rPr>
              <a:t>another</a:t>
            </a:r>
            <a:r>
              <a:rPr sz="4000" spc="-1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00" spc="-20" dirty="0">
                <a:solidFill>
                  <a:srgbClr val="FFFFFF"/>
                </a:solidFill>
                <a:latin typeface="Arial"/>
                <a:cs typeface="Arial"/>
              </a:rPr>
              <a:t>Pod?</a:t>
            </a:r>
            <a:endParaRPr sz="4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58825" y="2732550"/>
            <a:ext cx="444881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Welcome</a:t>
            </a:r>
            <a:r>
              <a:rPr sz="20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20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Inter-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Pod</a:t>
            </a:r>
            <a:r>
              <a:rPr sz="20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Communication..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01625" y="249500"/>
            <a:ext cx="2606675" cy="4648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Pod</a:t>
            </a:r>
            <a:r>
              <a:rPr spc="-15" dirty="0"/>
              <a:t> </a:t>
            </a:r>
            <a:r>
              <a:rPr spc="-10" dirty="0"/>
              <a:t>Networking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034382" y="1216477"/>
            <a:ext cx="2753360" cy="2270760"/>
            <a:chOff x="1034382" y="1216477"/>
            <a:chExt cx="2753360" cy="2270760"/>
          </a:xfrm>
        </p:grpSpPr>
        <p:sp>
          <p:nvSpPr>
            <p:cNvPr id="4" name="object 4"/>
            <p:cNvSpPr/>
            <p:nvPr/>
          </p:nvSpPr>
          <p:spPr>
            <a:xfrm>
              <a:off x="1040732" y="1222827"/>
              <a:ext cx="2740660" cy="2258060"/>
            </a:xfrm>
            <a:custGeom>
              <a:avLst/>
              <a:gdLst/>
              <a:ahLst/>
              <a:cxnLst/>
              <a:rect l="l" t="t" r="r" b="b"/>
              <a:pathLst>
                <a:path w="2740660" h="2258060">
                  <a:moveTo>
                    <a:pt x="2364115" y="2257564"/>
                  </a:moveTo>
                  <a:lnTo>
                    <a:pt x="376268" y="2257564"/>
                  </a:lnTo>
                  <a:lnTo>
                    <a:pt x="329070" y="2254633"/>
                  </a:lnTo>
                  <a:lnTo>
                    <a:pt x="283621" y="2246073"/>
                  </a:lnTo>
                  <a:lnTo>
                    <a:pt x="240274" y="2232237"/>
                  </a:lnTo>
                  <a:lnTo>
                    <a:pt x="199382" y="2213479"/>
                  </a:lnTo>
                  <a:lnTo>
                    <a:pt x="161298" y="2190150"/>
                  </a:lnTo>
                  <a:lnTo>
                    <a:pt x="126373" y="2162603"/>
                  </a:lnTo>
                  <a:lnTo>
                    <a:pt x="94961" y="2131191"/>
                  </a:lnTo>
                  <a:lnTo>
                    <a:pt x="67414" y="2096266"/>
                  </a:lnTo>
                  <a:lnTo>
                    <a:pt x="44085" y="2058182"/>
                  </a:lnTo>
                  <a:lnTo>
                    <a:pt x="25327" y="2017290"/>
                  </a:lnTo>
                  <a:lnTo>
                    <a:pt x="11491" y="1973943"/>
                  </a:lnTo>
                  <a:lnTo>
                    <a:pt x="2931" y="1928495"/>
                  </a:lnTo>
                  <a:lnTo>
                    <a:pt x="0" y="1881296"/>
                  </a:lnTo>
                  <a:lnTo>
                    <a:pt x="0" y="376268"/>
                  </a:lnTo>
                  <a:lnTo>
                    <a:pt x="2931" y="329070"/>
                  </a:lnTo>
                  <a:lnTo>
                    <a:pt x="11491" y="283621"/>
                  </a:lnTo>
                  <a:lnTo>
                    <a:pt x="25327" y="240274"/>
                  </a:lnTo>
                  <a:lnTo>
                    <a:pt x="44085" y="199382"/>
                  </a:lnTo>
                  <a:lnTo>
                    <a:pt x="67414" y="161298"/>
                  </a:lnTo>
                  <a:lnTo>
                    <a:pt x="94961" y="126373"/>
                  </a:lnTo>
                  <a:lnTo>
                    <a:pt x="126373" y="94961"/>
                  </a:lnTo>
                  <a:lnTo>
                    <a:pt x="161298" y="67414"/>
                  </a:lnTo>
                  <a:lnTo>
                    <a:pt x="199382" y="44085"/>
                  </a:lnTo>
                  <a:lnTo>
                    <a:pt x="240274" y="25327"/>
                  </a:lnTo>
                  <a:lnTo>
                    <a:pt x="283621" y="11491"/>
                  </a:lnTo>
                  <a:lnTo>
                    <a:pt x="329070" y="2931"/>
                  </a:lnTo>
                  <a:lnTo>
                    <a:pt x="376268" y="0"/>
                  </a:lnTo>
                  <a:lnTo>
                    <a:pt x="2364115" y="0"/>
                  </a:lnTo>
                  <a:lnTo>
                    <a:pt x="2413573" y="3263"/>
                  </a:lnTo>
                  <a:lnTo>
                    <a:pt x="2461766" y="12891"/>
                  </a:lnTo>
                  <a:lnTo>
                    <a:pt x="2508107" y="28641"/>
                  </a:lnTo>
                  <a:lnTo>
                    <a:pt x="2552012" y="50272"/>
                  </a:lnTo>
                  <a:lnTo>
                    <a:pt x="2592897" y="77541"/>
                  </a:lnTo>
                  <a:lnTo>
                    <a:pt x="2630177" y="110206"/>
                  </a:lnTo>
                  <a:lnTo>
                    <a:pt x="2662842" y="147486"/>
                  </a:lnTo>
                  <a:lnTo>
                    <a:pt x="2690111" y="188371"/>
                  </a:lnTo>
                  <a:lnTo>
                    <a:pt x="2711742" y="232276"/>
                  </a:lnTo>
                  <a:lnTo>
                    <a:pt x="2727492" y="278618"/>
                  </a:lnTo>
                  <a:lnTo>
                    <a:pt x="2737120" y="326810"/>
                  </a:lnTo>
                  <a:lnTo>
                    <a:pt x="2740383" y="376268"/>
                  </a:lnTo>
                  <a:lnTo>
                    <a:pt x="2740383" y="1881296"/>
                  </a:lnTo>
                  <a:lnTo>
                    <a:pt x="2737452" y="1928495"/>
                  </a:lnTo>
                  <a:lnTo>
                    <a:pt x="2728892" y="1973943"/>
                  </a:lnTo>
                  <a:lnTo>
                    <a:pt x="2715056" y="2017290"/>
                  </a:lnTo>
                  <a:lnTo>
                    <a:pt x="2696298" y="2058182"/>
                  </a:lnTo>
                  <a:lnTo>
                    <a:pt x="2672969" y="2096266"/>
                  </a:lnTo>
                  <a:lnTo>
                    <a:pt x="2645422" y="2131191"/>
                  </a:lnTo>
                  <a:lnTo>
                    <a:pt x="2614010" y="2162603"/>
                  </a:lnTo>
                  <a:lnTo>
                    <a:pt x="2579085" y="2190150"/>
                  </a:lnTo>
                  <a:lnTo>
                    <a:pt x="2541001" y="2213479"/>
                  </a:lnTo>
                  <a:lnTo>
                    <a:pt x="2500109" y="2232237"/>
                  </a:lnTo>
                  <a:lnTo>
                    <a:pt x="2456762" y="2246073"/>
                  </a:lnTo>
                  <a:lnTo>
                    <a:pt x="2411313" y="2254633"/>
                  </a:lnTo>
                  <a:lnTo>
                    <a:pt x="2364115" y="2257564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40732" y="1222827"/>
              <a:ext cx="2740660" cy="2258060"/>
            </a:xfrm>
            <a:custGeom>
              <a:avLst/>
              <a:gdLst/>
              <a:ahLst/>
              <a:cxnLst/>
              <a:rect l="l" t="t" r="r" b="b"/>
              <a:pathLst>
                <a:path w="2740660" h="2258060">
                  <a:moveTo>
                    <a:pt x="0" y="376268"/>
                  </a:moveTo>
                  <a:lnTo>
                    <a:pt x="2931" y="329070"/>
                  </a:lnTo>
                  <a:lnTo>
                    <a:pt x="11491" y="283621"/>
                  </a:lnTo>
                  <a:lnTo>
                    <a:pt x="25327" y="240274"/>
                  </a:lnTo>
                  <a:lnTo>
                    <a:pt x="44085" y="199382"/>
                  </a:lnTo>
                  <a:lnTo>
                    <a:pt x="67414" y="161298"/>
                  </a:lnTo>
                  <a:lnTo>
                    <a:pt x="94961" y="126373"/>
                  </a:lnTo>
                  <a:lnTo>
                    <a:pt x="126373" y="94961"/>
                  </a:lnTo>
                  <a:lnTo>
                    <a:pt x="161298" y="67414"/>
                  </a:lnTo>
                  <a:lnTo>
                    <a:pt x="199382" y="44085"/>
                  </a:lnTo>
                  <a:lnTo>
                    <a:pt x="240274" y="25327"/>
                  </a:lnTo>
                  <a:lnTo>
                    <a:pt x="283621" y="11491"/>
                  </a:lnTo>
                  <a:lnTo>
                    <a:pt x="329070" y="2931"/>
                  </a:lnTo>
                  <a:lnTo>
                    <a:pt x="376268" y="0"/>
                  </a:lnTo>
                  <a:lnTo>
                    <a:pt x="2364115" y="0"/>
                  </a:lnTo>
                  <a:lnTo>
                    <a:pt x="2413573" y="3263"/>
                  </a:lnTo>
                  <a:lnTo>
                    <a:pt x="2461766" y="12891"/>
                  </a:lnTo>
                  <a:lnTo>
                    <a:pt x="2508107" y="28641"/>
                  </a:lnTo>
                  <a:lnTo>
                    <a:pt x="2552012" y="50272"/>
                  </a:lnTo>
                  <a:lnTo>
                    <a:pt x="2592897" y="77541"/>
                  </a:lnTo>
                  <a:lnTo>
                    <a:pt x="2630177" y="110206"/>
                  </a:lnTo>
                  <a:lnTo>
                    <a:pt x="2662842" y="147486"/>
                  </a:lnTo>
                  <a:lnTo>
                    <a:pt x="2690111" y="188371"/>
                  </a:lnTo>
                  <a:lnTo>
                    <a:pt x="2711742" y="232276"/>
                  </a:lnTo>
                  <a:lnTo>
                    <a:pt x="2727492" y="278618"/>
                  </a:lnTo>
                  <a:lnTo>
                    <a:pt x="2737120" y="326810"/>
                  </a:lnTo>
                  <a:lnTo>
                    <a:pt x="2740383" y="376268"/>
                  </a:lnTo>
                  <a:lnTo>
                    <a:pt x="2740383" y="1881296"/>
                  </a:lnTo>
                  <a:lnTo>
                    <a:pt x="2737452" y="1928495"/>
                  </a:lnTo>
                  <a:lnTo>
                    <a:pt x="2728892" y="1973943"/>
                  </a:lnTo>
                  <a:lnTo>
                    <a:pt x="2715056" y="2017290"/>
                  </a:lnTo>
                  <a:lnTo>
                    <a:pt x="2696298" y="2058182"/>
                  </a:lnTo>
                  <a:lnTo>
                    <a:pt x="2672969" y="2096266"/>
                  </a:lnTo>
                  <a:lnTo>
                    <a:pt x="2645422" y="2131191"/>
                  </a:lnTo>
                  <a:lnTo>
                    <a:pt x="2614010" y="2162603"/>
                  </a:lnTo>
                  <a:lnTo>
                    <a:pt x="2579085" y="2190150"/>
                  </a:lnTo>
                  <a:lnTo>
                    <a:pt x="2541001" y="2213479"/>
                  </a:lnTo>
                  <a:lnTo>
                    <a:pt x="2500109" y="2232237"/>
                  </a:lnTo>
                  <a:lnTo>
                    <a:pt x="2456762" y="2246073"/>
                  </a:lnTo>
                  <a:lnTo>
                    <a:pt x="2411313" y="2254633"/>
                  </a:lnTo>
                  <a:lnTo>
                    <a:pt x="2364115" y="2257564"/>
                  </a:lnTo>
                  <a:lnTo>
                    <a:pt x="376268" y="2257564"/>
                  </a:lnTo>
                  <a:lnTo>
                    <a:pt x="329070" y="2254633"/>
                  </a:lnTo>
                  <a:lnTo>
                    <a:pt x="283621" y="2246073"/>
                  </a:lnTo>
                  <a:lnTo>
                    <a:pt x="240274" y="2232237"/>
                  </a:lnTo>
                  <a:lnTo>
                    <a:pt x="199382" y="2213479"/>
                  </a:lnTo>
                  <a:lnTo>
                    <a:pt x="161298" y="2190150"/>
                  </a:lnTo>
                  <a:lnTo>
                    <a:pt x="126373" y="2162603"/>
                  </a:lnTo>
                  <a:lnTo>
                    <a:pt x="94961" y="2131191"/>
                  </a:lnTo>
                  <a:lnTo>
                    <a:pt x="67414" y="2096266"/>
                  </a:lnTo>
                  <a:lnTo>
                    <a:pt x="44085" y="2058182"/>
                  </a:lnTo>
                  <a:lnTo>
                    <a:pt x="25327" y="2017290"/>
                  </a:lnTo>
                  <a:lnTo>
                    <a:pt x="11491" y="1973943"/>
                  </a:lnTo>
                  <a:lnTo>
                    <a:pt x="2931" y="1928495"/>
                  </a:lnTo>
                  <a:lnTo>
                    <a:pt x="0" y="1881296"/>
                  </a:lnTo>
                  <a:lnTo>
                    <a:pt x="0" y="376268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99312" y="1855604"/>
              <a:ext cx="1062355" cy="516255"/>
            </a:xfrm>
            <a:custGeom>
              <a:avLst/>
              <a:gdLst/>
              <a:ahLst/>
              <a:cxnLst/>
              <a:rect l="l" t="t" r="r" b="b"/>
              <a:pathLst>
                <a:path w="1062355" h="516255">
                  <a:moveTo>
                    <a:pt x="976112" y="515757"/>
                  </a:moveTo>
                  <a:lnTo>
                    <a:pt x="85961" y="515757"/>
                  </a:lnTo>
                  <a:lnTo>
                    <a:pt x="52501" y="509001"/>
                  </a:lnTo>
                  <a:lnTo>
                    <a:pt x="25177" y="490579"/>
                  </a:lnTo>
                  <a:lnTo>
                    <a:pt x="6755" y="463255"/>
                  </a:lnTo>
                  <a:lnTo>
                    <a:pt x="0" y="429795"/>
                  </a:lnTo>
                  <a:lnTo>
                    <a:pt x="0" y="85961"/>
                  </a:lnTo>
                  <a:lnTo>
                    <a:pt x="6641" y="53065"/>
                  </a:lnTo>
                  <a:lnTo>
                    <a:pt x="6755" y="52501"/>
                  </a:lnTo>
                  <a:lnTo>
                    <a:pt x="25177" y="25177"/>
                  </a:lnTo>
                  <a:lnTo>
                    <a:pt x="52501" y="6755"/>
                  </a:lnTo>
                  <a:lnTo>
                    <a:pt x="85961" y="0"/>
                  </a:lnTo>
                  <a:lnTo>
                    <a:pt x="976112" y="0"/>
                  </a:lnTo>
                  <a:lnTo>
                    <a:pt x="1023804" y="14442"/>
                  </a:lnTo>
                  <a:lnTo>
                    <a:pt x="1055530" y="53065"/>
                  </a:lnTo>
                  <a:lnTo>
                    <a:pt x="1062074" y="85961"/>
                  </a:lnTo>
                  <a:lnTo>
                    <a:pt x="1062074" y="429795"/>
                  </a:lnTo>
                  <a:lnTo>
                    <a:pt x="1055318" y="463255"/>
                  </a:lnTo>
                  <a:lnTo>
                    <a:pt x="1036896" y="490579"/>
                  </a:lnTo>
                  <a:lnTo>
                    <a:pt x="1009572" y="509001"/>
                  </a:lnTo>
                  <a:lnTo>
                    <a:pt x="976112" y="515757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99312" y="1855604"/>
              <a:ext cx="1062355" cy="516255"/>
            </a:xfrm>
            <a:custGeom>
              <a:avLst/>
              <a:gdLst/>
              <a:ahLst/>
              <a:cxnLst/>
              <a:rect l="l" t="t" r="r" b="b"/>
              <a:pathLst>
                <a:path w="1062355" h="516255">
                  <a:moveTo>
                    <a:pt x="0" y="85961"/>
                  </a:moveTo>
                  <a:lnTo>
                    <a:pt x="6755" y="52501"/>
                  </a:lnTo>
                  <a:lnTo>
                    <a:pt x="25177" y="25177"/>
                  </a:lnTo>
                  <a:lnTo>
                    <a:pt x="52501" y="6755"/>
                  </a:lnTo>
                  <a:lnTo>
                    <a:pt x="85961" y="0"/>
                  </a:lnTo>
                  <a:lnTo>
                    <a:pt x="976112" y="0"/>
                  </a:lnTo>
                  <a:lnTo>
                    <a:pt x="1023804" y="14442"/>
                  </a:lnTo>
                  <a:lnTo>
                    <a:pt x="1055530" y="53065"/>
                  </a:lnTo>
                  <a:lnTo>
                    <a:pt x="1062074" y="85961"/>
                  </a:lnTo>
                  <a:lnTo>
                    <a:pt x="1062074" y="429795"/>
                  </a:lnTo>
                  <a:lnTo>
                    <a:pt x="1055318" y="463255"/>
                  </a:lnTo>
                  <a:lnTo>
                    <a:pt x="1036896" y="490579"/>
                  </a:lnTo>
                  <a:lnTo>
                    <a:pt x="1009572" y="509001"/>
                  </a:lnTo>
                  <a:lnTo>
                    <a:pt x="976112" y="515757"/>
                  </a:lnTo>
                  <a:lnTo>
                    <a:pt x="85961" y="515757"/>
                  </a:lnTo>
                  <a:lnTo>
                    <a:pt x="52501" y="509001"/>
                  </a:lnTo>
                  <a:lnTo>
                    <a:pt x="25177" y="490579"/>
                  </a:lnTo>
                  <a:lnTo>
                    <a:pt x="6755" y="463255"/>
                  </a:lnTo>
                  <a:lnTo>
                    <a:pt x="0" y="429795"/>
                  </a:lnTo>
                  <a:lnTo>
                    <a:pt x="0" y="8596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196399" y="905783"/>
            <a:ext cx="49022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Pod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50" dirty="0">
                <a:latin typeface="Arial"/>
                <a:cs typeface="Arial"/>
              </a:rPr>
              <a:t>1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28615" y="1933524"/>
            <a:ext cx="603885" cy="34734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indent="144145">
              <a:lnSpc>
                <a:spcPct val="101200"/>
              </a:lnSpc>
              <a:spcBef>
                <a:spcPts val="85"/>
              </a:spcBef>
            </a:pPr>
            <a:r>
              <a:rPr sz="1050" spc="-20" dirty="0">
                <a:latin typeface="Arial"/>
                <a:cs typeface="Arial"/>
              </a:rPr>
              <a:t>Main </a:t>
            </a:r>
            <a:r>
              <a:rPr sz="1050" spc="-10" dirty="0">
                <a:latin typeface="Arial"/>
                <a:cs typeface="Arial"/>
              </a:rPr>
              <a:t>Controller</a:t>
            </a:r>
            <a:endParaRPr sz="10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24527" y="2324670"/>
            <a:ext cx="599440" cy="213360"/>
          </a:xfrm>
          <a:prstGeom prst="rect">
            <a:avLst/>
          </a:prstGeom>
          <a:solidFill>
            <a:srgbClr val="B49FFF"/>
          </a:solidFill>
          <a:ln w="12699">
            <a:solidFill>
              <a:srgbClr val="127BB4"/>
            </a:solidFill>
          </a:ln>
        </p:spPr>
        <p:txBody>
          <a:bodyPr vert="horz" wrap="square" lIns="0" tIns="9525" rIns="0" bIns="0" rtlCol="0">
            <a:spAutoFit/>
          </a:bodyPr>
          <a:lstStyle/>
          <a:p>
            <a:pPr marL="108585">
              <a:lnSpc>
                <a:spcPct val="100000"/>
              </a:lnSpc>
              <a:spcBef>
                <a:spcPts val="75"/>
              </a:spcBef>
            </a:pP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:8080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905891" y="3308115"/>
            <a:ext cx="1010285" cy="323215"/>
            <a:chOff x="1905891" y="3308115"/>
            <a:chExt cx="1010285" cy="323215"/>
          </a:xfrm>
        </p:grpSpPr>
        <p:sp>
          <p:nvSpPr>
            <p:cNvPr id="12" name="object 12"/>
            <p:cNvSpPr/>
            <p:nvPr/>
          </p:nvSpPr>
          <p:spPr>
            <a:xfrm>
              <a:off x="1912241" y="3314465"/>
              <a:ext cx="997585" cy="310515"/>
            </a:xfrm>
            <a:custGeom>
              <a:avLst/>
              <a:gdLst/>
              <a:ahLst/>
              <a:cxnLst/>
              <a:rect l="l" t="t" r="r" b="b"/>
              <a:pathLst>
                <a:path w="997585" h="310514">
                  <a:moveTo>
                    <a:pt x="945647" y="310284"/>
                  </a:moveTo>
                  <a:lnTo>
                    <a:pt x="51715" y="310284"/>
                  </a:lnTo>
                  <a:lnTo>
                    <a:pt x="31585" y="306220"/>
                  </a:lnTo>
                  <a:lnTo>
                    <a:pt x="15147" y="295137"/>
                  </a:lnTo>
                  <a:lnTo>
                    <a:pt x="4064" y="278699"/>
                  </a:lnTo>
                  <a:lnTo>
                    <a:pt x="0" y="258569"/>
                  </a:lnTo>
                  <a:lnTo>
                    <a:pt x="0" y="51714"/>
                  </a:lnTo>
                  <a:lnTo>
                    <a:pt x="4064" y="31585"/>
                  </a:lnTo>
                  <a:lnTo>
                    <a:pt x="15147" y="15146"/>
                  </a:lnTo>
                  <a:lnTo>
                    <a:pt x="31585" y="4063"/>
                  </a:lnTo>
                  <a:lnTo>
                    <a:pt x="51715" y="0"/>
                  </a:lnTo>
                  <a:lnTo>
                    <a:pt x="945647" y="0"/>
                  </a:lnTo>
                  <a:lnTo>
                    <a:pt x="982215" y="15146"/>
                  </a:lnTo>
                  <a:lnTo>
                    <a:pt x="997362" y="51714"/>
                  </a:lnTo>
                  <a:lnTo>
                    <a:pt x="997362" y="258569"/>
                  </a:lnTo>
                  <a:lnTo>
                    <a:pt x="993298" y="278699"/>
                  </a:lnTo>
                  <a:lnTo>
                    <a:pt x="982215" y="295137"/>
                  </a:lnTo>
                  <a:lnTo>
                    <a:pt x="965777" y="306220"/>
                  </a:lnTo>
                  <a:lnTo>
                    <a:pt x="945647" y="310284"/>
                  </a:lnTo>
                  <a:close/>
                </a:path>
              </a:pathLst>
            </a:custGeom>
            <a:solidFill>
              <a:srgbClr val="73CC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912241" y="3314465"/>
              <a:ext cx="997585" cy="310515"/>
            </a:xfrm>
            <a:custGeom>
              <a:avLst/>
              <a:gdLst/>
              <a:ahLst/>
              <a:cxnLst/>
              <a:rect l="l" t="t" r="r" b="b"/>
              <a:pathLst>
                <a:path w="997585" h="310514">
                  <a:moveTo>
                    <a:pt x="0" y="51714"/>
                  </a:moveTo>
                  <a:lnTo>
                    <a:pt x="4064" y="31585"/>
                  </a:lnTo>
                  <a:lnTo>
                    <a:pt x="15147" y="15146"/>
                  </a:lnTo>
                  <a:lnTo>
                    <a:pt x="31585" y="4063"/>
                  </a:lnTo>
                  <a:lnTo>
                    <a:pt x="51715" y="0"/>
                  </a:lnTo>
                  <a:lnTo>
                    <a:pt x="945647" y="0"/>
                  </a:lnTo>
                  <a:lnTo>
                    <a:pt x="982215" y="15146"/>
                  </a:lnTo>
                  <a:lnTo>
                    <a:pt x="997362" y="51714"/>
                  </a:lnTo>
                  <a:lnTo>
                    <a:pt x="997362" y="258569"/>
                  </a:lnTo>
                  <a:lnTo>
                    <a:pt x="993298" y="278699"/>
                  </a:lnTo>
                  <a:lnTo>
                    <a:pt x="982215" y="295137"/>
                  </a:lnTo>
                  <a:lnTo>
                    <a:pt x="965777" y="306220"/>
                  </a:lnTo>
                  <a:lnTo>
                    <a:pt x="945647" y="310284"/>
                  </a:lnTo>
                  <a:lnTo>
                    <a:pt x="51715" y="310284"/>
                  </a:lnTo>
                  <a:lnTo>
                    <a:pt x="31585" y="306220"/>
                  </a:lnTo>
                  <a:lnTo>
                    <a:pt x="15147" y="295137"/>
                  </a:lnTo>
                  <a:lnTo>
                    <a:pt x="4064" y="278699"/>
                  </a:lnTo>
                  <a:lnTo>
                    <a:pt x="0" y="258569"/>
                  </a:lnTo>
                  <a:lnTo>
                    <a:pt x="0" y="51714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038059" y="3360323"/>
            <a:ext cx="7454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"/>
                <a:cs typeface="Arial"/>
              </a:rPr>
              <a:t>10.0.30.50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399185" y="1216477"/>
            <a:ext cx="2753360" cy="2270760"/>
            <a:chOff x="5399185" y="1216477"/>
            <a:chExt cx="2753360" cy="2270760"/>
          </a:xfrm>
        </p:grpSpPr>
        <p:sp>
          <p:nvSpPr>
            <p:cNvPr id="16" name="object 16"/>
            <p:cNvSpPr/>
            <p:nvPr/>
          </p:nvSpPr>
          <p:spPr>
            <a:xfrm>
              <a:off x="5405535" y="1222827"/>
              <a:ext cx="2740660" cy="2258060"/>
            </a:xfrm>
            <a:custGeom>
              <a:avLst/>
              <a:gdLst/>
              <a:ahLst/>
              <a:cxnLst/>
              <a:rect l="l" t="t" r="r" b="b"/>
              <a:pathLst>
                <a:path w="2740659" h="2258060">
                  <a:moveTo>
                    <a:pt x="2364115" y="2257564"/>
                  </a:moveTo>
                  <a:lnTo>
                    <a:pt x="376268" y="2257564"/>
                  </a:lnTo>
                  <a:lnTo>
                    <a:pt x="329069" y="2254633"/>
                  </a:lnTo>
                  <a:lnTo>
                    <a:pt x="283621" y="2246073"/>
                  </a:lnTo>
                  <a:lnTo>
                    <a:pt x="240274" y="2232237"/>
                  </a:lnTo>
                  <a:lnTo>
                    <a:pt x="199382" y="2213479"/>
                  </a:lnTo>
                  <a:lnTo>
                    <a:pt x="161298" y="2190150"/>
                  </a:lnTo>
                  <a:lnTo>
                    <a:pt x="126373" y="2162603"/>
                  </a:lnTo>
                  <a:lnTo>
                    <a:pt x="94961" y="2131191"/>
                  </a:lnTo>
                  <a:lnTo>
                    <a:pt x="67414" y="2096266"/>
                  </a:lnTo>
                  <a:lnTo>
                    <a:pt x="44085" y="2058182"/>
                  </a:lnTo>
                  <a:lnTo>
                    <a:pt x="25327" y="2017290"/>
                  </a:lnTo>
                  <a:lnTo>
                    <a:pt x="11491" y="1973943"/>
                  </a:lnTo>
                  <a:lnTo>
                    <a:pt x="2931" y="1928495"/>
                  </a:lnTo>
                  <a:lnTo>
                    <a:pt x="0" y="1881296"/>
                  </a:lnTo>
                  <a:lnTo>
                    <a:pt x="0" y="376268"/>
                  </a:lnTo>
                  <a:lnTo>
                    <a:pt x="2931" y="329070"/>
                  </a:lnTo>
                  <a:lnTo>
                    <a:pt x="11491" y="283621"/>
                  </a:lnTo>
                  <a:lnTo>
                    <a:pt x="25327" y="240274"/>
                  </a:lnTo>
                  <a:lnTo>
                    <a:pt x="44085" y="199382"/>
                  </a:lnTo>
                  <a:lnTo>
                    <a:pt x="67414" y="161298"/>
                  </a:lnTo>
                  <a:lnTo>
                    <a:pt x="94961" y="126373"/>
                  </a:lnTo>
                  <a:lnTo>
                    <a:pt x="126373" y="94961"/>
                  </a:lnTo>
                  <a:lnTo>
                    <a:pt x="161298" y="67414"/>
                  </a:lnTo>
                  <a:lnTo>
                    <a:pt x="199382" y="44085"/>
                  </a:lnTo>
                  <a:lnTo>
                    <a:pt x="240274" y="25327"/>
                  </a:lnTo>
                  <a:lnTo>
                    <a:pt x="283621" y="11491"/>
                  </a:lnTo>
                  <a:lnTo>
                    <a:pt x="329069" y="2931"/>
                  </a:lnTo>
                  <a:lnTo>
                    <a:pt x="376268" y="0"/>
                  </a:lnTo>
                  <a:lnTo>
                    <a:pt x="2364115" y="0"/>
                  </a:lnTo>
                  <a:lnTo>
                    <a:pt x="2413573" y="3263"/>
                  </a:lnTo>
                  <a:lnTo>
                    <a:pt x="2461765" y="12891"/>
                  </a:lnTo>
                  <a:lnTo>
                    <a:pt x="2508106" y="28641"/>
                  </a:lnTo>
                  <a:lnTo>
                    <a:pt x="2552012" y="50272"/>
                  </a:lnTo>
                  <a:lnTo>
                    <a:pt x="2592897" y="77541"/>
                  </a:lnTo>
                  <a:lnTo>
                    <a:pt x="2630177" y="110206"/>
                  </a:lnTo>
                  <a:lnTo>
                    <a:pt x="2662842" y="147486"/>
                  </a:lnTo>
                  <a:lnTo>
                    <a:pt x="2690111" y="188371"/>
                  </a:lnTo>
                  <a:lnTo>
                    <a:pt x="2711741" y="232276"/>
                  </a:lnTo>
                  <a:lnTo>
                    <a:pt x="2727492" y="278618"/>
                  </a:lnTo>
                  <a:lnTo>
                    <a:pt x="2737120" y="326810"/>
                  </a:lnTo>
                  <a:lnTo>
                    <a:pt x="2740383" y="376268"/>
                  </a:lnTo>
                  <a:lnTo>
                    <a:pt x="2740383" y="1881296"/>
                  </a:lnTo>
                  <a:lnTo>
                    <a:pt x="2737451" y="1928495"/>
                  </a:lnTo>
                  <a:lnTo>
                    <a:pt x="2728891" y="1973943"/>
                  </a:lnTo>
                  <a:lnTo>
                    <a:pt x="2715056" y="2017290"/>
                  </a:lnTo>
                  <a:lnTo>
                    <a:pt x="2696297" y="2058182"/>
                  </a:lnTo>
                  <a:lnTo>
                    <a:pt x="2672968" y="2096266"/>
                  </a:lnTo>
                  <a:lnTo>
                    <a:pt x="2645421" y="2131191"/>
                  </a:lnTo>
                  <a:lnTo>
                    <a:pt x="2614010" y="2162603"/>
                  </a:lnTo>
                  <a:lnTo>
                    <a:pt x="2579085" y="2190150"/>
                  </a:lnTo>
                  <a:lnTo>
                    <a:pt x="2541000" y="2213479"/>
                  </a:lnTo>
                  <a:lnTo>
                    <a:pt x="2500109" y="2232237"/>
                  </a:lnTo>
                  <a:lnTo>
                    <a:pt x="2456762" y="2246073"/>
                  </a:lnTo>
                  <a:lnTo>
                    <a:pt x="2411313" y="2254633"/>
                  </a:lnTo>
                  <a:lnTo>
                    <a:pt x="2364115" y="2257564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405535" y="1222827"/>
              <a:ext cx="2740660" cy="2258060"/>
            </a:xfrm>
            <a:custGeom>
              <a:avLst/>
              <a:gdLst/>
              <a:ahLst/>
              <a:cxnLst/>
              <a:rect l="l" t="t" r="r" b="b"/>
              <a:pathLst>
                <a:path w="2740659" h="2258060">
                  <a:moveTo>
                    <a:pt x="0" y="376268"/>
                  </a:moveTo>
                  <a:lnTo>
                    <a:pt x="2931" y="329070"/>
                  </a:lnTo>
                  <a:lnTo>
                    <a:pt x="11491" y="283621"/>
                  </a:lnTo>
                  <a:lnTo>
                    <a:pt x="25327" y="240274"/>
                  </a:lnTo>
                  <a:lnTo>
                    <a:pt x="44085" y="199382"/>
                  </a:lnTo>
                  <a:lnTo>
                    <a:pt x="67414" y="161298"/>
                  </a:lnTo>
                  <a:lnTo>
                    <a:pt x="94961" y="126373"/>
                  </a:lnTo>
                  <a:lnTo>
                    <a:pt x="126373" y="94961"/>
                  </a:lnTo>
                  <a:lnTo>
                    <a:pt x="161298" y="67414"/>
                  </a:lnTo>
                  <a:lnTo>
                    <a:pt x="199382" y="44085"/>
                  </a:lnTo>
                  <a:lnTo>
                    <a:pt x="240274" y="25327"/>
                  </a:lnTo>
                  <a:lnTo>
                    <a:pt x="283621" y="11491"/>
                  </a:lnTo>
                  <a:lnTo>
                    <a:pt x="329069" y="2931"/>
                  </a:lnTo>
                  <a:lnTo>
                    <a:pt x="376268" y="0"/>
                  </a:lnTo>
                  <a:lnTo>
                    <a:pt x="2364115" y="0"/>
                  </a:lnTo>
                  <a:lnTo>
                    <a:pt x="2413573" y="3263"/>
                  </a:lnTo>
                  <a:lnTo>
                    <a:pt x="2461765" y="12891"/>
                  </a:lnTo>
                  <a:lnTo>
                    <a:pt x="2508106" y="28641"/>
                  </a:lnTo>
                  <a:lnTo>
                    <a:pt x="2552012" y="50272"/>
                  </a:lnTo>
                  <a:lnTo>
                    <a:pt x="2592897" y="77541"/>
                  </a:lnTo>
                  <a:lnTo>
                    <a:pt x="2630177" y="110206"/>
                  </a:lnTo>
                  <a:lnTo>
                    <a:pt x="2662842" y="147486"/>
                  </a:lnTo>
                  <a:lnTo>
                    <a:pt x="2690111" y="188371"/>
                  </a:lnTo>
                  <a:lnTo>
                    <a:pt x="2711741" y="232276"/>
                  </a:lnTo>
                  <a:lnTo>
                    <a:pt x="2727492" y="278618"/>
                  </a:lnTo>
                  <a:lnTo>
                    <a:pt x="2737120" y="326810"/>
                  </a:lnTo>
                  <a:lnTo>
                    <a:pt x="2740383" y="376268"/>
                  </a:lnTo>
                  <a:lnTo>
                    <a:pt x="2740383" y="1881296"/>
                  </a:lnTo>
                  <a:lnTo>
                    <a:pt x="2737451" y="1928495"/>
                  </a:lnTo>
                  <a:lnTo>
                    <a:pt x="2728891" y="1973943"/>
                  </a:lnTo>
                  <a:lnTo>
                    <a:pt x="2715056" y="2017290"/>
                  </a:lnTo>
                  <a:lnTo>
                    <a:pt x="2696297" y="2058182"/>
                  </a:lnTo>
                  <a:lnTo>
                    <a:pt x="2672968" y="2096266"/>
                  </a:lnTo>
                  <a:lnTo>
                    <a:pt x="2645421" y="2131191"/>
                  </a:lnTo>
                  <a:lnTo>
                    <a:pt x="2614010" y="2162603"/>
                  </a:lnTo>
                  <a:lnTo>
                    <a:pt x="2579085" y="2190150"/>
                  </a:lnTo>
                  <a:lnTo>
                    <a:pt x="2541000" y="2213479"/>
                  </a:lnTo>
                  <a:lnTo>
                    <a:pt x="2500109" y="2232237"/>
                  </a:lnTo>
                  <a:lnTo>
                    <a:pt x="2456762" y="2246073"/>
                  </a:lnTo>
                  <a:lnTo>
                    <a:pt x="2411313" y="2254633"/>
                  </a:lnTo>
                  <a:lnTo>
                    <a:pt x="2364115" y="2257564"/>
                  </a:lnTo>
                  <a:lnTo>
                    <a:pt x="376268" y="2257564"/>
                  </a:lnTo>
                  <a:lnTo>
                    <a:pt x="329069" y="2254633"/>
                  </a:lnTo>
                  <a:lnTo>
                    <a:pt x="283621" y="2246073"/>
                  </a:lnTo>
                  <a:lnTo>
                    <a:pt x="240274" y="2232237"/>
                  </a:lnTo>
                  <a:lnTo>
                    <a:pt x="199382" y="2213479"/>
                  </a:lnTo>
                  <a:lnTo>
                    <a:pt x="161298" y="2190150"/>
                  </a:lnTo>
                  <a:lnTo>
                    <a:pt x="126373" y="2162603"/>
                  </a:lnTo>
                  <a:lnTo>
                    <a:pt x="94961" y="2131191"/>
                  </a:lnTo>
                  <a:lnTo>
                    <a:pt x="67414" y="2096266"/>
                  </a:lnTo>
                  <a:lnTo>
                    <a:pt x="44085" y="2058182"/>
                  </a:lnTo>
                  <a:lnTo>
                    <a:pt x="25327" y="2017290"/>
                  </a:lnTo>
                  <a:lnTo>
                    <a:pt x="11491" y="1973943"/>
                  </a:lnTo>
                  <a:lnTo>
                    <a:pt x="2931" y="1928495"/>
                  </a:lnTo>
                  <a:lnTo>
                    <a:pt x="0" y="1881296"/>
                  </a:lnTo>
                  <a:lnTo>
                    <a:pt x="0" y="376268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267305" y="1821423"/>
              <a:ext cx="1346200" cy="716280"/>
            </a:xfrm>
            <a:custGeom>
              <a:avLst/>
              <a:gdLst/>
              <a:ahLst/>
              <a:cxnLst/>
              <a:rect l="l" t="t" r="r" b="b"/>
              <a:pathLst>
                <a:path w="1346200" h="716280">
                  <a:moveTo>
                    <a:pt x="1226501" y="716042"/>
                  </a:moveTo>
                  <a:lnTo>
                    <a:pt x="119342" y="716042"/>
                  </a:lnTo>
                  <a:lnTo>
                    <a:pt x="72889" y="706664"/>
                  </a:lnTo>
                  <a:lnTo>
                    <a:pt x="34954" y="681088"/>
                  </a:lnTo>
                  <a:lnTo>
                    <a:pt x="9378" y="643153"/>
                  </a:lnTo>
                  <a:lnTo>
                    <a:pt x="0" y="596700"/>
                  </a:lnTo>
                  <a:lnTo>
                    <a:pt x="0" y="119342"/>
                  </a:lnTo>
                  <a:lnTo>
                    <a:pt x="9378" y="72889"/>
                  </a:lnTo>
                  <a:lnTo>
                    <a:pt x="34954" y="34954"/>
                  </a:lnTo>
                  <a:lnTo>
                    <a:pt x="72889" y="9378"/>
                  </a:lnTo>
                  <a:lnTo>
                    <a:pt x="119342" y="0"/>
                  </a:lnTo>
                  <a:lnTo>
                    <a:pt x="1226501" y="0"/>
                  </a:lnTo>
                  <a:lnTo>
                    <a:pt x="1272172" y="9084"/>
                  </a:lnTo>
                  <a:lnTo>
                    <a:pt x="1310890" y="34954"/>
                  </a:lnTo>
                  <a:lnTo>
                    <a:pt x="1336760" y="73672"/>
                  </a:lnTo>
                  <a:lnTo>
                    <a:pt x="1345844" y="119342"/>
                  </a:lnTo>
                  <a:lnTo>
                    <a:pt x="1345844" y="596700"/>
                  </a:lnTo>
                  <a:lnTo>
                    <a:pt x="1336466" y="643153"/>
                  </a:lnTo>
                  <a:lnTo>
                    <a:pt x="1310890" y="681088"/>
                  </a:lnTo>
                  <a:lnTo>
                    <a:pt x="1272955" y="706664"/>
                  </a:lnTo>
                  <a:lnTo>
                    <a:pt x="1226501" y="716042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267305" y="1821423"/>
              <a:ext cx="1346200" cy="716280"/>
            </a:xfrm>
            <a:custGeom>
              <a:avLst/>
              <a:gdLst/>
              <a:ahLst/>
              <a:cxnLst/>
              <a:rect l="l" t="t" r="r" b="b"/>
              <a:pathLst>
                <a:path w="1346200" h="716280">
                  <a:moveTo>
                    <a:pt x="0" y="119342"/>
                  </a:moveTo>
                  <a:lnTo>
                    <a:pt x="9378" y="72889"/>
                  </a:lnTo>
                  <a:lnTo>
                    <a:pt x="34954" y="34954"/>
                  </a:lnTo>
                  <a:lnTo>
                    <a:pt x="72889" y="9378"/>
                  </a:lnTo>
                  <a:lnTo>
                    <a:pt x="119342" y="0"/>
                  </a:lnTo>
                  <a:lnTo>
                    <a:pt x="1226501" y="0"/>
                  </a:lnTo>
                  <a:lnTo>
                    <a:pt x="1272172" y="9084"/>
                  </a:lnTo>
                  <a:lnTo>
                    <a:pt x="1310890" y="34954"/>
                  </a:lnTo>
                  <a:lnTo>
                    <a:pt x="1336760" y="73672"/>
                  </a:lnTo>
                  <a:lnTo>
                    <a:pt x="1345844" y="119342"/>
                  </a:lnTo>
                  <a:lnTo>
                    <a:pt x="1345844" y="596700"/>
                  </a:lnTo>
                  <a:lnTo>
                    <a:pt x="1336466" y="643153"/>
                  </a:lnTo>
                  <a:lnTo>
                    <a:pt x="1310890" y="681088"/>
                  </a:lnTo>
                  <a:lnTo>
                    <a:pt x="1272955" y="706664"/>
                  </a:lnTo>
                  <a:lnTo>
                    <a:pt x="1226501" y="716042"/>
                  </a:lnTo>
                  <a:lnTo>
                    <a:pt x="119342" y="716042"/>
                  </a:lnTo>
                  <a:lnTo>
                    <a:pt x="72889" y="706664"/>
                  </a:lnTo>
                  <a:lnTo>
                    <a:pt x="34954" y="681088"/>
                  </a:lnTo>
                  <a:lnTo>
                    <a:pt x="9378" y="643153"/>
                  </a:lnTo>
                  <a:lnTo>
                    <a:pt x="0" y="596700"/>
                  </a:lnTo>
                  <a:lnTo>
                    <a:pt x="0" y="119342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6561203" y="905783"/>
            <a:ext cx="49022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Pod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50" dirty="0">
                <a:latin typeface="Arial"/>
                <a:cs typeface="Arial"/>
              </a:rPr>
              <a:t>2</a:t>
            </a:r>
            <a:endParaRPr sz="14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558955" y="1979674"/>
            <a:ext cx="762635" cy="38925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50800" marR="5080" indent="-38735">
              <a:lnSpc>
                <a:spcPts val="1430"/>
              </a:lnSpc>
              <a:spcBef>
                <a:spcPts val="155"/>
              </a:spcBef>
            </a:pPr>
            <a:r>
              <a:rPr sz="1200" spc="-10" dirty="0">
                <a:latin typeface="Arial"/>
                <a:cs typeface="Arial"/>
              </a:rPr>
              <a:t>Supporting Controller</a:t>
            </a:r>
            <a:endParaRPr sz="12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640803" y="2453518"/>
            <a:ext cx="599440" cy="213360"/>
          </a:xfrm>
          <a:prstGeom prst="rect">
            <a:avLst/>
          </a:prstGeom>
          <a:solidFill>
            <a:srgbClr val="B49FFF"/>
          </a:solidFill>
          <a:ln w="12699">
            <a:solidFill>
              <a:srgbClr val="127BB4"/>
            </a:solidFill>
          </a:ln>
        </p:spPr>
        <p:txBody>
          <a:bodyPr vert="horz" wrap="square" lIns="0" tIns="9525" rIns="0" bIns="0" rtlCol="0">
            <a:spAutoFit/>
          </a:bodyPr>
          <a:lstStyle/>
          <a:p>
            <a:pPr marL="108585">
              <a:lnSpc>
                <a:spcPct val="100000"/>
              </a:lnSpc>
              <a:spcBef>
                <a:spcPts val="75"/>
              </a:spcBef>
            </a:pP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:7777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6435194" y="3289512"/>
            <a:ext cx="1010285" cy="323215"/>
            <a:chOff x="6435194" y="3289512"/>
            <a:chExt cx="1010285" cy="323215"/>
          </a:xfrm>
        </p:grpSpPr>
        <p:sp>
          <p:nvSpPr>
            <p:cNvPr id="24" name="object 24"/>
            <p:cNvSpPr/>
            <p:nvPr/>
          </p:nvSpPr>
          <p:spPr>
            <a:xfrm>
              <a:off x="6441544" y="3295862"/>
              <a:ext cx="997585" cy="310515"/>
            </a:xfrm>
            <a:custGeom>
              <a:avLst/>
              <a:gdLst/>
              <a:ahLst/>
              <a:cxnLst/>
              <a:rect l="l" t="t" r="r" b="b"/>
              <a:pathLst>
                <a:path w="997584" h="310514">
                  <a:moveTo>
                    <a:pt x="945647" y="310285"/>
                  </a:moveTo>
                  <a:lnTo>
                    <a:pt x="51714" y="310285"/>
                  </a:lnTo>
                  <a:lnTo>
                    <a:pt x="31585" y="306221"/>
                  </a:lnTo>
                  <a:lnTo>
                    <a:pt x="15146" y="295138"/>
                  </a:lnTo>
                  <a:lnTo>
                    <a:pt x="4064" y="278699"/>
                  </a:lnTo>
                  <a:lnTo>
                    <a:pt x="0" y="258569"/>
                  </a:lnTo>
                  <a:lnTo>
                    <a:pt x="0" y="51715"/>
                  </a:lnTo>
                  <a:lnTo>
                    <a:pt x="4064" y="31585"/>
                  </a:lnTo>
                  <a:lnTo>
                    <a:pt x="15146" y="15146"/>
                  </a:lnTo>
                  <a:lnTo>
                    <a:pt x="31585" y="4064"/>
                  </a:lnTo>
                  <a:lnTo>
                    <a:pt x="51714" y="0"/>
                  </a:lnTo>
                  <a:lnTo>
                    <a:pt x="945647" y="0"/>
                  </a:lnTo>
                  <a:lnTo>
                    <a:pt x="982215" y="15146"/>
                  </a:lnTo>
                  <a:lnTo>
                    <a:pt x="997362" y="51715"/>
                  </a:lnTo>
                  <a:lnTo>
                    <a:pt x="997362" y="258569"/>
                  </a:lnTo>
                  <a:lnTo>
                    <a:pt x="993298" y="278699"/>
                  </a:lnTo>
                  <a:lnTo>
                    <a:pt x="982215" y="295138"/>
                  </a:lnTo>
                  <a:lnTo>
                    <a:pt x="965777" y="306221"/>
                  </a:lnTo>
                  <a:lnTo>
                    <a:pt x="945647" y="310285"/>
                  </a:lnTo>
                  <a:close/>
                </a:path>
              </a:pathLst>
            </a:custGeom>
            <a:solidFill>
              <a:srgbClr val="73CC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441544" y="3295862"/>
              <a:ext cx="997585" cy="310515"/>
            </a:xfrm>
            <a:custGeom>
              <a:avLst/>
              <a:gdLst/>
              <a:ahLst/>
              <a:cxnLst/>
              <a:rect l="l" t="t" r="r" b="b"/>
              <a:pathLst>
                <a:path w="997584" h="310514">
                  <a:moveTo>
                    <a:pt x="0" y="51715"/>
                  </a:moveTo>
                  <a:lnTo>
                    <a:pt x="4064" y="31585"/>
                  </a:lnTo>
                  <a:lnTo>
                    <a:pt x="15146" y="15146"/>
                  </a:lnTo>
                  <a:lnTo>
                    <a:pt x="31585" y="4064"/>
                  </a:lnTo>
                  <a:lnTo>
                    <a:pt x="51714" y="0"/>
                  </a:lnTo>
                  <a:lnTo>
                    <a:pt x="945647" y="0"/>
                  </a:lnTo>
                  <a:lnTo>
                    <a:pt x="982215" y="15146"/>
                  </a:lnTo>
                  <a:lnTo>
                    <a:pt x="997362" y="51715"/>
                  </a:lnTo>
                  <a:lnTo>
                    <a:pt x="997362" y="258569"/>
                  </a:lnTo>
                  <a:lnTo>
                    <a:pt x="993298" y="278699"/>
                  </a:lnTo>
                  <a:lnTo>
                    <a:pt x="982215" y="295138"/>
                  </a:lnTo>
                  <a:lnTo>
                    <a:pt x="965777" y="306221"/>
                  </a:lnTo>
                  <a:lnTo>
                    <a:pt x="945647" y="310285"/>
                  </a:lnTo>
                  <a:lnTo>
                    <a:pt x="51714" y="310285"/>
                  </a:lnTo>
                  <a:lnTo>
                    <a:pt x="31585" y="306221"/>
                  </a:lnTo>
                  <a:lnTo>
                    <a:pt x="15146" y="295138"/>
                  </a:lnTo>
                  <a:lnTo>
                    <a:pt x="4064" y="278699"/>
                  </a:lnTo>
                  <a:lnTo>
                    <a:pt x="0" y="258569"/>
                  </a:lnTo>
                  <a:lnTo>
                    <a:pt x="0" y="51715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6567362" y="3341721"/>
            <a:ext cx="7454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"/>
                <a:cs typeface="Arial"/>
              </a:rPr>
              <a:t>10.0.30.60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2442238" y="1865040"/>
            <a:ext cx="1252220" cy="497205"/>
            <a:chOff x="2442238" y="1865040"/>
            <a:chExt cx="1252220" cy="497205"/>
          </a:xfrm>
        </p:grpSpPr>
        <p:sp>
          <p:nvSpPr>
            <p:cNvPr id="28" name="object 28"/>
            <p:cNvSpPr/>
            <p:nvPr/>
          </p:nvSpPr>
          <p:spPr>
            <a:xfrm>
              <a:off x="2448588" y="1871390"/>
              <a:ext cx="1239520" cy="484505"/>
            </a:xfrm>
            <a:custGeom>
              <a:avLst/>
              <a:gdLst/>
              <a:ahLst/>
              <a:cxnLst/>
              <a:rect l="l" t="t" r="r" b="b"/>
              <a:pathLst>
                <a:path w="1239520" h="484505">
                  <a:moveTo>
                    <a:pt x="1158634" y="484185"/>
                  </a:moveTo>
                  <a:lnTo>
                    <a:pt x="80699" y="484185"/>
                  </a:lnTo>
                  <a:lnTo>
                    <a:pt x="49287" y="477844"/>
                  </a:lnTo>
                  <a:lnTo>
                    <a:pt x="23636" y="460549"/>
                  </a:lnTo>
                  <a:lnTo>
                    <a:pt x="6341" y="434898"/>
                  </a:lnTo>
                  <a:lnTo>
                    <a:pt x="0" y="403486"/>
                  </a:lnTo>
                  <a:lnTo>
                    <a:pt x="0" y="80699"/>
                  </a:lnTo>
                  <a:lnTo>
                    <a:pt x="6234" y="49817"/>
                  </a:lnTo>
                  <a:lnTo>
                    <a:pt x="6341" y="49287"/>
                  </a:lnTo>
                  <a:lnTo>
                    <a:pt x="23636" y="23636"/>
                  </a:lnTo>
                  <a:lnTo>
                    <a:pt x="49287" y="6341"/>
                  </a:lnTo>
                  <a:lnTo>
                    <a:pt x="80699" y="0"/>
                  </a:lnTo>
                  <a:lnTo>
                    <a:pt x="1158634" y="0"/>
                  </a:lnTo>
                  <a:lnTo>
                    <a:pt x="1203406" y="13558"/>
                  </a:lnTo>
                  <a:lnTo>
                    <a:pt x="1233191" y="49817"/>
                  </a:lnTo>
                  <a:lnTo>
                    <a:pt x="1239333" y="80699"/>
                  </a:lnTo>
                  <a:lnTo>
                    <a:pt x="1239333" y="403486"/>
                  </a:lnTo>
                  <a:lnTo>
                    <a:pt x="1232992" y="434898"/>
                  </a:lnTo>
                  <a:lnTo>
                    <a:pt x="1215697" y="460549"/>
                  </a:lnTo>
                  <a:lnTo>
                    <a:pt x="1190046" y="477844"/>
                  </a:lnTo>
                  <a:lnTo>
                    <a:pt x="1158634" y="484185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448588" y="1871390"/>
              <a:ext cx="1239520" cy="484505"/>
            </a:xfrm>
            <a:custGeom>
              <a:avLst/>
              <a:gdLst/>
              <a:ahLst/>
              <a:cxnLst/>
              <a:rect l="l" t="t" r="r" b="b"/>
              <a:pathLst>
                <a:path w="1239520" h="484505">
                  <a:moveTo>
                    <a:pt x="0" y="80699"/>
                  </a:moveTo>
                  <a:lnTo>
                    <a:pt x="6341" y="49287"/>
                  </a:lnTo>
                  <a:lnTo>
                    <a:pt x="23636" y="23636"/>
                  </a:lnTo>
                  <a:lnTo>
                    <a:pt x="49287" y="6341"/>
                  </a:lnTo>
                  <a:lnTo>
                    <a:pt x="80699" y="0"/>
                  </a:lnTo>
                  <a:lnTo>
                    <a:pt x="1158634" y="0"/>
                  </a:lnTo>
                  <a:lnTo>
                    <a:pt x="1203406" y="13558"/>
                  </a:lnTo>
                  <a:lnTo>
                    <a:pt x="1233191" y="49817"/>
                  </a:lnTo>
                  <a:lnTo>
                    <a:pt x="1239333" y="80699"/>
                  </a:lnTo>
                  <a:lnTo>
                    <a:pt x="1239333" y="403486"/>
                  </a:lnTo>
                  <a:lnTo>
                    <a:pt x="1232992" y="434898"/>
                  </a:lnTo>
                  <a:lnTo>
                    <a:pt x="1215697" y="460549"/>
                  </a:lnTo>
                  <a:lnTo>
                    <a:pt x="1190046" y="477844"/>
                  </a:lnTo>
                  <a:lnTo>
                    <a:pt x="1158634" y="484185"/>
                  </a:lnTo>
                  <a:lnTo>
                    <a:pt x="80699" y="484185"/>
                  </a:lnTo>
                  <a:lnTo>
                    <a:pt x="49287" y="477844"/>
                  </a:lnTo>
                  <a:lnTo>
                    <a:pt x="23636" y="460549"/>
                  </a:lnTo>
                  <a:lnTo>
                    <a:pt x="6341" y="434898"/>
                  </a:lnTo>
                  <a:lnTo>
                    <a:pt x="0" y="403486"/>
                  </a:lnTo>
                  <a:lnTo>
                    <a:pt x="0" y="80699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2686983" y="1913712"/>
            <a:ext cx="762635" cy="38925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50800" marR="5080" indent="-38735">
              <a:lnSpc>
                <a:spcPts val="1430"/>
              </a:lnSpc>
              <a:spcBef>
                <a:spcPts val="155"/>
              </a:spcBef>
            </a:pPr>
            <a:r>
              <a:rPr sz="1200" spc="-10" dirty="0">
                <a:latin typeface="Arial"/>
                <a:cs typeface="Arial"/>
              </a:rPr>
              <a:t>Supporting Controller</a:t>
            </a:r>
            <a:endParaRPr sz="12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759794" y="2314292"/>
            <a:ext cx="599440" cy="213360"/>
          </a:xfrm>
          <a:prstGeom prst="rect">
            <a:avLst/>
          </a:prstGeom>
          <a:solidFill>
            <a:srgbClr val="B49FFF"/>
          </a:solidFill>
          <a:ln w="12699">
            <a:solidFill>
              <a:srgbClr val="127BB4"/>
            </a:solidFill>
          </a:ln>
        </p:spPr>
        <p:txBody>
          <a:bodyPr vert="horz" wrap="square" lIns="0" tIns="9525" rIns="0" bIns="0" rtlCol="0">
            <a:spAutoFit/>
          </a:bodyPr>
          <a:lstStyle/>
          <a:p>
            <a:pPr marL="108585">
              <a:lnSpc>
                <a:spcPct val="100000"/>
              </a:lnSpc>
              <a:spcBef>
                <a:spcPts val="75"/>
              </a:spcBef>
            </a:pP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:3000</a:t>
            </a:r>
            <a:endParaRPr sz="12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309479" y="4257390"/>
            <a:ext cx="6946900" cy="266065"/>
          </a:xfrm>
          <a:prstGeom prst="rect">
            <a:avLst/>
          </a:prstGeom>
          <a:solidFill>
            <a:srgbClr val="FFAB40"/>
          </a:solidFill>
          <a:ln w="12699">
            <a:solidFill>
              <a:srgbClr val="127BB4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045"/>
              </a:lnSpc>
            </a:pP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Pod</a:t>
            </a:r>
            <a:r>
              <a:rPr sz="18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Network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2390428" y="3624750"/>
            <a:ext cx="41275" cy="623570"/>
            <a:chOff x="2390428" y="3624750"/>
            <a:chExt cx="41275" cy="623570"/>
          </a:xfrm>
        </p:grpSpPr>
        <p:sp>
          <p:nvSpPr>
            <p:cNvPr id="34" name="object 34"/>
            <p:cNvSpPr/>
            <p:nvPr/>
          </p:nvSpPr>
          <p:spPr>
            <a:xfrm>
              <a:off x="2410923" y="3624750"/>
              <a:ext cx="0" cy="575945"/>
            </a:xfrm>
            <a:custGeom>
              <a:avLst/>
              <a:gdLst/>
              <a:ahLst/>
              <a:cxnLst/>
              <a:rect l="l" t="t" r="r" b="b"/>
              <a:pathLst>
                <a:path h="575945">
                  <a:moveTo>
                    <a:pt x="0" y="0"/>
                  </a:moveTo>
                  <a:lnTo>
                    <a:pt x="0" y="575549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395190" y="4200300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15732" y="43225"/>
                  </a:moveTo>
                  <a:lnTo>
                    <a:pt x="0" y="0"/>
                  </a:lnTo>
                  <a:lnTo>
                    <a:pt x="31465" y="0"/>
                  </a:lnTo>
                  <a:lnTo>
                    <a:pt x="15732" y="4322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395190" y="4200300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0"/>
                  </a:moveTo>
                  <a:lnTo>
                    <a:pt x="15732" y="43225"/>
                  </a:lnTo>
                  <a:lnTo>
                    <a:pt x="31465" y="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7" name="object 37"/>
          <p:cNvGrpSpPr/>
          <p:nvPr/>
        </p:nvGrpSpPr>
        <p:grpSpPr>
          <a:xfrm>
            <a:off x="6919731" y="3552571"/>
            <a:ext cx="41275" cy="623570"/>
            <a:chOff x="6919731" y="3552571"/>
            <a:chExt cx="41275" cy="623570"/>
          </a:xfrm>
        </p:grpSpPr>
        <p:sp>
          <p:nvSpPr>
            <p:cNvPr id="38" name="object 38"/>
            <p:cNvSpPr/>
            <p:nvPr/>
          </p:nvSpPr>
          <p:spPr>
            <a:xfrm>
              <a:off x="6940226" y="3552571"/>
              <a:ext cx="0" cy="575945"/>
            </a:xfrm>
            <a:custGeom>
              <a:avLst/>
              <a:gdLst/>
              <a:ahLst/>
              <a:cxnLst/>
              <a:rect l="l" t="t" r="r" b="b"/>
              <a:pathLst>
                <a:path h="575945">
                  <a:moveTo>
                    <a:pt x="0" y="0"/>
                  </a:moveTo>
                  <a:lnTo>
                    <a:pt x="0" y="57549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6924493" y="4128062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15732" y="43225"/>
                  </a:moveTo>
                  <a:lnTo>
                    <a:pt x="0" y="0"/>
                  </a:lnTo>
                  <a:lnTo>
                    <a:pt x="31465" y="0"/>
                  </a:lnTo>
                  <a:lnTo>
                    <a:pt x="15732" y="4322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6924493" y="4128062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0"/>
                  </a:moveTo>
                  <a:lnTo>
                    <a:pt x="15732" y="43225"/>
                  </a:lnTo>
                  <a:lnTo>
                    <a:pt x="31465" y="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301625" y="4823475"/>
            <a:ext cx="167005" cy="16764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spc="-25" dirty="0">
                <a:solidFill>
                  <a:srgbClr val="FFAB40"/>
                </a:solidFill>
                <a:latin typeface="Arial"/>
                <a:cs typeface="Arial"/>
              </a:rPr>
              <a:t>52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2730" cy="5143500"/>
            <a:chOff x="0" y="0"/>
            <a:chExt cx="9142730" cy="5143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54" y="0"/>
              <a:ext cx="9141290" cy="410870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4175999" cy="514349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193024" y="4326076"/>
              <a:ext cx="722375" cy="604028"/>
            </a:xfrm>
            <a:prstGeom prst="rect">
              <a:avLst/>
            </a:prstGeom>
          </p:spPr>
        </p:pic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758825" y="1328441"/>
            <a:ext cx="6178550" cy="1244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4000" dirty="0">
                <a:solidFill>
                  <a:srgbClr val="FFFFFF"/>
                </a:solidFill>
              </a:rPr>
              <a:t>How</a:t>
            </a:r>
            <a:r>
              <a:rPr sz="4000" spc="-30" dirty="0">
                <a:solidFill>
                  <a:srgbClr val="FFFFFF"/>
                </a:solidFill>
              </a:rPr>
              <a:t> </a:t>
            </a:r>
            <a:r>
              <a:rPr sz="4000" dirty="0">
                <a:solidFill>
                  <a:srgbClr val="FFFFFF"/>
                </a:solidFill>
              </a:rPr>
              <a:t>does</a:t>
            </a:r>
            <a:r>
              <a:rPr sz="4000" spc="-25" dirty="0">
                <a:solidFill>
                  <a:srgbClr val="FFFFFF"/>
                </a:solidFill>
              </a:rPr>
              <a:t> </a:t>
            </a:r>
            <a:r>
              <a:rPr sz="4000" spc="-30" dirty="0">
                <a:solidFill>
                  <a:srgbClr val="FFFFFF"/>
                </a:solidFill>
              </a:rPr>
              <a:t>Intra-</a:t>
            </a:r>
            <a:r>
              <a:rPr sz="4000" spc="-25" dirty="0">
                <a:solidFill>
                  <a:srgbClr val="FFFFFF"/>
                </a:solidFill>
              </a:rPr>
              <a:t>Pod </a:t>
            </a:r>
            <a:r>
              <a:rPr sz="4000" spc="-10" dirty="0">
                <a:solidFill>
                  <a:srgbClr val="FFFFFF"/>
                </a:solidFill>
              </a:rPr>
              <a:t>communication</a:t>
            </a:r>
            <a:r>
              <a:rPr sz="4000" spc="-150" dirty="0">
                <a:solidFill>
                  <a:srgbClr val="FFFFFF"/>
                </a:solidFill>
              </a:rPr>
              <a:t> </a:t>
            </a:r>
            <a:r>
              <a:rPr sz="4000" dirty="0">
                <a:solidFill>
                  <a:srgbClr val="FFFFFF"/>
                </a:solidFill>
              </a:rPr>
              <a:t>take</a:t>
            </a:r>
            <a:r>
              <a:rPr sz="4000" spc="-150" dirty="0">
                <a:solidFill>
                  <a:srgbClr val="FFFFFF"/>
                </a:solidFill>
              </a:rPr>
              <a:t> </a:t>
            </a:r>
            <a:r>
              <a:rPr sz="4000" spc="-10" dirty="0">
                <a:solidFill>
                  <a:srgbClr val="FFFFFF"/>
                </a:solidFill>
              </a:rPr>
              <a:t>place?</a:t>
            </a:r>
            <a:endParaRPr sz="4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01625" y="249500"/>
            <a:ext cx="4171315" cy="4648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Intra-Pod</a:t>
            </a:r>
            <a:r>
              <a:rPr spc="80" dirty="0"/>
              <a:t> </a:t>
            </a:r>
            <a:r>
              <a:rPr spc="-10" dirty="0"/>
              <a:t>Communication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813709" y="1039650"/>
            <a:ext cx="4683760" cy="2425700"/>
            <a:chOff x="2813709" y="1039650"/>
            <a:chExt cx="4683760" cy="2425700"/>
          </a:xfrm>
        </p:grpSpPr>
        <p:sp>
          <p:nvSpPr>
            <p:cNvPr id="4" name="object 4"/>
            <p:cNvSpPr/>
            <p:nvPr/>
          </p:nvSpPr>
          <p:spPr>
            <a:xfrm>
              <a:off x="2820059" y="1046000"/>
              <a:ext cx="4671060" cy="2413000"/>
            </a:xfrm>
            <a:custGeom>
              <a:avLst/>
              <a:gdLst/>
              <a:ahLst/>
              <a:cxnLst/>
              <a:rect l="l" t="t" r="r" b="b"/>
              <a:pathLst>
                <a:path w="4671059" h="2413000">
                  <a:moveTo>
                    <a:pt x="4268463" y="2413001"/>
                  </a:moveTo>
                  <a:lnTo>
                    <a:pt x="402174" y="2413001"/>
                  </a:lnTo>
                  <a:lnTo>
                    <a:pt x="355272" y="2410295"/>
                  </a:lnTo>
                  <a:lnTo>
                    <a:pt x="309959" y="2402379"/>
                  </a:lnTo>
                  <a:lnTo>
                    <a:pt x="266537" y="2389555"/>
                  </a:lnTo>
                  <a:lnTo>
                    <a:pt x="225308" y="2372123"/>
                  </a:lnTo>
                  <a:lnTo>
                    <a:pt x="186573" y="2350387"/>
                  </a:lnTo>
                  <a:lnTo>
                    <a:pt x="150634" y="2324647"/>
                  </a:lnTo>
                  <a:lnTo>
                    <a:pt x="117794" y="2295206"/>
                  </a:lnTo>
                  <a:lnTo>
                    <a:pt x="88353" y="2262366"/>
                  </a:lnTo>
                  <a:lnTo>
                    <a:pt x="62613" y="2226427"/>
                  </a:lnTo>
                  <a:lnTo>
                    <a:pt x="40877" y="2187692"/>
                  </a:lnTo>
                  <a:lnTo>
                    <a:pt x="23446" y="2146463"/>
                  </a:lnTo>
                  <a:lnTo>
                    <a:pt x="10621" y="2103041"/>
                  </a:lnTo>
                  <a:lnTo>
                    <a:pt x="2705" y="2057728"/>
                  </a:lnTo>
                  <a:lnTo>
                    <a:pt x="0" y="2010826"/>
                  </a:lnTo>
                  <a:lnTo>
                    <a:pt x="0" y="402174"/>
                  </a:lnTo>
                  <a:lnTo>
                    <a:pt x="2705" y="355272"/>
                  </a:lnTo>
                  <a:lnTo>
                    <a:pt x="10621" y="309959"/>
                  </a:lnTo>
                  <a:lnTo>
                    <a:pt x="23446" y="266537"/>
                  </a:lnTo>
                  <a:lnTo>
                    <a:pt x="40877" y="225308"/>
                  </a:lnTo>
                  <a:lnTo>
                    <a:pt x="62613" y="186573"/>
                  </a:lnTo>
                  <a:lnTo>
                    <a:pt x="88353" y="150635"/>
                  </a:lnTo>
                  <a:lnTo>
                    <a:pt x="117794" y="117794"/>
                  </a:lnTo>
                  <a:lnTo>
                    <a:pt x="150634" y="88353"/>
                  </a:lnTo>
                  <a:lnTo>
                    <a:pt x="186573" y="62613"/>
                  </a:lnTo>
                  <a:lnTo>
                    <a:pt x="225308" y="40877"/>
                  </a:lnTo>
                  <a:lnTo>
                    <a:pt x="266537" y="23446"/>
                  </a:lnTo>
                  <a:lnTo>
                    <a:pt x="309959" y="10621"/>
                  </a:lnTo>
                  <a:lnTo>
                    <a:pt x="355272" y="2705"/>
                  </a:lnTo>
                  <a:lnTo>
                    <a:pt x="402174" y="0"/>
                  </a:lnTo>
                  <a:lnTo>
                    <a:pt x="4268463" y="0"/>
                  </a:lnTo>
                  <a:lnTo>
                    <a:pt x="4321327" y="3487"/>
                  </a:lnTo>
                  <a:lnTo>
                    <a:pt x="4372837" y="13778"/>
                  </a:lnTo>
                  <a:lnTo>
                    <a:pt x="4422369" y="30613"/>
                  </a:lnTo>
                  <a:lnTo>
                    <a:pt x="4469298" y="53733"/>
                  </a:lnTo>
                  <a:lnTo>
                    <a:pt x="4512998" y="82880"/>
                  </a:lnTo>
                  <a:lnTo>
                    <a:pt x="4552844" y="117794"/>
                  </a:lnTo>
                  <a:lnTo>
                    <a:pt x="4587758" y="157640"/>
                  </a:lnTo>
                  <a:lnTo>
                    <a:pt x="4616904" y="201340"/>
                  </a:lnTo>
                  <a:lnTo>
                    <a:pt x="4640024" y="248269"/>
                  </a:lnTo>
                  <a:lnTo>
                    <a:pt x="4656859" y="297801"/>
                  </a:lnTo>
                  <a:lnTo>
                    <a:pt x="4667150" y="349311"/>
                  </a:lnTo>
                  <a:lnTo>
                    <a:pt x="4670638" y="402174"/>
                  </a:lnTo>
                  <a:lnTo>
                    <a:pt x="4670638" y="2010826"/>
                  </a:lnTo>
                  <a:lnTo>
                    <a:pt x="4667932" y="2057728"/>
                  </a:lnTo>
                  <a:lnTo>
                    <a:pt x="4660016" y="2103041"/>
                  </a:lnTo>
                  <a:lnTo>
                    <a:pt x="4647192" y="2146463"/>
                  </a:lnTo>
                  <a:lnTo>
                    <a:pt x="4629761" y="2187692"/>
                  </a:lnTo>
                  <a:lnTo>
                    <a:pt x="4608024" y="2226427"/>
                  </a:lnTo>
                  <a:lnTo>
                    <a:pt x="4582285" y="2262366"/>
                  </a:lnTo>
                  <a:lnTo>
                    <a:pt x="4552844" y="2295206"/>
                  </a:lnTo>
                  <a:lnTo>
                    <a:pt x="4520003" y="2324647"/>
                  </a:lnTo>
                  <a:lnTo>
                    <a:pt x="4484065" y="2350387"/>
                  </a:lnTo>
                  <a:lnTo>
                    <a:pt x="4445330" y="2372123"/>
                  </a:lnTo>
                  <a:lnTo>
                    <a:pt x="4404100" y="2389555"/>
                  </a:lnTo>
                  <a:lnTo>
                    <a:pt x="4360678" y="2402379"/>
                  </a:lnTo>
                  <a:lnTo>
                    <a:pt x="4315365" y="2410295"/>
                  </a:lnTo>
                  <a:lnTo>
                    <a:pt x="4268463" y="2413001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820059" y="1046000"/>
              <a:ext cx="4671060" cy="2413000"/>
            </a:xfrm>
            <a:custGeom>
              <a:avLst/>
              <a:gdLst/>
              <a:ahLst/>
              <a:cxnLst/>
              <a:rect l="l" t="t" r="r" b="b"/>
              <a:pathLst>
                <a:path w="4671059" h="2413000">
                  <a:moveTo>
                    <a:pt x="0" y="402174"/>
                  </a:moveTo>
                  <a:lnTo>
                    <a:pt x="2705" y="355272"/>
                  </a:lnTo>
                  <a:lnTo>
                    <a:pt x="10621" y="309959"/>
                  </a:lnTo>
                  <a:lnTo>
                    <a:pt x="23446" y="266537"/>
                  </a:lnTo>
                  <a:lnTo>
                    <a:pt x="40877" y="225308"/>
                  </a:lnTo>
                  <a:lnTo>
                    <a:pt x="62613" y="186573"/>
                  </a:lnTo>
                  <a:lnTo>
                    <a:pt x="88353" y="150635"/>
                  </a:lnTo>
                  <a:lnTo>
                    <a:pt x="117794" y="117794"/>
                  </a:lnTo>
                  <a:lnTo>
                    <a:pt x="150634" y="88353"/>
                  </a:lnTo>
                  <a:lnTo>
                    <a:pt x="186573" y="62613"/>
                  </a:lnTo>
                  <a:lnTo>
                    <a:pt x="225308" y="40877"/>
                  </a:lnTo>
                  <a:lnTo>
                    <a:pt x="266537" y="23446"/>
                  </a:lnTo>
                  <a:lnTo>
                    <a:pt x="309959" y="10621"/>
                  </a:lnTo>
                  <a:lnTo>
                    <a:pt x="355272" y="2705"/>
                  </a:lnTo>
                  <a:lnTo>
                    <a:pt x="402174" y="0"/>
                  </a:lnTo>
                  <a:lnTo>
                    <a:pt x="4268463" y="0"/>
                  </a:lnTo>
                  <a:lnTo>
                    <a:pt x="4321327" y="3487"/>
                  </a:lnTo>
                  <a:lnTo>
                    <a:pt x="4372837" y="13778"/>
                  </a:lnTo>
                  <a:lnTo>
                    <a:pt x="4422369" y="30613"/>
                  </a:lnTo>
                  <a:lnTo>
                    <a:pt x="4469298" y="53733"/>
                  </a:lnTo>
                  <a:lnTo>
                    <a:pt x="4512998" y="82880"/>
                  </a:lnTo>
                  <a:lnTo>
                    <a:pt x="4552844" y="117794"/>
                  </a:lnTo>
                  <a:lnTo>
                    <a:pt x="4587758" y="157640"/>
                  </a:lnTo>
                  <a:lnTo>
                    <a:pt x="4616904" y="201340"/>
                  </a:lnTo>
                  <a:lnTo>
                    <a:pt x="4640024" y="248269"/>
                  </a:lnTo>
                  <a:lnTo>
                    <a:pt x="4656859" y="297801"/>
                  </a:lnTo>
                  <a:lnTo>
                    <a:pt x="4667150" y="349311"/>
                  </a:lnTo>
                  <a:lnTo>
                    <a:pt x="4670638" y="402174"/>
                  </a:lnTo>
                  <a:lnTo>
                    <a:pt x="4670638" y="2010826"/>
                  </a:lnTo>
                  <a:lnTo>
                    <a:pt x="4667932" y="2057728"/>
                  </a:lnTo>
                  <a:lnTo>
                    <a:pt x="4660016" y="2103041"/>
                  </a:lnTo>
                  <a:lnTo>
                    <a:pt x="4647192" y="2146463"/>
                  </a:lnTo>
                  <a:lnTo>
                    <a:pt x="4629761" y="2187692"/>
                  </a:lnTo>
                  <a:lnTo>
                    <a:pt x="4608024" y="2226427"/>
                  </a:lnTo>
                  <a:lnTo>
                    <a:pt x="4582285" y="2262366"/>
                  </a:lnTo>
                  <a:lnTo>
                    <a:pt x="4552844" y="2295206"/>
                  </a:lnTo>
                  <a:lnTo>
                    <a:pt x="4520003" y="2324647"/>
                  </a:lnTo>
                  <a:lnTo>
                    <a:pt x="4484065" y="2350387"/>
                  </a:lnTo>
                  <a:lnTo>
                    <a:pt x="4445330" y="2372123"/>
                  </a:lnTo>
                  <a:lnTo>
                    <a:pt x="4404100" y="2389555"/>
                  </a:lnTo>
                  <a:lnTo>
                    <a:pt x="4360678" y="2402379"/>
                  </a:lnTo>
                  <a:lnTo>
                    <a:pt x="4315365" y="2410295"/>
                  </a:lnTo>
                  <a:lnTo>
                    <a:pt x="4268463" y="2413001"/>
                  </a:lnTo>
                  <a:lnTo>
                    <a:pt x="402174" y="2413001"/>
                  </a:lnTo>
                  <a:lnTo>
                    <a:pt x="355272" y="2410295"/>
                  </a:lnTo>
                  <a:lnTo>
                    <a:pt x="309959" y="2402379"/>
                  </a:lnTo>
                  <a:lnTo>
                    <a:pt x="266537" y="2389555"/>
                  </a:lnTo>
                  <a:lnTo>
                    <a:pt x="225308" y="2372123"/>
                  </a:lnTo>
                  <a:lnTo>
                    <a:pt x="186573" y="2350387"/>
                  </a:lnTo>
                  <a:lnTo>
                    <a:pt x="150634" y="2324647"/>
                  </a:lnTo>
                  <a:lnTo>
                    <a:pt x="117794" y="2295206"/>
                  </a:lnTo>
                  <a:lnTo>
                    <a:pt x="88353" y="2262366"/>
                  </a:lnTo>
                  <a:lnTo>
                    <a:pt x="62613" y="2226427"/>
                  </a:lnTo>
                  <a:lnTo>
                    <a:pt x="40877" y="2187692"/>
                  </a:lnTo>
                  <a:lnTo>
                    <a:pt x="23446" y="2146463"/>
                  </a:lnTo>
                  <a:lnTo>
                    <a:pt x="10621" y="2103041"/>
                  </a:lnTo>
                  <a:lnTo>
                    <a:pt x="2705" y="2057728"/>
                  </a:lnTo>
                  <a:lnTo>
                    <a:pt x="0" y="2010826"/>
                  </a:lnTo>
                  <a:lnTo>
                    <a:pt x="0" y="402174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318397" y="1607847"/>
              <a:ext cx="1348105" cy="477520"/>
            </a:xfrm>
            <a:custGeom>
              <a:avLst/>
              <a:gdLst/>
              <a:ahLst/>
              <a:cxnLst/>
              <a:rect l="l" t="t" r="r" b="b"/>
              <a:pathLst>
                <a:path w="1348104" h="477519">
                  <a:moveTo>
                    <a:pt x="1268401" y="477253"/>
                  </a:moveTo>
                  <a:lnTo>
                    <a:pt x="79543" y="477253"/>
                  </a:lnTo>
                  <a:lnTo>
                    <a:pt x="48581" y="471003"/>
                  </a:lnTo>
                  <a:lnTo>
                    <a:pt x="23297" y="453956"/>
                  </a:lnTo>
                  <a:lnTo>
                    <a:pt x="6250" y="428672"/>
                  </a:lnTo>
                  <a:lnTo>
                    <a:pt x="0" y="397709"/>
                  </a:lnTo>
                  <a:lnTo>
                    <a:pt x="0" y="79543"/>
                  </a:lnTo>
                  <a:lnTo>
                    <a:pt x="6250" y="48581"/>
                  </a:lnTo>
                  <a:lnTo>
                    <a:pt x="23297" y="23297"/>
                  </a:lnTo>
                  <a:lnTo>
                    <a:pt x="48581" y="6250"/>
                  </a:lnTo>
                  <a:lnTo>
                    <a:pt x="79543" y="0"/>
                  </a:lnTo>
                  <a:lnTo>
                    <a:pt x="1268401" y="0"/>
                  </a:lnTo>
                  <a:lnTo>
                    <a:pt x="1312532" y="13364"/>
                  </a:lnTo>
                  <a:lnTo>
                    <a:pt x="1341891" y="49103"/>
                  </a:lnTo>
                  <a:lnTo>
                    <a:pt x="1347945" y="79543"/>
                  </a:lnTo>
                  <a:lnTo>
                    <a:pt x="1347945" y="397709"/>
                  </a:lnTo>
                  <a:lnTo>
                    <a:pt x="1341695" y="428672"/>
                  </a:lnTo>
                  <a:lnTo>
                    <a:pt x="1324647" y="453956"/>
                  </a:lnTo>
                  <a:lnTo>
                    <a:pt x="1299363" y="471003"/>
                  </a:lnTo>
                  <a:lnTo>
                    <a:pt x="1268401" y="477253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318397" y="1607847"/>
              <a:ext cx="1348105" cy="477520"/>
            </a:xfrm>
            <a:custGeom>
              <a:avLst/>
              <a:gdLst/>
              <a:ahLst/>
              <a:cxnLst/>
              <a:rect l="l" t="t" r="r" b="b"/>
              <a:pathLst>
                <a:path w="1348104" h="477519">
                  <a:moveTo>
                    <a:pt x="0" y="79543"/>
                  </a:moveTo>
                  <a:lnTo>
                    <a:pt x="6250" y="48581"/>
                  </a:lnTo>
                  <a:lnTo>
                    <a:pt x="23297" y="23297"/>
                  </a:lnTo>
                  <a:lnTo>
                    <a:pt x="48581" y="6250"/>
                  </a:lnTo>
                  <a:lnTo>
                    <a:pt x="79543" y="0"/>
                  </a:lnTo>
                  <a:lnTo>
                    <a:pt x="1268401" y="0"/>
                  </a:lnTo>
                  <a:lnTo>
                    <a:pt x="1312532" y="13364"/>
                  </a:lnTo>
                  <a:lnTo>
                    <a:pt x="1341891" y="49103"/>
                  </a:lnTo>
                  <a:lnTo>
                    <a:pt x="1347945" y="79543"/>
                  </a:lnTo>
                  <a:lnTo>
                    <a:pt x="1347945" y="397709"/>
                  </a:lnTo>
                  <a:lnTo>
                    <a:pt x="1341695" y="428672"/>
                  </a:lnTo>
                  <a:lnTo>
                    <a:pt x="1324647" y="453956"/>
                  </a:lnTo>
                  <a:lnTo>
                    <a:pt x="1299363" y="471003"/>
                  </a:lnTo>
                  <a:lnTo>
                    <a:pt x="1268401" y="477253"/>
                  </a:lnTo>
                  <a:lnTo>
                    <a:pt x="79543" y="477253"/>
                  </a:lnTo>
                  <a:lnTo>
                    <a:pt x="48581" y="471003"/>
                  </a:lnTo>
                  <a:lnTo>
                    <a:pt x="23297" y="453956"/>
                  </a:lnTo>
                  <a:lnTo>
                    <a:pt x="6250" y="428672"/>
                  </a:lnTo>
                  <a:lnTo>
                    <a:pt x="0" y="397709"/>
                  </a:lnTo>
                  <a:lnTo>
                    <a:pt x="0" y="79543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4817681" y="739545"/>
            <a:ext cx="49022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Pod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50" dirty="0">
                <a:latin typeface="Arial"/>
                <a:cs typeface="Arial"/>
              </a:rPr>
              <a:t>1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527530" y="1747477"/>
            <a:ext cx="92964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latin typeface="Arial"/>
                <a:cs typeface="Arial"/>
              </a:rPr>
              <a:t>Main</a:t>
            </a:r>
            <a:r>
              <a:rPr sz="1050" spc="-45" dirty="0">
                <a:latin typeface="Arial"/>
                <a:cs typeface="Arial"/>
              </a:rPr>
              <a:t> </a:t>
            </a:r>
            <a:r>
              <a:rPr sz="1050" spc="-10" dirty="0">
                <a:latin typeface="Arial"/>
                <a:cs typeface="Arial"/>
              </a:rPr>
              <a:t>Container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512010" y="1594564"/>
            <a:ext cx="1252220" cy="497205"/>
            <a:chOff x="5512010" y="1594564"/>
            <a:chExt cx="1252220" cy="497205"/>
          </a:xfrm>
        </p:grpSpPr>
        <p:sp>
          <p:nvSpPr>
            <p:cNvPr id="11" name="object 11"/>
            <p:cNvSpPr/>
            <p:nvPr/>
          </p:nvSpPr>
          <p:spPr>
            <a:xfrm>
              <a:off x="5518360" y="1600914"/>
              <a:ext cx="1239520" cy="484505"/>
            </a:xfrm>
            <a:custGeom>
              <a:avLst/>
              <a:gdLst/>
              <a:ahLst/>
              <a:cxnLst/>
              <a:rect l="l" t="t" r="r" b="b"/>
              <a:pathLst>
                <a:path w="1239520" h="484505">
                  <a:moveTo>
                    <a:pt x="1158633" y="484185"/>
                  </a:moveTo>
                  <a:lnTo>
                    <a:pt x="80698" y="484185"/>
                  </a:lnTo>
                  <a:lnTo>
                    <a:pt x="49287" y="477844"/>
                  </a:lnTo>
                  <a:lnTo>
                    <a:pt x="23636" y="460549"/>
                  </a:lnTo>
                  <a:lnTo>
                    <a:pt x="6341" y="434898"/>
                  </a:lnTo>
                  <a:lnTo>
                    <a:pt x="0" y="403486"/>
                  </a:lnTo>
                  <a:lnTo>
                    <a:pt x="0" y="80699"/>
                  </a:lnTo>
                  <a:lnTo>
                    <a:pt x="6234" y="49817"/>
                  </a:lnTo>
                  <a:lnTo>
                    <a:pt x="6341" y="49287"/>
                  </a:lnTo>
                  <a:lnTo>
                    <a:pt x="23636" y="23636"/>
                  </a:lnTo>
                  <a:lnTo>
                    <a:pt x="49287" y="6341"/>
                  </a:lnTo>
                  <a:lnTo>
                    <a:pt x="80698" y="0"/>
                  </a:lnTo>
                  <a:lnTo>
                    <a:pt x="1158633" y="0"/>
                  </a:lnTo>
                  <a:lnTo>
                    <a:pt x="1203406" y="13558"/>
                  </a:lnTo>
                  <a:lnTo>
                    <a:pt x="1233191" y="49817"/>
                  </a:lnTo>
                  <a:lnTo>
                    <a:pt x="1239333" y="80699"/>
                  </a:lnTo>
                  <a:lnTo>
                    <a:pt x="1239333" y="403486"/>
                  </a:lnTo>
                  <a:lnTo>
                    <a:pt x="1232992" y="434898"/>
                  </a:lnTo>
                  <a:lnTo>
                    <a:pt x="1215697" y="460549"/>
                  </a:lnTo>
                  <a:lnTo>
                    <a:pt x="1190046" y="477844"/>
                  </a:lnTo>
                  <a:lnTo>
                    <a:pt x="1158633" y="484185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518360" y="1600914"/>
              <a:ext cx="1239520" cy="484505"/>
            </a:xfrm>
            <a:custGeom>
              <a:avLst/>
              <a:gdLst/>
              <a:ahLst/>
              <a:cxnLst/>
              <a:rect l="l" t="t" r="r" b="b"/>
              <a:pathLst>
                <a:path w="1239520" h="484505">
                  <a:moveTo>
                    <a:pt x="0" y="80699"/>
                  </a:moveTo>
                  <a:lnTo>
                    <a:pt x="6341" y="49287"/>
                  </a:lnTo>
                  <a:lnTo>
                    <a:pt x="23636" y="23636"/>
                  </a:lnTo>
                  <a:lnTo>
                    <a:pt x="49287" y="6341"/>
                  </a:lnTo>
                  <a:lnTo>
                    <a:pt x="80698" y="0"/>
                  </a:lnTo>
                  <a:lnTo>
                    <a:pt x="1158633" y="0"/>
                  </a:lnTo>
                  <a:lnTo>
                    <a:pt x="1203406" y="13558"/>
                  </a:lnTo>
                  <a:lnTo>
                    <a:pt x="1233191" y="49817"/>
                  </a:lnTo>
                  <a:lnTo>
                    <a:pt x="1239333" y="80699"/>
                  </a:lnTo>
                  <a:lnTo>
                    <a:pt x="1239333" y="403486"/>
                  </a:lnTo>
                  <a:lnTo>
                    <a:pt x="1232992" y="434898"/>
                  </a:lnTo>
                  <a:lnTo>
                    <a:pt x="1215697" y="460549"/>
                  </a:lnTo>
                  <a:lnTo>
                    <a:pt x="1190046" y="477844"/>
                  </a:lnTo>
                  <a:lnTo>
                    <a:pt x="1158633" y="484185"/>
                  </a:lnTo>
                  <a:lnTo>
                    <a:pt x="80698" y="484185"/>
                  </a:lnTo>
                  <a:lnTo>
                    <a:pt x="49287" y="477844"/>
                  </a:lnTo>
                  <a:lnTo>
                    <a:pt x="23636" y="460549"/>
                  </a:lnTo>
                  <a:lnTo>
                    <a:pt x="6341" y="434898"/>
                  </a:lnTo>
                  <a:lnTo>
                    <a:pt x="0" y="403486"/>
                  </a:lnTo>
                  <a:lnTo>
                    <a:pt x="0" y="80699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5756755" y="1643236"/>
            <a:ext cx="762635" cy="38925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50800" marR="5080" indent="-38735">
              <a:lnSpc>
                <a:spcPts val="1430"/>
              </a:lnSpc>
              <a:spcBef>
                <a:spcPts val="155"/>
              </a:spcBef>
            </a:pPr>
            <a:r>
              <a:rPr sz="1200" spc="-10" dirty="0">
                <a:latin typeface="Arial"/>
                <a:cs typeface="Arial"/>
              </a:rPr>
              <a:t>Supporting Container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787885" y="2021494"/>
            <a:ext cx="612140" cy="226060"/>
            <a:chOff x="3787885" y="2021494"/>
            <a:chExt cx="612140" cy="226060"/>
          </a:xfrm>
        </p:grpSpPr>
        <p:sp>
          <p:nvSpPr>
            <p:cNvPr id="15" name="object 15"/>
            <p:cNvSpPr/>
            <p:nvPr/>
          </p:nvSpPr>
          <p:spPr>
            <a:xfrm>
              <a:off x="3794235" y="2027844"/>
              <a:ext cx="599440" cy="213360"/>
            </a:xfrm>
            <a:custGeom>
              <a:avLst/>
              <a:gdLst/>
              <a:ahLst/>
              <a:cxnLst/>
              <a:rect l="l" t="t" r="r" b="b"/>
              <a:pathLst>
                <a:path w="599439" h="213360">
                  <a:moveTo>
                    <a:pt x="598846" y="212795"/>
                  </a:moveTo>
                  <a:lnTo>
                    <a:pt x="0" y="212795"/>
                  </a:lnTo>
                  <a:lnTo>
                    <a:pt x="0" y="0"/>
                  </a:lnTo>
                  <a:lnTo>
                    <a:pt x="598846" y="0"/>
                  </a:lnTo>
                  <a:lnTo>
                    <a:pt x="598846" y="212795"/>
                  </a:lnTo>
                  <a:close/>
                </a:path>
              </a:pathLst>
            </a:custGeom>
            <a:solidFill>
              <a:srgbClr val="B49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794235" y="2027844"/>
              <a:ext cx="599440" cy="213360"/>
            </a:xfrm>
            <a:custGeom>
              <a:avLst/>
              <a:gdLst/>
              <a:ahLst/>
              <a:cxnLst/>
              <a:rect l="l" t="t" r="r" b="b"/>
              <a:pathLst>
                <a:path w="599439" h="213360">
                  <a:moveTo>
                    <a:pt x="0" y="0"/>
                  </a:moveTo>
                  <a:lnTo>
                    <a:pt x="598846" y="0"/>
                  </a:lnTo>
                  <a:lnTo>
                    <a:pt x="598846" y="212795"/>
                  </a:lnTo>
                  <a:lnTo>
                    <a:pt x="0" y="212795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800585" y="2024958"/>
            <a:ext cx="5867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2235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:8080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909376" y="2033353"/>
            <a:ext cx="612140" cy="226060"/>
            <a:chOff x="5909376" y="2033353"/>
            <a:chExt cx="612140" cy="226060"/>
          </a:xfrm>
        </p:grpSpPr>
        <p:sp>
          <p:nvSpPr>
            <p:cNvPr id="19" name="object 19"/>
            <p:cNvSpPr/>
            <p:nvPr/>
          </p:nvSpPr>
          <p:spPr>
            <a:xfrm>
              <a:off x="5915726" y="2039703"/>
              <a:ext cx="599440" cy="213360"/>
            </a:xfrm>
            <a:custGeom>
              <a:avLst/>
              <a:gdLst/>
              <a:ahLst/>
              <a:cxnLst/>
              <a:rect l="l" t="t" r="r" b="b"/>
              <a:pathLst>
                <a:path w="599440" h="213360">
                  <a:moveTo>
                    <a:pt x="598846" y="212795"/>
                  </a:moveTo>
                  <a:lnTo>
                    <a:pt x="0" y="212795"/>
                  </a:lnTo>
                  <a:lnTo>
                    <a:pt x="0" y="0"/>
                  </a:lnTo>
                  <a:lnTo>
                    <a:pt x="598846" y="0"/>
                  </a:lnTo>
                  <a:lnTo>
                    <a:pt x="598846" y="212795"/>
                  </a:lnTo>
                  <a:close/>
                </a:path>
              </a:pathLst>
            </a:custGeom>
            <a:solidFill>
              <a:srgbClr val="B49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915726" y="2039703"/>
              <a:ext cx="599440" cy="213360"/>
            </a:xfrm>
            <a:custGeom>
              <a:avLst/>
              <a:gdLst/>
              <a:ahLst/>
              <a:cxnLst/>
              <a:rect l="l" t="t" r="r" b="b"/>
              <a:pathLst>
                <a:path w="599440" h="213360">
                  <a:moveTo>
                    <a:pt x="0" y="0"/>
                  </a:moveTo>
                  <a:lnTo>
                    <a:pt x="598846" y="0"/>
                  </a:lnTo>
                  <a:lnTo>
                    <a:pt x="598846" y="212795"/>
                  </a:lnTo>
                  <a:lnTo>
                    <a:pt x="0" y="212795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6011764" y="2036818"/>
            <a:ext cx="40703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:3000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4088896" y="2235877"/>
            <a:ext cx="2192655" cy="1648460"/>
            <a:chOff x="4088896" y="2235877"/>
            <a:chExt cx="2192655" cy="1648460"/>
          </a:xfrm>
        </p:grpSpPr>
        <p:sp>
          <p:nvSpPr>
            <p:cNvPr id="23" name="object 23"/>
            <p:cNvSpPr/>
            <p:nvPr/>
          </p:nvSpPr>
          <p:spPr>
            <a:xfrm>
              <a:off x="4836871" y="3303857"/>
              <a:ext cx="997585" cy="310515"/>
            </a:xfrm>
            <a:custGeom>
              <a:avLst/>
              <a:gdLst/>
              <a:ahLst/>
              <a:cxnLst/>
              <a:rect l="l" t="t" r="r" b="b"/>
              <a:pathLst>
                <a:path w="997585" h="310514">
                  <a:moveTo>
                    <a:pt x="945647" y="310285"/>
                  </a:moveTo>
                  <a:lnTo>
                    <a:pt x="51715" y="310285"/>
                  </a:lnTo>
                  <a:lnTo>
                    <a:pt x="31585" y="306221"/>
                  </a:lnTo>
                  <a:lnTo>
                    <a:pt x="15146" y="295138"/>
                  </a:lnTo>
                  <a:lnTo>
                    <a:pt x="4064" y="278699"/>
                  </a:lnTo>
                  <a:lnTo>
                    <a:pt x="0" y="258569"/>
                  </a:lnTo>
                  <a:lnTo>
                    <a:pt x="0" y="51715"/>
                  </a:lnTo>
                  <a:lnTo>
                    <a:pt x="4064" y="31585"/>
                  </a:lnTo>
                  <a:lnTo>
                    <a:pt x="15146" y="15146"/>
                  </a:lnTo>
                  <a:lnTo>
                    <a:pt x="31585" y="4064"/>
                  </a:lnTo>
                  <a:lnTo>
                    <a:pt x="51715" y="0"/>
                  </a:lnTo>
                  <a:lnTo>
                    <a:pt x="945647" y="0"/>
                  </a:lnTo>
                  <a:lnTo>
                    <a:pt x="982215" y="15146"/>
                  </a:lnTo>
                  <a:lnTo>
                    <a:pt x="997362" y="51715"/>
                  </a:lnTo>
                  <a:lnTo>
                    <a:pt x="997362" y="258569"/>
                  </a:lnTo>
                  <a:lnTo>
                    <a:pt x="993298" y="278699"/>
                  </a:lnTo>
                  <a:lnTo>
                    <a:pt x="982216" y="295138"/>
                  </a:lnTo>
                  <a:lnTo>
                    <a:pt x="965777" y="306221"/>
                  </a:lnTo>
                  <a:lnTo>
                    <a:pt x="945647" y="310285"/>
                  </a:lnTo>
                  <a:close/>
                </a:path>
              </a:pathLst>
            </a:custGeom>
            <a:solidFill>
              <a:srgbClr val="73CC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836871" y="3303857"/>
              <a:ext cx="997585" cy="310515"/>
            </a:xfrm>
            <a:custGeom>
              <a:avLst/>
              <a:gdLst/>
              <a:ahLst/>
              <a:cxnLst/>
              <a:rect l="l" t="t" r="r" b="b"/>
              <a:pathLst>
                <a:path w="997585" h="310514">
                  <a:moveTo>
                    <a:pt x="0" y="51715"/>
                  </a:moveTo>
                  <a:lnTo>
                    <a:pt x="4064" y="31585"/>
                  </a:lnTo>
                  <a:lnTo>
                    <a:pt x="15146" y="15146"/>
                  </a:lnTo>
                  <a:lnTo>
                    <a:pt x="31585" y="4064"/>
                  </a:lnTo>
                  <a:lnTo>
                    <a:pt x="51715" y="0"/>
                  </a:lnTo>
                  <a:lnTo>
                    <a:pt x="945647" y="0"/>
                  </a:lnTo>
                  <a:lnTo>
                    <a:pt x="982215" y="15146"/>
                  </a:lnTo>
                  <a:lnTo>
                    <a:pt x="997362" y="51715"/>
                  </a:lnTo>
                  <a:lnTo>
                    <a:pt x="997362" y="258569"/>
                  </a:lnTo>
                  <a:lnTo>
                    <a:pt x="993298" y="278699"/>
                  </a:lnTo>
                  <a:lnTo>
                    <a:pt x="982216" y="295138"/>
                  </a:lnTo>
                  <a:lnTo>
                    <a:pt x="965777" y="306221"/>
                  </a:lnTo>
                  <a:lnTo>
                    <a:pt x="945647" y="310285"/>
                  </a:lnTo>
                  <a:lnTo>
                    <a:pt x="51715" y="310285"/>
                  </a:lnTo>
                  <a:lnTo>
                    <a:pt x="31585" y="306221"/>
                  </a:lnTo>
                  <a:lnTo>
                    <a:pt x="15146" y="295138"/>
                  </a:lnTo>
                  <a:lnTo>
                    <a:pt x="4064" y="278699"/>
                  </a:lnTo>
                  <a:lnTo>
                    <a:pt x="0" y="258569"/>
                  </a:lnTo>
                  <a:lnTo>
                    <a:pt x="0" y="51715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093658" y="2240639"/>
              <a:ext cx="1061720" cy="1595755"/>
            </a:xfrm>
            <a:custGeom>
              <a:avLst/>
              <a:gdLst/>
              <a:ahLst/>
              <a:cxnLst/>
              <a:rect l="l" t="t" r="r" b="b"/>
              <a:pathLst>
                <a:path w="1061720" h="1595754">
                  <a:moveTo>
                    <a:pt x="0" y="0"/>
                  </a:moveTo>
                  <a:lnTo>
                    <a:pt x="0" y="826366"/>
                  </a:lnTo>
                  <a:lnTo>
                    <a:pt x="1061699" y="826366"/>
                  </a:lnTo>
                  <a:lnTo>
                    <a:pt x="1061699" y="1595549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139625" y="383618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15732" y="43225"/>
                  </a:moveTo>
                  <a:lnTo>
                    <a:pt x="0" y="0"/>
                  </a:lnTo>
                  <a:lnTo>
                    <a:pt x="31465" y="0"/>
                  </a:lnTo>
                  <a:lnTo>
                    <a:pt x="15732" y="4322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139625" y="383618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0"/>
                  </a:moveTo>
                  <a:lnTo>
                    <a:pt x="15732" y="43225"/>
                  </a:lnTo>
                  <a:lnTo>
                    <a:pt x="31465" y="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398642" y="2252499"/>
              <a:ext cx="878205" cy="1584325"/>
            </a:xfrm>
            <a:custGeom>
              <a:avLst/>
              <a:gdLst/>
              <a:ahLst/>
              <a:cxnLst/>
              <a:rect l="l" t="t" r="r" b="b"/>
              <a:pathLst>
                <a:path w="878204" h="1584325">
                  <a:moveTo>
                    <a:pt x="877799" y="0"/>
                  </a:moveTo>
                  <a:lnTo>
                    <a:pt x="877799" y="820499"/>
                  </a:lnTo>
                  <a:lnTo>
                    <a:pt x="0" y="820499"/>
                  </a:lnTo>
                  <a:lnTo>
                    <a:pt x="0" y="1583849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382909" y="383634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15732" y="43225"/>
                  </a:moveTo>
                  <a:lnTo>
                    <a:pt x="0" y="0"/>
                  </a:lnTo>
                  <a:lnTo>
                    <a:pt x="31465" y="0"/>
                  </a:lnTo>
                  <a:lnTo>
                    <a:pt x="15732" y="4322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382909" y="383634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0"/>
                  </a:moveTo>
                  <a:lnTo>
                    <a:pt x="15732" y="43225"/>
                  </a:lnTo>
                  <a:lnTo>
                    <a:pt x="31465" y="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4903138" y="3349716"/>
            <a:ext cx="805180" cy="755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1755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"/>
                <a:cs typeface="Arial"/>
              </a:rPr>
              <a:t>10.0.30.50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25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latin typeface="Arial"/>
                <a:cs typeface="Arial"/>
              </a:rPr>
              <a:t>:8080</a:t>
            </a:r>
            <a:r>
              <a:rPr sz="1100" spc="27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:3000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4267315" y="2155956"/>
            <a:ext cx="1732914" cy="624205"/>
            <a:chOff x="4267315" y="2155956"/>
            <a:chExt cx="1732914" cy="624205"/>
          </a:xfrm>
        </p:grpSpPr>
        <p:sp>
          <p:nvSpPr>
            <p:cNvPr id="33" name="object 33"/>
            <p:cNvSpPr/>
            <p:nvPr/>
          </p:nvSpPr>
          <p:spPr>
            <a:xfrm>
              <a:off x="4272077" y="2160719"/>
              <a:ext cx="1723389" cy="513715"/>
            </a:xfrm>
            <a:custGeom>
              <a:avLst/>
              <a:gdLst/>
              <a:ahLst/>
              <a:cxnLst/>
              <a:rect l="l" t="t" r="r" b="b"/>
              <a:pathLst>
                <a:path w="1723389" h="513714">
                  <a:moveTo>
                    <a:pt x="0" y="0"/>
                  </a:moveTo>
                  <a:lnTo>
                    <a:pt x="287399" y="0"/>
                  </a:lnTo>
                  <a:lnTo>
                    <a:pt x="287399" y="513299"/>
                  </a:lnTo>
                  <a:lnTo>
                    <a:pt x="517649" y="513299"/>
                  </a:lnTo>
                </a:path>
                <a:path w="1723389" h="513714">
                  <a:moveTo>
                    <a:pt x="1723259" y="23924"/>
                  </a:moveTo>
                  <a:lnTo>
                    <a:pt x="1442759" y="23924"/>
                  </a:lnTo>
                  <a:lnTo>
                    <a:pt x="1442759" y="494324"/>
                  </a:lnTo>
                  <a:lnTo>
                    <a:pt x="1219409" y="494324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724109" y="2545690"/>
              <a:ext cx="803275" cy="227965"/>
            </a:xfrm>
            <a:custGeom>
              <a:avLst/>
              <a:gdLst/>
              <a:ahLst/>
              <a:cxnLst/>
              <a:rect l="l" t="t" r="r" b="b"/>
              <a:pathLst>
                <a:path w="803275" h="227964">
                  <a:moveTo>
                    <a:pt x="803107" y="227764"/>
                  </a:moveTo>
                  <a:lnTo>
                    <a:pt x="0" y="227764"/>
                  </a:lnTo>
                  <a:lnTo>
                    <a:pt x="0" y="0"/>
                  </a:lnTo>
                  <a:lnTo>
                    <a:pt x="803107" y="0"/>
                  </a:lnTo>
                  <a:lnTo>
                    <a:pt x="803107" y="227764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724109" y="2545690"/>
              <a:ext cx="803275" cy="227965"/>
            </a:xfrm>
            <a:custGeom>
              <a:avLst/>
              <a:gdLst/>
              <a:ahLst/>
              <a:cxnLst/>
              <a:rect l="l" t="t" r="r" b="b"/>
              <a:pathLst>
                <a:path w="803275" h="227964">
                  <a:moveTo>
                    <a:pt x="0" y="0"/>
                  </a:moveTo>
                  <a:lnTo>
                    <a:pt x="803107" y="0"/>
                  </a:lnTo>
                  <a:lnTo>
                    <a:pt x="803107" y="227764"/>
                  </a:lnTo>
                  <a:lnTo>
                    <a:pt x="0" y="227764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4868318" y="2575625"/>
            <a:ext cx="5143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FFFFFF"/>
                </a:solidFill>
                <a:latin typeface="Arial"/>
                <a:cs typeface="Arial"/>
              </a:rPr>
              <a:t>Localhost</a:t>
            </a:r>
            <a:endParaRPr sz="900">
              <a:latin typeface="Arial"/>
              <a:cs typeface="Arial"/>
            </a:endParaRPr>
          </a:p>
        </p:txBody>
      </p:sp>
      <p:sp>
        <p:nvSpPr>
          <p:cNvPr id="37" name="object 3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53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707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A</a:t>
            </a:r>
            <a:r>
              <a:rPr spc="-165" dirty="0"/>
              <a:t> </a:t>
            </a:r>
            <a:r>
              <a:rPr dirty="0"/>
              <a:t>Look</a:t>
            </a:r>
            <a:r>
              <a:rPr spc="15" dirty="0"/>
              <a:t> </a:t>
            </a:r>
            <a:r>
              <a:rPr dirty="0"/>
              <a:t>at</a:t>
            </a:r>
            <a:r>
              <a:rPr spc="5" dirty="0"/>
              <a:t> </a:t>
            </a:r>
            <a:r>
              <a:rPr dirty="0"/>
              <a:t>Pod</a:t>
            </a:r>
            <a:r>
              <a:rPr spc="15" dirty="0"/>
              <a:t> </a:t>
            </a:r>
            <a:r>
              <a:rPr spc="-10" dirty="0"/>
              <a:t>Manifest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2072" y="1200934"/>
            <a:ext cx="3401047" cy="274611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10187" y="1557321"/>
            <a:ext cx="4391932" cy="2362047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54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Get</a:t>
            </a:r>
            <a:r>
              <a:rPr spc="-10" dirty="0"/>
              <a:t> </a:t>
            </a:r>
            <a:r>
              <a:rPr dirty="0"/>
              <a:t>a</a:t>
            </a:r>
            <a:r>
              <a:rPr spc="5" dirty="0"/>
              <a:t> </a:t>
            </a:r>
            <a:r>
              <a:rPr dirty="0"/>
              <a:t>shell</a:t>
            </a:r>
            <a:r>
              <a:rPr spc="5" dirty="0"/>
              <a:t> </a:t>
            </a:r>
            <a:r>
              <a:rPr dirty="0"/>
              <a:t>to</a:t>
            </a:r>
            <a:r>
              <a:rPr spc="10" dirty="0"/>
              <a:t> </a:t>
            </a:r>
            <a:r>
              <a:rPr dirty="0"/>
              <a:t>a</a:t>
            </a:r>
            <a:r>
              <a:rPr spc="5" dirty="0"/>
              <a:t> </a:t>
            </a:r>
            <a:r>
              <a:rPr dirty="0"/>
              <a:t>running</a:t>
            </a:r>
            <a:r>
              <a:rPr spc="5" dirty="0"/>
              <a:t> </a:t>
            </a:r>
            <a:r>
              <a:rPr spc="-10" dirty="0"/>
              <a:t>Container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6847" y="1276086"/>
            <a:ext cx="8686799" cy="82959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74196" y="2382976"/>
            <a:ext cx="370014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10" dirty="0">
                <a:solidFill>
                  <a:srgbClr val="595959"/>
                </a:solidFill>
                <a:latin typeface="Arial"/>
                <a:cs typeface="Arial"/>
              </a:rPr>
              <a:t>Verifying</a:t>
            </a:r>
            <a:r>
              <a:rPr sz="2100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sz="2100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Operating</a:t>
            </a:r>
            <a:r>
              <a:rPr sz="210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spc="-10" dirty="0">
                <a:solidFill>
                  <a:srgbClr val="595959"/>
                </a:solidFill>
                <a:latin typeface="Arial"/>
                <a:cs typeface="Arial"/>
              </a:rPr>
              <a:t>System</a:t>
            </a:r>
            <a:endParaRPr sz="21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5600" y="2930701"/>
            <a:ext cx="8345713" cy="1650798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55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707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Get</a:t>
            </a:r>
            <a:r>
              <a:rPr spc="-10" dirty="0"/>
              <a:t> </a:t>
            </a:r>
            <a:r>
              <a:rPr dirty="0"/>
              <a:t>a</a:t>
            </a:r>
            <a:r>
              <a:rPr spc="5" dirty="0"/>
              <a:t> </a:t>
            </a:r>
            <a:r>
              <a:rPr dirty="0"/>
              <a:t>shell</a:t>
            </a:r>
            <a:r>
              <a:rPr spc="5" dirty="0"/>
              <a:t> </a:t>
            </a:r>
            <a:r>
              <a:rPr dirty="0"/>
              <a:t>to</a:t>
            </a:r>
            <a:r>
              <a:rPr spc="10" dirty="0"/>
              <a:t> </a:t>
            </a:r>
            <a:r>
              <a:rPr dirty="0"/>
              <a:t>a</a:t>
            </a:r>
            <a:r>
              <a:rPr spc="5" dirty="0"/>
              <a:t> </a:t>
            </a:r>
            <a:r>
              <a:rPr dirty="0"/>
              <a:t>running</a:t>
            </a:r>
            <a:r>
              <a:rPr spc="5" dirty="0"/>
              <a:t> </a:t>
            </a:r>
            <a:r>
              <a:rPr spc="-10" dirty="0"/>
              <a:t>Container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1453" y="1894179"/>
            <a:ext cx="381952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20" dirty="0">
                <a:solidFill>
                  <a:srgbClr val="FFAB40"/>
                </a:solidFill>
                <a:latin typeface="Arial"/>
                <a:cs typeface="Arial"/>
              </a:rPr>
              <a:t>Verifying</a:t>
            </a:r>
            <a:r>
              <a:rPr sz="2800" spc="-80" dirty="0">
                <a:solidFill>
                  <a:srgbClr val="FFAB4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AB40"/>
                </a:solidFill>
                <a:latin typeface="Arial"/>
                <a:cs typeface="Arial"/>
              </a:rPr>
              <a:t>the</a:t>
            </a:r>
            <a:r>
              <a:rPr sz="2800" spc="-80" dirty="0">
                <a:solidFill>
                  <a:srgbClr val="FFAB4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AB40"/>
                </a:solidFill>
                <a:latin typeface="Arial"/>
                <a:cs typeface="Arial"/>
              </a:rPr>
              <a:t>index</a:t>
            </a:r>
            <a:r>
              <a:rPr sz="2800" spc="-80" dirty="0">
                <a:solidFill>
                  <a:srgbClr val="FFAB40"/>
                </a:solidFill>
                <a:latin typeface="Arial"/>
                <a:cs typeface="Arial"/>
              </a:rPr>
              <a:t> </a:t>
            </a:r>
            <a:r>
              <a:rPr sz="2800" spc="-20" dirty="0">
                <a:solidFill>
                  <a:srgbClr val="FFAB40"/>
                </a:solidFill>
                <a:latin typeface="Arial"/>
                <a:cs typeface="Arial"/>
              </a:rPr>
              <a:t>page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2393" y="1314029"/>
            <a:ext cx="7511415" cy="277495"/>
          </a:xfrm>
          <a:prstGeom prst="rect">
            <a:avLst/>
          </a:prstGeom>
          <a:solidFill>
            <a:srgbClr val="12212B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90"/>
              </a:lnSpc>
            </a:pPr>
            <a:r>
              <a:rPr sz="1800" b="1" spc="-20" dirty="0">
                <a:solidFill>
                  <a:srgbClr val="FFFFFF"/>
                </a:solidFill>
                <a:latin typeface="Calibri"/>
                <a:cs typeface="Calibri"/>
              </a:rPr>
              <a:t>root@nginx-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pod:/#</a:t>
            </a: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echo</a:t>
            </a: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Hello</a:t>
            </a: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shell</a:t>
            </a: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demo</a:t>
            </a: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&gt;</a:t>
            </a: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 /usr/share/nginx/html/index.html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2393" y="2754408"/>
            <a:ext cx="7931375" cy="1315887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56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2730" cy="5143500"/>
            <a:chOff x="0" y="0"/>
            <a:chExt cx="9142730" cy="5143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54" y="0"/>
              <a:ext cx="9141290" cy="410870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4175999" cy="514349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193024" y="4326076"/>
              <a:ext cx="722375" cy="604028"/>
            </a:xfrm>
            <a:prstGeom prst="rect">
              <a:avLst/>
            </a:prstGeom>
          </p:spPr>
        </p:pic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758825" y="1328441"/>
            <a:ext cx="614870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dirty="0">
                <a:solidFill>
                  <a:srgbClr val="FFFFFF"/>
                </a:solidFill>
              </a:rPr>
              <a:t>Stages</a:t>
            </a:r>
            <a:r>
              <a:rPr sz="4000" spc="-45" dirty="0">
                <a:solidFill>
                  <a:srgbClr val="FFFFFF"/>
                </a:solidFill>
              </a:rPr>
              <a:t> </a:t>
            </a:r>
            <a:r>
              <a:rPr sz="4000" dirty="0">
                <a:solidFill>
                  <a:srgbClr val="FFFFFF"/>
                </a:solidFill>
              </a:rPr>
              <a:t>of</a:t>
            </a:r>
            <a:r>
              <a:rPr sz="4000" spc="-45" dirty="0">
                <a:solidFill>
                  <a:srgbClr val="FFFFFF"/>
                </a:solidFill>
              </a:rPr>
              <a:t> </a:t>
            </a:r>
            <a:r>
              <a:rPr sz="4000" dirty="0">
                <a:solidFill>
                  <a:srgbClr val="FFFFFF"/>
                </a:solidFill>
              </a:rPr>
              <a:t>Life</a:t>
            </a:r>
            <a:r>
              <a:rPr sz="4000" spc="-40" dirty="0">
                <a:solidFill>
                  <a:srgbClr val="FFFFFF"/>
                </a:solidFill>
              </a:rPr>
              <a:t> </a:t>
            </a:r>
            <a:r>
              <a:rPr sz="4000" dirty="0">
                <a:solidFill>
                  <a:srgbClr val="FFFFFF"/>
                </a:solidFill>
              </a:rPr>
              <a:t>Cycle</a:t>
            </a:r>
            <a:r>
              <a:rPr sz="4000" spc="-40" dirty="0">
                <a:solidFill>
                  <a:srgbClr val="FFFFFF"/>
                </a:solidFill>
              </a:rPr>
              <a:t> </a:t>
            </a:r>
            <a:r>
              <a:rPr sz="4000" dirty="0">
                <a:solidFill>
                  <a:srgbClr val="FFFFFF"/>
                </a:solidFill>
              </a:rPr>
              <a:t>of</a:t>
            </a:r>
            <a:r>
              <a:rPr sz="4000" spc="-45" dirty="0">
                <a:solidFill>
                  <a:srgbClr val="FFFFFF"/>
                </a:solidFill>
              </a:rPr>
              <a:t> </a:t>
            </a:r>
            <a:r>
              <a:rPr sz="4000" spc="-25" dirty="0">
                <a:solidFill>
                  <a:srgbClr val="FFFFFF"/>
                </a:solidFill>
              </a:rPr>
              <a:t>Pod</a:t>
            </a:r>
            <a:endParaRPr sz="4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707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Lifecycle</a:t>
            </a:r>
            <a:r>
              <a:rPr spc="-5" dirty="0"/>
              <a:t> </a:t>
            </a:r>
            <a:r>
              <a:rPr dirty="0"/>
              <a:t>of</a:t>
            </a:r>
            <a:r>
              <a:rPr spc="-5" dirty="0"/>
              <a:t> </a:t>
            </a:r>
            <a:r>
              <a:rPr dirty="0"/>
              <a:t>a</a:t>
            </a:r>
            <a:r>
              <a:rPr spc="-5" dirty="0"/>
              <a:t> </a:t>
            </a:r>
            <a:r>
              <a:rPr spc="-25" dirty="0"/>
              <a:t>Pod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5901" y="1810226"/>
            <a:ext cx="412744" cy="507992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1230630" y="1687353"/>
            <a:ext cx="1121410" cy="554355"/>
            <a:chOff x="1230630" y="1687353"/>
            <a:chExt cx="1121410" cy="55435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30630" y="1821180"/>
              <a:ext cx="420051" cy="42005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50682" y="1687353"/>
              <a:ext cx="267651" cy="267651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911189" y="1994057"/>
              <a:ext cx="434340" cy="210185"/>
            </a:xfrm>
            <a:custGeom>
              <a:avLst/>
              <a:gdLst/>
              <a:ahLst/>
              <a:cxnLst/>
              <a:rect l="l" t="t" r="r" b="b"/>
              <a:pathLst>
                <a:path w="434339" h="210185">
                  <a:moveTo>
                    <a:pt x="329326" y="210025"/>
                  </a:moveTo>
                  <a:lnTo>
                    <a:pt x="329326" y="157519"/>
                  </a:lnTo>
                  <a:lnTo>
                    <a:pt x="0" y="157519"/>
                  </a:lnTo>
                  <a:lnTo>
                    <a:pt x="0" y="52506"/>
                  </a:lnTo>
                  <a:lnTo>
                    <a:pt x="329326" y="52506"/>
                  </a:lnTo>
                  <a:lnTo>
                    <a:pt x="329326" y="0"/>
                  </a:lnTo>
                  <a:lnTo>
                    <a:pt x="434339" y="105012"/>
                  </a:lnTo>
                  <a:lnTo>
                    <a:pt x="329326" y="21002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911189" y="1994057"/>
              <a:ext cx="434340" cy="210185"/>
            </a:xfrm>
            <a:custGeom>
              <a:avLst/>
              <a:gdLst/>
              <a:ahLst/>
              <a:cxnLst/>
              <a:rect l="l" t="t" r="r" b="b"/>
              <a:pathLst>
                <a:path w="434339" h="210185">
                  <a:moveTo>
                    <a:pt x="0" y="52506"/>
                  </a:moveTo>
                  <a:lnTo>
                    <a:pt x="329326" y="52506"/>
                  </a:lnTo>
                  <a:lnTo>
                    <a:pt x="329326" y="0"/>
                  </a:lnTo>
                  <a:lnTo>
                    <a:pt x="434339" y="105012"/>
                  </a:lnTo>
                  <a:lnTo>
                    <a:pt x="329326" y="210025"/>
                  </a:lnTo>
                  <a:lnTo>
                    <a:pt x="329326" y="157519"/>
                  </a:lnTo>
                  <a:lnTo>
                    <a:pt x="0" y="157519"/>
                  </a:lnTo>
                  <a:lnTo>
                    <a:pt x="0" y="52506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709930" y="2024856"/>
            <a:ext cx="447040" cy="222885"/>
            <a:chOff x="709930" y="2024856"/>
            <a:chExt cx="447040" cy="222885"/>
          </a:xfrm>
        </p:grpSpPr>
        <p:sp>
          <p:nvSpPr>
            <p:cNvPr id="10" name="object 10"/>
            <p:cNvSpPr/>
            <p:nvPr/>
          </p:nvSpPr>
          <p:spPr>
            <a:xfrm>
              <a:off x="716280" y="2031206"/>
              <a:ext cx="434340" cy="210185"/>
            </a:xfrm>
            <a:custGeom>
              <a:avLst/>
              <a:gdLst/>
              <a:ahLst/>
              <a:cxnLst/>
              <a:rect l="l" t="t" r="r" b="b"/>
              <a:pathLst>
                <a:path w="434340" h="210185">
                  <a:moveTo>
                    <a:pt x="329326" y="210025"/>
                  </a:moveTo>
                  <a:lnTo>
                    <a:pt x="329326" y="157519"/>
                  </a:lnTo>
                  <a:lnTo>
                    <a:pt x="0" y="157519"/>
                  </a:lnTo>
                  <a:lnTo>
                    <a:pt x="0" y="52506"/>
                  </a:lnTo>
                  <a:lnTo>
                    <a:pt x="329326" y="52506"/>
                  </a:lnTo>
                  <a:lnTo>
                    <a:pt x="329326" y="0"/>
                  </a:lnTo>
                  <a:lnTo>
                    <a:pt x="434339" y="105013"/>
                  </a:lnTo>
                  <a:lnTo>
                    <a:pt x="329326" y="21002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16280" y="2031206"/>
              <a:ext cx="434340" cy="210185"/>
            </a:xfrm>
            <a:custGeom>
              <a:avLst/>
              <a:gdLst/>
              <a:ahLst/>
              <a:cxnLst/>
              <a:rect l="l" t="t" r="r" b="b"/>
              <a:pathLst>
                <a:path w="434340" h="210185">
                  <a:moveTo>
                    <a:pt x="0" y="52506"/>
                  </a:moveTo>
                  <a:lnTo>
                    <a:pt x="329326" y="52506"/>
                  </a:lnTo>
                  <a:lnTo>
                    <a:pt x="329326" y="0"/>
                  </a:lnTo>
                  <a:lnTo>
                    <a:pt x="434339" y="105013"/>
                  </a:lnTo>
                  <a:lnTo>
                    <a:pt x="329326" y="210025"/>
                  </a:lnTo>
                  <a:lnTo>
                    <a:pt x="329326" y="157519"/>
                  </a:lnTo>
                  <a:lnTo>
                    <a:pt x="0" y="157519"/>
                  </a:lnTo>
                  <a:lnTo>
                    <a:pt x="0" y="52506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3125470" y="1681003"/>
            <a:ext cx="1452880" cy="832485"/>
            <a:chOff x="3125470" y="1681003"/>
            <a:chExt cx="1452880" cy="832485"/>
          </a:xfrm>
        </p:grpSpPr>
        <p:sp>
          <p:nvSpPr>
            <p:cNvPr id="13" name="object 13"/>
            <p:cNvSpPr/>
            <p:nvPr/>
          </p:nvSpPr>
          <p:spPr>
            <a:xfrm>
              <a:off x="3131820" y="1687353"/>
              <a:ext cx="1440180" cy="819785"/>
            </a:xfrm>
            <a:custGeom>
              <a:avLst/>
              <a:gdLst/>
              <a:ahLst/>
              <a:cxnLst/>
              <a:rect l="l" t="t" r="r" b="b"/>
              <a:pathLst>
                <a:path w="1440179" h="819785">
                  <a:moveTo>
                    <a:pt x="1303572" y="819625"/>
                  </a:moveTo>
                  <a:lnTo>
                    <a:pt x="136606" y="819625"/>
                  </a:lnTo>
                  <a:lnTo>
                    <a:pt x="93428" y="812661"/>
                  </a:lnTo>
                  <a:lnTo>
                    <a:pt x="55928" y="793268"/>
                  </a:lnTo>
                  <a:lnTo>
                    <a:pt x="26357" y="763697"/>
                  </a:lnTo>
                  <a:lnTo>
                    <a:pt x="6964" y="726197"/>
                  </a:lnTo>
                  <a:lnTo>
                    <a:pt x="0" y="683018"/>
                  </a:lnTo>
                  <a:lnTo>
                    <a:pt x="0" y="136606"/>
                  </a:lnTo>
                  <a:lnTo>
                    <a:pt x="6964" y="93428"/>
                  </a:lnTo>
                  <a:lnTo>
                    <a:pt x="26357" y="55928"/>
                  </a:lnTo>
                  <a:lnTo>
                    <a:pt x="55928" y="26357"/>
                  </a:lnTo>
                  <a:lnTo>
                    <a:pt x="93428" y="6964"/>
                  </a:lnTo>
                  <a:lnTo>
                    <a:pt x="136606" y="0"/>
                  </a:lnTo>
                  <a:lnTo>
                    <a:pt x="1303572" y="0"/>
                  </a:lnTo>
                  <a:lnTo>
                    <a:pt x="1355850" y="10398"/>
                  </a:lnTo>
                  <a:lnTo>
                    <a:pt x="1400168" y="40011"/>
                  </a:lnTo>
                  <a:lnTo>
                    <a:pt x="1429781" y="84329"/>
                  </a:lnTo>
                  <a:lnTo>
                    <a:pt x="1440179" y="136606"/>
                  </a:lnTo>
                  <a:lnTo>
                    <a:pt x="1440179" y="683018"/>
                  </a:lnTo>
                  <a:lnTo>
                    <a:pt x="1433215" y="726197"/>
                  </a:lnTo>
                  <a:lnTo>
                    <a:pt x="1413822" y="763697"/>
                  </a:lnTo>
                  <a:lnTo>
                    <a:pt x="1384251" y="793268"/>
                  </a:lnTo>
                  <a:lnTo>
                    <a:pt x="1346751" y="812661"/>
                  </a:lnTo>
                  <a:lnTo>
                    <a:pt x="1303572" y="81962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131820" y="1687353"/>
              <a:ext cx="1440180" cy="819785"/>
            </a:xfrm>
            <a:custGeom>
              <a:avLst/>
              <a:gdLst/>
              <a:ahLst/>
              <a:cxnLst/>
              <a:rect l="l" t="t" r="r" b="b"/>
              <a:pathLst>
                <a:path w="1440179" h="819785">
                  <a:moveTo>
                    <a:pt x="0" y="136606"/>
                  </a:moveTo>
                  <a:lnTo>
                    <a:pt x="6964" y="93428"/>
                  </a:lnTo>
                  <a:lnTo>
                    <a:pt x="26357" y="55928"/>
                  </a:lnTo>
                  <a:lnTo>
                    <a:pt x="55928" y="26357"/>
                  </a:lnTo>
                  <a:lnTo>
                    <a:pt x="93428" y="6964"/>
                  </a:lnTo>
                  <a:lnTo>
                    <a:pt x="136606" y="0"/>
                  </a:lnTo>
                  <a:lnTo>
                    <a:pt x="1303572" y="0"/>
                  </a:lnTo>
                  <a:lnTo>
                    <a:pt x="1355850" y="10398"/>
                  </a:lnTo>
                  <a:lnTo>
                    <a:pt x="1400168" y="40011"/>
                  </a:lnTo>
                  <a:lnTo>
                    <a:pt x="1429781" y="84329"/>
                  </a:lnTo>
                  <a:lnTo>
                    <a:pt x="1440179" y="136606"/>
                  </a:lnTo>
                  <a:lnTo>
                    <a:pt x="1440179" y="683018"/>
                  </a:lnTo>
                  <a:lnTo>
                    <a:pt x="1433215" y="726197"/>
                  </a:lnTo>
                  <a:lnTo>
                    <a:pt x="1413822" y="763697"/>
                  </a:lnTo>
                  <a:lnTo>
                    <a:pt x="1384251" y="793268"/>
                  </a:lnTo>
                  <a:lnTo>
                    <a:pt x="1346751" y="812661"/>
                  </a:lnTo>
                  <a:lnTo>
                    <a:pt x="1303572" y="819625"/>
                  </a:lnTo>
                  <a:lnTo>
                    <a:pt x="136606" y="819625"/>
                  </a:lnTo>
                  <a:lnTo>
                    <a:pt x="93428" y="812661"/>
                  </a:lnTo>
                  <a:lnTo>
                    <a:pt x="55928" y="793268"/>
                  </a:lnTo>
                  <a:lnTo>
                    <a:pt x="26357" y="763697"/>
                  </a:lnTo>
                  <a:lnTo>
                    <a:pt x="6964" y="726197"/>
                  </a:lnTo>
                  <a:lnTo>
                    <a:pt x="0" y="683018"/>
                  </a:lnTo>
                  <a:lnTo>
                    <a:pt x="0" y="136606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5106670" y="1681003"/>
            <a:ext cx="1452880" cy="832485"/>
            <a:chOff x="5106670" y="1681003"/>
            <a:chExt cx="1452880" cy="832485"/>
          </a:xfrm>
        </p:grpSpPr>
        <p:sp>
          <p:nvSpPr>
            <p:cNvPr id="16" name="object 16"/>
            <p:cNvSpPr/>
            <p:nvPr/>
          </p:nvSpPr>
          <p:spPr>
            <a:xfrm>
              <a:off x="5113020" y="1687353"/>
              <a:ext cx="1440180" cy="819785"/>
            </a:xfrm>
            <a:custGeom>
              <a:avLst/>
              <a:gdLst/>
              <a:ahLst/>
              <a:cxnLst/>
              <a:rect l="l" t="t" r="r" b="b"/>
              <a:pathLst>
                <a:path w="1440179" h="819785">
                  <a:moveTo>
                    <a:pt x="1303572" y="819625"/>
                  </a:moveTo>
                  <a:lnTo>
                    <a:pt x="136606" y="819625"/>
                  </a:lnTo>
                  <a:lnTo>
                    <a:pt x="93428" y="812661"/>
                  </a:lnTo>
                  <a:lnTo>
                    <a:pt x="55928" y="793268"/>
                  </a:lnTo>
                  <a:lnTo>
                    <a:pt x="26357" y="763697"/>
                  </a:lnTo>
                  <a:lnTo>
                    <a:pt x="6964" y="726197"/>
                  </a:lnTo>
                  <a:lnTo>
                    <a:pt x="0" y="683018"/>
                  </a:lnTo>
                  <a:lnTo>
                    <a:pt x="0" y="136606"/>
                  </a:lnTo>
                  <a:lnTo>
                    <a:pt x="6964" y="93428"/>
                  </a:lnTo>
                  <a:lnTo>
                    <a:pt x="26357" y="55928"/>
                  </a:lnTo>
                  <a:lnTo>
                    <a:pt x="55928" y="26357"/>
                  </a:lnTo>
                  <a:lnTo>
                    <a:pt x="93428" y="6964"/>
                  </a:lnTo>
                  <a:lnTo>
                    <a:pt x="136606" y="0"/>
                  </a:lnTo>
                  <a:lnTo>
                    <a:pt x="1303572" y="0"/>
                  </a:lnTo>
                  <a:lnTo>
                    <a:pt x="1355850" y="10398"/>
                  </a:lnTo>
                  <a:lnTo>
                    <a:pt x="1400168" y="40011"/>
                  </a:lnTo>
                  <a:lnTo>
                    <a:pt x="1429781" y="84329"/>
                  </a:lnTo>
                  <a:lnTo>
                    <a:pt x="1440179" y="136606"/>
                  </a:lnTo>
                  <a:lnTo>
                    <a:pt x="1440179" y="683018"/>
                  </a:lnTo>
                  <a:lnTo>
                    <a:pt x="1433215" y="726197"/>
                  </a:lnTo>
                  <a:lnTo>
                    <a:pt x="1413822" y="763697"/>
                  </a:lnTo>
                  <a:lnTo>
                    <a:pt x="1384251" y="793268"/>
                  </a:lnTo>
                  <a:lnTo>
                    <a:pt x="1346751" y="812661"/>
                  </a:lnTo>
                  <a:lnTo>
                    <a:pt x="1303572" y="81962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113020" y="1687353"/>
              <a:ext cx="1440180" cy="819785"/>
            </a:xfrm>
            <a:custGeom>
              <a:avLst/>
              <a:gdLst/>
              <a:ahLst/>
              <a:cxnLst/>
              <a:rect l="l" t="t" r="r" b="b"/>
              <a:pathLst>
                <a:path w="1440179" h="819785">
                  <a:moveTo>
                    <a:pt x="0" y="136606"/>
                  </a:moveTo>
                  <a:lnTo>
                    <a:pt x="6964" y="93428"/>
                  </a:lnTo>
                  <a:lnTo>
                    <a:pt x="26357" y="55928"/>
                  </a:lnTo>
                  <a:lnTo>
                    <a:pt x="55928" y="26357"/>
                  </a:lnTo>
                  <a:lnTo>
                    <a:pt x="93428" y="6964"/>
                  </a:lnTo>
                  <a:lnTo>
                    <a:pt x="136606" y="0"/>
                  </a:lnTo>
                  <a:lnTo>
                    <a:pt x="1303572" y="0"/>
                  </a:lnTo>
                  <a:lnTo>
                    <a:pt x="1355850" y="10398"/>
                  </a:lnTo>
                  <a:lnTo>
                    <a:pt x="1400168" y="40011"/>
                  </a:lnTo>
                  <a:lnTo>
                    <a:pt x="1429781" y="84329"/>
                  </a:lnTo>
                  <a:lnTo>
                    <a:pt x="1440179" y="136606"/>
                  </a:lnTo>
                  <a:lnTo>
                    <a:pt x="1440179" y="683018"/>
                  </a:lnTo>
                  <a:lnTo>
                    <a:pt x="1433215" y="726197"/>
                  </a:lnTo>
                  <a:lnTo>
                    <a:pt x="1413822" y="763697"/>
                  </a:lnTo>
                  <a:lnTo>
                    <a:pt x="1384251" y="793268"/>
                  </a:lnTo>
                  <a:lnTo>
                    <a:pt x="1346751" y="812661"/>
                  </a:lnTo>
                  <a:lnTo>
                    <a:pt x="1303572" y="819625"/>
                  </a:lnTo>
                  <a:lnTo>
                    <a:pt x="136606" y="819625"/>
                  </a:lnTo>
                  <a:lnTo>
                    <a:pt x="93428" y="812661"/>
                  </a:lnTo>
                  <a:lnTo>
                    <a:pt x="55928" y="793268"/>
                  </a:lnTo>
                  <a:lnTo>
                    <a:pt x="26357" y="763697"/>
                  </a:lnTo>
                  <a:lnTo>
                    <a:pt x="6964" y="726197"/>
                  </a:lnTo>
                  <a:lnTo>
                    <a:pt x="0" y="683018"/>
                  </a:lnTo>
                  <a:lnTo>
                    <a:pt x="0" y="136606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7061200" y="1681003"/>
            <a:ext cx="1452880" cy="832485"/>
            <a:chOff x="7061200" y="1681003"/>
            <a:chExt cx="1452880" cy="832485"/>
          </a:xfrm>
        </p:grpSpPr>
        <p:sp>
          <p:nvSpPr>
            <p:cNvPr id="19" name="object 19"/>
            <p:cNvSpPr/>
            <p:nvPr/>
          </p:nvSpPr>
          <p:spPr>
            <a:xfrm>
              <a:off x="7067550" y="1687353"/>
              <a:ext cx="1440180" cy="819785"/>
            </a:xfrm>
            <a:custGeom>
              <a:avLst/>
              <a:gdLst/>
              <a:ahLst/>
              <a:cxnLst/>
              <a:rect l="l" t="t" r="r" b="b"/>
              <a:pathLst>
                <a:path w="1440179" h="819785">
                  <a:moveTo>
                    <a:pt x="1303572" y="819625"/>
                  </a:moveTo>
                  <a:lnTo>
                    <a:pt x="136606" y="819625"/>
                  </a:lnTo>
                  <a:lnTo>
                    <a:pt x="93428" y="812661"/>
                  </a:lnTo>
                  <a:lnTo>
                    <a:pt x="55928" y="793268"/>
                  </a:lnTo>
                  <a:lnTo>
                    <a:pt x="26357" y="763697"/>
                  </a:lnTo>
                  <a:lnTo>
                    <a:pt x="6964" y="726197"/>
                  </a:lnTo>
                  <a:lnTo>
                    <a:pt x="0" y="683018"/>
                  </a:lnTo>
                  <a:lnTo>
                    <a:pt x="0" y="136606"/>
                  </a:lnTo>
                  <a:lnTo>
                    <a:pt x="6964" y="93428"/>
                  </a:lnTo>
                  <a:lnTo>
                    <a:pt x="26357" y="55928"/>
                  </a:lnTo>
                  <a:lnTo>
                    <a:pt x="55928" y="26357"/>
                  </a:lnTo>
                  <a:lnTo>
                    <a:pt x="93428" y="6964"/>
                  </a:lnTo>
                  <a:lnTo>
                    <a:pt x="136606" y="0"/>
                  </a:lnTo>
                  <a:lnTo>
                    <a:pt x="1303572" y="0"/>
                  </a:lnTo>
                  <a:lnTo>
                    <a:pt x="1355850" y="10398"/>
                  </a:lnTo>
                  <a:lnTo>
                    <a:pt x="1400168" y="40011"/>
                  </a:lnTo>
                  <a:lnTo>
                    <a:pt x="1429781" y="84329"/>
                  </a:lnTo>
                  <a:lnTo>
                    <a:pt x="1440179" y="136606"/>
                  </a:lnTo>
                  <a:lnTo>
                    <a:pt x="1440179" y="683018"/>
                  </a:lnTo>
                  <a:lnTo>
                    <a:pt x="1433215" y="726197"/>
                  </a:lnTo>
                  <a:lnTo>
                    <a:pt x="1413822" y="763697"/>
                  </a:lnTo>
                  <a:lnTo>
                    <a:pt x="1384251" y="793268"/>
                  </a:lnTo>
                  <a:lnTo>
                    <a:pt x="1346751" y="812661"/>
                  </a:lnTo>
                  <a:lnTo>
                    <a:pt x="1303572" y="81962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067550" y="1687353"/>
              <a:ext cx="1440180" cy="819785"/>
            </a:xfrm>
            <a:custGeom>
              <a:avLst/>
              <a:gdLst/>
              <a:ahLst/>
              <a:cxnLst/>
              <a:rect l="l" t="t" r="r" b="b"/>
              <a:pathLst>
                <a:path w="1440179" h="819785">
                  <a:moveTo>
                    <a:pt x="0" y="136606"/>
                  </a:moveTo>
                  <a:lnTo>
                    <a:pt x="6964" y="93428"/>
                  </a:lnTo>
                  <a:lnTo>
                    <a:pt x="26357" y="55928"/>
                  </a:lnTo>
                  <a:lnTo>
                    <a:pt x="55928" y="26357"/>
                  </a:lnTo>
                  <a:lnTo>
                    <a:pt x="93428" y="6964"/>
                  </a:lnTo>
                  <a:lnTo>
                    <a:pt x="136606" y="0"/>
                  </a:lnTo>
                  <a:lnTo>
                    <a:pt x="1303572" y="0"/>
                  </a:lnTo>
                  <a:lnTo>
                    <a:pt x="1355850" y="10398"/>
                  </a:lnTo>
                  <a:lnTo>
                    <a:pt x="1400168" y="40011"/>
                  </a:lnTo>
                  <a:lnTo>
                    <a:pt x="1429781" y="84329"/>
                  </a:lnTo>
                  <a:lnTo>
                    <a:pt x="1440179" y="136606"/>
                  </a:lnTo>
                  <a:lnTo>
                    <a:pt x="1440179" y="683018"/>
                  </a:lnTo>
                  <a:lnTo>
                    <a:pt x="1433215" y="726197"/>
                  </a:lnTo>
                  <a:lnTo>
                    <a:pt x="1413822" y="763697"/>
                  </a:lnTo>
                  <a:lnTo>
                    <a:pt x="1384251" y="793268"/>
                  </a:lnTo>
                  <a:lnTo>
                    <a:pt x="1346751" y="812661"/>
                  </a:lnTo>
                  <a:lnTo>
                    <a:pt x="1303572" y="819625"/>
                  </a:lnTo>
                  <a:lnTo>
                    <a:pt x="136606" y="819625"/>
                  </a:lnTo>
                  <a:lnTo>
                    <a:pt x="93428" y="812661"/>
                  </a:lnTo>
                  <a:lnTo>
                    <a:pt x="55928" y="793268"/>
                  </a:lnTo>
                  <a:lnTo>
                    <a:pt x="26357" y="763697"/>
                  </a:lnTo>
                  <a:lnTo>
                    <a:pt x="6964" y="726197"/>
                  </a:lnTo>
                  <a:lnTo>
                    <a:pt x="0" y="683018"/>
                  </a:lnTo>
                  <a:lnTo>
                    <a:pt x="0" y="136606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3399471" y="2377439"/>
            <a:ext cx="927735" cy="243840"/>
          </a:xfrm>
          <a:prstGeom prst="rect">
            <a:avLst/>
          </a:prstGeom>
          <a:solidFill>
            <a:srgbClr val="5C95B8"/>
          </a:solidFill>
          <a:ln w="12699">
            <a:solidFill>
              <a:srgbClr val="127BB4"/>
            </a:solidFill>
          </a:ln>
        </p:spPr>
        <p:txBody>
          <a:bodyPr vert="horz" wrap="square" lIns="0" tIns="10160" rIns="0" bIns="0" rtlCol="0">
            <a:spAutoFit/>
          </a:bodyPr>
          <a:lstStyle/>
          <a:p>
            <a:pPr marL="137160">
              <a:lnSpc>
                <a:spcPct val="100000"/>
              </a:lnSpc>
              <a:spcBef>
                <a:spcPts val="80"/>
              </a:spcBef>
            </a:pP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Pending</a:t>
            </a:r>
            <a:endParaRPr sz="14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419487" y="2377439"/>
            <a:ext cx="927735" cy="243840"/>
          </a:xfrm>
          <a:prstGeom prst="rect">
            <a:avLst/>
          </a:prstGeom>
          <a:solidFill>
            <a:srgbClr val="0097A7"/>
          </a:solidFill>
          <a:ln w="12699">
            <a:solidFill>
              <a:srgbClr val="127BB4"/>
            </a:solidFill>
          </a:ln>
        </p:spPr>
        <p:txBody>
          <a:bodyPr vert="horz" wrap="square" lIns="0" tIns="10160" rIns="0" bIns="0" rtlCol="0">
            <a:spAutoFit/>
          </a:bodyPr>
          <a:lstStyle/>
          <a:p>
            <a:pPr marL="132080">
              <a:lnSpc>
                <a:spcPct val="100000"/>
              </a:lnSpc>
              <a:spcBef>
                <a:spcPts val="80"/>
              </a:spcBef>
            </a:pP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Running</a:t>
            </a:r>
            <a:endParaRPr sz="14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281505" y="2366010"/>
            <a:ext cx="1127760" cy="266700"/>
          </a:xfrm>
          <a:prstGeom prst="rect">
            <a:avLst/>
          </a:prstGeom>
          <a:solidFill>
            <a:srgbClr val="FF880A"/>
          </a:solidFill>
          <a:ln w="12699">
            <a:solidFill>
              <a:srgbClr val="127BB4"/>
            </a:solidFill>
          </a:ln>
        </p:spPr>
        <p:txBody>
          <a:bodyPr vert="horz" wrap="square" lIns="0" tIns="21590" rIns="0" bIns="0" rtlCol="0">
            <a:spAutoFit/>
          </a:bodyPr>
          <a:lstStyle/>
          <a:p>
            <a:pPr marL="99060">
              <a:lnSpc>
                <a:spcPct val="100000"/>
              </a:lnSpc>
              <a:spcBef>
                <a:spcPts val="170"/>
              </a:spcBef>
            </a:pP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Succeeding</a:t>
            </a:r>
            <a:endParaRPr sz="14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719558" y="3434195"/>
            <a:ext cx="2965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Arial"/>
                <a:cs typeface="Arial"/>
              </a:rPr>
              <a:t>Pod</a:t>
            </a:r>
            <a:endParaRPr sz="12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645031" y="1406144"/>
            <a:ext cx="2965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Arial"/>
                <a:cs typeface="Arial"/>
              </a:rPr>
              <a:t>Pod</a:t>
            </a:r>
            <a:endParaRPr sz="12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549554" y="1406142"/>
            <a:ext cx="2965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Arial"/>
                <a:cs typeface="Arial"/>
              </a:rPr>
              <a:t>Pod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3988117" y="2746057"/>
            <a:ext cx="430530" cy="866140"/>
            <a:chOff x="3988117" y="2746057"/>
            <a:chExt cx="430530" cy="866140"/>
          </a:xfrm>
        </p:grpSpPr>
        <p:sp>
          <p:nvSpPr>
            <p:cNvPr id="28" name="object 28"/>
            <p:cNvSpPr/>
            <p:nvPr/>
          </p:nvSpPr>
          <p:spPr>
            <a:xfrm>
              <a:off x="3992879" y="2750820"/>
              <a:ext cx="401955" cy="817880"/>
            </a:xfrm>
            <a:custGeom>
              <a:avLst/>
              <a:gdLst/>
              <a:ahLst/>
              <a:cxnLst/>
              <a:rect l="l" t="t" r="r" b="b"/>
              <a:pathLst>
                <a:path w="401954" h="817879">
                  <a:moveTo>
                    <a:pt x="0" y="0"/>
                  </a:moveTo>
                  <a:lnTo>
                    <a:pt x="401522" y="817384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380281" y="3561268"/>
              <a:ext cx="33655" cy="46355"/>
            </a:xfrm>
            <a:custGeom>
              <a:avLst/>
              <a:gdLst/>
              <a:ahLst/>
              <a:cxnLst/>
              <a:rect l="l" t="t" r="r" b="b"/>
              <a:pathLst>
                <a:path w="33654" h="46354">
                  <a:moveTo>
                    <a:pt x="33179" y="45733"/>
                  </a:moveTo>
                  <a:lnTo>
                    <a:pt x="0" y="13873"/>
                  </a:lnTo>
                  <a:lnTo>
                    <a:pt x="28242" y="0"/>
                  </a:lnTo>
                  <a:lnTo>
                    <a:pt x="33179" y="45733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380281" y="3561268"/>
              <a:ext cx="33655" cy="46355"/>
            </a:xfrm>
            <a:custGeom>
              <a:avLst/>
              <a:gdLst/>
              <a:ahLst/>
              <a:cxnLst/>
              <a:rect l="l" t="t" r="r" b="b"/>
              <a:pathLst>
                <a:path w="33654" h="46354">
                  <a:moveTo>
                    <a:pt x="0" y="13873"/>
                  </a:moveTo>
                  <a:lnTo>
                    <a:pt x="33179" y="45733"/>
                  </a:lnTo>
                  <a:lnTo>
                    <a:pt x="28242" y="0"/>
                  </a:lnTo>
                  <a:lnTo>
                    <a:pt x="0" y="13873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1" name="object 31"/>
          <p:cNvGrpSpPr/>
          <p:nvPr/>
        </p:nvGrpSpPr>
        <p:grpSpPr>
          <a:xfrm>
            <a:off x="5307698" y="2738437"/>
            <a:ext cx="747395" cy="890905"/>
            <a:chOff x="5307698" y="2738437"/>
            <a:chExt cx="747395" cy="890905"/>
          </a:xfrm>
        </p:grpSpPr>
        <p:sp>
          <p:nvSpPr>
            <p:cNvPr id="32" name="object 32"/>
            <p:cNvSpPr/>
            <p:nvPr/>
          </p:nvSpPr>
          <p:spPr>
            <a:xfrm>
              <a:off x="5340216" y="2743200"/>
              <a:ext cx="710565" cy="847725"/>
            </a:xfrm>
            <a:custGeom>
              <a:avLst/>
              <a:gdLst/>
              <a:ahLst/>
              <a:cxnLst/>
              <a:rect l="l" t="t" r="r" b="b"/>
              <a:pathLst>
                <a:path w="710564" h="847725">
                  <a:moveTo>
                    <a:pt x="710063" y="0"/>
                  </a:moveTo>
                  <a:lnTo>
                    <a:pt x="0" y="847727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312461" y="3580825"/>
              <a:ext cx="40005" cy="43815"/>
            </a:xfrm>
            <a:custGeom>
              <a:avLst/>
              <a:gdLst/>
              <a:ahLst/>
              <a:cxnLst/>
              <a:rect l="l" t="t" r="r" b="b"/>
              <a:pathLst>
                <a:path w="40004" h="43814">
                  <a:moveTo>
                    <a:pt x="0" y="43239"/>
                  </a:moveTo>
                  <a:lnTo>
                    <a:pt x="15694" y="0"/>
                  </a:lnTo>
                  <a:lnTo>
                    <a:pt x="39816" y="20204"/>
                  </a:lnTo>
                  <a:lnTo>
                    <a:pt x="0" y="43239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312461" y="3580825"/>
              <a:ext cx="40005" cy="43815"/>
            </a:xfrm>
            <a:custGeom>
              <a:avLst/>
              <a:gdLst/>
              <a:ahLst/>
              <a:cxnLst/>
              <a:rect l="l" t="t" r="r" b="b"/>
              <a:pathLst>
                <a:path w="40004" h="43814">
                  <a:moveTo>
                    <a:pt x="15694" y="0"/>
                  </a:moveTo>
                  <a:lnTo>
                    <a:pt x="0" y="43239"/>
                  </a:lnTo>
                  <a:lnTo>
                    <a:pt x="39816" y="20204"/>
                  </a:lnTo>
                  <a:lnTo>
                    <a:pt x="15694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5" name="object 35"/>
          <p:cNvGrpSpPr/>
          <p:nvPr/>
        </p:nvGrpSpPr>
        <p:grpSpPr>
          <a:xfrm>
            <a:off x="4231204" y="3742690"/>
            <a:ext cx="1452880" cy="832485"/>
            <a:chOff x="4231204" y="3742690"/>
            <a:chExt cx="1452880" cy="832485"/>
          </a:xfrm>
        </p:grpSpPr>
        <p:sp>
          <p:nvSpPr>
            <p:cNvPr id="36" name="object 36"/>
            <p:cNvSpPr/>
            <p:nvPr/>
          </p:nvSpPr>
          <p:spPr>
            <a:xfrm>
              <a:off x="4237554" y="3749040"/>
              <a:ext cx="1440180" cy="819785"/>
            </a:xfrm>
            <a:custGeom>
              <a:avLst/>
              <a:gdLst/>
              <a:ahLst/>
              <a:cxnLst/>
              <a:rect l="l" t="t" r="r" b="b"/>
              <a:pathLst>
                <a:path w="1440179" h="819785">
                  <a:moveTo>
                    <a:pt x="1303572" y="819625"/>
                  </a:moveTo>
                  <a:lnTo>
                    <a:pt x="136606" y="819625"/>
                  </a:lnTo>
                  <a:lnTo>
                    <a:pt x="93428" y="812661"/>
                  </a:lnTo>
                  <a:lnTo>
                    <a:pt x="55928" y="793268"/>
                  </a:lnTo>
                  <a:lnTo>
                    <a:pt x="26357" y="763697"/>
                  </a:lnTo>
                  <a:lnTo>
                    <a:pt x="6964" y="726197"/>
                  </a:lnTo>
                  <a:lnTo>
                    <a:pt x="0" y="683018"/>
                  </a:lnTo>
                  <a:lnTo>
                    <a:pt x="0" y="136606"/>
                  </a:lnTo>
                  <a:lnTo>
                    <a:pt x="6964" y="93428"/>
                  </a:lnTo>
                  <a:lnTo>
                    <a:pt x="26357" y="55928"/>
                  </a:lnTo>
                  <a:lnTo>
                    <a:pt x="55928" y="26357"/>
                  </a:lnTo>
                  <a:lnTo>
                    <a:pt x="93428" y="6964"/>
                  </a:lnTo>
                  <a:lnTo>
                    <a:pt x="136606" y="0"/>
                  </a:lnTo>
                  <a:lnTo>
                    <a:pt x="1303572" y="0"/>
                  </a:lnTo>
                  <a:lnTo>
                    <a:pt x="1355850" y="10398"/>
                  </a:lnTo>
                  <a:lnTo>
                    <a:pt x="1400168" y="40011"/>
                  </a:lnTo>
                  <a:lnTo>
                    <a:pt x="1429781" y="84329"/>
                  </a:lnTo>
                  <a:lnTo>
                    <a:pt x="1440179" y="136606"/>
                  </a:lnTo>
                  <a:lnTo>
                    <a:pt x="1440179" y="683018"/>
                  </a:lnTo>
                  <a:lnTo>
                    <a:pt x="1433215" y="726197"/>
                  </a:lnTo>
                  <a:lnTo>
                    <a:pt x="1413822" y="763697"/>
                  </a:lnTo>
                  <a:lnTo>
                    <a:pt x="1384251" y="793268"/>
                  </a:lnTo>
                  <a:lnTo>
                    <a:pt x="1346751" y="812661"/>
                  </a:lnTo>
                  <a:lnTo>
                    <a:pt x="1303572" y="81962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237554" y="3749040"/>
              <a:ext cx="1440180" cy="819785"/>
            </a:xfrm>
            <a:custGeom>
              <a:avLst/>
              <a:gdLst/>
              <a:ahLst/>
              <a:cxnLst/>
              <a:rect l="l" t="t" r="r" b="b"/>
              <a:pathLst>
                <a:path w="1440179" h="819785">
                  <a:moveTo>
                    <a:pt x="0" y="136606"/>
                  </a:moveTo>
                  <a:lnTo>
                    <a:pt x="6964" y="93428"/>
                  </a:lnTo>
                  <a:lnTo>
                    <a:pt x="26357" y="55928"/>
                  </a:lnTo>
                  <a:lnTo>
                    <a:pt x="55928" y="26357"/>
                  </a:lnTo>
                  <a:lnTo>
                    <a:pt x="93428" y="6964"/>
                  </a:lnTo>
                  <a:lnTo>
                    <a:pt x="136606" y="0"/>
                  </a:lnTo>
                  <a:lnTo>
                    <a:pt x="1303572" y="0"/>
                  </a:lnTo>
                  <a:lnTo>
                    <a:pt x="1355850" y="10398"/>
                  </a:lnTo>
                  <a:lnTo>
                    <a:pt x="1400168" y="40011"/>
                  </a:lnTo>
                  <a:lnTo>
                    <a:pt x="1429781" y="84329"/>
                  </a:lnTo>
                  <a:lnTo>
                    <a:pt x="1440179" y="136606"/>
                  </a:lnTo>
                  <a:lnTo>
                    <a:pt x="1440179" y="683018"/>
                  </a:lnTo>
                  <a:lnTo>
                    <a:pt x="1433215" y="726197"/>
                  </a:lnTo>
                  <a:lnTo>
                    <a:pt x="1413822" y="763697"/>
                  </a:lnTo>
                  <a:lnTo>
                    <a:pt x="1384251" y="793268"/>
                  </a:lnTo>
                  <a:lnTo>
                    <a:pt x="1346751" y="812661"/>
                  </a:lnTo>
                  <a:lnTo>
                    <a:pt x="1303572" y="819625"/>
                  </a:lnTo>
                  <a:lnTo>
                    <a:pt x="136606" y="819625"/>
                  </a:lnTo>
                  <a:lnTo>
                    <a:pt x="93428" y="812661"/>
                  </a:lnTo>
                  <a:lnTo>
                    <a:pt x="55928" y="793268"/>
                  </a:lnTo>
                  <a:lnTo>
                    <a:pt x="26357" y="763697"/>
                  </a:lnTo>
                  <a:lnTo>
                    <a:pt x="6964" y="726197"/>
                  </a:lnTo>
                  <a:lnTo>
                    <a:pt x="0" y="683018"/>
                  </a:lnTo>
                  <a:lnTo>
                    <a:pt x="0" y="136606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4444843" y="4405312"/>
            <a:ext cx="1127760" cy="266700"/>
          </a:xfrm>
          <a:prstGeom prst="rect">
            <a:avLst/>
          </a:prstGeom>
          <a:solidFill>
            <a:srgbClr val="FF880A"/>
          </a:solidFill>
          <a:ln w="12699">
            <a:solidFill>
              <a:srgbClr val="127BB4"/>
            </a:solidFill>
          </a:ln>
        </p:spPr>
        <p:txBody>
          <a:bodyPr vert="horz" wrap="square" lIns="0" tIns="21590" rIns="0" bIns="0" rtlCol="0">
            <a:spAutoFit/>
          </a:bodyPr>
          <a:lstStyle/>
          <a:p>
            <a:pPr marL="321310">
              <a:lnSpc>
                <a:spcPct val="100000"/>
              </a:lnSpc>
              <a:spcBef>
                <a:spcPts val="170"/>
              </a:spcBef>
            </a:pP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Failed</a:t>
            </a:r>
            <a:endParaRPr sz="14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688357" y="1401084"/>
            <a:ext cx="2965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Arial"/>
                <a:cs typeface="Arial"/>
              </a:rPr>
              <a:t>Pod</a:t>
            </a:r>
            <a:endParaRPr sz="12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214356" y="2379482"/>
            <a:ext cx="70040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Arial"/>
                <a:cs typeface="Arial"/>
              </a:rPr>
              <a:t>API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Server</a:t>
            </a:r>
            <a:endParaRPr sz="11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40816" y="2416122"/>
            <a:ext cx="6007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"/>
                <a:cs typeface="Arial"/>
              </a:rPr>
              <a:t>Manifest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2730" cy="5143500"/>
            <a:chOff x="0" y="0"/>
            <a:chExt cx="9142730" cy="5143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54" y="0"/>
              <a:ext cx="9141290" cy="410870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4175999" cy="514349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193024" y="4326076"/>
              <a:ext cx="722375" cy="604028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620940" y="2787126"/>
            <a:ext cx="247840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10" dirty="0">
                <a:solidFill>
                  <a:srgbClr val="FFFFFF"/>
                </a:solidFill>
                <a:latin typeface="Arial"/>
                <a:cs typeface="Arial"/>
              </a:rPr>
              <a:t>ReplicaSet</a:t>
            </a:r>
            <a:endParaRPr sz="4000">
              <a:latin typeface="Arial"/>
              <a:cs typeface="Arial"/>
            </a:endParaRPr>
          </a:p>
        </p:txBody>
      </p:sp>
      <p:sp>
        <p:nvSpPr>
          <p:cNvPr id="7" name="object 7" descr="$PPTXTitle"/>
          <p:cNvSpPr txBox="1"/>
          <p:nvPr/>
        </p:nvSpPr>
        <p:spPr>
          <a:xfrm>
            <a:off x="1477054" y="1724339"/>
            <a:ext cx="6742430" cy="465455"/>
          </a:xfrm>
          <a:prstGeom prst="rect">
            <a:avLst/>
          </a:prstGeom>
        </p:spPr>
        <p:txBody>
          <a:bodyPr vert="horz" wrap="square" lIns="0" tIns="90805" rIns="0" bIns="0" rtlCol="0">
            <a:spAutoFit/>
          </a:bodyPr>
          <a:lstStyle/>
          <a:p>
            <a:pPr marL="12700" marR="5080">
              <a:lnSpc>
                <a:spcPct val="69900"/>
              </a:lnSpc>
              <a:spcBef>
                <a:spcPts val="715"/>
              </a:spcBef>
            </a:pPr>
            <a:r>
              <a:rPr sz="1700" dirty="0">
                <a:solidFill>
                  <a:srgbClr val="FFFFFF"/>
                </a:solidFill>
                <a:latin typeface="Arial"/>
                <a:cs typeface="Arial"/>
              </a:rPr>
              <a:t>How</a:t>
            </a:r>
            <a:r>
              <a:rPr sz="17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FFFFFF"/>
                </a:solidFill>
                <a:latin typeface="Arial"/>
                <a:cs typeface="Arial"/>
              </a:rPr>
              <a:t>can</a:t>
            </a:r>
            <a:r>
              <a:rPr sz="17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FFFFFF"/>
                </a:solidFill>
                <a:latin typeface="Arial"/>
                <a:cs typeface="Arial"/>
              </a:rPr>
              <a:t>you</a:t>
            </a:r>
            <a:r>
              <a:rPr sz="17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FFFFFF"/>
                </a:solidFill>
                <a:latin typeface="Arial"/>
                <a:cs typeface="Arial"/>
              </a:rPr>
              <a:t>ensure</a:t>
            </a:r>
            <a:r>
              <a:rPr sz="17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FFFFFF"/>
                </a:solidFill>
                <a:latin typeface="Arial"/>
                <a:cs typeface="Arial"/>
              </a:rPr>
              <a:t>that</a:t>
            </a:r>
            <a:r>
              <a:rPr sz="17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FFFFFF"/>
                </a:solidFill>
                <a:latin typeface="Arial"/>
                <a:cs typeface="Arial"/>
              </a:rPr>
              <a:t>there</a:t>
            </a:r>
            <a:r>
              <a:rPr sz="17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FFFFFF"/>
                </a:solidFill>
                <a:latin typeface="Arial"/>
                <a:cs typeface="Arial"/>
              </a:rPr>
              <a:t>are</a:t>
            </a:r>
            <a:r>
              <a:rPr sz="17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r>
              <a:rPr sz="17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FFFFFF"/>
                </a:solidFill>
                <a:latin typeface="Arial"/>
                <a:cs typeface="Arial"/>
              </a:rPr>
              <a:t>Pods</a:t>
            </a:r>
            <a:r>
              <a:rPr sz="17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FFFFFF"/>
                </a:solidFill>
                <a:latin typeface="Arial"/>
                <a:cs typeface="Arial"/>
              </a:rPr>
              <a:t>instances</a:t>
            </a:r>
            <a:r>
              <a:rPr sz="17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FFFFFF"/>
                </a:solidFill>
                <a:latin typeface="Arial"/>
                <a:cs typeface="Arial"/>
              </a:rPr>
              <a:t>which</a:t>
            </a:r>
            <a:r>
              <a:rPr sz="17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FFFFFF"/>
                </a:solidFill>
                <a:latin typeface="Arial"/>
                <a:cs typeface="Arial"/>
              </a:rPr>
              <a:t>are</a:t>
            </a:r>
            <a:r>
              <a:rPr sz="17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Arial"/>
                <a:cs typeface="Arial"/>
              </a:rPr>
              <a:t>always </a:t>
            </a:r>
            <a:r>
              <a:rPr sz="1700" dirty="0">
                <a:solidFill>
                  <a:srgbClr val="FFFFFF"/>
                </a:solidFill>
                <a:latin typeface="Arial"/>
                <a:cs typeface="Arial"/>
              </a:rPr>
              <a:t>available</a:t>
            </a:r>
            <a:r>
              <a:rPr sz="17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17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FFFFFF"/>
                </a:solidFill>
                <a:latin typeface="Arial"/>
                <a:cs typeface="Arial"/>
              </a:rPr>
              <a:t>running</a:t>
            </a:r>
            <a:r>
              <a:rPr sz="17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FFFFFF"/>
                </a:solidFill>
                <a:latin typeface="Arial"/>
                <a:cs typeface="Arial"/>
              </a:rPr>
              <a:t>at</a:t>
            </a:r>
            <a:r>
              <a:rPr sz="17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FFFFFF"/>
                </a:solidFill>
                <a:latin typeface="Arial"/>
                <a:cs typeface="Arial"/>
              </a:rPr>
              <a:t>point</a:t>
            </a:r>
            <a:r>
              <a:rPr sz="17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sz="17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Arial"/>
                <a:cs typeface="Arial"/>
              </a:rPr>
              <a:t>time?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93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dirty="0"/>
              <a:t>What</a:t>
            </a:r>
            <a:r>
              <a:rPr spc="-5" dirty="0"/>
              <a:t> </a:t>
            </a:r>
            <a:r>
              <a:rPr dirty="0"/>
              <a:t>is</a:t>
            </a:r>
            <a:r>
              <a:rPr spc="10" dirty="0"/>
              <a:t> </a:t>
            </a:r>
            <a:r>
              <a:rPr dirty="0"/>
              <a:t>ReplicaSet</a:t>
            </a:r>
            <a:r>
              <a:rPr spc="-5" dirty="0"/>
              <a:t> </a:t>
            </a:r>
            <a:r>
              <a:rPr dirty="0"/>
              <a:t>all</a:t>
            </a:r>
            <a:r>
              <a:rPr spc="5" dirty="0"/>
              <a:t> </a:t>
            </a:r>
            <a:r>
              <a:rPr spc="-10" dirty="0"/>
              <a:t>about?</a:t>
            </a:r>
          </a:p>
          <a:p>
            <a:pPr marL="63500">
              <a:lnSpc>
                <a:spcPct val="100000"/>
              </a:lnSpc>
              <a:spcBef>
                <a:spcPts val="225"/>
              </a:spcBef>
            </a:pPr>
            <a:r>
              <a:rPr sz="1800" dirty="0">
                <a:solidFill>
                  <a:srgbClr val="000000"/>
                </a:solidFill>
              </a:rPr>
              <a:t>Maintain</a:t>
            </a:r>
            <a:r>
              <a:rPr sz="1800" spc="-30" dirty="0">
                <a:solidFill>
                  <a:srgbClr val="000000"/>
                </a:solidFill>
              </a:rPr>
              <a:t> </a:t>
            </a:r>
            <a:r>
              <a:rPr sz="1800" dirty="0">
                <a:solidFill>
                  <a:srgbClr val="000000"/>
                </a:solidFill>
              </a:rPr>
              <a:t>a</a:t>
            </a:r>
            <a:r>
              <a:rPr sz="1800" spc="-20" dirty="0">
                <a:solidFill>
                  <a:srgbClr val="000000"/>
                </a:solidFill>
              </a:rPr>
              <a:t> </a:t>
            </a:r>
            <a:r>
              <a:rPr sz="1800" dirty="0">
                <a:solidFill>
                  <a:srgbClr val="000000"/>
                </a:solidFill>
              </a:rPr>
              <a:t>stable</a:t>
            </a:r>
            <a:r>
              <a:rPr sz="1800" spc="-20" dirty="0">
                <a:solidFill>
                  <a:srgbClr val="000000"/>
                </a:solidFill>
              </a:rPr>
              <a:t> </a:t>
            </a:r>
            <a:r>
              <a:rPr sz="1800" dirty="0">
                <a:solidFill>
                  <a:srgbClr val="000000"/>
                </a:solidFill>
              </a:rPr>
              <a:t>set</a:t>
            </a:r>
            <a:r>
              <a:rPr sz="1800" spc="-20" dirty="0">
                <a:solidFill>
                  <a:srgbClr val="000000"/>
                </a:solidFill>
              </a:rPr>
              <a:t> </a:t>
            </a:r>
            <a:r>
              <a:rPr sz="1800" dirty="0">
                <a:solidFill>
                  <a:srgbClr val="000000"/>
                </a:solidFill>
              </a:rPr>
              <a:t>of</a:t>
            </a:r>
            <a:r>
              <a:rPr sz="1800" spc="-20" dirty="0">
                <a:solidFill>
                  <a:srgbClr val="000000"/>
                </a:solidFill>
              </a:rPr>
              <a:t> </a:t>
            </a:r>
            <a:r>
              <a:rPr sz="1800" dirty="0">
                <a:solidFill>
                  <a:srgbClr val="000000"/>
                </a:solidFill>
              </a:rPr>
              <a:t>replica</a:t>
            </a:r>
            <a:r>
              <a:rPr sz="1800" spc="-20" dirty="0">
                <a:solidFill>
                  <a:srgbClr val="000000"/>
                </a:solidFill>
              </a:rPr>
              <a:t> </a:t>
            </a:r>
            <a:r>
              <a:rPr sz="1800" dirty="0">
                <a:solidFill>
                  <a:srgbClr val="000000"/>
                </a:solidFill>
              </a:rPr>
              <a:t>Pods</a:t>
            </a:r>
            <a:r>
              <a:rPr sz="1800" spc="-20" dirty="0">
                <a:solidFill>
                  <a:srgbClr val="000000"/>
                </a:solidFill>
              </a:rPr>
              <a:t> </a:t>
            </a:r>
            <a:r>
              <a:rPr sz="1800" dirty="0">
                <a:solidFill>
                  <a:srgbClr val="000000"/>
                </a:solidFill>
              </a:rPr>
              <a:t>running</a:t>
            </a:r>
            <a:r>
              <a:rPr sz="1800" spc="-20" dirty="0">
                <a:solidFill>
                  <a:srgbClr val="000000"/>
                </a:solidFill>
              </a:rPr>
              <a:t> </a:t>
            </a:r>
            <a:r>
              <a:rPr sz="1800" dirty="0">
                <a:solidFill>
                  <a:srgbClr val="000000"/>
                </a:solidFill>
              </a:rPr>
              <a:t>at</a:t>
            </a:r>
            <a:r>
              <a:rPr sz="1800" spc="-20" dirty="0">
                <a:solidFill>
                  <a:srgbClr val="000000"/>
                </a:solidFill>
              </a:rPr>
              <a:t> </a:t>
            </a:r>
            <a:r>
              <a:rPr sz="1800" dirty="0">
                <a:solidFill>
                  <a:srgbClr val="000000"/>
                </a:solidFill>
              </a:rPr>
              <a:t>any</a:t>
            </a:r>
            <a:r>
              <a:rPr sz="1800" spc="-20" dirty="0">
                <a:solidFill>
                  <a:srgbClr val="000000"/>
                </a:solidFill>
              </a:rPr>
              <a:t> </a:t>
            </a:r>
            <a:r>
              <a:rPr sz="1800" dirty="0">
                <a:solidFill>
                  <a:srgbClr val="000000"/>
                </a:solidFill>
              </a:rPr>
              <a:t>given</a:t>
            </a:r>
            <a:r>
              <a:rPr sz="1800" spc="-15" dirty="0">
                <a:solidFill>
                  <a:srgbClr val="000000"/>
                </a:solidFill>
              </a:rPr>
              <a:t> </a:t>
            </a:r>
            <a:r>
              <a:rPr sz="1800" spc="-20" dirty="0">
                <a:solidFill>
                  <a:srgbClr val="000000"/>
                </a:solidFill>
              </a:rPr>
              <a:t>time</a:t>
            </a:r>
            <a:endParaRPr sz="1800"/>
          </a:p>
        </p:txBody>
      </p:sp>
      <p:sp>
        <p:nvSpPr>
          <p:cNvPr id="3" name="object 3"/>
          <p:cNvSpPr txBox="1"/>
          <p:nvPr/>
        </p:nvSpPr>
        <p:spPr>
          <a:xfrm>
            <a:off x="450396" y="1416885"/>
            <a:ext cx="7833995" cy="1957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47015">
              <a:lnSpc>
                <a:spcPct val="100000"/>
              </a:lnSpc>
              <a:spcBef>
                <a:spcPts val="100"/>
              </a:spcBef>
              <a:buChar char="-"/>
              <a:tabLst>
                <a:tab pos="297815" algn="l"/>
              </a:tabLst>
            </a:pPr>
            <a:r>
              <a:rPr sz="1800" dirty="0">
                <a:latin typeface="Arial"/>
                <a:cs typeface="Arial"/>
              </a:rPr>
              <a:t>Ensures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that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specified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number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Pods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are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running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at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any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time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Font typeface="Arial"/>
              <a:buChar char="-"/>
            </a:pPr>
            <a:endParaRPr sz="1800">
              <a:latin typeface="Arial"/>
              <a:cs typeface="Arial"/>
            </a:endParaRPr>
          </a:p>
          <a:p>
            <a:pPr marL="455295" lvl="1" indent="-252729">
              <a:lnSpc>
                <a:spcPct val="100000"/>
              </a:lnSpc>
              <a:buAutoNum type="alphaLcPeriod"/>
              <a:tabLst>
                <a:tab pos="455295" algn="l"/>
              </a:tabLst>
            </a:pPr>
            <a:r>
              <a:rPr sz="1800" dirty="0">
                <a:latin typeface="Arial"/>
                <a:cs typeface="Arial"/>
              </a:rPr>
              <a:t>If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there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are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access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Pods,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they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get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killed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and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vice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versa</a:t>
            </a:r>
            <a:endParaRPr sz="1800">
              <a:latin typeface="Arial"/>
              <a:cs typeface="Arial"/>
            </a:endParaRPr>
          </a:p>
          <a:p>
            <a:pPr marL="455295" lvl="1" indent="-252729">
              <a:lnSpc>
                <a:spcPct val="100000"/>
              </a:lnSpc>
              <a:spcBef>
                <a:spcPts val="15"/>
              </a:spcBef>
              <a:buAutoNum type="alphaLcPeriod"/>
              <a:tabLst>
                <a:tab pos="455295" algn="l"/>
              </a:tabLst>
            </a:pPr>
            <a:r>
              <a:rPr sz="1800" dirty="0">
                <a:latin typeface="Arial"/>
                <a:cs typeface="Arial"/>
              </a:rPr>
              <a:t>New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Pods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are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launched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when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they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get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failed,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get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deleted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and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terminated</a:t>
            </a:r>
            <a:endParaRPr sz="18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buFont typeface="Arial"/>
              <a:buAutoNum type="alphaLcPeriod"/>
            </a:pPr>
            <a:endParaRPr sz="18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225"/>
              </a:spcBef>
              <a:buFont typeface="Arial"/>
              <a:buAutoNum type="alphaLcPeriod"/>
            </a:pPr>
            <a:endParaRPr sz="1800">
              <a:latin typeface="Arial"/>
              <a:cs typeface="Arial"/>
            </a:endParaRPr>
          </a:p>
          <a:p>
            <a:pPr marL="151130" indent="-138430">
              <a:lnSpc>
                <a:spcPct val="100000"/>
              </a:lnSpc>
              <a:buChar char="-"/>
              <a:tabLst>
                <a:tab pos="151130" algn="l"/>
              </a:tabLst>
            </a:pPr>
            <a:r>
              <a:rPr sz="1800" dirty="0">
                <a:latin typeface="Arial"/>
                <a:cs typeface="Arial"/>
              </a:rPr>
              <a:t>ReplicaSet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&amp;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Pods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are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associated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with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“labels”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707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Replication</a:t>
            </a:r>
            <a:r>
              <a:rPr spc="-5" dirty="0"/>
              <a:t> </a:t>
            </a:r>
            <a:r>
              <a:rPr dirty="0"/>
              <a:t>Controller</a:t>
            </a:r>
            <a:r>
              <a:rPr spc="5" dirty="0"/>
              <a:t> </a:t>
            </a:r>
            <a:r>
              <a:rPr dirty="0"/>
              <a:t>Vs</a:t>
            </a:r>
            <a:r>
              <a:rPr spc="-5" dirty="0"/>
              <a:t> </a:t>
            </a:r>
            <a:r>
              <a:rPr spc="-10" dirty="0"/>
              <a:t>ReplicaSets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1485" y="1315285"/>
            <a:ext cx="6125845" cy="5759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9715" indent="-247015">
              <a:lnSpc>
                <a:spcPct val="100000"/>
              </a:lnSpc>
              <a:spcBef>
                <a:spcPts val="100"/>
              </a:spcBef>
              <a:buChar char="-"/>
              <a:tabLst>
                <a:tab pos="259715" algn="l"/>
              </a:tabLst>
            </a:pPr>
            <a:r>
              <a:rPr sz="1800" dirty="0">
                <a:latin typeface="Arial"/>
                <a:cs typeface="Arial"/>
              </a:rPr>
              <a:t>ReplicaSet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is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next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generation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Replication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Controller</a:t>
            </a:r>
            <a:endParaRPr sz="1800">
              <a:latin typeface="Arial"/>
              <a:cs typeface="Arial"/>
            </a:endParaRPr>
          </a:p>
          <a:p>
            <a:pPr marL="259715" indent="-247015">
              <a:lnSpc>
                <a:spcPct val="100000"/>
              </a:lnSpc>
              <a:spcBef>
                <a:spcPts val="15"/>
              </a:spcBef>
              <a:buChar char="-"/>
              <a:tabLst>
                <a:tab pos="259715" algn="l"/>
              </a:tabLst>
            </a:pPr>
            <a:r>
              <a:rPr sz="1800" dirty="0">
                <a:latin typeface="Arial"/>
                <a:cs typeface="Arial"/>
              </a:rPr>
              <a:t>Both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serve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same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purpose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61482" y="2414550"/>
            <a:ext cx="11290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ReplicaSet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94841" y="2414550"/>
            <a:ext cx="2210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Replication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Controller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678010" y="2818266"/>
            <a:ext cx="41275" cy="714375"/>
            <a:chOff x="2678010" y="2818266"/>
            <a:chExt cx="41275" cy="714375"/>
          </a:xfrm>
        </p:grpSpPr>
        <p:sp>
          <p:nvSpPr>
            <p:cNvPr id="7" name="object 7"/>
            <p:cNvSpPr/>
            <p:nvPr/>
          </p:nvSpPr>
          <p:spPr>
            <a:xfrm>
              <a:off x="2685143" y="2823029"/>
              <a:ext cx="13970" cy="661670"/>
            </a:xfrm>
            <a:custGeom>
              <a:avLst/>
              <a:gdLst/>
              <a:ahLst/>
              <a:cxnLst/>
              <a:rect l="l" t="t" r="r" b="b"/>
              <a:pathLst>
                <a:path w="13969" h="661670">
                  <a:moveTo>
                    <a:pt x="0" y="0"/>
                  </a:moveTo>
                  <a:lnTo>
                    <a:pt x="13359" y="661318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682773" y="348402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16602" y="43534"/>
                  </a:moveTo>
                  <a:lnTo>
                    <a:pt x="0" y="635"/>
                  </a:lnTo>
                  <a:lnTo>
                    <a:pt x="31458" y="0"/>
                  </a:lnTo>
                  <a:lnTo>
                    <a:pt x="16602" y="43534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682773" y="348402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635"/>
                  </a:moveTo>
                  <a:lnTo>
                    <a:pt x="16602" y="43534"/>
                  </a:lnTo>
                  <a:lnTo>
                    <a:pt x="31458" y="0"/>
                  </a:lnTo>
                  <a:lnTo>
                    <a:pt x="0" y="635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5566352" y="2762863"/>
            <a:ext cx="41275" cy="714375"/>
            <a:chOff x="5566352" y="2762863"/>
            <a:chExt cx="41275" cy="714375"/>
          </a:xfrm>
        </p:grpSpPr>
        <p:sp>
          <p:nvSpPr>
            <p:cNvPr id="11" name="object 11"/>
            <p:cNvSpPr/>
            <p:nvPr/>
          </p:nvSpPr>
          <p:spPr>
            <a:xfrm>
              <a:off x="5573485" y="2767626"/>
              <a:ext cx="13970" cy="661670"/>
            </a:xfrm>
            <a:custGeom>
              <a:avLst/>
              <a:gdLst/>
              <a:ahLst/>
              <a:cxnLst/>
              <a:rect l="l" t="t" r="r" b="b"/>
              <a:pathLst>
                <a:path w="13970" h="661670">
                  <a:moveTo>
                    <a:pt x="0" y="0"/>
                  </a:moveTo>
                  <a:lnTo>
                    <a:pt x="13359" y="661318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571115" y="3428626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16602" y="43534"/>
                  </a:moveTo>
                  <a:lnTo>
                    <a:pt x="0" y="635"/>
                  </a:lnTo>
                  <a:lnTo>
                    <a:pt x="31459" y="0"/>
                  </a:lnTo>
                  <a:lnTo>
                    <a:pt x="16602" y="43534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571115" y="3428626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635"/>
                  </a:moveTo>
                  <a:lnTo>
                    <a:pt x="16602" y="43534"/>
                  </a:lnTo>
                  <a:lnTo>
                    <a:pt x="31459" y="0"/>
                  </a:lnTo>
                  <a:lnTo>
                    <a:pt x="0" y="635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952625" y="3702886"/>
            <a:ext cx="2083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Set-</a:t>
            </a:r>
            <a:r>
              <a:rPr sz="1800" dirty="0">
                <a:latin typeface="Arial"/>
                <a:cs typeface="Arial"/>
              </a:rPr>
              <a:t>based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Selectors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68396" y="3687005"/>
            <a:ext cx="25539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Equality-</a:t>
            </a:r>
            <a:r>
              <a:rPr sz="1800" dirty="0">
                <a:latin typeface="Arial"/>
                <a:cs typeface="Arial"/>
              </a:rPr>
              <a:t>based</a:t>
            </a:r>
            <a:r>
              <a:rPr sz="1800" spc="2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Selectors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5"/>
              </a:spcBef>
            </a:pPr>
            <a:r>
              <a:rPr dirty="0"/>
              <a:t>Labels</a:t>
            </a:r>
            <a:r>
              <a:rPr spc="5" dirty="0"/>
              <a:t> </a:t>
            </a:r>
            <a:r>
              <a:rPr dirty="0"/>
              <a:t>&amp;</a:t>
            </a:r>
            <a:r>
              <a:rPr spc="10" dirty="0"/>
              <a:t> </a:t>
            </a:r>
            <a:r>
              <a:rPr spc="-10" dirty="0"/>
              <a:t>Selectors</a:t>
            </a:r>
          </a:p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sz="1800" dirty="0">
                <a:solidFill>
                  <a:srgbClr val="000000"/>
                </a:solidFill>
              </a:rPr>
              <a:t>When</a:t>
            </a:r>
            <a:r>
              <a:rPr sz="1800" spc="-30" dirty="0">
                <a:solidFill>
                  <a:srgbClr val="000000"/>
                </a:solidFill>
              </a:rPr>
              <a:t> </a:t>
            </a:r>
            <a:r>
              <a:rPr sz="1800" dirty="0">
                <a:solidFill>
                  <a:srgbClr val="000000"/>
                </a:solidFill>
              </a:rPr>
              <a:t>Pods</a:t>
            </a:r>
            <a:r>
              <a:rPr sz="1800" spc="-20" dirty="0">
                <a:solidFill>
                  <a:srgbClr val="000000"/>
                </a:solidFill>
              </a:rPr>
              <a:t> </a:t>
            </a:r>
            <a:r>
              <a:rPr sz="1800" dirty="0">
                <a:solidFill>
                  <a:srgbClr val="000000"/>
                </a:solidFill>
              </a:rPr>
              <a:t>are</a:t>
            </a:r>
            <a:r>
              <a:rPr sz="1800" spc="-20" dirty="0">
                <a:solidFill>
                  <a:srgbClr val="000000"/>
                </a:solidFill>
              </a:rPr>
              <a:t> </a:t>
            </a:r>
            <a:r>
              <a:rPr sz="1800" dirty="0">
                <a:solidFill>
                  <a:srgbClr val="000000"/>
                </a:solidFill>
              </a:rPr>
              <a:t>scaled,</a:t>
            </a:r>
            <a:r>
              <a:rPr sz="1800" spc="-15" dirty="0">
                <a:solidFill>
                  <a:srgbClr val="000000"/>
                </a:solidFill>
              </a:rPr>
              <a:t> </a:t>
            </a:r>
            <a:r>
              <a:rPr sz="1800" dirty="0">
                <a:solidFill>
                  <a:srgbClr val="000000"/>
                </a:solidFill>
              </a:rPr>
              <a:t>how</a:t>
            </a:r>
            <a:r>
              <a:rPr sz="1800" spc="-20" dirty="0">
                <a:solidFill>
                  <a:srgbClr val="000000"/>
                </a:solidFill>
              </a:rPr>
              <a:t> </a:t>
            </a:r>
            <a:r>
              <a:rPr sz="1800" dirty="0">
                <a:solidFill>
                  <a:srgbClr val="000000"/>
                </a:solidFill>
              </a:rPr>
              <a:t>are</a:t>
            </a:r>
            <a:r>
              <a:rPr sz="1800" spc="-20" dirty="0">
                <a:solidFill>
                  <a:srgbClr val="000000"/>
                </a:solidFill>
              </a:rPr>
              <a:t> </a:t>
            </a:r>
            <a:r>
              <a:rPr sz="1800" dirty="0">
                <a:solidFill>
                  <a:srgbClr val="000000"/>
                </a:solidFill>
              </a:rPr>
              <a:t>these</a:t>
            </a:r>
            <a:r>
              <a:rPr sz="1800" spc="-20" dirty="0">
                <a:solidFill>
                  <a:srgbClr val="000000"/>
                </a:solidFill>
              </a:rPr>
              <a:t> </a:t>
            </a:r>
            <a:r>
              <a:rPr sz="1800" dirty="0">
                <a:solidFill>
                  <a:srgbClr val="000000"/>
                </a:solidFill>
              </a:rPr>
              <a:t>Pods</a:t>
            </a:r>
            <a:r>
              <a:rPr sz="1800" spc="-15" dirty="0">
                <a:solidFill>
                  <a:srgbClr val="000000"/>
                </a:solidFill>
              </a:rPr>
              <a:t> </a:t>
            </a:r>
            <a:r>
              <a:rPr sz="1800" dirty="0">
                <a:solidFill>
                  <a:srgbClr val="000000"/>
                </a:solidFill>
              </a:rPr>
              <a:t>Managed</a:t>
            </a:r>
            <a:r>
              <a:rPr sz="1800" spc="-20" dirty="0">
                <a:solidFill>
                  <a:srgbClr val="000000"/>
                </a:solidFill>
              </a:rPr>
              <a:t> </a:t>
            </a:r>
            <a:r>
              <a:rPr sz="1800" dirty="0">
                <a:solidFill>
                  <a:srgbClr val="000000"/>
                </a:solidFill>
              </a:rPr>
              <a:t>at</a:t>
            </a:r>
            <a:r>
              <a:rPr sz="1800" spc="-20" dirty="0">
                <a:solidFill>
                  <a:srgbClr val="000000"/>
                </a:solidFill>
              </a:rPr>
              <a:t> </a:t>
            </a:r>
            <a:r>
              <a:rPr sz="1800" dirty="0">
                <a:solidFill>
                  <a:srgbClr val="000000"/>
                </a:solidFill>
              </a:rPr>
              <a:t>such</a:t>
            </a:r>
            <a:r>
              <a:rPr sz="1800" spc="-20" dirty="0">
                <a:solidFill>
                  <a:srgbClr val="000000"/>
                </a:solidFill>
              </a:rPr>
              <a:t> </a:t>
            </a:r>
            <a:r>
              <a:rPr sz="1800" dirty="0">
                <a:solidFill>
                  <a:srgbClr val="000000"/>
                </a:solidFill>
              </a:rPr>
              <a:t>large</a:t>
            </a:r>
            <a:r>
              <a:rPr sz="1800" spc="-15" dirty="0">
                <a:solidFill>
                  <a:srgbClr val="000000"/>
                </a:solidFill>
              </a:rPr>
              <a:t> </a:t>
            </a:r>
            <a:r>
              <a:rPr sz="1800" spc="-10" dirty="0">
                <a:solidFill>
                  <a:srgbClr val="000000"/>
                </a:solidFill>
              </a:rPr>
              <a:t>scale?</a:t>
            </a:r>
            <a:endParaRPr sz="1800"/>
          </a:p>
        </p:txBody>
      </p:sp>
      <p:grpSp>
        <p:nvGrpSpPr>
          <p:cNvPr id="3" name="object 3"/>
          <p:cNvGrpSpPr/>
          <p:nvPr/>
        </p:nvGrpSpPr>
        <p:grpSpPr>
          <a:xfrm>
            <a:off x="2796494" y="1850931"/>
            <a:ext cx="1868170" cy="2609850"/>
            <a:chOff x="2796494" y="1850931"/>
            <a:chExt cx="1868170" cy="2609850"/>
          </a:xfrm>
        </p:grpSpPr>
        <p:sp>
          <p:nvSpPr>
            <p:cNvPr id="4" name="object 4"/>
            <p:cNvSpPr/>
            <p:nvPr/>
          </p:nvSpPr>
          <p:spPr>
            <a:xfrm>
              <a:off x="3720352" y="1855693"/>
              <a:ext cx="518159" cy="2600325"/>
            </a:xfrm>
            <a:custGeom>
              <a:avLst/>
              <a:gdLst/>
              <a:ahLst/>
              <a:cxnLst/>
              <a:rect l="l" t="t" r="r" b="b"/>
              <a:pathLst>
                <a:path w="518160" h="2600325">
                  <a:moveTo>
                    <a:pt x="0" y="0"/>
                  </a:moveTo>
                  <a:lnTo>
                    <a:pt x="68828" y="1541"/>
                  </a:lnTo>
                  <a:lnTo>
                    <a:pt x="130676" y="5891"/>
                  </a:lnTo>
                  <a:lnTo>
                    <a:pt x="183076" y="12638"/>
                  </a:lnTo>
                  <a:lnTo>
                    <a:pt x="223560" y="21371"/>
                  </a:lnTo>
                  <a:lnTo>
                    <a:pt x="249660" y="31678"/>
                  </a:lnTo>
                  <a:lnTo>
                    <a:pt x="258908" y="43149"/>
                  </a:lnTo>
                  <a:lnTo>
                    <a:pt x="258908" y="1256732"/>
                  </a:lnTo>
                  <a:lnTo>
                    <a:pt x="268157" y="1268203"/>
                  </a:lnTo>
                  <a:lnTo>
                    <a:pt x="334741" y="1287244"/>
                  </a:lnTo>
                  <a:lnTo>
                    <a:pt x="387141" y="1293991"/>
                  </a:lnTo>
                  <a:lnTo>
                    <a:pt x="448989" y="1298341"/>
                  </a:lnTo>
                  <a:lnTo>
                    <a:pt x="517817" y="1299882"/>
                  </a:lnTo>
                  <a:lnTo>
                    <a:pt x="448989" y="1301423"/>
                  </a:lnTo>
                  <a:lnTo>
                    <a:pt x="387141" y="1305773"/>
                  </a:lnTo>
                  <a:lnTo>
                    <a:pt x="334741" y="1312520"/>
                  </a:lnTo>
                  <a:lnTo>
                    <a:pt x="294257" y="1321253"/>
                  </a:lnTo>
                  <a:lnTo>
                    <a:pt x="258908" y="1343032"/>
                  </a:lnTo>
                  <a:lnTo>
                    <a:pt x="258908" y="2556615"/>
                  </a:lnTo>
                  <a:lnTo>
                    <a:pt x="249660" y="2568086"/>
                  </a:lnTo>
                  <a:lnTo>
                    <a:pt x="223560" y="2578393"/>
                  </a:lnTo>
                  <a:lnTo>
                    <a:pt x="183076" y="2587126"/>
                  </a:lnTo>
                  <a:lnTo>
                    <a:pt x="130676" y="2593873"/>
                  </a:lnTo>
                  <a:lnTo>
                    <a:pt x="68828" y="2598223"/>
                  </a:lnTo>
                  <a:lnTo>
                    <a:pt x="0" y="2599764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801256" y="2185970"/>
              <a:ext cx="1815464" cy="1341120"/>
            </a:xfrm>
            <a:custGeom>
              <a:avLst/>
              <a:gdLst/>
              <a:ahLst/>
              <a:cxnLst/>
              <a:rect l="l" t="t" r="r" b="b"/>
              <a:pathLst>
                <a:path w="1815464" h="1341120">
                  <a:moveTo>
                    <a:pt x="0" y="1340999"/>
                  </a:moveTo>
                  <a:lnTo>
                    <a:pt x="936149" y="1340999"/>
                  </a:lnTo>
                  <a:lnTo>
                    <a:pt x="936149" y="0"/>
                  </a:lnTo>
                  <a:lnTo>
                    <a:pt x="1815149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616406" y="217023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616406" y="217023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489449" y="1318841"/>
            <a:ext cx="5467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Arial"/>
                <a:cs typeface="Arial"/>
              </a:rPr>
              <a:t>Pods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182908" y="1363664"/>
            <a:ext cx="22866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Controllers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&amp;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Services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82835" y="1749399"/>
            <a:ext cx="1309370" cy="2474595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5"/>
              </a:spcBef>
            </a:pPr>
            <a:r>
              <a:rPr sz="1800" spc="-10" dirty="0">
                <a:latin typeface="Arial"/>
                <a:cs typeface="Arial"/>
              </a:rPr>
              <a:t>Labels</a:t>
            </a:r>
            <a:endParaRPr sz="1800">
              <a:latin typeface="Arial"/>
              <a:cs typeface="Arial"/>
            </a:endParaRPr>
          </a:p>
          <a:p>
            <a:pPr marL="60325" marR="284480">
              <a:lnSpc>
                <a:spcPts val="1430"/>
              </a:lnSpc>
              <a:spcBef>
                <a:spcPts val="630"/>
              </a:spcBef>
            </a:pPr>
            <a:r>
              <a:rPr sz="1200" dirty="0">
                <a:latin typeface="Arial"/>
                <a:cs typeface="Arial"/>
              </a:rPr>
              <a:t>#Pod-</a:t>
            </a:r>
            <a:r>
              <a:rPr sz="1200" spc="-20" dirty="0">
                <a:latin typeface="Arial"/>
                <a:cs typeface="Arial"/>
              </a:rPr>
              <a:t>Spec </a:t>
            </a:r>
            <a:r>
              <a:rPr sz="1200" spc="-10" dirty="0">
                <a:latin typeface="Arial"/>
                <a:cs typeface="Arial"/>
              </a:rPr>
              <a:t>apiVersion: </a:t>
            </a:r>
            <a:r>
              <a:rPr sz="1200" spc="-25" dirty="0">
                <a:latin typeface="Arial"/>
                <a:cs typeface="Arial"/>
              </a:rPr>
              <a:t>v1 </a:t>
            </a:r>
            <a:r>
              <a:rPr sz="1200" dirty="0">
                <a:latin typeface="Arial"/>
                <a:cs typeface="Arial"/>
              </a:rPr>
              <a:t>kind:</a:t>
            </a:r>
            <a:r>
              <a:rPr sz="1200" spc="-25" dirty="0">
                <a:latin typeface="Arial"/>
                <a:cs typeface="Arial"/>
              </a:rPr>
              <a:t> pod </a:t>
            </a:r>
            <a:r>
              <a:rPr sz="1200" spc="-10" dirty="0">
                <a:latin typeface="Arial"/>
                <a:cs typeface="Arial"/>
              </a:rPr>
              <a:t>metadata:</a:t>
            </a:r>
            <a:endParaRPr sz="1200">
              <a:latin typeface="Arial"/>
              <a:cs typeface="Arial"/>
            </a:endParaRPr>
          </a:p>
          <a:p>
            <a:pPr marL="144780">
              <a:lnSpc>
                <a:spcPts val="1355"/>
              </a:lnSpc>
            </a:pPr>
            <a:r>
              <a:rPr sz="1200" dirty="0">
                <a:latin typeface="Arial"/>
                <a:cs typeface="Arial"/>
              </a:rPr>
              <a:t>name:</a:t>
            </a:r>
            <a:r>
              <a:rPr sz="1200" spc="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nginx-</a:t>
            </a:r>
            <a:r>
              <a:rPr sz="1200" spc="-25" dirty="0">
                <a:latin typeface="Arial"/>
                <a:cs typeface="Arial"/>
              </a:rPr>
              <a:t>Pod</a:t>
            </a:r>
            <a:endParaRPr sz="1200">
              <a:latin typeface="Arial"/>
              <a:cs typeface="Arial"/>
            </a:endParaRPr>
          </a:p>
          <a:p>
            <a:pPr marL="144780">
              <a:lnSpc>
                <a:spcPts val="1425"/>
              </a:lnSpc>
            </a:pPr>
            <a:r>
              <a:rPr sz="1200" spc="-10" dirty="0">
                <a:latin typeface="Arial"/>
                <a:cs typeface="Arial"/>
              </a:rPr>
              <a:t>labels:</a:t>
            </a:r>
            <a:endParaRPr sz="1200">
              <a:latin typeface="Arial"/>
              <a:cs typeface="Arial"/>
            </a:endParaRPr>
          </a:p>
          <a:p>
            <a:pPr marL="229235" marR="29845">
              <a:lnSpc>
                <a:spcPts val="1430"/>
              </a:lnSpc>
              <a:spcBef>
                <a:spcPts val="50"/>
              </a:spcBef>
            </a:pPr>
            <a:r>
              <a:rPr sz="1200" dirty="0">
                <a:latin typeface="Arial"/>
                <a:cs typeface="Arial"/>
              </a:rPr>
              <a:t>app: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guestbook </a:t>
            </a:r>
            <a:r>
              <a:rPr sz="1200" dirty="0">
                <a:latin typeface="Arial"/>
                <a:cs typeface="Arial"/>
              </a:rPr>
              <a:t>tier: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frontend </a:t>
            </a:r>
            <a:r>
              <a:rPr sz="1200" dirty="0">
                <a:latin typeface="Arial"/>
                <a:cs typeface="Arial"/>
              </a:rPr>
              <a:t>env: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dev</a:t>
            </a:r>
            <a:endParaRPr sz="1200">
              <a:latin typeface="Arial"/>
              <a:cs typeface="Arial"/>
            </a:endParaRPr>
          </a:p>
          <a:p>
            <a:pPr marL="60325">
              <a:lnSpc>
                <a:spcPts val="1360"/>
              </a:lnSpc>
            </a:pPr>
            <a:r>
              <a:rPr sz="1200" spc="-10" dirty="0">
                <a:latin typeface="Arial"/>
                <a:cs typeface="Arial"/>
              </a:rPr>
              <a:t>spec:</a:t>
            </a:r>
            <a:endParaRPr sz="1200">
              <a:latin typeface="Arial"/>
              <a:cs typeface="Arial"/>
            </a:endParaRPr>
          </a:p>
          <a:p>
            <a:pPr marL="144780">
              <a:lnSpc>
                <a:spcPts val="1435"/>
              </a:lnSpc>
            </a:pPr>
            <a:r>
              <a:rPr sz="1200" dirty="0">
                <a:latin typeface="Arial"/>
                <a:cs typeface="Arial"/>
              </a:rPr>
              <a:t>replicas:</a:t>
            </a:r>
            <a:r>
              <a:rPr sz="1200" spc="-45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5..</a:t>
            </a:r>
            <a:endParaRPr sz="12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794437" y="2018558"/>
            <a:ext cx="978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Selectors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492187" y="3247908"/>
            <a:ext cx="251460" cy="711200"/>
          </a:xfrm>
          <a:custGeom>
            <a:avLst/>
            <a:gdLst/>
            <a:ahLst/>
            <a:cxnLst/>
            <a:rect l="l" t="t" r="r" b="b"/>
            <a:pathLst>
              <a:path w="251460" h="711200">
                <a:moveTo>
                  <a:pt x="0" y="0"/>
                </a:moveTo>
                <a:lnTo>
                  <a:pt x="48935" y="1646"/>
                </a:lnTo>
                <a:lnTo>
                  <a:pt x="88897" y="6136"/>
                </a:lnTo>
                <a:lnTo>
                  <a:pt x="115839" y="12796"/>
                </a:lnTo>
                <a:lnTo>
                  <a:pt x="125719" y="20952"/>
                </a:lnTo>
                <a:lnTo>
                  <a:pt x="125719" y="334647"/>
                </a:lnTo>
                <a:lnTo>
                  <a:pt x="135599" y="342803"/>
                </a:lnTo>
                <a:lnTo>
                  <a:pt x="162542" y="349463"/>
                </a:lnTo>
                <a:lnTo>
                  <a:pt x="202503" y="353953"/>
                </a:lnTo>
                <a:lnTo>
                  <a:pt x="251439" y="355599"/>
                </a:lnTo>
                <a:lnTo>
                  <a:pt x="202503" y="357246"/>
                </a:lnTo>
                <a:lnTo>
                  <a:pt x="162542" y="361736"/>
                </a:lnTo>
                <a:lnTo>
                  <a:pt x="135599" y="368396"/>
                </a:lnTo>
                <a:lnTo>
                  <a:pt x="125719" y="376552"/>
                </a:lnTo>
                <a:lnTo>
                  <a:pt x="125719" y="690247"/>
                </a:lnTo>
                <a:lnTo>
                  <a:pt x="115839" y="698403"/>
                </a:lnTo>
                <a:lnTo>
                  <a:pt x="88897" y="705063"/>
                </a:lnTo>
                <a:lnTo>
                  <a:pt x="48935" y="709553"/>
                </a:lnTo>
                <a:lnTo>
                  <a:pt x="0" y="711199"/>
                </a:lnTo>
              </a:path>
            </a:pathLst>
          </a:custGeom>
          <a:ln w="9524">
            <a:solidFill>
              <a:srgbClr val="FFAB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01625" y="249500"/>
            <a:ext cx="4070350" cy="4648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Equality-</a:t>
            </a:r>
            <a:r>
              <a:rPr dirty="0"/>
              <a:t>based</a:t>
            </a:r>
            <a:r>
              <a:rPr spc="30" dirty="0"/>
              <a:t> </a:t>
            </a:r>
            <a:r>
              <a:rPr spc="-10" dirty="0"/>
              <a:t>Selectors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55612" y="249500"/>
            <a:ext cx="3318510" cy="4648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850" spc="-10" dirty="0">
                <a:solidFill>
                  <a:srgbClr val="FFAB40"/>
                </a:solidFill>
                <a:latin typeface="Arial"/>
                <a:cs typeface="Arial"/>
              </a:rPr>
              <a:t>Set-</a:t>
            </a:r>
            <a:r>
              <a:rPr sz="2850" dirty="0">
                <a:solidFill>
                  <a:srgbClr val="FFAB40"/>
                </a:solidFill>
                <a:latin typeface="Arial"/>
                <a:cs typeface="Arial"/>
              </a:rPr>
              <a:t>based</a:t>
            </a:r>
            <a:r>
              <a:rPr sz="2850" spc="5" dirty="0">
                <a:solidFill>
                  <a:srgbClr val="FFAB40"/>
                </a:solidFill>
                <a:latin typeface="Arial"/>
                <a:cs typeface="Arial"/>
              </a:rPr>
              <a:t> </a:t>
            </a:r>
            <a:r>
              <a:rPr sz="2850" spc="-10" dirty="0">
                <a:solidFill>
                  <a:srgbClr val="FFAB40"/>
                </a:solidFill>
                <a:latin typeface="Arial"/>
                <a:cs typeface="Arial"/>
              </a:rPr>
              <a:t>Selectors</a:t>
            </a:r>
            <a:endParaRPr sz="28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637313" y="537028"/>
            <a:ext cx="94615" cy="3788410"/>
          </a:xfrm>
          <a:custGeom>
            <a:avLst/>
            <a:gdLst/>
            <a:ahLst/>
            <a:cxnLst/>
            <a:rect l="l" t="t" r="r" b="b"/>
            <a:pathLst>
              <a:path w="94614" h="3788410">
                <a:moveTo>
                  <a:pt x="0" y="0"/>
                </a:moveTo>
                <a:lnTo>
                  <a:pt x="94342" y="3788227"/>
                </a:lnTo>
              </a:path>
            </a:pathLst>
          </a:custGeom>
          <a:ln w="9524">
            <a:solidFill>
              <a:srgbClr val="FFAB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50396" y="1050307"/>
            <a:ext cx="62484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78909B"/>
                </a:solidFill>
                <a:latin typeface="Arial"/>
                <a:cs typeface="Arial"/>
              </a:rPr>
              <a:t>Operators:</a:t>
            </a:r>
            <a:endParaRPr sz="1000">
              <a:latin typeface="Arial"/>
              <a:cs typeface="Arial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63</a:t>
            </a:fld>
            <a:endParaRPr spc="-25" dirty="0"/>
          </a:p>
        </p:txBody>
      </p:sp>
      <p:sp>
        <p:nvSpPr>
          <p:cNvPr id="6" name="object 6"/>
          <p:cNvSpPr txBox="1"/>
          <p:nvPr/>
        </p:nvSpPr>
        <p:spPr>
          <a:xfrm>
            <a:off x="450396" y="1355107"/>
            <a:ext cx="53022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Arial"/>
                <a:cs typeface="Arial"/>
              </a:rPr>
              <a:t>=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and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==</a:t>
            </a:r>
            <a:endParaRPr sz="1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0396" y="1659907"/>
            <a:ext cx="61785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78909B"/>
                </a:solidFill>
                <a:latin typeface="Arial"/>
                <a:cs typeface="Arial"/>
              </a:rPr>
              <a:t>Examples:</a:t>
            </a:r>
            <a:endParaRPr sz="10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50396" y="1964707"/>
            <a:ext cx="146050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Arial"/>
                <a:cs typeface="Arial"/>
              </a:rPr>
              <a:t>environment</a:t>
            </a:r>
            <a:r>
              <a:rPr sz="1000" spc="-3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=</a:t>
            </a:r>
            <a:r>
              <a:rPr sz="1000" spc="-3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production </a:t>
            </a:r>
            <a:r>
              <a:rPr sz="1000" dirty="0">
                <a:latin typeface="Arial"/>
                <a:cs typeface="Arial"/>
              </a:rPr>
              <a:t>tier!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=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frontend</a:t>
            </a:r>
            <a:endParaRPr sz="1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50396" y="2421907"/>
            <a:ext cx="84328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78909B"/>
                </a:solidFill>
                <a:latin typeface="Arial"/>
                <a:cs typeface="Arial"/>
              </a:rPr>
              <a:t>Commandline:</a:t>
            </a:r>
            <a:endParaRPr sz="10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50396" y="2726707"/>
            <a:ext cx="252730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Arial"/>
                <a:cs typeface="Arial"/>
              </a:rPr>
              <a:t>$kubectl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get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pods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-</a:t>
            </a:r>
            <a:r>
              <a:rPr sz="1000" dirty="0">
                <a:latin typeface="Arial"/>
                <a:cs typeface="Arial"/>
              </a:rPr>
              <a:t>l</a:t>
            </a:r>
            <a:r>
              <a:rPr sz="1000" spc="-10" dirty="0">
                <a:latin typeface="Arial"/>
                <a:cs typeface="Arial"/>
              </a:rPr>
              <a:t> environment=production</a:t>
            </a:r>
            <a:endParaRPr sz="10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50396" y="3183907"/>
            <a:ext cx="68135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78909B"/>
                </a:solidFill>
                <a:latin typeface="Arial"/>
                <a:cs typeface="Arial"/>
              </a:rPr>
              <a:t>In</a:t>
            </a:r>
            <a:r>
              <a:rPr sz="1000" spc="-5" dirty="0">
                <a:solidFill>
                  <a:srgbClr val="78909B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78909B"/>
                </a:solidFill>
                <a:latin typeface="Arial"/>
                <a:cs typeface="Arial"/>
              </a:rPr>
              <a:t>Manifest:</a:t>
            </a:r>
            <a:endParaRPr sz="10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50396" y="3488707"/>
            <a:ext cx="3326129" cy="1035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5" dirty="0">
                <a:latin typeface="Arial"/>
                <a:cs typeface="Arial"/>
              </a:rPr>
              <a:t>..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000" spc="-10" dirty="0">
                <a:latin typeface="Arial"/>
                <a:cs typeface="Arial"/>
              </a:rPr>
              <a:t>selector:</a:t>
            </a:r>
            <a:endParaRPr sz="1000">
              <a:latin typeface="Arial"/>
              <a:cs typeface="Arial"/>
            </a:endParaRPr>
          </a:p>
          <a:p>
            <a:pPr marL="82550" marR="1873885">
              <a:lnSpc>
                <a:spcPct val="100000"/>
              </a:lnSpc>
            </a:pPr>
            <a:r>
              <a:rPr sz="1000" dirty="0">
                <a:latin typeface="Arial"/>
                <a:cs typeface="Arial"/>
              </a:rPr>
              <a:t>environment:</a:t>
            </a:r>
            <a:r>
              <a:rPr sz="1000" spc="-6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production </a:t>
            </a:r>
            <a:r>
              <a:rPr sz="1000" dirty="0">
                <a:latin typeface="Arial"/>
                <a:cs typeface="Arial"/>
              </a:rPr>
              <a:t>tier: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frontend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000" spc="-25" dirty="0">
                <a:latin typeface="Arial"/>
                <a:cs typeface="Arial"/>
              </a:rPr>
              <a:t>..</a:t>
            </a:r>
            <a:endParaRPr sz="1000">
              <a:latin typeface="Arial"/>
              <a:cs typeface="Arial"/>
            </a:endParaRPr>
          </a:p>
          <a:p>
            <a:pPr marL="494665">
              <a:lnSpc>
                <a:spcPct val="100000"/>
              </a:lnSpc>
              <a:spcBef>
                <a:spcPts val="505"/>
              </a:spcBef>
            </a:pPr>
            <a:r>
              <a:rPr sz="1200" dirty="0">
                <a:latin typeface="Arial"/>
                <a:cs typeface="Arial"/>
              </a:rPr>
              <a:t>Supports:</a:t>
            </a:r>
            <a:r>
              <a:rPr sz="1200" spc="-5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Services,</a:t>
            </a:r>
            <a:r>
              <a:rPr sz="1200" spc="-5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Replication</a:t>
            </a:r>
            <a:r>
              <a:rPr sz="1200" spc="-4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Controller</a:t>
            </a:r>
            <a:endParaRPr sz="12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075010" y="1070643"/>
            <a:ext cx="62484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78909B"/>
                </a:solidFill>
                <a:latin typeface="Arial"/>
                <a:cs typeface="Arial"/>
              </a:rPr>
              <a:t>Operators:</a:t>
            </a:r>
            <a:endParaRPr sz="10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075010" y="1375443"/>
            <a:ext cx="79502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Arial"/>
                <a:cs typeface="Arial"/>
              </a:rPr>
              <a:t>in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notin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exists</a:t>
            </a:r>
            <a:endParaRPr sz="10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075010" y="1680243"/>
            <a:ext cx="61785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78909B"/>
                </a:solidFill>
                <a:latin typeface="Arial"/>
                <a:cs typeface="Arial"/>
              </a:rPr>
              <a:t>Examples:</a:t>
            </a:r>
            <a:endParaRPr sz="10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075010" y="1985044"/>
            <a:ext cx="1780539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Arial"/>
                <a:cs typeface="Arial"/>
              </a:rPr>
              <a:t>environment</a:t>
            </a:r>
            <a:r>
              <a:rPr sz="1000" spc="-4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in</a:t>
            </a:r>
            <a:r>
              <a:rPr sz="1000" spc="-4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(production,</a:t>
            </a:r>
            <a:r>
              <a:rPr sz="1000" spc="-40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qa) </a:t>
            </a:r>
            <a:r>
              <a:rPr sz="1000" dirty="0">
                <a:latin typeface="Arial"/>
                <a:cs typeface="Arial"/>
              </a:rPr>
              <a:t>tier</a:t>
            </a:r>
            <a:r>
              <a:rPr sz="1000" spc="3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notin(frontend,</a:t>
            </a:r>
            <a:r>
              <a:rPr sz="1000" spc="3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backend)</a:t>
            </a:r>
            <a:endParaRPr sz="10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075010" y="2442244"/>
            <a:ext cx="84328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78909B"/>
                </a:solidFill>
                <a:latin typeface="Arial"/>
                <a:cs typeface="Arial"/>
              </a:rPr>
              <a:t>Commandline:</a:t>
            </a:r>
            <a:endParaRPr sz="10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075010" y="2747044"/>
            <a:ext cx="271272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Arial"/>
                <a:cs typeface="Arial"/>
              </a:rPr>
              <a:t>$kubectl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get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pods</a:t>
            </a:r>
            <a:r>
              <a:rPr sz="1000" spc="-20" dirty="0">
                <a:latin typeface="Arial"/>
                <a:cs typeface="Arial"/>
              </a:rPr>
              <a:t> -</a:t>
            </a:r>
            <a:r>
              <a:rPr sz="1000" dirty="0">
                <a:latin typeface="Arial"/>
                <a:cs typeface="Arial"/>
              </a:rPr>
              <a:t>l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`enviornment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in(production)</a:t>
            </a:r>
            <a:endParaRPr sz="10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075010" y="3204244"/>
            <a:ext cx="68135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78909B"/>
                </a:solidFill>
                <a:latin typeface="Arial"/>
                <a:cs typeface="Arial"/>
              </a:rPr>
              <a:t>In</a:t>
            </a:r>
            <a:r>
              <a:rPr sz="1000" spc="-5" dirty="0">
                <a:solidFill>
                  <a:srgbClr val="78909B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78909B"/>
                </a:solidFill>
                <a:latin typeface="Arial"/>
                <a:cs typeface="Arial"/>
              </a:rPr>
              <a:t>Manifest:</a:t>
            </a:r>
            <a:endParaRPr sz="10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075010" y="3509043"/>
            <a:ext cx="3872229" cy="1087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5" dirty="0">
                <a:latin typeface="Arial"/>
                <a:cs typeface="Arial"/>
              </a:rPr>
              <a:t>..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000" spc="-10" dirty="0">
                <a:latin typeface="Arial"/>
                <a:cs typeface="Arial"/>
              </a:rPr>
              <a:t>selector:</a:t>
            </a:r>
            <a:endParaRPr sz="1000">
              <a:latin typeface="Arial"/>
              <a:cs typeface="Arial"/>
            </a:endParaRPr>
          </a:p>
          <a:p>
            <a:pPr marL="82550">
              <a:lnSpc>
                <a:spcPct val="100000"/>
              </a:lnSpc>
            </a:pPr>
            <a:r>
              <a:rPr sz="1000" spc="-10" dirty="0">
                <a:latin typeface="Arial"/>
                <a:cs typeface="Arial"/>
              </a:rPr>
              <a:t>matchExpressions:</a:t>
            </a:r>
            <a:endParaRPr sz="1000">
              <a:latin typeface="Arial"/>
              <a:cs typeface="Arial"/>
            </a:endParaRPr>
          </a:p>
          <a:p>
            <a:pPr marL="229235" indent="-76200">
              <a:lnSpc>
                <a:spcPct val="100000"/>
              </a:lnSpc>
              <a:buChar char="-"/>
              <a:tabLst>
                <a:tab pos="229235" algn="l"/>
              </a:tabLst>
            </a:pPr>
            <a:r>
              <a:rPr sz="1000" spc="-10" dirty="0">
                <a:latin typeface="Arial"/>
                <a:cs typeface="Arial"/>
              </a:rPr>
              <a:t>{key:environment,operator:in,values:[prod,qa]}</a:t>
            </a:r>
            <a:endParaRPr sz="1000">
              <a:latin typeface="Arial"/>
              <a:cs typeface="Arial"/>
            </a:endParaRPr>
          </a:p>
          <a:p>
            <a:pPr marL="229235" indent="-76200">
              <a:lnSpc>
                <a:spcPct val="100000"/>
              </a:lnSpc>
              <a:buChar char="-"/>
              <a:tabLst>
                <a:tab pos="229235" algn="l"/>
              </a:tabLst>
            </a:pPr>
            <a:r>
              <a:rPr sz="1000" spc="-10" dirty="0">
                <a:latin typeface="Arial"/>
                <a:cs typeface="Arial"/>
              </a:rPr>
              <a:t>{key:tier,operator:Notin,values:[frontend,backend]}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ts val="1060"/>
              </a:lnSpc>
            </a:pPr>
            <a:r>
              <a:rPr sz="1000" spc="-25" dirty="0">
                <a:latin typeface="Arial"/>
                <a:cs typeface="Arial"/>
              </a:rPr>
              <a:t>..</a:t>
            </a:r>
            <a:endParaRPr sz="1000">
              <a:latin typeface="Arial"/>
              <a:cs typeface="Arial"/>
            </a:endParaRPr>
          </a:p>
          <a:p>
            <a:pPr marL="315595">
              <a:lnSpc>
                <a:spcPts val="1300"/>
              </a:lnSpc>
            </a:pPr>
            <a:r>
              <a:rPr sz="1200" dirty="0">
                <a:latin typeface="Arial"/>
                <a:cs typeface="Arial"/>
              </a:rPr>
              <a:t>Supports:</a:t>
            </a:r>
            <a:r>
              <a:rPr sz="1200" spc="-5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Job,</a:t>
            </a:r>
            <a:r>
              <a:rPr sz="1200" spc="-4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Deployment,</a:t>
            </a:r>
            <a:r>
              <a:rPr sz="1200" spc="-4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ReplicaSet,</a:t>
            </a:r>
            <a:r>
              <a:rPr sz="1200" spc="-4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DaemonSet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8478" y="696686"/>
            <a:ext cx="7974691" cy="364943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64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707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Demo</a:t>
            </a:r>
            <a:r>
              <a:rPr spc="-5" dirty="0"/>
              <a:t> </a:t>
            </a:r>
            <a:r>
              <a:rPr dirty="0"/>
              <a:t>- </a:t>
            </a:r>
            <a:r>
              <a:rPr spc="-10" dirty="0"/>
              <a:t>ReplicaSet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65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339734" y="1293400"/>
            <a:ext cx="2854325" cy="2159000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144780" indent="-132080">
              <a:lnSpc>
                <a:spcPct val="100000"/>
              </a:lnSpc>
              <a:spcBef>
                <a:spcPts val="625"/>
              </a:spcBef>
              <a:buClr>
                <a:srgbClr val="FFAB40"/>
              </a:buClr>
              <a:buChar char="•"/>
              <a:tabLst>
                <a:tab pos="144780" algn="l"/>
              </a:tabLst>
            </a:pP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Manifest</a:t>
            </a:r>
            <a:r>
              <a:rPr sz="200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spc="-20" dirty="0">
                <a:solidFill>
                  <a:srgbClr val="595959"/>
                </a:solidFill>
                <a:latin typeface="Arial"/>
                <a:cs typeface="Arial"/>
              </a:rPr>
              <a:t>file</a:t>
            </a:r>
            <a:endParaRPr sz="2000">
              <a:latin typeface="Arial"/>
              <a:cs typeface="Arial"/>
            </a:endParaRPr>
          </a:p>
          <a:p>
            <a:pPr marL="144145" marR="5080" indent="-132080">
              <a:lnSpc>
                <a:spcPts val="2180"/>
              </a:lnSpc>
              <a:spcBef>
                <a:spcPts val="780"/>
              </a:spcBef>
              <a:buClr>
                <a:srgbClr val="FFAB40"/>
              </a:buClr>
              <a:buChar char="•"/>
              <a:tabLst>
                <a:tab pos="145415" algn="l"/>
              </a:tabLst>
            </a:pP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Deploy</a:t>
            </a:r>
            <a:r>
              <a:rPr sz="2000" spc="-6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app</a:t>
            </a:r>
            <a:r>
              <a:rPr sz="2000" spc="-6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using</a:t>
            </a:r>
            <a:r>
              <a:rPr sz="2000" spc="-6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595959"/>
                </a:solidFill>
                <a:latin typeface="Arial"/>
                <a:cs typeface="Arial"/>
              </a:rPr>
              <a:t>RS 	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Display</a:t>
            </a:r>
            <a:r>
              <a:rPr sz="2000" spc="-8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sz="2000" spc="-7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validate</a:t>
            </a:r>
            <a:r>
              <a:rPr sz="2000" spc="-7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595959"/>
                </a:solidFill>
                <a:latin typeface="Arial"/>
                <a:cs typeface="Arial"/>
              </a:rPr>
              <a:t>RS</a:t>
            </a:r>
            <a:endParaRPr sz="2000">
              <a:latin typeface="Arial"/>
              <a:cs typeface="Arial"/>
            </a:endParaRPr>
          </a:p>
          <a:p>
            <a:pPr marL="144780" indent="-132080">
              <a:lnSpc>
                <a:spcPct val="100000"/>
              </a:lnSpc>
              <a:spcBef>
                <a:spcPts val="484"/>
              </a:spcBef>
              <a:buClr>
                <a:srgbClr val="FFAB40"/>
              </a:buClr>
              <a:buChar char="•"/>
              <a:tabLst>
                <a:tab pos="144780" algn="l"/>
              </a:tabLst>
            </a:pPr>
            <a:r>
              <a:rPr sz="2000" spc="-50" dirty="0">
                <a:solidFill>
                  <a:srgbClr val="595959"/>
                </a:solidFill>
                <a:latin typeface="Arial"/>
                <a:cs typeface="Arial"/>
              </a:rPr>
              <a:t>Test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–</a:t>
            </a:r>
            <a:r>
              <a:rPr sz="2000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Node</a:t>
            </a:r>
            <a:r>
              <a:rPr sz="2000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Arial"/>
                <a:cs typeface="Arial"/>
              </a:rPr>
              <a:t>Fails</a:t>
            </a:r>
            <a:endParaRPr sz="2000">
              <a:latin typeface="Arial"/>
              <a:cs typeface="Arial"/>
            </a:endParaRPr>
          </a:p>
          <a:p>
            <a:pPr marL="144780" indent="-132080">
              <a:lnSpc>
                <a:spcPct val="100000"/>
              </a:lnSpc>
              <a:spcBef>
                <a:spcPts val="525"/>
              </a:spcBef>
              <a:buClr>
                <a:srgbClr val="FFAB40"/>
              </a:buClr>
              <a:buChar char="•"/>
              <a:tabLst>
                <a:tab pos="144780" algn="l"/>
              </a:tabLst>
            </a:pPr>
            <a:r>
              <a:rPr sz="2000" spc="-50" dirty="0">
                <a:solidFill>
                  <a:srgbClr val="595959"/>
                </a:solidFill>
                <a:latin typeface="Arial"/>
                <a:cs typeface="Arial"/>
              </a:rPr>
              <a:t>Test</a:t>
            </a:r>
            <a:r>
              <a:rPr sz="2000" spc="-5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–</a:t>
            </a:r>
            <a:r>
              <a:rPr sz="2000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Scale</a:t>
            </a:r>
            <a:r>
              <a:rPr sz="2000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595959"/>
                </a:solidFill>
                <a:latin typeface="Arial"/>
                <a:cs typeface="Arial"/>
              </a:rPr>
              <a:t>Up</a:t>
            </a:r>
            <a:endParaRPr sz="2000">
              <a:latin typeface="Arial"/>
              <a:cs typeface="Arial"/>
            </a:endParaRPr>
          </a:p>
          <a:p>
            <a:pPr marL="144780" indent="-132080">
              <a:lnSpc>
                <a:spcPct val="100000"/>
              </a:lnSpc>
              <a:spcBef>
                <a:spcPts val="525"/>
              </a:spcBef>
              <a:buClr>
                <a:srgbClr val="FFAB40"/>
              </a:buClr>
              <a:buChar char="•"/>
              <a:tabLst>
                <a:tab pos="144780" algn="l"/>
              </a:tabLst>
            </a:pPr>
            <a:r>
              <a:rPr sz="2000" spc="-50" dirty="0">
                <a:solidFill>
                  <a:srgbClr val="595959"/>
                </a:solidFill>
                <a:latin typeface="Arial"/>
                <a:cs typeface="Arial"/>
              </a:rPr>
              <a:t>Test</a:t>
            </a:r>
            <a:r>
              <a:rPr sz="2000" spc="-5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–</a:t>
            </a:r>
            <a:r>
              <a:rPr sz="2000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Scale</a:t>
            </a:r>
            <a:r>
              <a:rPr sz="2000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spc="-20" dirty="0">
                <a:solidFill>
                  <a:srgbClr val="595959"/>
                </a:solidFill>
                <a:latin typeface="Arial"/>
                <a:cs typeface="Arial"/>
              </a:rPr>
              <a:t>Down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32706" y="988382"/>
            <a:ext cx="1905249" cy="391077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707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ReplicaSet</a:t>
            </a:r>
            <a:r>
              <a:rPr spc="5" dirty="0"/>
              <a:t> </a:t>
            </a:r>
            <a:r>
              <a:rPr dirty="0"/>
              <a:t>Manifest</a:t>
            </a:r>
            <a:r>
              <a:rPr spc="15" dirty="0"/>
              <a:t> </a:t>
            </a:r>
            <a:r>
              <a:rPr spc="-20" dirty="0"/>
              <a:t>File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66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/>
          <p:nvPr/>
        </p:nvSpPr>
        <p:spPr>
          <a:xfrm>
            <a:off x="301625" y="83134"/>
            <a:ext cx="3805554" cy="4648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850" dirty="0">
                <a:solidFill>
                  <a:srgbClr val="FFAB40"/>
                </a:solidFill>
                <a:latin typeface="Arial"/>
                <a:cs typeface="Arial"/>
              </a:rPr>
              <a:t>Creating</a:t>
            </a:r>
            <a:r>
              <a:rPr sz="2850" spc="-15" dirty="0">
                <a:solidFill>
                  <a:srgbClr val="FFAB40"/>
                </a:solidFill>
                <a:latin typeface="Arial"/>
                <a:cs typeface="Arial"/>
              </a:rPr>
              <a:t> </a:t>
            </a:r>
            <a:r>
              <a:rPr sz="2850" dirty="0">
                <a:solidFill>
                  <a:srgbClr val="FFAB40"/>
                </a:solidFill>
                <a:latin typeface="Arial"/>
                <a:cs typeface="Arial"/>
              </a:rPr>
              <a:t>Nginx-rs</a:t>
            </a:r>
            <a:r>
              <a:rPr sz="2850" spc="-10" dirty="0">
                <a:solidFill>
                  <a:srgbClr val="FFAB40"/>
                </a:solidFill>
                <a:latin typeface="Arial"/>
                <a:cs typeface="Arial"/>
              </a:rPr>
              <a:t> </a:t>
            </a:r>
            <a:r>
              <a:rPr sz="2850" spc="-20" dirty="0">
                <a:solidFill>
                  <a:srgbClr val="FFAB40"/>
                </a:solidFill>
                <a:latin typeface="Arial"/>
                <a:cs typeface="Arial"/>
              </a:rPr>
              <a:t>Pods</a:t>
            </a:r>
            <a:endParaRPr sz="285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7023" y="1102706"/>
            <a:ext cx="5693662" cy="103978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01625" y="623522"/>
            <a:ext cx="378841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$kubectl</a:t>
            </a:r>
            <a:r>
              <a:rPr sz="21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create</a:t>
            </a:r>
            <a:r>
              <a:rPr sz="21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spc="-10" dirty="0">
                <a:solidFill>
                  <a:srgbClr val="595959"/>
                </a:solidFill>
                <a:latin typeface="Arial"/>
                <a:cs typeface="Arial"/>
              </a:rPr>
              <a:t>–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f</a:t>
            </a:r>
            <a:r>
              <a:rPr sz="2100" spc="-10" dirty="0">
                <a:solidFill>
                  <a:srgbClr val="595959"/>
                </a:solidFill>
                <a:latin typeface="Arial"/>
                <a:cs typeface="Arial"/>
              </a:rPr>
              <a:t> nginx-rs.yaml</a:t>
            </a:r>
            <a:endParaRPr sz="21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7023" y="2282854"/>
            <a:ext cx="7351936" cy="91754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7023" y="3513121"/>
            <a:ext cx="7974846" cy="1095163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67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7369" y="1370855"/>
            <a:ext cx="6734630" cy="317587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68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707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Scaling</a:t>
            </a:r>
            <a:r>
              <a:rPr spc="-5" dirty="0"/>
              <a:t> </a:t>
            </a:r>
            <a:r>
              <a:rPr dirty="0"/>
              <a:t>the</a:t>
            </a:r>
            <a:r>
              <a:rPr spc="5" dirty="0"/>
              <a:t> </a:t>
            </a:r>
            <a:r>
              <a:rPr dirty="0"/>
              <a:t>Nginx</a:t>
            </a:r>
            <a:r>
              <a:rPr spc="5" dirty="0"/>
              <a:t> </a:t>
            </a:r>
            <a:r>
              <a:rPr spc="-10" dirty="0"/>
              <a:t>Service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1087" y="933295"/>
            <a:ext cx="8395901" cy="66327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69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2730" cy="5143500"/>
            <a:chOff x="0" y="0"/>
            <a:chExt cx="9142730" cy="5143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54" y="0"/>
              <a:ext cx="9141290" cy="410870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4175999" cy="514349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193024" y="4326076"/>
              <a:ext cx="722375" cy="604028"/>
            </a:xfrm>
            <a:prstGeom prst="rect">
              <a:avLst/>
            </a:prstGeom>
          </p:spPr>
        </p:pic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758825" y="1328441"/>
            <a:ext cx="273240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10" dirty="0">
                <a:solidFill>
                  <a:srgbClr val="FFFFFF"/>
                </a:solidFill>
              </a:rPr>
              <a:t>Deployment</a:t>
            </a:r>
            <a:endParaRPr sz="4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01625" y="249500"/>
            <a:ext cx="1974214" cy="4648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Deployment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63311" y="1039512"/>
            <a:ext cx="8164830" cy="27857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683C7"/>
                </a:solidFill>
                <a:latin typeface="Arial"/>
                <a:cs typeface="Arial"/>
              </a:rPr>
              <a:t>A</a:t>
            </a:r>
            <a:r>
              <a:rPr sz="1800" spc="-125" dirty="0">
                <a:solidFill>
                  <a:srgbClr val="0683C7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683C7"/>
                </a:solidFill>
                <a:latin typeface="Arial"/>
                <a:cs typeface="Arial"/>
              </a:rPr>
              <a:t>Deployment</a:t>
            </a:r>
            <a:r>
              <a:rPr sz="1800" spc="-20" dirty="0">
                <a:solidFill>
                  <a:srgbClr val="0683C7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683C7"/>
                </a:solidFill>
                <a:latin typeface="Arial"/>
                <a:cs typeface="Arial"/>
              </a:rPr>
              <a:t>controller</a:t>
            </a:r>
            <a:r>
              <a:rPr sz="1800" spc="-15" dirty="0">
                <a:solidFill>
                  <a:srgbClr val="0683C7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683C7"/>
                </a:solidFill>
                <a:latin typeface="Arial"/>
                <a:cs typeface="Arial"/>
              </a:rPr>
              <a:t>provides</a:t>
            </a:r>
            <a:r>
              <a:rPr sz="1800" spc="-20" dirty="0">
                <a:solidFill>
                  <a:srgbClr val="0683C7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683C7"/>
                </a:solidFill>
                <a:latin typeface="Arial"/>
                <a:cs typeface="Arial"/>
              </a:rPr>
              <a:t>declarative</a:t>
            </a:r>
            <a:r>
              <a:rPr sz="1800" spc="-15" dirty="0">
                <a:solidFill>
                  <a:srgbClr val="0683C7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683C7"/>
                </a:solidFill>
                <a:latin typeface="Arial"/>
                <a:cs typeface="Arial"/>
              </a:rPr>
              <a:t>updates</a:t>
            </a:r>
            <a:r>
              <a:rPr sz="1800" spc="-15" dirty="0">
                <a:solidFill>
                  <a:srgbClr val="0683C7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683C7"/>
                </a:solidFill>
                <a:latin typeface="Arial"/>
                <a:cs typeface="Arial"/>
              </a:rPr>
              <a:t>for</a:t>
            </a:r>
            <a:r>
              <a:rPr sz="1800" spc="-20" dirty="0">
                <a:solidFill>
                  <a:srgbClr val="0683C7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683C7"/>
                </a:solidFill>
                <a:latin typeface="Arial"/>
                <a:cs typeface="Arial"/>
              </a:rPr>
              <a:t>Pods</a:t>
            </a:r>
            <a:r>
              <a:rPr sz="1800" spc="-15" dirty="0">
                <a:solidFill>
                  <a:srgbClr val="0683C7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683C7"/>
                </a:solidFill>
                <a:latin typeface="Arial"/>
                <a:cs typeface="Arial"/>
              </a:rPr>
              <a:t>and</a:t>
            </a:r>
            <a:r>
              <a:rPr sz="1800" spc="-15" dirty="0">
                <a:solidFill>
                  <a:srgbClr val="0683C7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0683C7"/>
                </a:solidFill>
                <a:latin typeface="Arial"/>
                <a:cs typeface="Arial"/>
              </a:rPr>
              <a:t>ReplicaSets.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1800">
              <a:latin typeface="Arial"/>
              <a:cs typeface="Arial"/>
            </a:endParaRPr>
          </a:p>
          <a:p>
            <a:pPr marL="12700" marR="5080">
              <a:lnSpc>
                <a:spcPct val="100699"/>
              </a:lnSpc>
            </a:pPr>
            <a:r>
              <a:rPr sz="1800" spc="-35" dirty="0">
                <a:solidFill>
                  <a:srgbClr val="0683C7"/>
                </a:solidFill>
                <a:latin typeface="Arial"/>
                <a:cs typeface="Arial"/>
              </a:rPr>
              <a:t>You</a:t>
            </a:r>
            <a:r>
              <a:rPr sz="1800" spc="-40" dirty="0">
                <a:solidFill>
                  <a:srgbClr val="0683C7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683C7"/>
                </a:solidFill>
                <a:latin typeface="Arial"/>
                <a:cs typeface="Arial"/>
              </a:rPr>
              <a:t>describe</a:t>
            </a:r>
            <a:r>
              <a:rPr sz="1800" spc="-30" dirty="0">
                <a:solidFill>
                  <a:srgbClr val="0683C7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683C7"/>
                </a:solidFill>
                <a:latin typeface="Arial"/>
                <a:cs typeface="Arial"/>
              </a:rPr>
              <a:t>a</a:t>
            </a:r>
            <a:r>
              <a:rPr sz="1800" spc="-30" dirty="0">
                <a:solidFill>
                  <a:srgbClr val="0683C7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683C7"/>
                </a:solidFill>
                <a:latin typeface="Arial"/>
                <a:cs typeface="Arial"/>
              </a:rPr>
              <a:t>desired</a:t>
            </a:r>
            <a:r>
              <a:rPr sz="1800" spc="-30" dirty="0">
                <a:solidFill>
                  <a:srgbClr val="0683C7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683C7"/>
                </a:solidFill>
                <a:latin typeface="Arial"/>
                <a:cs typeface="Arial"/>
              </a:rPr>
              <a:t>state</a:t>
            </a:r>
            <a:r>
              <a:rPr sz="1800" spc="-30" dirty="0">
                <a:solidFill>
                  <a:srgbClr val="0683C7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683C7"/>
                </a:solidFill>
                <a:latin typeface="Arial"/>
                <a:cs typeface="Arial"/>
              </a:rPr>
              <a:t>in</a:t>
            </a:r>
            <a:r>
              <a:rPr sz="1800" spc="-30" dirty="0">
                <a:solidFill>
                  <a:srgbClr val="0683C7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683C7"/>
                </a:solidFill>
                <a:latin typeface="Arial"/>
                <a:cs typeface="Arial"/>
              </a:rPr>
              <a:t>a</a:t>
            </a:r>
            <a:r>
              <a:rPr sz="1800" spc="-30" dirty="0">
                <a:solidFill>
                  <a:srgbClr val="0683C7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683C7"/>
                </a:solidFill>
                <a:latin typeface="Arial"/>
                <a:cs typeface="Arial"/>
              </a:rPr>
              <a:t>Deployment,</a:t>
            </a:r>
            <a:r>
              <a:rPr sz="1800" spc="-30" dirty="0">
                <a:solidFill>
                  <a:srgbClr val="0683C7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683C7"/>
                </a:solidFill>
                <a:latin typeface="Arial"/>
                <a:cs typeface="Arial"/>
              </a:rPr>
              <a:t>and</a:t>
            </a:r>
            <a:r>
              <a:rPr sz="1800" spc="-30" dirty="0">
                <a:solidFill>
                  <a:srgbClr val="0683C7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683C7"/>
                </a:solidFill>
                <a:latin typeface="Arial"/>
                <a:cs typeface="Arial"/>
              </a:rPr>
              <a:t>the</a:t>
            </a:r>
            <a:r>
              <a:rPr sz="1800" spc="-30" dirty="0">
                <a:solidFill>
                  <a:srgbClr val="0683C7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683C7"/>
                </a:solidFill>
                <a:latin typeface="Arial"/>
                <a:cs typeface="Arial"/>
              </a:rPr>
              <a:t>Deployment</a:t>
            </a:r>
            <a:r>
              <a:rPr sz="1800" spc="-30" dirty="0">
                <a:solidFill>
                  <a:srgbClr val="0683C7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0683C7"/>
                </a:solidFill>
                <a:latin typeface="Arial"/>
                <a:cs typeface="Arial"/>
              </a:rPr>
              <a:t>controller </a:t>
            </a:r>
            <a:r>
              <a:rPr sz="1800" dirty="0">
                <a:solidFill>
                  <a:srgbClr val="0683C7"/>
                </a:solidFill>
                <a:latin typeface="Arial"/>
                <a:cs typeface="Arial"/>
              </a:rPr>
              <a:t>changes</a:t>
            </a:r>
            <a:r>
              <a:rPr sz="1800" spc="-25" dirty="0">
                <a:solidFill>
                  <a:srgbClr val="0683C7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683C7"/>
                </a:solidFill>
                <a:latin typeface="Arial"/>
                <a:cs typeface="Arial"/>
              </a:rPr>
              <a:t>the</a:t>
            </a:r>
            <a:r>
              <a:rPr sz="1800" spc="-25" dirty="0">
                <a:solidFill>
                  <a:srgbClr val="0683C7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683C7"/>
                </a:solidFill>
                <a:latin typeface="Arial"/>
                <a:cs typeface="Arial"/>
              </a:rPr>
              <a:t>actual</a:t>
            </a:r>
            <a:r>
              <a:rPr sz="1800" spc="-25" dirty="0">
                <a:solidFill>
                  <a:srgbClr val="0683C7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683C7"/>
                </a:solidFill>
                <a:latin typeface="Arial"/>
                <a:cs typeface="Arial"/>
              </a:rPr>
              <a:t>state</a:t>
            </a:r>
            <a:r>
              <a:rPr sz="1800" spc="-25" dirty="0">
                <a:solidFill>
                  <a:srgbClr val="0683C7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683C7"/>
                </a:solidFill>
                <a:latin typeface="Arial"/>
                <a:cs typeface="Arial"/>
              </a:rPr>
              <a:t>to</a:t>
            </a:r>
            <a:r>
              <a:rPr sz="1800" spc="-25" dirty="0">
                <a:solidFill>
                  <a:srgbClr val="0683C7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683C7"/>
                </a:solidFill>
                <a:latin typeface="Arial"/>
                <a:cs typeface="Arial"/>
              </a:rPr>
              <a:t>the</a:t>
            </a:r>
            <a:r>
              <a:rPr sz="1800" spc="-25" dirty="0">
                <a:solidFill>
                  <a:srgbClr val="0683C7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683C7"/>
                </a:solidFill>
                <a:latin typeface="Arial"/>
                <a:cs typeface="Arial"/>
              </a:rPr>
              <a:t>desired</a:t>
            </a:r>
            <a:r>
              <a:rPr sz="1800" spc="-25" dirty="0">
                <a:solidFill>
                  <a:srgbClr val="0683C7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683C7"/>
                </a:solidFill>
                <a:latin typeface="Arial"/>
                <a:cs typeface="Arial"/>
              </a:rPr>
              <a:t>state</a:t>
            </a:r>
            <a:r>
              <a:rPr sz="1800" spc="-25" dirty="0">
                <a:solidFill>
                  <a:srgbClr val="0683C7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683C7"/>
                </a:solidFill>
                <a:latin typeface="Arial"/>
                <a:cs typeface="Arial"/>
              </a:rPr>
              <a:t>at</a:t>
            </a:r>
            <a:r>
              <a:rPr sz="1800" spc="-20" dirty="0">
                <a:solidFill>
                  <a:srgbClr val="0683C7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683C7"/>
                </a:solidFill>
                <a:latin typeface="Arial"/>
                <a:cs typeface="Arial"/>
              </a:rPr>
              <a:t>a</a:t>
            </a:r>
            <a:r>
              <a:rPr sz="1800" spc="-25" dirty="0">
                <a:solidFill>
                  <a:srgbClr val="0683C7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683C7"/>
                </a:solidFill>
                <a:latin typeface="Arial"/>
                <a:cs typeface="Arial"/>
              </a:rPr>
              <a:t>controlled</a:t>
            </a:r>
            <a:r>
              <a:rPr sz="1800" spc="-25" dirty="0">
                <a:solidFill>
                  <a:srgbClr val="0683C7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683C7"/>
                </a:solidFill>
                <a:latin typeface="Arial"/>
                <a:cs typeface="Arial"/>
              </a:rPr>
              <a:t>rate.</a:t>
            </a:r>
            <a:r>
              <a:rPr sz="1800" spc="-60" dirty="0">
                <a:solidFill>
                  <a:srgbClr val="0683C7"/>
                </a:solidFill>
                <a:latin typeface="Arial"/>
                <a:cs typeface="Arial"/>
              </a:rPr>
              <a:t> </a:t>
            </a:r>
            <a:r>
              <a:rPr sz="1800" spc="-35" dirty="0">
                <a:solidFill>
                  <a:srgbClr val="0683C7"/>
                </a:solidFill>
                <a:latin typeface="Arial"/>
                <a:cs typeface="Arial"/>
              </a:rPr>
              <a:t>You</a:t>
            </a:r>
            <a:r>
              <a:rPr sz="1800" spc="-25" dirty="0">
                <a:solidFill>
                  <a:srgbClr val="0683C7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683C7"/>
                </a:solidFill>
                <a:latin typeface="Arial"/>
                <a:cs typeface="Arial"/>
              </a:rPr>
              <a:t>can</a:t>
            </a:r>
            <a:r>
              <a:rPr sz="1800" spc="-20" dirty="0">
                <a:solidFill>
                  <a:srgbClr val="0683C7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0683C7"/>
                </a:solidFill>
                <a:latin typeface="Arial"/>
                <a:cs typeface="Arial"/>
              </a:rPr>
              <a:t>define </a:t>
            </a:r>
            <a:r>
              <a:rPr sz="1800" dirty="0">
                <a:solidFill>
                  <a:srgbClr val="0683C7"/>
                </a:solidFill>
                <a:latin typeface="Arial"/>
                <a:cs typeface="Arial"/>
              </a:rPr>
              <a:t>Deployments</a:t>
            </a:r>
            <a:r>
              <a:rPr sz="1800" spc="-25" dirty="0">
                <a:solidFill>
                  <a:srgbClr val="0683C7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683C7"/>
                </a:solidFill>
                <a:latin typeface="Arial"/>
                <a:cs typeface="Arial"/>
              </a:rPr>
              <a:t>to</a:t>
            </a:r>
            <a:r>
              <a:rPr sz="1800" spc="-20" dirty="0">
                <a:solidFill>
                  <a:srgbClr val="0683C7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683C7"/>
                </a:solidFill>
                <a:latin typeface="Arial"/>
                <a:cs typeface="Arial"/>
              </a:rPr>
              <a:t>create</a:t>
            </a:r>
            <a:r>
              <a:rPr sz="1800" spc="-20" dirty="0">
                <a:solidFill>
                  <a:srgbClr val="0683C7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683C7"/>
                </a:solidFill>
                <a:latin typeface="Arial"/>
                <a:cs typeface="Arial"/>
              </a:rPr>
              <a:t>new</a:t>
            </a:r>
            <a:r>
              <a:rPr sz="1800" spc="-20" dirty="0">
                <a:solidFill>
                  <a:srgbClr val="0683C7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683C7"/>
                </a:solidFill>
                <a:latin typeface="Arial"/>
                <a:cs typeface="Arial"/>
              </a:rPr>
              <a:t>ReplicaSets,</a:t>
            </a:r>
            <a:r>
              <a:rPr sz="1800" spc="-20" dirty="0">
                <a:solidFill>
                  <a:srgbClr val="0683C7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683C7"/>
                </a:solidFill>
                <a:latin typeface="Arial"/>
                <a:cs typeface="Arial"/>
              </a:rPr>
              <a:t>or</a:t>
            </a:r>
            <a:r>
              <a:rPr sz="1800" spc="-25" dirty="0">
                <a:solidFill>
                  <a:srgbClr val="0683C7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683C7"/>
                </a:solidFill>
                <a:latin typeface="Arial"/>
                <a:cs typeface="Arial"/>
              </a:rPr>
              <a:t>to</a:t>
            </a:r>
            <a:r>
              <a:rPr sz="1800" spc="-20" dirty="0">
                <a:solidFill>
                  <a:srgbClr val="0683C7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683C7"/>
                </a:solidFill>
                <a:latin typeface="Arial"/>
                <a:cs typeface="Arial"/>
              </a:rPr>
              <a:t>remove</a:t>
            </a:r>
            <a:r>
              <a:rPr sz="1800" spc="-20" dirty="0">
                <a:solidFill>
                  <a:srgbClr val="0683C7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683C7"/>
                </a:solidFill>
                <a:latin typeface="Arial"/>
                <a:cs typeface="Arial"/>
              </a:rPr>
              <a:t>existing</a:t>
            </a:r>
            <a:r>
              <a:rPr sz="1800" spc="-20" dirty="0">
                <a:solidFill>
                  <a:srgbClr val="0683C7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683C7"/>
                </a:solidFill>
                <a:latin typeface="Arial"/>
                <a:cs typeface="Arial"/>
              </a:rPr>
              <a:t>Deployments</a:t>
            </a:r>
            <a:r>
              <a:rPr sz="1800" spc="-20" dirty="0">
                <a:solidFill>
                  <a:srgbClr val="0683C7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0683C7"/>
                </a:solidFill>
                <a:latin typeface="Arial"/>
                <a:cs typeface="Arial"/>
              </a:rPr>
              <a:t>and </a:t>
            </a:r>
            <a:r>
              <a:rPr sz="1800" dirty="0">
                <a:solidFill>
                  <a:srgbClr val="0683C7"/>
                </a:solidFill>
                <a:latin typeface="Arial"/>
                <a:cs typeface="Arial"/>
              </a:rPr>
              <a:t>adopt</a:t>
            </a:r>
            <a:r>
              <a:rPr sz="1800" spc="-15" dirty="0">
                <a:solidFill>
                  <a:srgbClr val="0683C7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683C7"/>
                </a:solidFill>
                <a:latin typeface="Arial"/>
                <a:cs typeface="Arial"/>
              </a:rPr>
              <a:t>all</a:t>
            </a:r>
            <a:r>
              <a:rPr sz="1800" spc="-15" dirty="0">
                <a:solidFill>
                  <a:srgbClr val="0683C7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683C7"/>
                </a:solidFill>
                <a:latin typeface="Arial"/>
                <a:cs typeface="Arial"/>
              </a:rPr>
              <a:t>their</a:t>
            </a:r>
            <a:r>
              <a:rPr sz="1800" spc="-15" dirty="0">
                <a:solidFill>
                  <a:srgbClr val="0683C7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683C7"/>
                </a:solidFill>
                <a:latin typeface="Arial"/>
                <a:cs typeface="Arial"/>
              </a:rPr>
              <a:t>resources</a:t>
            </a:r>
            <a:r>
              <a:rPr sz="1800" spc="-15" dirty="0">
                <a:solidFill>
                  <a:srgbClr val="0683C7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683C7"/>
                </a:solidFill>
                <a:latin typeface="Arial"/>
                <a:cs typeface="Arial"/>
              </a:rPr>
              <a:t>with</a:t>
            </a:r>
            <a:r>
              <a:rPr sz="1800" spc="-15" dirty="0">
                <a:solidFill>
                  <a:srgbClr val="0683C7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683C7"/>
                </a:solidFill>
                <a:latin typeface="Arial"/>
                <a:cs typeface="Arial"/>
              </a:rPr>
              <a:t>new</a:t>
            </a:r>
            <a:r>
              <a:rPr sz="1800" spc="-10" dirty="0">
                <a:solidFill>
                  <a:srgbClr val="0683C7"/>
                </a:solidFill>
                <a:latin typeface="Arial"/>
                <a:cs typeface="Arial"/>
              </a:rPr>
              <a:t> Deployments.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25"/>
              </a:spcBef>
            </a:pP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0683C7"/>
                </a:solidFill>
                <a:latin typeface="Arial"/>
                <a:cs typeface="Arial"/>
              </a:rPr>
              <a:t>How</a:t>
            </a:r>
            <a:r>
              <a:rPr sz="1800" spc="-35" dirty="0">
                <a:solidFill>
                  <a:srgbClr val="0683C7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683C7"/>
                </a:solidFill>
                <a:latin typeface="Arial"/>
                <a:cs typeface="Arial"/>
              </a:rPr>
              <a:t>is</a:t>
            </a:r>
            <a:r>
              <a:rPr sz="1800" spc="-20" dirty="0">
                <a:solidFill>
                  <a:srgbClr val="0683C7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683C7"/>
                </a:solidFill>
                <a:latin typeface="Arial"/>
                <a:cs typeface="Arial"/>
              </a:rPr>
              <a:t>it</a:t>
            </a:r>
            <a:r>
              <a:rPr sz="1800" spc="-25" dirty="0">
                <a:solidFill>
                  <a:srgbClr val="0683C7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683C7"/>
                </a:solidFill>
                <a:latin typeface="Arial"/>
                <a:cs typeface="Arial"/>
              </a:rPr>
              <a:t>different</a:t>
            </a:r>
            <a:r>
              <a:rPr sz="1800" spc="-20" dirty="0">
                <a:solidFill>
                  <a:srgbClr val="0683C7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683C7"/>
                </a:solidFill>
                <a:latin typeface="Arial"/>
                <a:cs typeface="Arial"/>
              </a:rPr>
              <a:t>from</a:t>
            </a:r>
            <a:r>
              <a:rPr sz="1800" spc="-20" dirty="0">
                <a:solidFill>
                  <a:srgbClr val="0683C7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0683C7"/>
                </a:solidFill>
                <a:latin typeface="Arial"/>
                <a:cs typeface="Arial"/>
              </a:rPr>
              <a:t>Replicaset?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dirty="0">
                <a:solidFill>
                  <a:srgbClr val="0683C7"/>
                </a:solidFill>
                <a:latin typeface="Arial"/>
                <a:cs typeface="Arial"/>
              </a:rPr>
              <a:t>ReplicaSet</a:t>
            </a:r>
            <a:r>
              <a:rPr sz="1800" spc="-35" dirty="0">
                <a:solidFill>
                  <a:srgbClr val="0683C7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683C7"/>
                </a:solidFill>
                <a:latin typeface="Arial"/>
                <a:cs typeface="Arial"/>
              </a:rPr>
              <a:t>doesn’t</a:t>
            </a:r>
            <a:r>
              <a:rPr sz="1800" spc="-20" dirty="0">
                <a:solidFill>
                  <a:srgbClr val="0683C7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683C7"/>
                </a:solidFill>
                <a:latin typeface="Arial"/>
                <a:cs typeface="Arial"/>
              </a:rPr>
              <a:t>provide</a:t>
            </a:r>
            <a:r>
              <a:rPr sz="1800" spc="-25" dirty="0">
                <a:solidFill>
                  <a:srgbClr val="0683C7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683C7"/>
                </a:solidFill>
                <a:latin typeface="Arial"/>
                <a:cs typeface="Arial"/>
              </a:rPr>
              <a:t>features</a:t>
            </a:r>
            <a:r>
              <a:rPr sz="1800" spc="-20" dirty="0">
                <a:solidFill>
                  <a:srgbClr val="0683C7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683C7"/>
                </a:solidFill>
                <a:latin typeface="Arial"/>
                <a:cs typeface="Arial"/>
              </a:rPr>
              <a:t>like</a:t>
            </a:r>
            <a:r>
              <a:rPr sz="1800" spc="-20" dirty="0">
                <a:solidFill>
                  <a:srgbClr val="0683C7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683C7"/>
                </a:solidFill>
                <a:latin typeface="Arial"/>
                <a:cs typeface="Arial"/>
              </a:rPr>
              <a:t>updates</a:t>
            </a:r>
            <a:r>
              <a:rPr sz="1800" spc="-25" dirty="0">
                <a:solidFill>
                  <a:srgbClr val="0683C7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683C7"/>
                </a:solidFill>
                <a:latin typeface="Arial"/>
                <a:cs typeface="Arial"/>
              </a:rPr>
              <a:t>&amp;</a:t>
            </a:r>
            <a:r>
              <a:rPr sz="1800" spc="-20" dirty="0">
                <a:solidFill>
                  <a:srgbClr val="0683C7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683C7"/>
                </a:solidFill>
                <a:latin typeface="Arial"/>
                <a:cs typeface="Arial"/>
              </a:rPr>
              <a:t>roll</a:t>
            </a:r>
            <a:r>
              <a:rPr sz="1800" spc="-20" dirty="0">
                <a:solidFill>
                  <a:srgbClr val="0683C7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0683C7"/>
                </a:solidFill>
                <a:latin typeface="Arial"/>
                <a:cs typeface="Arial"/>
              </a:rPr>
              <a:t>backs.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01625" y="249500"/>
            <a:ext cx="5588635" cy="4648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A</a:t>
            </a:r>
            <a:r>
              <a:rPr spc="-160" dirty="0"/>
              <a:t> </a:t>
            </a:r>
            <a:r>
              <a:rPr dirty="0"/>
              <a:t>Single</a:t>
            </a:r>
            <a:r>
              <a:rPr spc="15" dirty="0"/>
              <a:t> </a:t>
            </a:r>
            <a:r>
              <a:rPr dirty="0"/>
              <a:t>Deployment</a:t>
            </a:r>
            <a:r>
              <a:rPr spc="5" dirty="0"/>
              <a:t> </a:t>
            </a:r>
            <a:r>
              <a:rPr dirty="0"/>
              <a:t>Manifest</a:t>
            </a:r>
            <a:r>
              <a:rPr spc="5" dirty="0"/>
              <a:t> </a:t>
            </a:r>
            <a:r>
              <a:rPr spc="-20" dirty="0"/>
              <a:t>File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33023" y="1011330"/>
            <a:ext cx="2890886" cy="258898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028899" y="1950262"/>
            <a:ext cx="3733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latin typeface="Arial"/>
                <a:cs typeface="Arial"/>
              </a:rPr>
              <a:t>Pods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880304" y="875713"/>
            <a:ext cx="8375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"/>
                <a:cs typeface="Arial"/>
              </a:rPr>
              <a:t>Deployment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892173" y="1338291"/>
            <a:ext cx="7613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"/>
                <a:cs typeface="Arial"/>
              </a:rPr>
              <a:t>ReplicaSet</a:t>
            </a:r>
            <a:endParaRPr sz="12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9595" y="1463497"/>
            <a:ext cx="3314065" cy="57594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85"/>
              </a:spcBef>
            </a:pPr>
            <a:r>
              <a:rPr sz="1800" dirty="0">
                <a:latin typeface="Arial"/>
                <a:cs typeface="Arial"/>
              </a:rPr>
              <a:t>Do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we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need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to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create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3</a:t>
            </a:r>
            <a:r>
              <a:rPr sz="1800" spc="-10" dirty="0">
                <a:latin typeface="Arial"/>
                <a:cs typeface="Arial"/>
              </a:rPr>
              <a:t> different </a:t>
            </a:r>
            <a:r>
              <a:rPr sz="1800" dirty="0">
                <a:latin typeface="Arial"/>
                <a:cs typeface="Arial"/>
              </a:rPr>
              <a:t>manifest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files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for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each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on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these?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99595" y="2568398"/>
            <a:ext cx="3601085" cy="852169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85"/>
              </a:spcBef>
            </a:pPr>
            <a:r>
              <a:rPr sz="1800" dirty="0">
                <a:latin typeface="Arial"/>
                <a:cs typeface="Arial"/>
              </a:rPr>
              <a:t>Answer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is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“No”.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We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can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create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all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50" dirty="0">
                <a:latin typeface="Arial"/>
                <a:cs typeface="Arial"/>
              </a:rPr>
              <a:t>3 </a:t>
            </a:r>
            <a:r>
              <a:rPr sz="1800" dirty="0">
                <a:latin typeface="Arial"/>
                <a:cs typeface="Arial"/>
              </a:rPr>
              <a:t>different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objects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using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single </a:t>
            </a:r>
            <a:r>
              <a:rPr sz="1800" dirty="0">
                <a:latin typeface="Arial"/>
                <a:cs typeface="Arial"/>
              </a:rPr>
              <a:t>Deployment</a:t>
            </a:r>
            <a:r>
              <a:rPr sz="1800" spc="-4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manifest</a:t>
            </a:r>
            <a:r>
              <a:rPr sz="1800" spc="-4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file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1625" y="1360075"/>
            <a:ext cx="2242820" cy="3629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2880" indent="-132080">
              <a:lnSpc>
                <a:spcPct val="100000"/>
              </a:lnSpc>
              <a:spcBef>
                <a:spcPts val="100"/>
              </a:spcBef>
              <a:buClr>
                <a:srgbClr val="FFAB40"/>
              </a:buClr>
              <a:buChar char="•"/>
              <a:tabLst>
                <a:tab pos="182880" algn="l"/>
              </a:tabLst>
            </a:pP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Multiple</a:t>
            </a:r>
            <a:r>
              <a:rPr sz="2000" spc="-1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Arial"/>
                <a:cs typeface="Arial"/>
              </a:rPr>
              <a:t>Replicas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150"/>
              </a:spcBef>
              <a:buClr>
                <a:srgbClr val="FFAB40"/>
              </a:buClr>
              <a:buFont typeface="Arial"/>
              <a:buChar char="•"/>
            </a:pPr>
            <a:endParaRPr sz="2000">
              <a:latin typeface="Arial"/>
              <a:cs typeface="Arial"/>
            </a:endParaRPr>
          </a:p>
          <a:p>
            <a:pPr marL="252729" indent="-201930">
              <a:lnSpc>
                <a:spcPct val="100000"/>
              </a:lnSpc>
              <a:buClr>
                <a:srgbClr val="FFAB40"/>
              </a:buClr>
              <a:buChar char="•"/>
              <a:tabLst>
                <a:tab pos="252729" algn="l"/>
              </a:tabLst>
            </a:pPr>
            <a:r>
              <a:rPr sz="2000" spc="-10" dirty="0">
                <a:solidFill>
                  <a:srgbClr val="595959"/>
                </a:solidFill>
                <a:latin typeface="Arial"/>
                <a:cs typeface="Arial"/>
              </a:rPr>
              <a:t>Upgrade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150"/>
              </a:spcBef>
              <a:buClr>
                <a:srgbClr val="FFAB40"/>
              </a:buClr>
              <a:buFont typeface="Arial"/>
              <a:buChar char="•"/>
            </a:pPr>
            <a:endParaRPr sz="2000">
              <a:latin typeface="Arial"/>
              <a:cs typeface="Arial"/>
            </a:endParaRPr>
          </a:p>
          <a:p>
            <a:pPr marL="182880" indent="-132080">
              <a:lnSpc>
                <a:spcPct val="100000"/>
              </a:lnSpc>
              <a:buClr>
                <a:srgbClr val="FFAB40"/>
              </a:buClr>
              <a:buChar char="•"/>
              <a:tabLst>
                <a:tab pos="182880" algn="l"/>
              </a:tabLst>
            </a:pPr>
            <a:r>
              <a:rPr sz="2000" spc="-10" dirty="0">
                <a:solidFill>
                  <a:srgbClr val="595959"/>
                </a:solidFill>
                <a:latin typeface="Arial"/>
                <a:cs typeface="Arial"/>
              </a:rPr>
              <a:t>Rollback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150"/>
              </a:spcBef>
              <a:buClr>
                <a:srgbClr val="FFAB40"/>
              </a:buClr>
              <a:buFont typeface="Arial"/>
              <a:buChar char="•"/>
            </a:pPr>
            <a:endParaRPr sz="2000">
              <a:latin typeface="Arial"/>
              <a:cs typeface="Arial"/>
            </a:endParaRPr>
          </a:p>
          <a:p>
            <a:pPr marL="182880" indent="-132080">
              <a:lnSpc>
                <a:spcPct val="100000"/>
              </a:lnSpc>
              <a:buClr>
                <a:srgbClr val="FFAB40"/>
              </a:buClr>
              <a:buChar char="•"/>
              <a:tabLst>
                <a:tab pos="182880" algn="l"/>
              </a:tabLst>
            </a:pP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Scale</a:t>
            </a:r>
            <a:r>
              <a:rPr sz="200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Up</a:t>
            </a:r>
            <a:r>
              <a:rPr sz="200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or</a:t>
            </a:r>
            <a:r>
              <a:rPr sz="200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spc="-20" dirty="0">
                <a:solidFill>
                  <a:srgbClr val="595959"/>
                </a:solidFill>
                <a:latin typeface="Arial"/>
                <a:cs typeface="Arial"/>
              </a:rPr>
              <a:t>Down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150"/>
              </a:spcBef>
              <a:buClr>
                <a:srgbClr val="FFAB40"/>
              </a:buClr>
              <a:buFont typeface="Arial"/>
              <a:buChar char="•"/>
            </a:pPr>
            <a:endParaRPr sz="2000">
              <a:latin typeface="Arial"/>
              <a:cs typeface="Arial"/>
            </a:endParaRPr>
          </a:p>
          <a:p>
            <a:pPr marL="182880" indent="-132080">
              <a:lnSpc>
                <a:spcPct val="100000"/>
              </a:lnSpc>
              <a:buClr>
                <a:srgbClr val="FFAB40"/>
              </a:buClr>
              <a:buChar char="•"/>
              <a:tabLst>
                <a:tab pos="182880" algn="l"/>
              </a:tabLst>
            </a:pP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Pause</a:t>
            </a:r>
            <a:r>
              <a:rPr sz="2000" spc="-5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&amp;</a:t>
            </a:r>
            <a:r>
              <a:rPr sz="2000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Arial"/>
                <a:cs typeface="Arial"/>
              </a:rPr>
              <a:t>Resume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75"/>
              </a:spcBef>
            </a:pPr>
            <a:r>
              <a:rPr sz="1000" spc="-25" dirty="0">
                <a:solidFill>
                  <a:srgbClr val="FFAB40"/>
                </a:solidFill>
                <a:latin typeface="Arial"/>
                <a:cs typeface="Arial"/>
              </a:rPr>
              <a:t>74</a:t>
            </a:r>
            <a:endParaRPr sz="100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707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Features</a:t>
            </a:r>
            <a:r>
              <a:rPr spc="70" dirty="0"/>
              <a:t> </a:t>
            </a:r>
            <a:r>
              <a:rPr dirty="0"/>
              <a:t>of</a:t>
            </a:r>
            <a:r>
              <a:rPr spc="65" dirty="0"/>
              <a:t> </a:t>
            </a:r>
            <a:r>
              <a:rPr spc="-10" dirty="0"/>
              <a:t>Deployment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707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Deployment</a:t>
            </a:r>
            <a:r>
              <a:rPr spc="-110" dirty="0"/>
              <a:t> </a:t>
            </a:r>
            <a:r>
              <a:rPr dirty="0"/>
              <a:t>Types</a:t>
            </a:r>
            <a:r>
              <a:rPr spc="-55" dirty="0"/>
              <a:t> </a:t>
            </a:r>
            <a:r>
              <a:rPr dirty="0"/>
              <a:t>-</a:t>
            </a:r>
            <a:r>
              <a:rPr spc="-55" dirty="0"/>
              <a:t> </a:t>
            </a:r>
            <a:r>
              <a:rPr spc="-10" dirty="0"/>
              <a:t>Recreate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1625" y="1170142"/>
            <a:ext cx="1447165" cy="8521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51460">
              <a:lnSpc>
                <a:spcPct val="100000"/>
              </a:lnSpc>
              <a:spcBef>
                <a:spcPts val="100"/>
              </a:spcBef>
              <a:buChar char="•"/>
              <a:tabLst>
                <a:tab pos="297815" algn="l"/>
              </a:tabLst>
            </a:pPr>
            <a:r>
              <a:rPr sz="1800" spc="-10" dirty="0">
                <a:latin typeface="Arial"/>
                <a:cs typeface="Arial"/>
              </a:rPr>
              <a:t>Recreate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How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it</a:t>
            </a:r>
            <a:r>
              <a:rPr sz="1800" spc="-10" dirty="0">
                <a:latin typeface="Arial"/>
                <a:cs typeface="Arial"/>
              </a:rPr>
              <a:t> works?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1625" y="2278090"/>
            <a:ext cx="4822190" cy="38925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 marR="5080">
              <a:lnSpc>
                <a:spcPts val="1430"/>
              </a:lnSpc>
              <a:spcBef>
                <a:spcPts val="155"/>
              </a:spcBef>
            </a:pPr>
            <a:r>
              <a:rPr sz="1200" dirty="0">
                <a:latin typeface="Arial"/>
                <a:cs typeface="Arial"/>
              </a:rPr>
              <a:t>Shutting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down</a:t>
            </a:r>
            <a:r>
              <a:rPr sz="1200" spc="-10" dirty="0">
                <a:latin typeface="Arial"/>
                <a:cs typeface="Arial"/>
              </a:rPr>
              <a:t> version</a:t>
            </a:r>
            <a:r>
              <a:rPr sz="1200" spc="-7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</a:t>
            </a:r>
            <a:r>
              <a:rPr sz="1200" spc="-7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and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then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making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sure,</a:t>
            </a:r>
            <a:r>
              <a:rPr sz="1200" spc="-10" dirty="0">
                <a:latin typeface="Arial"/>
                <a:cs typeface="Arial"/>
              </a:rPr>
              <a:t> version</a:t>
            </a:r>
            <a:r>
              <a:rPr sz="1200" spc="-7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</a:t>
            </a:r>
            <a:r>
              <a:rPr sz="1200" spc="-7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is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turned</a:t>
            </a:r>
            <a:r>
              <a:rPr sz="1200" spc="-10" dirty="0">
                <a:latin typeface="Arial"/>
                <a:cs typeface="Arial"/>
              </a:rPr>
              <a:t> off... </a:t>
            </a:r>
            <a:r>
              <a:rPr sz="1200" dirty="0">
                <a:latin typeface="Arial"/>
                <a:cs typeface="Arial"/>
              </a:rPr>
              <a:t>then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bringing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up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version</a:t>
            </a:r>
            <a:r>
              <a:rPr sz="1200" spc="-25" dirty="0">
                <a:latin typeface="Arial"/>
                <a:cs typeface="Arial"/>
              </a:rPr>
              <a:t> B.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1625" y="2913217"/>
            <a:ext cx="3460750" cy="10331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Demerits:</a:t>
            </a:r>
            <a:endParaRPr sz="1800">
              <a:latin typeface="Arial"/>
              <a:cs typeface="Arial"/>
            </a:endParaRPr>
          </a:p>
          <a:p>
            <a:pPr marL="12700" marR="5080">
              <a:lnSpc>
                <a:spcPts val="2000"/>
              </a:lnSpc>
              <a:spcBef>
                <a:spcPts val="1810"/>
              </a:spcBef>
            </a:pPr>
            <a:r>
              <a:rPr sz="1200" dirty="0">
                <a:latin typeface="Arial"/>
                <a:cs typeface="Arial"/>
              </a:rPr>
              <a:t>During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this,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there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will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be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downtime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of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the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service. </a:t>
            </a:r>
            <a:r>
              <a:rPr sz="1200" dirty="0">
                <a:latin typeface="Arial"/>
                <a:cs typeface="Arial"/>
              </a:rPr>
              <a:t>Easy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to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setup</a:t>
            </a:r>
            <a:r>
              <a:rPr sz="1800" spc="-10" dirty="0"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35892" y="4751542"/>
            <a:ext cx="14331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3525" indent="-250825">
              <a:lnSpc>
                <a:spcPct val="100000"/>
              </a:lnSpc>
              <a:spcBef>
                <a:spcPts val="100"/>
              </a:spcBef>
              <a:buChar char="•"/>
              <a:tabLst>
                <a:tab pos="263525" algn="l"/>
              </a:tabLst>
            </a:pPr>
            <a:r>
              <a:rPr sz="1800" spc="-10" dirty="0">
                <a:latin typeface="Arial"/>
                <a:cs typeface="Arial"/>
              </a:rPr>
              <a:t>Blue/Green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707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Deployment</a:t>
            </a:r>
            <a:r>
              <a:rPr spc="-105" dirty="0"/>
              <a:t> </a:t>
            </a:r>
            <a:r>
              <a:rPr dirty="0"/>
              <a:t>Type</a:t>
            </a:r>
            <a:r>
              <a:rPr spc="-50" dirty="0"/>
              <a:t> </a:t>
            </a:r>
            <a:r>
              <a:rPr dirty="0"/>
              <a:t>–</a:t>
            </a:r>
            <a:r>
              <a:rPr spc="-50" dirty="0"/>
              <a:t> </a:t>
            </a:r>
            <a:r>
              <a:rPr dirty="0"/>
              <a:t>Rolling</a:t>
            </a:r>
            <a:r>
              <a:rPr spc="-50" dirty="0"/>
              <a:t> </a:t>
            </a:r>
            <a:r>
              <a:rPr spc="-10" dirty="0"/>
              <a:t>Updates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5892" y="1170142"/>
            <a:ext cx="42532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3525" indent="-250825">
              <a:lnSpc>
                <a:spcPct val="100000"/>
              </a:lnSpc>
              <a:spcBef>
                <a:spcPts val="100"/>
              </a:spcBef>
              <a:buChar char="•"/>
              <a:tabLst>
                <a:tab pos="263525" algn="l"/>
              </a:tabLst>
            </a:pPr>
            <a:r>
              <a:rPr sz="1800" dirty="0">
                <a:latin typeface="Arial"/>
                <a:cs typeface="Arial"/>
              </a:rPr>
              <a:t>RollingUpdate(Ramped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or</a:t>
            </a:r>
            <a:r>
              <a:rPr sz="1800" spc="-5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Incremental)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27074" y="2001865"/>
            <a:ext cx="3782695" cy="389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2415" indent="-259715">
              <a:lnSpc>
                <a:spcPts val="1430"/>
              </a:lnSpc>
              <a:spcBef>
                <a:spcPts val="100"/>
              </a:spcBef>
              <a:buChar char="-"/>
              <a:tabLst>
                <a:tab pos="272415" algn="l"/>
              </a:tabLst>
            </a:pPr>
            <a:r>
              <a:rPr sz="1200" dirty="0">
                <a:latin typeface="Arial"/>
                <a:cs typeface="Arial"/>
              </a:rPr>
              <a:t>Default</a:t>
            </a:r>
            <a:r>
              <a:rPr sz="1200" spc="-3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updating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strategy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in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Kubernetes.</a:t>
            </a:r>
            <a:endParaRPr sz="1200">
              <a:latin typeface="Arial"/>
              <a:cs typeface="Arial"/>
            </a:endParaRPr>
          </a:p>
          <a:p>
            <a:pPr marL="272415" indent="-259715">
              <a:lnSpc>
                <a:spcPts val="1435"/>
              </a:lnSpc>
              <a:buChar char="-"/>
              <a:tabLst>
                <a:tab pos="272415" algn="l"/>
              </a:tabLst>
            </a:pPr>
            <a:r>
              <a:rPr sz="1200" dirty="0">
                <a:latin typeface="Arial"/>
                <a:cs typeface="Arial"/>
              </a:rPr>
              <a:t>It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can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take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sometime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for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complete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update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process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1625" y="2636992"/>
            <a:ext cx="14471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How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it</a:t>
            </a:r>
            <a:r>
              <a:rPr sz="1800" spc="-10" dirty="0">
                <a:latin typeface="Arial"/>
                <a:cs typeface="Arial"/>
              </a:rPr>
              <a:t> works?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1625" y="3192490"/>
            <a:ext cx="7616825" cy="932180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2700" marR="154305">
              <a:lnSpc>
                <a:spcPts val="1420"/>
              </a:lnSpc>
              <a:spcBef>
                <a:spcPts val="165"/>
              </a:spcBef>
            </a:pPr>
            <a:r>
              <a:rPr sz="1200" dirty="0">
                <a:latin typeface="Arial"/>
                <a:cs typeface="Arial"/>
              </a:rPr>
              <a:t>Slowly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rollout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version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of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app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by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replacing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instances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one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after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the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other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until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all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the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instances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are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successfully </a:t>
            </a:r>
            <a:r>
              <a:rPr sz="1200" dirty="0">
                <a:latin typeface="Arial"/>
                <a:cs typeface="Arial"/>
              </a:rPr>
              <a:t>rolled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out.</a:t>
            </a:r>
            <a:endParaRPr sz="1200">
              <a:latin typeface="Arial"/>
              <a:cs typeface="Arial"/>
            </a:endParaRPr>
          </a:p>
          <a:p>
            <a:pPr marL="12700" marR="5080">
              <a:lnSpc>
                <a:spcPts val="1430"/>
              </a:lnSpc>
            </a:pPr>
            <a:r>
              <a:rPr sz="1200" dirty="0">
                <a:latin typeface="Arial"/>
                <a:cs typeface="Arial"/>
              </a:rPr>
              <a:t>Assume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that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there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are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10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instances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of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version</a:t>
            </a:r>
            <a:r>
              <a:rPr sz="1200" spc="-7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</a:t>
            </a:r>
            <a:r>
              <a:rPr sz="1200" spc="-7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which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is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running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behind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the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LB.</a:t>
            </a:r>
            <a:r>
              <a:rPr sz="1200" spc="-4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Then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update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strategy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starts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with </a:t>
            </a:r>
            <a:r>
              <a:rPr sz="1200" dirty="0">
                <a:latin typeface="Arial"/>
                <a:cs typeface="Arial"/>
              </a:rPr>
              <a:t>one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instance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of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version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B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is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deployed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When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version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B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is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ready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to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accept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traffic,</a:t>
            </a:r>
            <a:r>
              <a:rPr sz="1200" spc="30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one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instance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of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version</a:t>
            </a:r>
            <a:r>
              <a:rPr sz="1200" spc="-7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</a:t>
            </a:r>
            <a:r>
              <a:rPr sz="1200" spc="-80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is </a:t>
            </a:r>
            <a:r>
              <a:rPr sz="1200" dirty="0">
                <a:latin typeface="Arial"/>
                <a:cs typeface="Arial"/>
              </a:rPr>
              <a:t>removed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from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the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pool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707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Deployment</a:t>
            </a:r>
            <a:r>
              <a:rPr spc="-110" dirty="0"/>
              <a:t> </a:t>
            </a:r>
            <a:r>
              <a:rPr dirty="0"/>
              <a:t>Type</a:t>
            </a:r>
            <a:r>
              <a:rPr spc="-60" dirty="0"/>
              <a:t> </a:t>
            </a:r>
            <a:r>
              <a:rPr dirty="0"/>
              <a:t>-</a:t>
            </a:r>
            <a:r>
              <a:rPr spc="-60" dirty="0"/>
              <a:t> </a:t>
            </a:r>
            <a:r>
              <a:rPr spc="-10" dirty="0"/>
              <a:t>Canary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1205" y="1170140"/>
            <a:ext cx="101409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3525" indent="-250825">
              <a:lnSpc>
                <a:spcPct val="100000"/>
              </a:lnSpc>
              <a:spcBef>
                <a:spcPts val="100"/>
              </a:spcBef>
              <a:buChar char="•"/>
              <a:tabLst>
                <a:tab pos="263525" algn="l"/>
              </a:tabLst>
            </a:pPr>
            <a:r>
              <a:rPr sz="1800" spc="-10" dirty="0">
                <a:latin typeface="Arial"/>
                <a:cs typeface="Arial"/>
              </a:rPr>
              <a:t>Canary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2387" y="2001864"/>
            <a:ext cx="68961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72415" algn="l"/>
              </a:tabLst>
            </a:pPr>
            <a:r>
              <a:rPr sz="1200" spc="-50" dirty="0">
                <a:latin typeface="Arial"/>
                <a:cs typeface="Arial"/>
              </a:rPr>
              <a:t>-</a:t>
            </a:r>
            <a:r>
              <a:rPr sz="1200" dirty="0">
                <a:latin typeface="Arial"/>
                <a:cs typeface="Arial"/>
              </a:rPr>
              <a:t>	Ideal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deployment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method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for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someone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who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want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to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test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newer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version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before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it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is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deployed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100%.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6937" y="2456015"/>
            <a:ext cx="14471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How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it</a:t>
            </a:r>
            <a:r>
              <a:rPr sz="1800" spc="-10" dirty="0">
                <a:latin typeface="Arial"/>
                <a:cs typeface="Arial"/>
              </a:rPr>
              <a:t> works?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66937" y="3011514"/>
            <a:ext cx="7731759" cy="1113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Arial"/>
                <a:cs typeface="Arial"/>
              </a:rPr>
              <a:t>This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method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is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all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about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gradually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shifting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production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traffic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from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version</a:t>
            </a:r>
            <a:r>
              <a:rPr sz="1200" spc="-7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</a:t>
            </a:r>
            <a:r>
              <a:rPr sz="1200" spc="-8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to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version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B.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1200">
              <a:latin typeface="Arial"/>
              <a:cs typeface="Arial"/>
            </a:endParaRPr>
          </a:p>
          <a:p>
            <a:pPr marL="12700" marR="5080">
              <a:lnSpc>
                <a:spcPts val="1430"/>
              </a:lnSpc>
            </a:pPr>
            <a:r>
              <a:rPr sz="1200" dirty="0">
                <a:latin typeface="Arial"/>
                <a:cs typeface="Arial"/>
              </a:rPr>
              <a:t>Lets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imagine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that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there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are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about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10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instances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of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app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version</a:t>
            </a:r>
            <a:r>
              <a:rPr sz="1200" spc="-7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</a:t>
            </a:r>
            <a:r>
              <a:rPr sz="1200" spc="-8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running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inside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cluster.</a:t>
            </a:r>
            <a:r>
              <a:rPr sz="1200" spc="-35" dirty="0">
                <a:latin typeface="Arial"/>
                <a:cs typeface="Arial"/>
              </a:rPr>
              <a:t> </a:t>
            </a:r>
            <a:r>
              <a:rPr sz="1200" spc="-30" dirty="0">
                <a:latin typeface="Arial"/>
                <a:cs typeface="Arial"/>
              </a:rPr>
              <a:t>You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use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Canary </a:t>
            </a:r>
            <a:r>
              <a:rPr sz="1200" dirty="0">
                <a:latin typeface="Arial"/>
                <a:cs typeface="Arial"/>
              </a:rPr>
              <a:t>deployment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when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you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dont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want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to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upgrade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all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of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your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instances.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Let's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say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you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upgraded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your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2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instances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of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ver</a:t>
            </a:r>
            <a:r>
              <a:rPr sz="1200" spc="-80" dirty="0">
                <a:latin typeface="Arial"/>
                <a:cs typeface="Arial"/>
              </a:rPr>
              <a:t> </a:t>
            </a:r>
            <a:r>
              <a:rPr sz="1200" spc="-50" dirty="0">
                <a:latin typeface="Arial"/>
                <a:cs typeface="Arial"/>
              </a:rPr>
              <a:t>A </a:t>
            </a:r>
            <a:r>
              <a:rPr sz="1200" dirty="0">
                <a:latin typeface="Arial"/>
                <a:cs typeface="Arial"/>
              </a:rPr>
              <a:t>to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version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B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then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do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some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testing.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If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test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results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are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good,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then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you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upgrade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remaining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8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instances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to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version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B. </a:t>
            </a:r>
            <a:r>
              <a:rPr sz="1200" spc="-10" dirty="0">
                <a:latin typeface="Arial"/>
                <a:cs typeface="Arial"/>
              </a:rPr>
              <a:t>Say,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your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version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B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is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ready,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then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you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completely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shut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down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version</a:t>
            </a:r>
            <a:r>
              <a:rPr sz="1200" spc="-75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A.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707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Deployment</a:t>
            </a:r>
            <a:r>
              <a:rPr spc="-100" dirty="0"/>
              <a:t> </a:t>
            </a:r>
            <a:r>
              <a:rPr dirty="0"/>
              <a:t>Type</a:t>
            </a:r>
            <a:r>
              <a:rPr spc="-45" dirty="0"/>
              <a:t> </a:t>
            </a:r>
            <a:r>
              <a:rPr dirty="0"/>
              <a:t>–</a:t>
            </a:r>
            <a:r>
              <a:rPr spc="-50" dirty="0"/>
              <a:t> </a:t>
            </a:r>
            <a:r>
              <a:rPr dirty="0"/>
              <a:t>Blue</a:t>
            </a:r>
            <a:r>
              <a:rPr spc="-45" dirty="0"/>
              <a:t> </a:t>
            </a:r>
            <a:r>
              <a:rPr spc="-10" dirty="0"/>
              <a:t>Green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5892" y="1170142"/>
            <a:ext cx="14331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3525" indent="-250825">
              <a:lnSpc>
                <a:spcPct val="100000"/>
              </a:lnSpc>
              <a:spcBef>
                <a:spcPts val="100"/>
              </a:spcBef>
              <a:buChar char="•"/>
              <a:tabLst>
                <a:tab pos="263525" algn="l"/>
              </a:tabLst>
            </a:pPr>
            <a:r>
              <a:rPr sz="1800" dirty="0">
                <a:latin typeface="Arial"/>
                <a:cs typeface="Arial"/>
              </a:rPr>
              <a:t>Blue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Green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27074" y="1725640"/>
            <a:ext cx="23088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72415" algn="l"/>
              </a:tabLst>
            </a:pPr>
            <a:r>
              <a:rPr sz="1200" spc="-50" dirty="0">
                <a:latin typeface="Arial"/>
                <a:cs typeface="Arial"/>
              </a:rPr>
              <a:t>-</a:t>
            </a:r>
            <a:r>
              <a:rPr sz="1200" dirty="0">
                <a:latin typeface="Arial"/>
                <a:cs typeface="Arial"/>
              </a:rPr>
              <a:t>	Instance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roll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out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and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roll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back.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1625" y="2456017"/>
            <a:ext cx="14471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How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it</a:t>
            </a:r>
            <a:r>
              <a:rPr sz="1800" spc="-10" dirty="0">
                <a:latin typeface="Arial"/>
                <a:cs typeface="Arial"/>
              </a:rPr>
              <a:t> works?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1625" y="3011515"/>
            <a:ext cx="7322820" cy="75120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 marR="5080">
              <a:lnSpc>
                <a:spcPts val="1430"/>
              </a:lnSpc>
              <a:spcBef>
                <a:spcPts val="155"/>
              </a:spcBef>
            </a:pPr>
            <a:r>
              <a:rPr sz="1200" dirty="0">
                <a:latin typeface="Arial"/>
                <a:cs typeface="Arial"/>
              </a:rPr>
              <a:t>Using</a:t>
            </a:r>
            <a:r>
              <a:rPr sz="1200" spc="-3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this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method,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version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B(which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is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GREEN)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is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deployed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along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side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version</a:t>
            </a:r>
            <a:r>
              <a:rPr sz="1200" spc="-7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A(which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is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BLUE)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with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exactly </a:t>
            </a:r>
            <a:r>
              <a:rPr sz="1200" dirty="0">
                <a:latin typeface="Arial"/>
                <a:cs typeface="Arial"/>
              </a:rPr>
              <a:t>same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amount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of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instances.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ts val="1365"/>
              </a:lnSpc>
            </a:pPr>
            <a:r>
              <a:rPr sz="1200" dirty="0">
                <a:latin typeface="Arial"/>
                <a:cs typeface="Arial"/>
              </a:rPr>
              <a:t>After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testing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new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version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with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all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the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requirement,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the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traffic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is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switched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from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version</a:t>
            </a:r>
            <a:r>
              <a:rPr sz="1200" spc="-7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</a:t>
            </a:r>
            <a:r>
              <a:rPr sz="1200" spc="-8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to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version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B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at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the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LB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ts val="1435"/>
              </a:lnSpc>
            </a:pPr>
            <a:r>
              <a:rPr sz="1200" spc="-10" dirty="0">
                <a:latin typeface="Arial"/>
                <a:cs typeface="Arial"/>
              </a:rPr>
              <a:t>level.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707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Demo</a:t>
            </a:r>
            <a:r>
              <a:rPr spc="-5" dirty="0"/>
              <a:t> </a:t>
            </a:r>
            <a:r>
              <a:rPr dirty="0"/>
              <a:t>- </a:t>
            </a:r>
            <a:r>
              <a:rPr spc="-10" dirty="0"/>
              <a:t>Deployment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9423" y="1123014"/>
            <a:ext cx="2590800" cy="30619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1130" indent="-138430">
              <a:lnSpc>
                <a:spcPct val="100000"/>
              </a:lnSpc>
              <a:spcBef>
                <a:spcPts val="100"/>
              </a:spcBef>
              <a:buChar char="-"/>
              <a:tabLst>
                <a:tab pos="151130" algn="l"/>
              </a:tabLst>
            </a:pPr>
            <a:r>
              <a:rPr sz="1800" dirty="0">
                <a:solidFill>
                  <a:srgbClr val="53636C"/>
                </a:solidFill>
                <a:latin typeface="Arial"/>
                <a:cs typeface="Arial"/>
              </a:rPr>
              <a:t>Manifest</a:t>
            </a:r>
            <a:r>
              <a:rPr sz="1800" spc="-40" dirty="0">
                <a:solidFill>
                  <a:srgbClr val="53636C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53636C"/>
                </a:solidFill>
                <a:latin typeface="Arial"/>
                <a:cs typeface="Arial"/>
              </a:rPr>
              <a:t>file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Clr>
                <a:srgbClr val="53636C"/>
              </a:buClr>
              <a:buFont typeface="Arial"/>
              <a:buChar char="-"/>
            </a:pPr>
            <a:endParaRPr sz="1800">
              <a:latin typeface="Arial"/>
              <a:cs typeface="Arial"/>
            </a:endParaRPr>
          </a:p>
          <a:p>
            <a:pPr marL="151130" indent="-138430">
              <a:lnSpc>
                <a:spcPct val="100000"/>
              </a:lnSpc>
              <a:buChar char="-"/>
              <a:tabLst>
                <a:tab pos="151130" algn="l"/>
              </a:tabLst>
            </a:pPr>
            <a:r>
              <a:rPr sz="1800" dirty="0">
                <a:solidFill>
                  <a:srgbClr val="53636C"/>
                </a:solidFill>
                <a:latin typeface="Arial"/>
                <a:cs typeface="Arial"/>
              </a:rPr>
              <a:t>Deploy</a:t>
            </a:r>
            <a:r>
              <a:rPr sz="1800" spc="-15" dirty="0">
                <a:solidFill>
                  <a:srgbClr val="53636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3636C"/>
                </a:solidFill>
                <a:latin typeface="Arial"/>
                <a:cs typeface="Arial"/>
              </a:rPr>
              <a:t>app</a:t>
            </a:r>
            <a:r>
              <a:rPr sz="1800" spc="-15" dirty="0">
                <a:solidFill>
                  <a:srgbClr val="53636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3636C"/>
                </a:solidFill>
                <a:latin typeface="Arial"/>
                <a:cs typeface="Arial"/>
              </a:rPr>
              <a:t>using</a:t>
            </a:r>
            <a:r>
              <a:rPr sz="1800" spc="-15" dirty="0">
                <a:solidFill>
                  <a:srgbClr val="53636C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53636C"/>
                </a:solidFill>
                <a:latin typeface="Arial"/>
                <a:cs typeface="Arial"/>
              </a:rPr>
              <a:t>RS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Clr>
                <a:srgbClr val="53636C"/>
              </a:buClr>
              <a:buFont typeface="Arial"/>
              <a:buChar char="-"/>
            </a:pPr>
            <a:endParaRPr sz="1800">
              <a:latin typeface="Arial"/>
              <a:cs typeface="Arial"/>
            </a:endParaRPr>
          </a:p>
          <a:p>
            <a:pPr marL="151130" indent="-138430">
              <a:lnSpc>
                <a:spcPct val="100000"/>
              </a:lnSpc>
              <a:buChar char="-"/>
              <a:tabLst>
                <a:tab pos="151130" algn="l"/>
              </a:tabLst>
            </a:pPr>
            <a:r>
              <a:rPr sz="1800" dirty="0">
                <a:solidFill>
                  <a:srgbClr val="53636C"/>
                </a:solidFill>
                <a:latin typeface="Arial"/>
                <a:cs typeface="Arial"/>
              </a:rPr>
              <a:t>Display</a:t>
            </a:r>
            <a:r>
              <a:rPr sz="1800" spc="-30" dirty="0">
                <a:solidFill>
                  <a:srgbClr val="53636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3636C"/>
                </a:solidFill>
                <a:latin typeface="Arial"/>
                <a:cs typeface="Arial"/>
              </a:rPr>
              <a:t>and</a:t>
            </a:r>
            <a:r>
              <a:rPr sz="1800" spc="-20" dirty="0">
                <a:solidFill>
                  <a:srgbClr val="53636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3636C"/>
                </a:solidFill>
                <a:latin typeface="Arial"/>
                <a:cs typeface="Arial"/>
              </a:rPr>
              <a:t>validate</a:t>
            </a:r>
            <a:r>
              <a:rPr sz="1800" spc="-20" dirty="0">
                <a:solidFill>
                  <a:srgbClr val="53636C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53636C"/>
                </a:solidFill>
                <a:latin typeface="Arial"/>
                <a:cs typeface="Arial"/>
              </a:rPr>
              <a:t>RS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Clr>
                <a:srgbClr val="53636C"/>
              </a:buClr>
              <a:buFont typeface="Arial"/>
              <a:buChar char="-"/>
            </a:pPr>
            <a:endParaRPr sz="1800">
              <a:latin typeface="Arial"/>
              <a:cs typeface="Arial"/>
            </a:endParaRPr>
          </a:p>
          <a:p>
            <a:pPr marL="147320" indent="-134620">
              <a:lnSpc>
                <a:spcPct val="100000"/>
              </a:lnSpc>
              <a:buChar char="-"/>
              <a:tabLst>
                <a:tab pos="147320" algn="l"/>
              </a:tabLst>
            </a:pPr>
            <a:r>
              <a:rPr sz="1800" spc="-35" dirty="0">
                <a:solidFill>
                  <a:srgbClr val="53636C"/>
                </a:solidFill>
                <a:latin typeface="Arial"/>
                <a:cs typeface="Arial"/>
              </a:rPr>
              <a:t>Test</a:t>
            </a:r>
            <a:r>
              <a:rPr sz="1800" spc="-40" dirty="0">
                <a:solidFill>
                  <a:srgbClr val="53636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3636C"/>
                </a:solidFill>
                <a:latin typeface="Arial"/>
                <a:cs typeface="Arial"/>
              </a:rPr>
              <a:t>–</a:t>
            </a:r>
            <a:r>
              <a:rPr sz="1800" spc="-35" dirty="0">
                <a:solidFill>
                  <a:srgbClr val="53636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3636C"/>
                </a:solidFill>
                <a:latin typeface="Arial"/>
                <a:cs typeface="Arial"/>
              </a:rPr>
              <a:t>Node</a:t>
            </a:r>
            <a:r>
              <a:rPr sz="1800" spc="-40" dirty="0">
                <a:solidFill>
                  <a:srgbClr val="53636C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3636C"/>
                </a:solidFill>
                <a:latin typeface="Arial"/>
                <a:cs typeface="Arial"/>
              </a:rPr>
              <a:t>Fails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Clr>
                <a:srgbClr val="53636C"/>
              </a:buClr>
              <a:buFont typeface="Arial"/>
              <a:buChar char="-"/>
            </a:pPr>
            <a:endParaRPr sz="1800">
              <a:latin typeface="Arial"/>
              <a:cs typeface="Arial"/>
            </a:endParaRPr>
          </a:p>
          <a:p>
            <a:pPr marL="297815" indent="-247015">
              <a:lnSpc>
                <a:spcPct val="100000"/>
              </a:lnSpc>
              <a:buChar char="-"/>
              <a:tabLst>
                <a:tab pos="297815" algn="l"/>
              </a:tabLst>
            </a:pPr>
            <a:r>
              <a:rPr sz="1800" spc="-35" dirty="0">
                <a:solidFill>
                  <a:srgbClr val="53636C"/>
                </a:solidFill>
                <a:latin typeface="Arial"/>
                <a:cs typeface="Arial"/>
              </a:rPr>
              <a:t>Test</a:t>
            </a:r>
            <a:r>
              <a:rPr sz="1800" spc="-40" dirty="0">
                <a:solidFill>
                  <a:srgbClr val="53636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3636C"/>
                </a:solidFill>
                <a:latin typeface="Arial"/>
                <a:cs typeface="Arial"/>
              </a:rPr>
              <a:t>–</a:t>
            </a:r>
            <a:r>
              <a:rPr sz="1800" spc="-40" dirty="0">
                <a:solidFill>
                  <a:srgbClr val="53636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3636C"/>
                </a:solidFill>
                <a:latin typeface="Arial"/>
                <a:cs typeface="Arial"/>
              </a:rPr>
              <a:t>Scale</a:t>
            </a:r>
            <a:r>
              <a:rPr sz="1800" spc="-40" dirty="0">
                <a:solidFill>
                  <a:srgbClr val="53636C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53636C"/>
                </a:solidFill>
                <a:latin typeface="Arial"/>
                <a:cs typeface="Arial"/>
              </a:rPr>
              <a:t>Up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Clr>
                <a:srgbClr val="53636C"/>
              </a:buClr>
              <a:buFont typeface="Arial"/>
              <a:buChar char="-"/>
            </a:pPr>
            <a:endParaRPr sz="1800">
              <a:latin typeface="Arial"/>
              <a:cs typeface="Arial"/>
            </a:endParaRPr>
          </a:p>
          <a:p>
            <a:pPr marL="147320" indent="-134620">
              <a:lnSpc>
                <a:spcPct val="100000"/>
              </a:lnSpc>
              <a:buChar char="-"/>
              <a:tabLst>
                <a:tab pos="147320" algn="l"/>
              </a:tabLst>
            </a:pPr>
            <a:r>
              <a:rPr sz="1800" spc="-35" dirty="0">
                <a:solidFill>
                  <a:srgbClr val="53636C"/>
                </a:solidFill>
                <a:latin typeface="Arial"/>
                <a:cs typeface="Arial"/>
              </a:rPr>
              <a:t>Test</a:t>
            </a:r>
            <a:r>
              <a:rPr sz="1800" spc="-40" dirty="0">
                <a:solidFill>
                  <a:srgbClr val="53636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3636C"/>
                </a:solidFill>
                <a:latin typeface="Arial"/>
                <a:cs typeface="Arial"/>
              </a:rPr>
              <a:t>–</a:t>
            </a:r>
            <a:r>
              <a:rPr sz="1800" spc="-40" dirty="0">
                <a:solidFill>
                  <a:srgbClr val="53636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3636C"/>
                </a:solidFill>
                <a:latin typeface="Arial"/>
                <a:cs typeface="Arial"/>
              </a:rPr>
              <a:t>Scale</a:t>
            </a:r>
            <a:r>
              <a:rPr sz="1800" spc="-40" dirty="0">
                <a:solidFill>
                  <a:srgbClr val="53636C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53636C"/>
                </a:solidFill>
                <a:latin typeface="Arial"/>
                <a:cs typeface="Arial"/>
              </a:rPr>
              <a:t>Down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707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Deployment</a:t>
            </a:r>
            <a:r>
              <a:rPr spc="5" dirty="0"/>
              <a:t> </a:t>
            </a:r>
            <a:r>
              <a:rPr dirty="0"/>
              <a:t>Manifest</a:t>
            </a:r>
            <a:r>
              <a:rPr spc="15" dirty="0"/>
              <a:t> </a:t>
            </a:r>
            <a:r>
              <a:rPr spc="-20" dirty="0"/>
              <a:t>File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2979" y="880488"/>
            <a:ext cx="2531320" cy="3852775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3867461" y="2083633"/>
            <a:ext cx="584835" cy="1402080"/>
          </a:xfrm>
          <a:custGeom>
            <a:avLst/>
            <a:gdLst/>
            <a:ahLst/>
            <a:cxnLst/>
            <a:rect l="l" t="t" r="r" b="b"/>
            <a:pathLst>
              <a:path w="584835" h="1402079">
                <a:moveTo>
                  <a:pt x="0" y="0"/>
                </a:moveTo>
                <a:lnTo>
                  <a:pt x="77707" y="1740"/>
                </a:lnTo>
                <a:lnTo>
                  <a:pt x="147533" y="6651"/>
                </a:lnTo>
                <a:lnTo>
                  <a:pt x="206693" y="14268"/>
                </a:lnTo>
                <a:lnTo>
                  <a:pt x="252399" y="24128"/>
                </a:lnTo>
                <a:lnTo>
                  <a:pt x="281867" y="35765"/>
                </a:lnTo>
                <a:lnTo>
                  <a:pt x="292308" y="48716"/>
                </a:lnTo>
                <a:lnTo>
                  <a:pt x="292308" y="652073"/>
                </a:lnTo>
                <a:lnTo>
                  <a:pt x="302750" y="665024"/>
                </a:lnTo>
                <a:lnTo>
                  <a:pt x="377923" y="686521"/>
                </a:lnTo>
                <a:lnTo>
                  <a:pt x="437083" y="694138"/>
                </a:lnTo>
                <a:lnTo>
                  <a:pt x="506909" y="699049"/>
                </a:lnTo>
                <a:lnTo>
                  <a:pt x="584617" y="700789"/>
                </a:lnTo>
                <a:lnTo>
                  <a:pt x="506909" y="702530"/>
                </a:lnTo>
                <a:lnTo>
                  <a:pt x="437083" y="707441"/>
                </a:lnTo>
                <a:lnTo>
                  <a:pt x="377923" y="715058"/>
                </a:lnTo>
                <a:lnTo>
                  <a:pt x="332217" y="724918"/>
                </a:lnTo>
                <a:lnTo>
                  <a:pt x="292308" y="749505"/>
                </a:lnTo>
                <a:lnTo>
                  <a:pt x="292308" y="1352863"/>
                </a:lnTo>
                <a:lnTo>
                  <a:pt x="281867" y="1365814"/>
                </a:lnTo>
                <a:lnTo>
                  <a:pt x="252399" y="1377451"/>
                </a:lnTo>
                <a:lnTo>
                  <a:pt x="206693" y="1387311"/>
                </a:lnTo>
                <a:lnTo>
                  <a:pt x="147533" y="1394928"/>
                </a:lnTo>
                <a:lnTo>
                  <a:pt x="77707" y="1399839"/>
                </a:lnTo>
                <a:lnTo>
                  <a:pt x="0" y="1401579"/>
                </a:lnTo>
              </a:path>
            </a:pathLst>
          </a:custGeom>
          <a:ln w="9524">
            <a:solidFill>
              <a:srgbClr val="FFAB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867461" y="3570156"/>
            <a:ext cx="584835" cy="1198880"/>
          </a:xfrm>
          <a:custGeom>
            <a:avLst/>
            <a:gdLst/>
            <a:ahLst/>
            <a:cxnLst/>
            <a:rect l="l" t="t" r="r" b="b"/>
            <a:pathLst>
              <a:path w="584835" h="1198879">
                <a:moveTo>
                  <a:pt x="0" y="0"/>
                </a:moveTo>
                <a:lnTo>
                  <a:pt x="77707" y="1740"/>
                </a:lnTo>
                <a:lnTo>
                  <a:pt x="147533" y="6651"/>
                </a:lnTo>
                <a:lnTo>
                  <a:pt x="206693" y="14268"/>
                </a:lnTo>
                <a:lnTo>
                  <a:pt x="252399" y="24128"/>
                </a:lnTo>
                <a:lnTo>
                  <a:pt x="281867" y="35765"/>
                </a:lnTo>
                <a:lnTo>
                  <a:pt x="292308" y="48715"/>
                </a:lnTo>
                <a:lnTo>
                  <a:pt x="292308" y="550456"/>
                </a:lnTo>
                <a:lnTo>
                  <a:pt x="302750" y="563407"/>
                </a:lnTo>
                <a:lnTo>
                  <a:pt x="377923" y="584904"/>
                </a:lnTo>
                <a:lnTo>
                  <a:pt x="437083" y="592521"/>
                </a:lnTo>
                <a:lnTo>
                  <a:pt x="506909" y="597432"/>
                </a:lnTo>
                <a:lnTo>
                  <a:pt x="584617" y="599172"/>
                </a:lnTo>
                <a:lnTo>
                  <a:pt x="506909" y="600913"/>
                </a:lnTo>
                <a:lnTo>
                  <a:pt x="437083" y="605824"/>
                </a:lnTo>
                <a:lnTo>
                  <a:pt x="377923" y="613441"/>
                </a:lnTo>
                <a:lnTo>
                  <a:pt x="332217" y="623301"/>
                </a:lnTo>
                <a:lnTo>
                  <a:pt x="292308" y="647888"/>
                </a:lnTo>
                <a:lnTo>
                  <a:pt x="292308" y="1149629"/>
                </a:lnTo>
                <a:lnTo>
                  <a:pt x="281867" y="1162580"/>
                </a:lnTo>
                <a:lnTo>
                  <a:pt x="252399" y="1174217"/>
                </a:lnTo>
                <a:lnTo>
                  <a:pt x="206693" y="1184077"/>
                </a:lnTo>
                <a:lnTo>
                  <a:pt x="147533" y="1191694"/>
                </a:lnTo>
                <a:lnTo>
                  <a:pt x="77707" y="1196605"/>
                </a:lnTo>
                <a:lnTo>
                  <a:pt x="0" y="1198345"/>
                </a:lnTo>
              </a:path>
            </a:pathLst>
          </a:custGeom>
          <a:ln w="9524">
            <a:solidFill>
              <a:srgbClr val="FFAB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862382" y="2534603"/>
            <a:ext cx="11290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ReplicaSet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79</a:t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4998267" y="3999386"/>
            <a:ext cx="5467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Arial"/>
                <a:cs typeface="Arial"/>
              </a:rPr>
              <a:t>Pods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707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Deployment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027" y="1064903"/>
            <a:ext cx="8309429" cy="126878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026" y="2514007"/>
            <a:ext cx="8309429" cy="102312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80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Deployment =&gt;</a:t>
            </a:r>
            <a:r>
              <a:rPr spc="-5" dirty="0"/>
              <a:t> </a:t>
            </a:r>
            <a:r>
              <a:rPr dirty="0"/>
              <a:t>Pods</a:t>
            </a:r>
            <a:r>
              <a:rPr spc="10" dirty="0"/>
              <a:t> </a:t>
            </a:r>
            <a:r>
              <a:rPr dirty="0"/>
              <a:t>+</a:t>
            </a:r>
            <a:r>
              <a:rPr spc="-5" dirty="0"/>
              <a:t> </a:t>
            </a:r>
            <a:r>
              <a:rPr spc="-10" dirty="0"/>
              <a:t>ReplicaSet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4796" y="1443436"/>
            <a:ext cx="4373307" cy="141761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33023" y="1011330"/>
            <a:ext cx="2890886" cy="258898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880304" y="875713"/>
            <a:ext cx="837565" cy="1283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"/>
                <a:cs typeface="Arial"/>
              </a:rPr>
              <a:t>Deployment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19"/>
              </a:spcBef>
            </a:pPr>
            <a:endParaRPr sz="1200">
              <a:latin typeface="Arial"/>
              <a:cs typeface="Arial"/>
            </a:endParaRPr>
          </a:p>
          <a:p>
            <a:pPr marL="24130">
              <a:lnSpc>
                <a:spcPct val="100000"/>
              </a:lnSpc>
            </a:pPr>
            <a:r>
              <a:rPr sz="1200" spc="-10" dirty="0">
                <a:latin typeface="Arial"/>
                <a:cs typeface="Arial"/>
              </a:rPr>
              <a:t>ReplicaSet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20"/>
              </a:spcBef>
            </a:pPr>
            <a:endParaRPr sz="1200">
              <a:latin typeface="Arial"/>
              <a:cs typeface="Arial"/>
            </a:endParaRPr>
          </a:p>
          <a:p>
            <a:pPr marL="161290">
              <a:lnSpc>
                <a:spcPct val="100000"/>
              </a:lnSpc>
            </a:pPr>
            <a:r>
              <a:rPr sz="1200" spc="-20" dirty="0">
                <a:latin typeface="Arial"/>
                <a:cs typeface="Arial"/>
              </a:rPr>
              <a:t>Pods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81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5973" rIns="0" bIns="0" rtlCol="0">
            <a:spAutoFit/>
          </a:bodyPr>
          <a:lstStyle/>
          <a:p>
            <a:pPr marL="12700" marR="5080">
              <a:lnSpc>
                <a:spcPts val="3080"/>
              </a:lnSpc>
              <a:spcBef>
                <a:spcPts val="515"/>
              </a:spcBef>
            </a:pPr>
            <a:r>
              <a:rPr dirty="0"/>
              <a:t>3</a:t>
            </a:r>
            <a:r>
              <a:rPr spc="20" dirty="0"/>
              <a:t> </a:t>
            </a:r>
            <a:r>
              <a:rPr dirty="0"/>
              <a:t>Instances</a:t>
            </a:r>
            <a:r>
              <a:rPr spc="15" dirty="0"/>
              <a:t> </a:t>
            </a:r>
            <a:r>
              <a:rPr dirty="0"/>
              <a:t>of</a:t>
            </a:r>
            <a:r>
              <a:rPr spc="15" dirty="0"/>
              <a:t> </a:t>
            </a:r>
            <a:r>
              <a:rPr dirty="0"/>
              <a:t>same</a:t>
            </a:r>
            <a:r>
              <a:rPr spc="20" dirty="0"/>
              <a:t> </a:t>
            </a:r>
            <a:r>
              <a:rPr dirty="0"/>
              <a:t>Nginx</a:t>
            </a:r>
            <a:r>
              <a:rPr spc="-145" dirty="0"/>
              <a:t> </a:t>
            </a:r>
            <a:r>
              <a:rPr dirty="0"/>
              <a:t>Apps</a:t>
            </a:r>
            <a:r>
              <a:rPr spc="20" dirty="0"/>
              <a:t> </a:t>
            </a:r>
            <a:r>
              <a:rPr dirty="0"/>
              <a:t>running</a:t>
            </a:r>
            <a:r>
              <a:rPr spc="20" dirty="0"/>
              <a:t> </a:t>
            </a:r>
            <a:r>
              <a:rPr dirty="0"/>
              <a:t>in</a:t>
            </a:r>
            <a:r>
              <a:rPr spc="15" dirty="0"/>
              <a:t> </a:t>
            </a:r>
            <a:r>
              <a:rPr dirty="0"/>
              <a:t>the</a:t>
            </a:r>
            <a:r>
              <a:rPr spc="20" dirty="0"/>
              <a:t> </a:t>
            </a:r>
            <a:r>
              <a:rPr spc="-20" dirty="0"/>
              <a:t>form </a:t>
            </a:r>
            <a:r>
              <a:rPr dirty="0"/>
              <a:t>of</a:t>
            </a:r>
            <a:r>
              <a:rPr spc="10" dirty="0"/>
              <a:t> </a:t>
            </a:r>
            <a:r>
              <a:rPr spc="-20" dirty="0"/>
              <a:t>Pods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3914" y="1342506"/>
            <a:ext cx="8795461" cy="207560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3913" y="3859047"/>
            <a:ext cx="8690429" cy="73320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82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/>
          <p:nvPr/>
        </p:nvSpPr>
        <p:spPr>
          <a:xfrm>
            <a:off x="301625" y="249500"/>
            <a:ext cx="8397875" cy="855344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12700" marR="5080">
              <a:lnSpc>
                <a:spcPts val="3080"/>
              </a:lnSpc>
              <a:spcBef>
                <a:spcPts val="515"/>
              </a:spcBef>
            </a:pPr>
            <a:r>
              <a:rPr sz="2850" dirty="0">
                <a:solidFill>
                  <a:srgbClr val="FFAB40"/>
                </a:solidFill>
                <a:latin typeface="Arial"/>
                <a:cs typeface="Arial"/>
              </a:rPr>
              <a:t>3</a:t>
            </a:r>
            <a:r>
              <a:rPr sz="2850" spc="20" dirty="0">
                <a:solidFill>
                  <a:srgbClr val="FFAB40"/>
                </a:solidFill>
                <a:latin typeface="Arial"/>
                <a:cs typeface="Arial"/>
              </a:rPr>
              <a:t> </a:t>
            </a:r>
            <a:r>
              <a:rPr sz="2850" dirty="0">
                <a:solidFill>
                  <a:srgbClr val="FFAB40"/>
                </a:solidFill>
                <a:latin typeface="Arial"/>
                <a:cs typeface="Arial"/>
              </a:rPr>
              <a:t>Instances</a:t>
            </a:r>
            <a:r>
              <a:rPr sz="2850" spc="15" dirty="0">
                <a:solidFill>
                  <a:srgbClr val="FFAB40"/>
                </a:solidFill>
                <a:latin typeface="Arial"/>
                <a:cs typeface="Arial"/>
              </a:rPr>
              <a:t> </a:t>
            </a:r>
            <a:r>
              <a:rPr sz="2850" dirty="0">
                <a:solidFill>
                  <a:srgbClr val="FFAB40"/>
                </a:solidFill>
                <a:latin typeface="Arial"/>
                <a:cs typeface="Arial"/>
              </a:rPr>
              <a:t>of</a:t>
            </a:r>
            <a:r>
              <a:rPr sz="2850" spc="15" dirty="0">
                <a:solidFill>
                  <a:srgbClr val="FFAB40"/>
                </a:solidFill>
                <a:latin typeface="Arial"/>
                <a:cs typeface="Arial"/>
              </a:rPr>
              <a:t> </a:t>
            </a:r>
            <a:r>
              <a:rPr sz="2850" dirty="0">
                <a:solidFill>
                  <a:srgbClr val="FFAB40"/>
                </a:solidFill>
                <a:latin typeface="Arial"/>
                <a:cs typeface="Arial"/>
              </a:rPr>
              <a:t>same</a:t>
            </a:r>
            <a:r>
              <a:rPr sz="2850" spc="20" dirty="0">
                <a:solidFill>
                  <a:srgbClr val="FFAB40"/>
                </a:solidFill>
                <a:latin typeface="Arial"/>
                <a:cs typeface="Arial"/>
              </a:rPr>
              <a:t> </a:t>
            </a:r>
            <a:r>
              <a:rPr sz="2850" dirty="0">
                <a:solidFill>
                  <a:srgbClr val="FFAB40"/>
                </a:solidFill>
                <a:latin typeface="Arial"/>
                <a:cs typeface="Arial"/>
              </a:rPr>
              <a:t>Nginx</a:t>
            </a:r>
            <a:r>
              <a:rPr sz="2850" spc="-145" dirty="0">
                <a:solidFill>
                  <a:srgbClr val="FFAB40"/>
                </a:solidFill>
                <a:latin typeface="Arial"/>
                <a:cs typeface="Arial"/>
              </a:rPr>
              <a:t> </a:t>
            </a:r>
            <a:r>
              <a:rPr sz="2850" dirty="0">
                <a:solidFill>
                  <a:srgbClr val="FFAB40"/>
                </a:solidFill>
                <a:latin typeface="Arial"/>
                <a:cs typeface="Arial"/>
              </a:rPr>
              <a:t>Apps</a:t>
            </a:r>
            <a:r>
              <a:rPr sz="2850" spc="20" dirty="0">
                <a:solidFill>
                  <a:srgbClr val="FFAB40"/>
                </a:solidFill>
                <a:latin typeface="Arial"/>
                <a:cs typeface="Arial"/>
              </a:rPr>
              <a:t> </a:t>
            </a:r>
            <a:r>
              <a:rPr sz="2850" dirty="0">
                <a:solidFill>
                  <a:srgbClr val="FFAB40"/>
                </a:solidFill>
                <a:latin typeface="Arial"/>
                <a:cs typeface="Arial"/>
              </a:rPr>
              <a:t>running</a:t>
            </a:r>
            <a:r>
              <a:rPr sz="2850" spc="20" dirty="0">
                <a:solidFill>
                  <a:srgbClr val="FFAB40"/>
                </a:solidFill>
                <a:latin typeface="Arial"/>
                <a:cs typeface="Arial"/>
              </a:rPr>
              <a:t> </a:t>
            </a:r>
            <a:r>
              <a:rPr sz="2850" dirty="0">
                <a:solidFill>
                  <a:srgbClr val="FFAB40"/>
                </a:solidFill>
                <a:latin typeface="Arial"/>
                <a:cs typeface="Arial"/>
              </a:rPr>
              <a:t>in</a:t>
            </a:r>
            <a:r>
              <a:rPr sz="2850" spc="15" dirty="0">
                <a:solidFill>
                  <a:srgbClr val="FFAB40"/>
                </a:solidFill>
                <a:latin typeface="Arial"/>
                <a:cs typeface="Arial"/>
              </a:rPr>
              <a:t> </a:t>
            </a:r>
            <a:r>
              <a:rPr sz="2850" dirty="0">
                <a:solidFill>
                  <a:srgbClr val="FFAB40"/>
                </a:solidFill>
                <a:latin typeface="Arial"/>
                <a:cs typeface="Arial"/>
              </a:rPr>
              <a:t>the</a:t>
            </a:r>
            <a:r>
              <a:rPr sz="2850" spc="20" dirty="0">
                <a:solidFill>
                  <a:srgbClr val="FFAB40"/>
                </a:solidFill>
                <a:latin typeface="Arial"/>
                <a:cs typeface="Arial"/>
              </a:rPr>
              <a:t> </a:t>
            </a:r>
            <a:r>
              <a:rPr sz="2850" spc="-20" dirty="0">
                <a:solidFill>
                  <a:srgbClr val="FFAB40"/>
                </a:solidFill>
                <a:latin typeface="Arial"/>
                <a:cs typeface="Arial"/>
              </a:rPr>
              <a:t>form </a:t>
            </a:r>
            <a:r>
              <a:rPr sz="2850" dirty="0">
                <a:solidFill>
                  <a:srgbClr val="FFAB40"/>
                </a:solidFill>
                <a:latin typeface="Arial"/>
                <a:cs typeface="Arial"/>
              </a:rPr>
              <a:t>of</a:t>
            </a:r>
            <a:r>
              <a:rPr sz="2850" spc="10" dirty="0">
                <a:solidFill>
                  <a:srgbClr val="FFAB40"/>
                </a:solidFill>
                <a:latin typeface="Arial"/>
                <a:cs typeface="Arial"/>
              </a:rPr>
              <a:t> </a:t>
            </a:r>
            <a:r>
              <a:rPr sz="2850" spc="-20" dirty="0">
                <a:solidFill>
                  <a:srgbClr val="FFAB40"/>
                </a:solidFill>
                <a:latin typeface="Arial"/>
                <a:cs typeface="Arial"/>
              </a:rPr>
              <a:t>Pods</a:t>
            </a:r>
            <a:endParaRPr sz="285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3913" y="1450428"/>
            <a:ext cx="8160656" cy="56588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3913" y="2856152"/>
            <a:ext cx="8538029" cy="48351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57653" y="2294999"/>
            <a:ext cx="204406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Update</a:t>
            </a:r>
            <a:r>
              <a:rPr sz="1800" spc="-4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Deployment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86228" y="3487914"/>
            <a:ext cx="5341256" cy="1655585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83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5973" rIns="0" bIns="0" rtlCol="0">
            <a:spAutoFit/>
          </a:bodyPr>
          <a:lstStyle/>
          <a:p>
            <a:pPr marL="12700" marR="5080">
              <a:lnSpc>
                <a:spcPts val="3080"/>
              </a:lnSpc>
              <a:spcBef>
                <a:spcPts val="515"/>
              </a:spcBef>
            </a:pPr>
            <a:r>
              <a:rPr dirty="0"/>
              <a:t>3</a:t>
            </a:r>
            <a:r>
              <a:rPr spc="20" dirty="0"/>
              <a:t> </a:t>
            </a:r>
            <a:r>
              <a:rPr dirty="0"/>
              <a:t>Instances</a:t>
            </a:r>
            <a:r>
              <a:rPr spc="15" dirty="0"/>
              <a:t> </a:t>
            </a:r>
            <a:r>
              <a:rPr dirty="0"/>
              <a:t>of</a:t>
            </a:r>
            <a:r>
              <a:rPr spc="15" dirty="0"/>
              <a:t> </a:t>
            </a:r>
            <a:r>
              <a:rPr dirty="0"/>
              <a:t>same</a:t>
            </a:r>
            <a:r>
              <a:rPr spc="20" dirty="0"/>
              <a:t> </a:t>
            </a:r>
            <a:r>
              <a:rPr dirty="0"/>
              <a:t>Nginx</a:t>
            </a:r>
            <a:r>
              <a:rPr spc="-145" dirty="0"/>
              <a:t> </a:t>
            </a:r>
            <a:r>
              <a:rPr dirty="0"/>
              <a:t>Apps</a:t>
            </a:r>
            <a:r>
              <a:rPr spc="20" dirty="0"/>
              <a:t> </a:t>
            </a:r>
            <a:r>
              <a:rPr dirty="0"/>
              <a:t>running</a:t>
            </a:r>
            <a:r>
              <a:rPr spc="20" dirty="0"/>
              <a:t> </a:t>
            </a:r>
            <a:r>
              <a:rPr dirty="0"/>
              <a:t>in</a:t>
            </a:r>
            <a:r>
              <a:rPr spc="15" dirty="0"/>
              <a:t> </a:t>
            </a:r>
            <a:r>
              <a:rPr dirty="0"/>
              <a:t>the</a:t>
            </a:r>
            <a:r>
              <a:rPr spc="20" dirty="0"/>
              <a:t> </a:t>
            </a:r>
            <a:r>
              <a:rPr spc="-20" dirty="0"/>
              <a:t>form </a:t>
            </a:r>
            <a:r>
              <a:rPr dirty="0"/>
              <a:t>of</a:t>
            </a:r>
            <a:r>
              <a:rPr spc="10" dirty="0"/>
              <a:t> </a:t>
            </a:r>
            <a:r>
              <a:rPr spc="-20" dirty="0"/>
              <a:t>Pods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1884" y="1194656"/>
            <a:ext cx="6567715" cy="257344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1884" y="4058071"/>
            <a:ext cx="7910285" cy="622367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84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707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Scaling</a:t>
            </a:r>
            <a:r>
              <a:rPr spc="-25" dirty="0"/>
              <a:t> up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1085" y="1418177"/>
            <a:ext cx="8135257" cy="100997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7199" y="2944776"/>
            <a:ext cx="8019143" cy="176561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85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707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Listing</a:t>
            </a:r>
            <a:r>
              <a:rPr spc="-5" dirty="0"/>
              <a:t> </a:t>
            </a:r>
            <a:r>
              <a:rPr dirty="0"/>
              <a:t>Pods</a:t>
            </a:r>
            <a:r>
              <a:rPr spc="-5" dirty="0"/>
              <a:t> </a:t>
            </a:r>
            <a:r>
              <a:rPr dirty="0"/>
              <a:t>by</a:t>
            </a:r>
            <a:r>
              <a:rPr spc="-5" dirty="0"/>
              <a:t> </a:t>
            </a:r>
            <a:r>
              <a:rPr spc="-10" dirty="0"/>
              <a:t>Labels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9313" y="1420311"/>
            <a:ext cx="8033656" cy="1947996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86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2730" cy="5143500"/>
            <a:chOff x="0" y="0"/>
            <a:chExt cx="9142730" cy="5143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54" y="0"/>
              <a:ext cx="9141290" cy="410870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4175999" cy="514349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193024" y="4326076"/>
              <a:ext cx="722375" cy="604028"/>
            </a:xfrm>
            <a:prstGeom prst="rect">
              <a:avLst/>
            </a:prstGeom>
          </p:spPr>
        </p:pic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758825" y="1328441"/>
            <a:ext cx="197358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10" dirty="0">
                <a:solidFill>
                  <a:srgbClr val="FFFFFF"/>
                </a:solidFill>
              </a:rPr>
              <a:t>Services</a:t>
            </a:r>
            <a:endParaRPr sz="4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707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Services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88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339734" y="1360075"/>
            <a:ext cx="6876415" cy="1816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4780" indent="-132080">
              <a:lnSpc>
                <a:spcPct val="100000"/>
              </a:lnSpc>
              <a:spcBef>
                <a:spcPts val="100"/>
              </a:spcBef>
              <a:buClr>
                <a:srgbClr val="FFAB40"/>
              </a:buClr>
              <a:buChar char="•"/>
              <a:tabLst>
                <a:tab pos="144780" algn="l"/>
              </a:tabLst>
            </a:pP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Imagine</a:t>
            </a:r>
            <a:r>
              <a:rPr sz="2000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that,</a:t>
            </a:r>
            <a:r>
              <a:rPr sz="2000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you</a:t>
            </a:r>
            <a:r>
              <a:rPr sz="2000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have</a:t>
            </a:r>
            <a:r>
              <a:rPr sz="2000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been</a:t>
            </a:r>
            <a:r>
              <a:rPr sz="2000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asked</a:t>
            </a:r>
            <a:r>
              <a:rPr sz="2000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to</a:t>
            </a:r>
            <a:r>
              <a:rPr sz="2000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deploy</a:t>
            </a:r>
            <a:r>
              <a:rPr sz="2000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web</a:t>
            </a:r>
            <a:r>
              <a:rPr sz="2000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595959"/>
                </a:solidFill>
                <a:latin typeface="Arial"/>
                <a:cs typeface="Arial"/>
              </a:rPr>
              <a:t>app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150"/>
              </a:spcBef>
              <a:buClr>
                <a:srgbClr val="FFAB40"/>
              </a:buClr>
              <a:buFont typeface="Arial"/>
              <a:buChar char="•"/>
            </a:pPr>
            <a:endParaRPr sz="2000">
              <a:latin typeface="Arial"/>
              <a:cs typeface="Arial"/>
            </a:endParaRPr>
          </a:p>
          <a:p>
            <a:pPr marL="144780" indent="-132080">
              <a:lnSpc>
                <a:spcPct val="100000"/>
              </a:lnSpc>
              <a:buClr>
                <a:srgbClr val="FFAB40"/>
              </a:buClr>
              <a:buChar char="•"/>
              <a:tabLst>
                <a:tab pos="144780" algn="l"/>
                <a:tab pos="2883535" algn="l"/>
              </a:tabLst>
            </a:pP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How</a:t>
            </a:r>
            <a:r>
              <a:rPr sz="200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does</a:t>
            </a:r>
            <a:r>
              <a:rPr sz="20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this</a:t>
            </a:r>
            <a:r>
              <a:rPr sz="20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Arial"/>
                <a:cs typeface="Arial"/>
              </a:rPr>
              <a:t>frontend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	web</a:t>
            </a:r>
            <a:r>
              <a:rPr sz="2000" spc="-6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app</a:t>
            </a:r>
            <a:r>
              <a:rPr sz="2000" spc="-6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exposed</a:t>
            </a:r>
            <a:r>
              <a:rPr sz="2000" spc="-6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to</a:t>
            </a:r>
            <a:r>
              <a:rPr sz="2000" spc="-6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outside</a:t>
            </a:r>
            <a:r>
              <a:rPr sz="2000" spc="-6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Arial"/>
                <a:cs typeface="Arial"/>
              </a:rPr>
              <a:t>world?</a:t>
            </a:r>
            <a:endParaRPr sz="2000">
              <a:latin typeface="Arial"/>
              <a:cs typeface="Arial"/>
            </a:endParaRPr>
          </a:p>
          <a:p>
            <a:pPr marL="144780" indent="-132080">
              <a:lnSpc>
                <a:spcPct val="100000"/>
              </a:lnSpc>
              <a:spcBef>
                <a:spcPts val="525"/>
              </a:spcBef>
              <a:buClr>
                <a:srgbClr val="FFAB40"/>
              </a:buClr>
              <a:buChar char="•"/>
              <a:tabLst>
                <a:tab pos="144780" algn="l"/>
              </a:tabLst>
            </a:pP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How</a:t>
            </a:r>
            <a:r>
              <a:rPr sz="2000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do</a:t>
            </a:r>
            <a:r>
              <a:rPr sz="2000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front</a:t>
            </a:r>
            <a:r>
              <a:rPr sz="2000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end</a:t>
            </a:r>
            <a:r>
              <a:rPr sz="2000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app</a:t>
            </a:r>
            <a:r>
              <a:rPr sz="2000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connected</a:t>
            </a:r>
            <a:r>
              <a:rPr sz="2000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to</a:t>
            </a:r>
            <a:r>
              <a:rPr sz="2000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backend</a:t>
            </a:r>
            <a:r>
              <a:rPr sz="2000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Arial"/>
                <a:cs typeface="Arial"/>
              </a:rPr>
              <a:t>database?</a:t>
            </a:r>
            <a:endParaRPr sz="2000">
              <a:latin typeface="Arial"/>
              <a:cs typeface="Arial"/>
            </a:endParaRPr>
          </a:p>
          <a:p>
            <a:pPr marL="144780" indent="-132080">
              <a:lnSpc>
                <a:spcPct val="100000"/>
              </a:lnSpc>
              <a:spcBef>
                <a:spcPts val="525"/>
              </a:spcBef>
              <a:buClr>
                <a:srgbClr val="FFAB40"/>
              </a:buClr>
              <a:buChar char="•"/>
              <a:tabLst>
                <a:tab pos="144780" algn="l"/>
                <a:tab pos="4358005" algn="l"/>
              </a:tabLst>
            </a:pP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How</a:t>
            </a:r>
            <a:r>
              <a:rPr sz="2000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do</a:t>
            </a:r>
            <a:r>
              <a:rPr sz="2000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we</a:t>
            </a:r>
            <a:r>
              <a:rPr sz="2000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resolve</a:t>
            </a:r>
            <a:r>
              <a:rPr sz="2000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Pod</a:t>
            </a:r>
            <a:r>
              <a:rPr sz="2000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IP</a:t>
            </a:r>
            <a:r>
              <a:rPr sz="2000" spc="-8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Arial"/>
                <a:cs typeface="Arial"/>
              </a:rPr>
              <a:t>changes,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	when</a:t>
            </a:r>
            <a:r>
              <a:rPr sz="200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they</a:t>
            </a:r>
            <a:r>
              <a:rPr sz="20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spc="-20" dirty="0">
                <a:solidFill>
                  <a:srgbClr val="595959"/>
                </a:solidFill>
                <a:latin typeface="Arial"/>
                <a:cs typeface="Arial"/>
              </a:rPr>
              <a:t>die?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707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Agenda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89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339734" y="1360075"/>
            <a:ext cx="3192780" cy="1816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4780" indent="-132080">
              <a:lnSpc>
                <a:spcPct val="100000"/>
              </a:lnSpc>
              <a:spcBef>
                <a:spcPts val="100"/>
              </a:spcBef>
              <a:buClr>
                <a:srgbClr val="FFAB40"/>
              </a:buClr>
              <a:buChar char="•"/>
              <a:tabLst>
                <a:tab pos="144780" algn="l"/>
              </a:tabLst>
            </a:pP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Why</a:t>
            </a:r>
            <a:r>
              <a:rPr sz="20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do</a:t>
            </a:r>
            <a:r>
              <a:rPr sz="20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we</a:t>
            </a:r>
            <a:r>
              <a:rPr sz="20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need</a:t>
            </a:r>
            <a:r>
              <a:rPr sz="20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Arial"/>
                <a:cs typeface="Arial"/>
              </a:rPr>
              <a:t>services?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150"/>
              </a:spcBef>
              <a:buClr>
                <a:srgbClr val="FFAB40"/>
              </a:buClr>
              <a:buFont typeface="Arial"/>
              <a:buChar char="•"/>
            </a:pPr>
            <a:endParaRPr sz="2000">
              <a:latin typeface="Arial"/>
              <a:cs typeface="Arial"/>
            </a:endParaRPr>
          </a:p>
          <a:p>
            <a:pPr marL="144780" indent="-132080">
              <a:lnSpc>
                <a:spcPct val="100000"/>
              </a:lnSpc>
              <a:buClr>
                <a:srgbClr val="FFAB40"/>
              </a:buClr>
              <a:buChar char="•"/>
              <a:tabLst>
                <a:tab pos="144780" algn="l"/>
              </a:tabLst>
            </a:pP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What</a:t>
            </a:r>
            <a:r>
              <a:rPr sz="20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is</a:t>
            </a:r>
            <a:r>
              <a:rPr sz="20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Arial"/>
                <a:cs typeface="Arial"/>
              </a:rPr>
              <a:t>Service?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150"/>
              </a:spcBef>
              <a:buClr>
                <a:srgbClr val="FFAB40"/>
              </a:buClr>
              <a:buFont typeface="Arial"/>
              <a:buChar char="•"/>
            </a:pPr>
            <a:endParaRPr sz="2000">
              <a:latin typeface="Arial"/>
              <a:cs typeface="Arial"/>
            </a:endParaRPr>
          </a:p>
          <a:p>
            <a:pPr marL="144780" indent="-132080">
              <a:lnSpc>
                <a:spcPct val="100000"/>
              </a:lnSpc>
              <a:buClr>
                <a:srgbClr val="FFAB40"/>
              </a:buClr>
              <a:buChar char="•"/>
              <a:tabLst>
                <a:tab pos="144780" algn="l"/>
              </a:tabLst>
            </a:pPr>
            <a:r>
              <a:rPr sz="2000" spc="-10" dirty="0">
                <a:solidFill>
                  <a:srgbClr val="595959"/>
                </a:solidFill>
                <a:latin typeface="Arial"/>
                <a:cs typeface="Arial"/>
              </a:rPr>
              <a:t>Type</a:t>
            </a:r>
            <a:r>
              <a:rPr sz="2000" spc="-7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of</a:t>
            </a:r>
            <a:r>
              <a:rPr sz="2000" spc="-6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Arial"/>
                <a:cs typeface="Arial"/>
              </a:rPr>
              <a:t>Services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068422" y="1055104"/>
            <a:ext cx="2969895" cy="3140710"/>
            <a:chOff x="5068422" y="1055104"/>
            <a:chExt cx="2969895" cy="3140710"/>
          </a:xfrm>
        </p:grpSpPr>
        <p:sp>
          <p:nvSpPr>
            <p:cNvPr id="3" name="object 3"/>
            <p:cNvSpPr/>
            <p:nvPr/>
          </p:nvSpPr>
          <p:spPr>
            <a:xfrm>
              <a:off x="5689599" y="2071914"/>
              <a:ext cx="1828800" cy="403225"/>
            </a:xfrm>
            <a:custGeom>
              <a:avLst/>
              <a:gdLst/>
              <a:ahLst/>
              <a:cxnLst/>
              <a:rect l="l" t="t" r="r" b="b"/>
              <a:pathLst>
                <a:path w="1828800" h="403225">
                  <a:moveTo>
                    <a:pt x="1828799" y="402772"/>
                  </a:moveTo>
                  <a:lnTo>
                    <a:pt x="0" y="402772"/>
                  </a:lnTo>
                  <a:lnTo>
                    <a:pt x="0" y="0"/>
                  </a:lnTo>
                  <a:lnTo>
                    <a:pt x="1828799" y="0"/>
                  </a:lnTo>
                  <a:lnTo>
                    <a:pt x="1828799" y="402772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689599" y="2071914"/>
              <a:ext cx="1828800" cy="403225"/>
            </a:xfrm>
            <a:custGeom>
              <a:avLst/>
              <a:gdLst/>
              <a:ahLst/>
              <a:cxnLst/>
              <a:rect l="l" t="t" r="r" b="b"/>
              <a:pathLst>
                <a:path w="1828800" h="403225">
                  <a:moveTo>
                    <a:pt x="0" y="0"/>
                  </a:moveTo>
                  <a:lnTo>
                    <a:pt x="1828799" y="0"/>
                  </a:lnTo>
                  <a:lnTo>
                    <a:pt x="1828799" y="402772"/>
                  </a:lnTo>
                  <a:lnTo>
                    <a:pt x="0" y="402772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074772" y="1061454"/>
              <a:ext cx="2957195" cy="3128010"/>
            </a:xfrm>
            <a:custGeom>
              <a:avLst/>
              <a:gdLst/>
              <a:ahLst/>
              <a:cxnLst/>
              <a:rect l="l" t="t" r="r" b="b"/>
              <a:pathLst>
                <a:path w="2957195" h="3128010">
                  <a:moveTo>
                    <a:pt x="2464033" y="3127829"/>
                  </a:moveTo>
                  <a:lnTo>
                    <a:pt x="492818" y="3127829"/>
                  </a:lnTo>
                  <a:lnTo>
                    <a:pt x="445357" y="3125573"/>
                  </a:lnTo>
                  <a:lnTo>
                    <a:pt x="399171" y="3118942"/>
                  </a:lnTo>
                  <a:lnTo>
                    <a:pt x="354469" y="3108144"/>
                  </a:lnTo>
                  <a:lnTo>
                    <a:pt x="311456" y="3093385"/>
                  </a:lnTo>
                  <a:lnTo>
                    <a:pt x="270339" y="3074871"/>
                  </a:lnTo>
                  <a:lnTo>
                    <a:pt x="231325" y="3052809"/>
                  </a:lnTo>
                  <a:lnTo>
                    <a:pt x="194619" y="3027405"/>
                  </a:lnTo>
                  <a:lnTo>
                    <a:pt x="160430" y="2998866"/>
                  </a:lnTo>
                  <a:lnTo>
                    <a:pt x="128962" y="2967398"/>
                  </a:lnTo>
                  <a:lnTo>
                    <a:pt x="100423" y="2933209"/>
                  </a:lnTo>
                  <a:lnTo>
                    <a:pt x="75019" y="2896503"/>
                  </a:lnTo>
                  <a:lnTo>
                    <a:pt x="52957" y="2857489"/>
                  </a:lnTo>
                  <a:lnTo>
                    <a:pt x="34443" y="2816372"/>
                  </a:lnTo>
                  <a:lnTo>
                    <a:pt x="19684" y="2773359"/>
                  </a:lnTo>
                  <a:lnTo>
                    <a:pt x="8886" y="2728657"/>
                  </a:lnTo>
                  <a:lnTo>
                    <a:pt x="2255" y="2682472"/>
                  </a:lnTo>
                  <a:lnTo>
                    <a:pt x="0" y="2635010"/>
                  </a:lnTo>
                  <a:lnTo>
                    <a:pt x="0" y="492818"/>
                  </a:lnTo>
                  <a:lnTo>
                    <a:pt x="2255" y="445356"/>
                  </a:lnTo>
                  <a:lnTo>
                    <a:pt x="8886" y="399171"/>
                  </a:lnTo>
                  <a:lnTo>
                    <a:pt x="19684" y="354469"/>
                  </a:lnTo>
                  <a:lnTo>
                    <a:pt x="34443" y="311456"/>
                  </a:lnTo>
                  <a:lnTo>
                    <a:pt x="52957" y="270339"/>
                  </a:lnTo>
                  <a:lnTo>
                    <a:pt x="75019" y="231325"/>
                  </a:lnTo>
                  <a:lnTo>
                    <a:pt x="100423" y="194619"/>
                  </a:lnTo>
                  <a:lnTo>
                    <a:pt x="128962" y="160430"/>
                  </a:lnTo>
                  <a:lnTo>
                    <a:pt x="160430" y="128962"/>
                  </a:lnTo>
                  <a:lnTo>
                    <a:pt x="194619" y="100423"/>
                  </a:lnTo>
                  <a:lnTo>
                    <a:pt x="231325" y="75019"/>
                  </a:lnTo>
                  <a:lnTo>
                    <a:pt x="270339" y="52957"/>
                  </a:lnTo>
                  <a:lnTo>
                    <a:pt x="311456" y="34443"/>
                  </a:lnTo>
                  <a:lnTo>
                    <a:pt x="354469" y="19684"/>
                  </a:lnTo>
                  <a:lnTo>
                    <a:pt x="399171" y="8886"/>
                  </a:lnTo>
                  <a:lnTo>
                    <a:pt x="445357" y="2255"/>
                  </a:lnTo>
                  <a:lnTo>
                    <a:pt x="492818" y="0"/>
                  </a:lnTo>
                  <a:lnTo>
                    <a:pt x="2464033" y="0"/>
                  </a:lnTo>
                  <a:lnTo>
                    <a:pt x="2512743" y="2411"/>
                  </a:lnTo>
                  <a:lnTo>
                    <a:pt x="2560627" y="9556"/>
                  </a:lnTo>
                  <a:lnTo>
                    <a:pt x="2607363" y="21302"/>
                  </a:lnTo>
                  <a:lnTo>
                    <a:pt x="2652627" y="37513"/>
                  </a:lnTo>
                  <a:lnTo>
                    <a:pt x="2696097" y="58057"/>
                  </a:lnTo>
                  <a:lnTo>
                    <a:pt x="2737450" y="82799"/>
                  </a:lnTo>
                  <a:lnTo>
                    <a:pt x="2776361" y="111605"/>
                  </a:lnTo>
                  <a:lnTo>
                    <a:pt x="2812509" y="144343"/>
                  </a:lnTo>
                  <a:lnTo>
                    <a:pt x="2845246" y="180490"/>
                  </a:lnTo>
                  <a:lnTo>
                    <a:pt x="2874053" y="219402"/>
                  </a:lnTo>
                  <a:lnTo>
                    <a:pt x="2898795" y="260755"/>
                  </a:lnTo>
                  <a:lnTo>
                    <a:pt x="2919339" y="304225"/>
                  </a:lnTo>
                  <a:lnTo>
                    <a:pt x="2935550" y="349489"/>
                  </a:lnTo>
                  <a:lnTo>
                    <a:pt x="2947295" y="396225"/>
                  </a:lnTo>
                  <a:lnTo>
                    <a:pt x="2954441" y="444109"/>
                  </a:lnTo>
                  <a:lnTo>
                    <a:pt x="2956852" y="492818"/>
                  </a:lnTo>
                  <a:lnTo>
                    <a:pt x="2956852" y="2635010"/>
                  </a:lnTo>
                  <a:lnTo>
                    <a:pt x="2954596" y="2682472"/>
                  </a:lnTo>
                  <a:lnTo>
                    <a:pt x="2947966" y="2728657"/>
                  </a:lnTo>
                  <a:lnTo>
                    <a:pt x="2937168" y="2773359"/>
                  </a:lnTo>
                  <a:lnTo>
                    <a:pt x="2922409" y="2816372"/>
                  </a:lnTo>
                  <a:lnTo>
                    <a:pt x="2903895" y="2857489"/>
                  </a:lnTo>
                  <a:lnTo>
                    <a:pt x="2881833" y="2896503"/>
                  </a:lnTo>
                  <a:lnTo>
                    <a:pt x="2856429" y="2933209"/>
                  </a:lnTo>
                  <a:lnTo>
                    <a:pt x="2827890" y="2967398"/>
                  </a:lnTo>
                  <a:lnTo>
                    <a:pt x="2796422" y="2998866"/>
                  </a:lnTo>
                  <a:lnTo>
                    <a:pt x="2762232" y="3027405"/>
                  </a:lnTo>
                  <a:lnTo>
                    <a:pt x="2725527" y="3052809"/>
                  </a:lnTo>
                  <a:lnTo>
                    <a:pt x="2686513" y="3074871"/>
                  </a:lnTo>
                  <a:lnTo>
                    <a:pt x="2645396" y="3093385"/>
                  </a:lnTo>
                  <a:lnTo>
                    <a:pt x="2602383" y="3108144"/>
                  </a:lnTo>
                  <a:lnTo>
                    <a:pt x="2557681" y="3118942"/>
                  </a:lnTo>
                  <a:lnTo>
                    <a:pt x="2511495" y="3125573"/>
                  </a:lnTo>
                  <a:lnTo>
                    <a:pt x="2464033" y="312782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074772" y="1061454"/>
              <a:ext cx="2957195" cy="3128010"/>
            </a:xfrm>
            <a:custGeom>
              <a:avLst/>
              <a:gdLst/>
              <a:ahLst/>
              <a:cxnLst/>
              <a:rect l="l" t="t" r="r" b="b"/>
              <a:pathLst>
                <a:path w="2957195" h="3128010">
                  <a:moveTo>
                    <a:pt x="0" y="492818"/>
                  </a:moveTo>
                  <a:lnTo>
                    <a:pt x="2255" y="445356"/>
                  </a:lnTo>
                  <a:lnTo>
                    <a:pt x="8886" y="399171"/>
                  </a:lnTo>
                  <a:lnTo>
                    <a:pt x="19684" y="354469"/>
                  </a:lnTo>
                  <a:lnTo>
                    <a:pt x="34443" y="311456"/>
                  </a:lnTo>
                  <a:lnTo>
                    <a:pt x="52957" y="270339"/>
                  </a:lnTo>
                  <a:lnTo>
                    <a:pt x="75019" y="231325"/>
                  </a:lnTo>
                  <a:lnTo>
                    <a:pt x="100423" y="194619"/>
                  </a:lnTo>
                  <a:lnTo>
                    <a:pt x="128962" y="160430"/>
                  </a:lnTo>
                  <a:lnTo>
                    <a:pt x="160430" y="128962"/>
                  </a:lnTo>
                  <a:lnTo>
                    <a:pt x="194619" y="100423"/>
                  </a:lnTo>
                  <a:lnTo>
                    <a:pt x="231325" y="75019"/>
                  </a:lnTo>
                  <a:lnTo>
                    <a:pt x="270339" y="52957"/>
                  </a:lnTo>
                  <a:lnTo>
                    <a:pt x="311456" y="34443"/>
                  </a:lnTo>
                  <a:lnTo>
                    <a:pt x="354469" y="19684"/>
                  </a:lnTo>
                  <a:lnTo>
                    <a:pt x="399171" y="8886"/>
                  </a:lnTo>
                  <a:lnTo>
                    <a:pt x="445357" y="2255"/>
                  </a:lnTo>
                  <a:lnTo>
                    <a:pt x="492818" y="0"/>
                  </a:lnTo>
                  <a:lnTo>
                    <a:pt x="2464033" y="0"/>
                  </a:lnTo>
                  <a:lnTo>
                    <a:pt x="2512743" y="2411"/>
                  </a:lnTo>
                  <a:lnTo>
                    <a:pt x="2560627" y="9556"/>
                  </a:lnTo>
                  <a:lnTo>
                    <a:pt x="2607363" y="21302"/>
                  </a:lnTo>
                  <a:lnTo>
                    <a:pt x="2652627" y="37513"/>
                  </a:lnTo>
                  <a:lnTo>
                    <a:pt x="2696097" y="58057"/>
                  </a:lnTo>
                  <a:lnTo>
                    <a:pt x="2737450" y="82799"/>
                  </a:lnTo>
                  <a:lnTo>
                    <a:pt x="2776361" y="111605"/>
                  </a:lnTo>
                  <a:lnTo>
                    <a:pt x="2812509" y="144343"/>
                  </a:lnTo>
                  <a:lnTo>
                    <a:pt x="2845246" y="180490"/>
                  </a:lnTo>
                  <a:lnTo>
                    <a:pt x="2874053" y="219402"/>
                  </a:lnTo>
                  <a:lnTo>
                    <a:pt x="2898795" y="260755"/>
                  </a:lnTo>
                  <a:lnTo>
                    <a:pt x="2919339" y="304225"/>
                  </a:lnTo>
                  <a:lnTo>
                    <a:pt x="2935550" y="349489"/>
                  </a:lnTo>
                  <a:lnTo>
                    <a:pt x="2947295" y="396225"/>
                  </a:lnTo>
                  <a:lnTo>
                    <a:pt x="2954441" y="444109"/>
                  </a:lnTo>
                  <a:lnTo>
                    <a:pt x="2956852" y="492818"/>
                  </a:lnTo>
                  <a:lnTo>
                    <a:pt x="2956852" y="2635010"/>
                  </a:lnTo>
                  <a:lnTo>
                    <a:pt x="2954596" y="2682472"/>
                  </a:lnTo>
                  <a:lnTo>
                    <a:pt x="2947966" y="2728657"/>
                  </a:lnTo>
                  <a:lnTo>
                    <a:pt x="2937168" y="2773359"/>
                  </a:lnTo>
                  <a:lnTo>
                    <a:pt x="2922409" y="2816372"/>
                  </a:lnTo>
                  <a:lnTo>
                    <a:pt x="2903895" y="2857489"/>
                  </a:lnTo>
                  <a:lnTo>
                    <a:pt x="2881833" y="2896503"/>
                  </a:lnTo>
                  <a:lnTo>
                    <a:pt x="2856429" y="2933209"/>
                  </a:lnTo>
                  <a:lnTo>
                    <a:pt x="2827890" y="2967398"/>
                  </a:lnTo>
                  <a:lnTo>
                    <a:pt x="2796422" y="2998866"/>
                  </a:lnTo>
                  <a:lnTo>
                    <a:pt x="2762232" y="3027405"/>
                  </a:lnTo>
                  <a:lnTo>
                    <a:pt x="2725527" y="3052809"/>
                  </a:lnTo>
                  <a:lnTo>
                    <a:pt x="2686513" y="3074871"/>
                  </a:lnTo>
                  <a:lnTo>
                    <a:pt x="2645396" y="3093385"/>
                  </a:lnTo>
                  <a:lnTo>
                    <a:pt x="2602383" y="3108144"/>
                  </a:lnTo>
                  <a:lnTo>
                    <a:pt x="2557681" y="3118942"/>
                  </a:lnTo>
                  <a:lnTo>
                    <a:pt x="2511495" y="3125573"/>
                  </a:lnTo>
                  <a:lnTo>
                    <a:pt x="2464033" y="3127829"/>
                  </a:lnTo>
                  <a:lnTo>
                    <a:pt x="492818" y="3127829"/>
                  </a:lnTo>
                  <a:lnTo>
                    <a:pt x="445357" y="3125573"/>
                  </a:lnTo>
                  <a:lnTo>
                    <a:pt x="399171" y="3118942"/>
                  </a:lnTo>
                  <a:lnTo>
                    <a:pt x="354469" y="3108144"/>
                  </a:lnTo>
                  <a:lnTo>
                    <a:pt x="311456" y="3093385"/>
                  </a:lnTo>
                  <a:lnTo>
                    <a:pt x="270339" y="3074871"/>
                  </a:lnTo>
                  <a:lnTo>
                    <a:pt x="231325" y="3052809"/>
                  </a:lnTo>
                  <a:lnTo>
                    <a:pt x="194619" y="3027405"/>
                  </a:lnTo>
                  <a:lnTo>
                    <a:pt x="160430" y="2998866"/>
                  </a:lnTo>
                  <a:lnTo>
                    <a:pt x="128962" y="2967398"/>
                  </a:lnTo>
                  <a:lnTo>
                    <a:pt x="100423" y="2933209"/>
                  </a:lnTo>
                  <a:lnTo>
                    <a:pt x="75019" y="2896503"/>
                  </a:lnTo>
                  <a:lnTo>
                    <a:pt x="52957" y="2857489"/>
                  </a:lnTo>
                  <a:lnTo>
                    <a:pt x="34443" y="2816372"/>
                  </a:lnTo>
                  <a:lnTo>
                    <a:pt x="19684" y="2773359"/>
                  </a:lnTo>
                  <a:lnTo>
                    <a:pt x="8886" y="2728657"/>
                  </a:lnTo>
                  <a:lnTo>
                    <a:pt x="2255" y="2682472"/>
                  </a:lnTo>
                  <a:lnTo>
                    <a:pt x="0" y="2635010"/>
                  </a:lnTo>
                  <a:lnTo>
                    <a:pt x="0" y="492818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301625" y="249500"/>
            <a:ext cx="1428115" cy="4648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Services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805713" y="1001485"/>
            <a:ext cx="1495425" cy="268605"/>
          </a:xfrm>
          <a:prstGeom prst="rect">
            <a:avLst/>
          </a:prstGeom>
          <a:solidFill>
            <a:srgbClr val="7030A0"/>
          </a:solidFill>
          <a:ln w="12699">
            <a:solidFill>
              <a:srgbClr val="127BB4"/>
            </a:solidFill>
          </a:ln>
        </p:spPr>
        <p:txBody>
          <a:bodyPr vert="horz" wrap="square" lIns="0" tIns="37465" rIns="0" bIns="0" rtlCol="0">
            <a:spAutoFit/>
          </a:bodyPr>
          <a:lstStyle/>
          <a:p>
            <a:pPr marL="344805">
              <a:lnSpc>
                <a:spcPct val="100000"/>
              </a:lnSpc>
              <a:spcBef>
                <a:spcPts val="295"/>
              </a:spcBef>
            </a:pP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192.168.1.1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893598" y="3423998"/>
            <a:ext cx="1553845" cy="516255"/>
            <a:chOff x="5893598" y="3423998"/>
            <a:chExt cx="1553845" cy="516255"/>
          </a:xfrm>
        </p:grpSpPr>
        <p:sp>
          <p:nvSpPr>
            <p:cNvPr id="10" name="object 10"/>
            <p:cNvSpPr/>
            <p:nvPr/>
          </p:nvSpPr>
          <p:spPr>
            <a:xfrm>
              <a:off x="5899948" y="3541361"/>
              <a:ext cx="1541145" cy="392430"/>
            </a:xfrm>
            <a:custGeom>
              <a:avLst/>
              <a:gdLst/>
              <a:ahLst/>
              <a:cxnLst/>
              <a:rect l="l" t="t" r="r" b="b"/>
              <a:pathLst>
                <a:path w="1541145" h="392429">
                  <a:moveTo>
                    <a:pt x="1540651" y="392009"/>
                  </a:moveTo>
                  <a:lnTo>
                    <a:pt x="0" y="392009"/>
                  </a:lnTo>
                  <a:lnTo>
                    <a:pt x="0" y="0"/>
                  </a:lnTo>
                  <a:lnTo>
                    <a:pt x="1540651" y="0"/>
                  </a:lnTo>
                  <a:lnTo>
                    <a:pt x="1540651" y="392009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899948" y="3541361"/>
              <a:ext cx="1541145" cy="392430"/>
            </a:xfrm>
            <a:custGeom>
              <a:avLst/>
              <a:gdLst/>
              <a:ahLst/>
              <a:cxnLst/>
              <a:rect l="l" t="t" r="r" b="b"/>
              <a:pathLst>
                <a:path w="1541145" h="392429">
                  <a:moveTo>
                    <a:pt x="0" y="0"/>
                  </a:moveTo>
                  <a:lnTo>
                    <a:pt x="1540651" y="0"/>
                  </a:lnTo>
                  <a:lnTo>
                    <a:pt x="1540651" y="392009"/>
                  </a:lnTo>
                  <a:lnTo>
                    <a:pt x="0" y="392009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136463" y="3430348"/>
              <a:ext cx="1149350" cy="189865"/>
            </a:xfrm>
            <a:custGeom>
              <a:avLst/>
              <a:gdLst/>
              <a:ahLst/>
              <a:cxnLst/>
              <a:rect l="l" t="t" r="r" b="b"/>
              <a:pathLst>
                <a:path w="1149350" h="189864">
                  <a:moveTo>
                    <a:pt x="1149218" y="189639"/>
                  </a:moveTo>
                  <a:lnTo>
                    <a:pt x="0" y="189639"/>
                  </a:lnTo>
                  <a:lnTo>
                    <a:pt x="0" y="0"/>
                  </a:lnTo>
                  <a:lnTo>
                    <a:pt x="1149218" y="0"/>
                  </a:lnTo>
                  <a:lnTo>
                    <a:pt x="1149218" y="189639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136463" y="3430348"/>
              <a:ext cx="1149350" cy="189865"/>
            </a:xfrm>
            <a:custGeom>
              <a:avLst/>
              <a:gdLst/>
              <a:ahLst/>
              <a:cxnLst/>
              <a:rect l="l" t="t" r="r" b="b"/>
              <a:pathLst>
                <a:path w="1149350" h="189864">
                  <a:moveTo>
                    <a:pt x="0" y="0"/>
                  </a:moveTo>
                  <a:lnTo>
                    <a:pt x="1149218" y="0"/>
                  </a:lnTo>
                  <a:lnTo>
                    <a:pt x="1149218" y="189639"/>
                  </a:lnTo>
                  <a:lnTo>
                    <a:pt x="0" y="189639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6136463" y="3430348"/>
            <a:ext cx="1149350" cy="111125"/>
          </a:xfrm>
          <a:prstGeom prst="rect">
            <a:avLst/>
          </a:prstGeom>
          <a:solidFill>
            <a:srgbClr val="FFAB40"/>
          </a:solidFill>
          <a:ln w="12699">
            <a:solidFill>
              <a:srgbClr val="127BB4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40995">
              <a:lnSpc>
                <a:spcPts val="875"/>
              </a:lnSpc>
            </a:pP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app:db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013451" y="3669877"/>
            <a:ext cx="2369820" cy="234315"/>
            <a:chOff x="6013451" y="3669877"/>
            <a:chExt cx="2369820" cy="234315"/>
          </a:xfrm>
        </p:grpSpPr>
        <p:sp>
          <p:nvSpPr>
            <p:cNvPr id="16" name="object 16"/>
            <p:cNvSpPr/>
            <p:nvPr/>
          </p:nvSpPr>
          <p:spPr>
            <a:xfrm>
              <a:off x="7522777" y="3737366"/>
              <a:ext cx="855344" cy="6985"/>
            </a:xfrm>
            <a:custGeom>
              <a:avLst/>
              <a:gdLst/>
              <a:ahLst/>
              <a:cxnLst/>
              <a:rect l="l" t="t" r="r" b="b"/>
              <a:pathLst>
                <a:path w="855345" h="6985">
                  <a:moveTo>
                    <a:pt x="855221" y="0"/>
                  </a:moveTo>
                  <a:lnTo>
                    <a:pt x="0" y="6802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479552" y="3728436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349" y="31464"/>
                  </a:moveTo>
                  <a:lnTo>
                    <a:pt x="0" y="16075"/>
                  </a:lnTo>
                  <a:lnTo>
                    <a:pt x="43099" y="0"/>
                  </a:lnTo>
                  <a:lnTo>
                    <a:pt x="43349" y="31464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479552" y="3728436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099" y="0"/>
                  </a:moveTo>
                  <a:lnTo>
                    <a:pt x="0" y="16075"/>
                  </a:lnTo>
                  <a:lnTo>
                    <a:pt x="43349" y="31464"/>
                  </a:lnTo>
                  <a:lnTo>
                    <a:pt x="43099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19801" y="3698807"/>
              <a:ext cx="253451" cy="184274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6019801" y="3698807"/>
              <a:ext cx="254000" cy="184785"/>
            </a:xfrm>
            <a:custGeom>
              <a:avLst/>
              <a:gdLst/>
              <a:ahLst/>
              <a:cxnLst/>
              <a:rect l="l" t="t" r="r" b="b"/>
              <a:pathLst>
                <a:path w="254000" h="184785">
                  <a:moveTo>
                    <a:pt x="0" y="92137"/>
                  </a:moveTo>
                  <a:lnTo>
                    <a:pt x="9958" y="56273"/>
                  </a:lnTo>
                  <a:lnTo>
                    <a:pt x="37117" y="26986"/>
                  </a:lnTo>
                  <a:lnTo>
                    <a:pt x="77398" y="7240"/>
                  </a:lnTo>
                  <a:lnTo>
                    <a:pt x="126726" y="0"/>
                  </a:lnTo>
                  <a:lnTo>
                    <a:pt x="176053" y="7240"/>
                  </a:lnTo>
                  <a:lnTo>
                    <a:pt x="216334" y="26986"/>
                  </a:lnTo>
                  <a:lnTo>
                    <a:pt x="243493" y="56273"/>
                  </a:lnTo>
                  <a:lnTo>
                    <a:pt x="253451" y="92137"/>
                  </a:lnTo>
                  <a:lnTo>
                    <a:pt x="243493" y="128001"/>
                  </a:lnTo>
                  <a:lnTo>
                    <a:pt x="216334" y="157288"/>
                  </a:lnTo>
                  <a:lnTo>
                    <a:pt x="176053" y="177034"/>
                  </a:lnTo>
                  <a:lnTo>
                    <a:pt x="126726" y="184274"/>
                  </a:lnTo>
                  <a:lnTo>
                    <a:pt x="77398" y="177034"/>
                  </a:lnTo>
                  <a:lnTo>
                    <a:pt x="37117" y="157288"/>
                  </a:lnTo>
                  <a:lnTo>
                    <a:pt x="9958" y="128001"/>
                  </a:lnTo>
                  <a:lnTo>
                    <a:pt x="0" y="92137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081301" y="3733866"/>
              <a:ext cx="130810" cy="114300"/>
            </a:xfrm>
            <a:custGeom>
              <a:avLst/>
              <a:gdLst/>
              <a:ahLst/>
              <a:cxnLst/>
              <a:rect l="l" t="t" r="r" b="b"/>
              <a:pathLst>
                <a:path w="130810" h="114300">
                  <a:moveTo>
                    <a:pt x="130451" y="114157"/>
                  </a:moveTo>
                  <a:lnTo>
                    <a:pt x="0" y="114157"/>
                  </a:lnTo>
                  <a:lnTo>
                    <a:pt x="0" y="0"/>
                  </a:lnTo>
                  <a:lnTo>
                    <a:pt x="130451" y="0"/>
                  </a:lnTo>
                  <a:lnTo>
                    <a:pt x="130451" y="114157"/>
                  </a:lnTo>
                  <a:close/>
                </a:path>
              </a:pathLst>
            </a:custGeom>
            <a:solidFill>
              <a:srgbClr val="2121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081301" y="3733866"/>
              <a:ext cx="130810" cy="114300"/>
            </a:xfrm>
            <a:custGeom>
              <a:avLst/>
              <a:gdLst/>
              <a:ahLst/>
              <a:cxnLst/>
              <a:rect l="l" t="t" r="r" b="b"/>
              <a:pathLst>
                <a:path w="130810" h="114300">
                  <a:moveTo>
                    <a:pt x="0" y="0"/>
                  </a:moveTo>
                  <a:lnTo>
                    <a:pt x="130451" y="0"/>
                  </a:lnTo>
                  <a:lnTo>
                    <a:pt x="130451" y="114157"/>
                  </a:lnTo>
                  <a:lnTo>
                    <a:pt x="0" y="11415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19038" y="3713323"/>
              <a:ext cx="253452" cy="184274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6319038" y="3713323"/>
              <a:ext cx="254000" cy="184785"/>
            </a:xfrm>
            <a:custGeom>
              <a:avLst/>
              <a:gdLst/>
              <a:ahLst/>
              <a:cxnLst/>
              <a:rect l="l" t="t" r="r" b="b"/>
              <a:pathLst>
                <a:path w="254000" h="184785">
                  <a:moveTo>
                    <a:pt x="0" y="92137"/>
                  </a:moveTo>
                  <a:lnTo>
                    <a:pt x="9958" y="56273"/>
                  </a:lnTo>
                  <a:lnTo>
                    <a:pt x="37117" y="26986"/>
                  </a:lnTo>
                  <a:lnTo>
                    <a:pt x="77398" y="7240"/>
                  </a:lnTo>
                  <a:lnTo>
                    <a:pt x="126726" y="0"/>
                  </a:lnTo>
                  <a:lnTo>
                    <a:pt x="176053" y="7240"/>
                  </a:lnTo>
                  <a:lnTo>
                    <a:pt x="216335" y="26986"/>
                  </a:lnTo>
                  <a:lnTo>
                    <a:pt x="243493" y="56273"/>
                  </a:lnTo>
                  <a:lnTo>
                    <a:pt x="253452" y="92137"/>
                  </a:lnTo>
                  <a:lnTo>
                    <a:pt x="243493" y="128001"/>
                  </a:lnTo>
                  <a:lnTo>
                    <a:pt x="216335" y="157288"/>
                  </a:lnTo>
                  <a:lnTo>
                    <a:pt x="176053" y="177034"/>
                  </a:lnTo>
                  <a:lnTo>
                    <a:pt x="126726" y="184274"/>
                  </a:lnTo>
                  <a:lnTo>
                    <a:pt x="77398" y="177034"/>
                  </a:lnTo>
                  <a:lnTo>
                    <a:pt x="37117" y="157288"/>
                  </a:lnTo>
                  <a:lnTo>
                    <a:pt x="9958" y="128001"/>
                  </a:lnTo>
                  <a:lnTo>
                    <a:pt x="0" y="92137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380538" y="3748380"/>
              <a:ext cx="130810" cy="114300"/>
            </a:xfrm>
            <a:custGeom>
              <a:avLst/>
              <a:gdLst/>
              <a:ahLst/>
              <a:cxnLst/>
              <a:rect l="l" t="t" r="r" b="b"/>
              <a:pathLst>
                <a:path w="130809" h="114300">
                  <a:moveTo>
                    <a:pt x="130451" y="114157"/>
                  </a:moveTo>
                  <a:lnTo>
                    <a:pt x="0" y="114157"/>
                  </a:lnTo>
                  <a:lnTo>
                    <a:pt x="0" y="0"/>
                  </a:lnTo>
                  <a:lnTo>
                    <a:pt x="130451" y="0"/>
                  </a:lnTo>
                  <a:lnTo>
                    <a:pt x="130451" y="114157"/>
                  </a:lnTo>
                  <a:close/>
                </a:path>
              </a:pathLst>
            </a:custGeom>
            <a:solidFill>
              <a:srgbClr val="2121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380538" y="3748380"/>
              <a:ext cx="130810" cy="114300"/>
            </a:xfrm>
            <a:custGeom>
              <a:avLst/>
              <a:gdLst/>
              <a:ahLst/>
              <a:cxnLst/>
              <a:rect l="l" t="t" r="r" b="b"/>
              <a:pathLst>
                <a:path w="130809" h="114300">
                  <a:moveTo>
                    <a:pt x="0" y="0"/>
                  </a:moveTo>
                  <a:lnTo>
                    <a:pt x="130451" y="0"/>
                  </a:lnTo>
                  <a:lnTo>
                    <a:pt x="130451" y="114157"/>
                  </a:lnTo>
                  <a:lnTo>
                    <a:pt x="0" y="11415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23600" y="3694396"/>
              <a:ext cx="253452" cy="184274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6623600" y="3694396"/>
              <a:ext cx="254000" cy="184785"/>
            </a:xfrm>
            <a:custGeom>
              <a:avLst/>
              <a:gdLst/>
              <a:ahLst/>
              <a:cxnLst/>
              <a:rect l="l" t="t" r="r" b="b"/>
              <a:pathLst>
                <a:path w="254000" h="184785">
                  <a:moveTo>
                    <a:pt x="0" y="92137"/>
                  </a:moveTo>
                  <a:lnTo>
                    <a:pt x="9958" y="56273"/>
                  </a:lnTo>
                  <a:lnTo>
                    <a:pt x="37117" y="26986"/>
                  </a:lnTo>
                  <a:lnTo>
                    <a:pt x="77398" y="7240"/>
                  </a:lnTo>
                  <a:lnTo>
                    <a:pt x="126725" y="0"/>
                  </a:lnTo>
                  <a:lnTo>
                    <a:pt x="176053" y="7240"/>
                  </a:lnTo>
                  <a:lnTo>
                    <a:pt x="216334" y="26986"/>
                  </a:lnTo>
                  <a:lnTo>
                    <a:pt x="243493" y="56273"/>
                  </a:lnTo>
                  <a:lnTo>
                    <a:pt x="253452" y="92137"/>
                  </a:lnTo>
                  <a:lnTo>
                    <a:pt x="243493" y="128001"/>
                  </a:lnTo>
                  <a:lnTo>
                    <a:pt x="216334" y="157288"/>
                  </a:lnTo>
                  <a:lnTo>
                    <a:pt x="176053" y="177034"/>
                  </a:lnTo>
                  <a:lnTo>
                    <a:pt x="126725" y="184274"/>
                  </a:lnTo>
                  <a:lnTo>
                    <a:pt x="77398" y="177034"/>
                  </a:lnTo>
                  <a:lnTo>
                    <a:pt x="37117" y="157288"/>
                  </a:lnTo>
                  <a:lnTo>
                    <a:pt x="9958" y="128001"/>
                  </a:lnTo>
                  <a:lnTo>
                    <a:pt x="0" y="92137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685100" y="3729454"/>
              <a:ext cx="130810" cy="114300"/>
            </a:xfrm>
            <a:custGeom>
              <a:avLst/>
              <a:gdLst/>
              <a:ahLst/>
              <a:cxnLst/>
              <a:rect l="l" t="t" r="r" b="b"/>
              <a:pathLst>
                <a:path w="130809" h="114300">
                  <a:moveTo>
                    <a:pt x="130450" y="114157"/>
                  </a:moveTo>
                  <a:lnTo>
                    <a:pt x="0" y="114157"/>
                  </a:lnTo>
                  <a:lnTo>
                    <a:pt x="0" y="0"/>
                  </a:lnTo>
                  <a:lnTo>
                    <a:pt x="130450" y="0"/>
                  </a:lnTo>
                  <a:lnTo>
                    <a:pt x="130450" y="114157"/>
                  </a:lnTo>
                  <a:close/>
                </a:path>
              </a:pathLst>
            </a:custGeom>
            <a:solidFill>
              <a:srgbClr val="2121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685100" y="3729454"/>
              <a:ext cx="130810" cy="114300"/>
            </a:xfrm>
            <a:custGeom>
              <a:avLst/>
              <a:gdLst/>
              <a:ahLst/>
              <a:cxnLst/>
              <a:rect l="l" t="t" r="r" b="b"/>
              <a:pathLst>
                <a:path w="130809" h="114300">
                  <a:moveTo>
                    <a:pt x="0" y="0"/>
                  </a:moveTo>
                  <a:lnTo>
                    <a:pt x="130450" y="0"/>
                  </a:lnTo>
                  <a:lnTo>
                    <a:pt x="130450" y="114157"/>
                  </a:lnTo>
                  <a:lnTo>
                    <a:pt x="0" y="11415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30081" y="3676227"/>
              <a:ext cx="253452" cy="184274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6930081" y="3676227"/>
              <a:ext cx="254000" cy="184785"/>
            </a:xfrm>
            <a:custGeom>
              <a:avLst/>
              <a:gdLst/>
              <a:ahLst/>
              <a:cxnLst/>
              <a:rect l="l" t="t" r="r" b="b"/>
              <a:pathLst>
                <a:path w="254000" h="184785">
                  <a:moveTo>
                    <a:pt x="0" y="92137"/>
                  </a:moveTo>
                  <a:lnTo>
                    <a:pt x="9958" y="56273"/>
                  </a:lnTo>
                  <a:lnTo>
                    <a:pt x="37117" y="26986"/>
                  </a:lnTo>
                  <a:lnTo>
                    <a:pt x="77398" y="7240"/>
                  </a:lnTo>
                  <a:lnTo>
                    <a:pt x="126725" y="0"/>
                  </a:lnTo>
                  <a:lnTo>
                    <a:pt x="176053" y="7240"/>
                  </a:lnTo>
                  <a:lnTo>
                    <a:pt x="216334" y="26986"/>
                  </a:lnTo>
                  <a:lnTo>
                    <a:pt x="243493" y="56273"/>
                  </a:lnTo>
                  <a:lnTo>
                    <a:pt x="253452" y="92137"/>
                  </a:lnTo>
                  <a:lnTo>
                    <a:pt x="243493" y="128001"/>
                  </a:lnTo>
                  <a:lnTo>
                    <a:pt x="216334" y="157288"/>
                  </a:lnTo>
                  <a:lnTo>
                    <a:pt x="176053" y="177034"/>
                  </a:lnTo>
                  <a:lnTo>
                    <a:pt x="126725" y="184274"/>
                  </a:lnTo>
                  <a:lnTo>
                    <a:pt x="77398" y="177034"/>
                  </a:lnTo>
                  <a:lnTo>
                    <a:pt x="37117" y="157288"/>
                  </a:lnTo>
                  <a:lnTo>
                    <a:pt x="9958" y="128001"/>
                  </a:lnTo>
                  <a:lnTo>
                    <a:pt x="0" y="92137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991581" y="3711285"/>
              <a:ext cx="130810" cy="114300"/>
            </a:xfrm>
            <a:custGeom>
              <a:avLst/>
              <a:gdLst/>
              <a:ahLst/>
              <a:cxnLst/>
              <a:rect l="l" t="t" r="r" b="b"/>
              <a:pathLst>
                <a:path w="130809" h="114300">
                  <a:moveTo>
                    <a:pt x="130450" y="114157"/>
                  </a:moveTo>
                  <a:lnTo>
                    <a:pt x="0" y="114157"/>
                  </a:lnTo>
                  <a:lnTo>
                    <a:pt x="0" y="0"/>
                  </a:lnTo>
                  <a:lnTo>
                    <a:pt x="130450" y="0"/>
                  </a:lnTo>
                  <a:lnTo>
                    <a:pt x="130450" y="114157"/>
                  </a:lnTo>
                  <a:close/>
                </a:path>
              </a:pathLst>
            </a:custGeom>
            <a:solidFill>
              <a:srgbClr val="2121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991581" y="3711285"/>
              <a:ext cx="130810" cy="114300"/>
            </a:xfrm>
            <a:custGeom>
              <a:avLst/>
              <a:gdLst/>
              <a:ahLst/>
              <a:cxnLst/>
              <a:rect l="l" t="t" r="r" b="b"/>
              <a:pathLst>
                <a:path w="130809" h="114300">
                  <a:moveTo>
                    <a:pt x="0" y="0"/>
                  </a:moveTo>
                  <a:lnTo>
                    <a:pt x="130450" y="0"/>
                  </a:lnTo>
                  <a:lnTo>
                    <a:pt x="130450" y="114157"/>
                  </a:lnTo>
                  <a:lnTo>
                    <a:pt x="0" y="114157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8409391" y="3618170"/>
            <a:ext cx="618490" cy="38925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 marR="5080">
              <a:lnSpc>
                <a:spcPts val="1430"/>
              </a:lnSpc>
              <a:spcBef>
                <a:spcPts val="155"/>
              </a:spcBef>
            </a:pPr>
            <a:r>
              <a:rPr sz="1200" spc="-10" dirty="0">
                <a:latin typeface="Arial"/>
                <a:cs typeface="Arial"/>
              </a:rPr>
              <a:t>Backend </a:t>
            </a:r>
            <a:r>
              <a:rPr sz="1200" spc="-25" dirty="0">
                <a:latin typeface="Arial"/>
                <a:cs typeface="Arial"/>
              </a:rPr>
              <a:t>Pod</a:t>
            </a:r>
            <a:endParaRPr sz="12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498210" y="4318267"/>
            <a:ext cx="5721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Arial"/>
                <a:cs typeface="Arial"/>
              </a:rPr>
              <a:t>Node</a:t>
            </a:r>
            <a:endParaRPr sz="18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852884" y="2892061"/>
            <a:ext cx="1502410" cy="201930"/>
          </a:xfrm>
          <a:prstGeom prst="rect">
            <a:avLst/>
          </a:prstGeom>
          <a:solidFill>
            <a:srgbClr val="FFAB40"/>
          </a:solidFill>
          <a:ln w="12699">
            <a:solidFill>
              <a:srgbClr val="127BB4"/>
            </a:solidFill>
          </a:ln>
        </p:spPr>
        <p:txBody>
          <a:bodyPr vert="horz" wrap="square" lIns="0" tIns="9525" rIns="0" bIns="0" rtlCol="0">
            <a:spAutoFit/>
          </a:bodyPr>
          <a:lstStyle/>
          <a:p>
            <a:pPr marL="207645">
              <a:lnSpc>
                <a:spcPct val="100000"/>
              </a:lnSpc>
              <a:spcBef>
                <a:spcPts val="75"/>
              </a:spcBef>
            </a:pP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Service(backend)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38" name="object 3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827612" y="1918311"/>
            <a:ext cx="1489755" cy="728613"/>
          </a:xfrm>
          <a:prstGeom prst="rect">
            <a:avLst/>
          </a:prstGeom>
        </p:spPr>
      </p:pic>
      <p:sp>
        <p:nvSpPr>
          <p:cNvPr id="39" name="object 39"/>
          <p:cNvSpPr txBox="1"/>
          <p:nvPr/>
        </p:nvSpPr>
        <p:spPr>
          <a:xfrm>
            <a:off x="5852883" y="1622596"/>
            <a:ext cx="1502410" cy="201930"/>
          </a:xfrm>
          <a:prstGeom prst="rect">
            <a:avLst/>
          </a:prstGeom>
          <a:solidFill>
            <a:srgbClr val="FFAB40"/>
          </a:solidFill>
          <a:ln w="12699">
            <a:solidFill>
              <a:srgbClr val="127BB4"/>
            </a:solidFill>
          </a:ln>
        </p:spPr>
        <p:txBody>
          <a:bodyPr vert="horz" wrap="square" lIns="0" tIns="9525" rIns="0" bIns="0" rtlCol="0">
            <a:spAutoFit/>
          </a:bodyPr>
          <a:lstStyle/>
          <a:p>
            <a:pPr marL="215265">
              <a:lnSpc>
                <a:spcPct val="100000"/>
              </a:lnSpc>
              <a:spcBef>
                <a:spcPts val="75"/>
              </a:spcBef>
            </a:pP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Service(frontend)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6532703" y="1279162"/>
            <a:ext cx="1639570" cy="2142490"/>
            <a:chOff x="6532703" y="1279162"/>
            <a:chExt cx="1639570" cy="2142490"/>
          </a:xfrm>
        </p:grpSpPr>
        <p:sp>
          <p:nvSpPr>
            <p:cNvPr id="41" name="object 41"/>
            <p:cNvSpPr/>
            <p:nvPr/>
          </p:nvSpPr>
          <p:spPr>
            <a:xfrm>
              <a:off x="7312027" y="2341930"/>
              <a:ext cx="855344" cy="6985"/>
            </a:xfrm>
            <a:custGeom>
              <a:avLst/>
              <a:gdLst/>
              <a:ahLst/>
              <a:cxnLst/>
              <a:rect l="l" t="t" r="r" b="b"/>
              <a:pathLst>
                <a:path w="855345" h="6985">
                  <a:moveTo>
                    <a:pt x="855221" y="0"/>
                  </a:moveTo>
                  <a:lnTo>
                    <a:pt x="0" y="6802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7268803" y="2333000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349" y="31464"/>
                  </a:moveTo>
                  <a:lnTo>
                    <a:pt x="0" y="16075"/>
                  </a:lnTo>
                  <a:lnTo>
                    <a:pt x="43099" y="0"/>
                  </a:lnTo>
                  <a:lnTo>
                    <a:pt x="43349" y="31464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7268803" y="2333000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099" y="0"/>
                  </a:moveTo>
                  <a:lnTo>
                    <a:pt x="0" y="16075"/>
                  </a:lnTo>
                  <a:lnTo>
                    <a:pt x="43349" y="31464"/>
                  </a:lnTo>
                  <a:lnTo>
                    <a:pt x="43099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6713733" y="3172136"/>
              <a:ext cx="9525" cy="201295"/>
            </a:xfrm>
            <a:custGeom>
              <a:avLst/>
              <a:gdLst/>
              <a:ahLst/>
              <a:cxnLst/>
              <a:rect l="l" t="t" r="r" b="b"/>
              <a:pathLst>
                <a:path w="9525" h="201295">
                  <a:moveTo>
                    <a:pt x="9376" y="0"/>
                  </a:moveTo>
                  <a:lnTo>
                    <a:pt x="0" y="201124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6707394" y="3128958"/>
              <a:ext cx="31750" cy="44450"/>
            </a:xfrm>
            <a:custGeom>
              <a:avLst/>
              <a:gdLst/>
              <a:ahLst/>
              <a:cxnLst/>
              <a:rect l="l" t="t" r="r" b="b"/>
              <a:pathLst>
                <a:path w="31750" h="44450">
                  <a:moveTo>
                    <a:pt x="31431" y="43911"/>
                  </a:moveTo>
                  <a:lnTo>
                    <a:pt x="0" y="42445"/>
                  </a:lnTo>
                  <a:lnTo>
                    <a:pt x="17728" y="0"/>
                  </a:lnTo>
                  <a:lnTo>
                    <a:pt x="31431" y="43911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6707394" y="3128958"/>
              <a:ext cx="31750" cy="44450"/>
            </a:xfrm>
            <a:custGeom>
              <a:avLst/>
              <a:gdLst/>
              <a:ahLst/>
              <a:cxnLst/>
              <a:rect l="l" t="t" r="r" b="b"/>
              <a:pathLst>
                <a:path w="31750" h="44450">
                  <a:moveTo>
                    <a:pt x="31431" y="43911"/>
                  </a:moveTo>
                  <a:lnTo>
                    <a:pt x="17728" y="0"/>
                  </a:lnTo>
                  <a:lnTo>
                    <a:pt x="0" y="42445"/>
                  </a:lnTo>
                  <a:lnTo>
                    <a:pt x="31431" y="43911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698018" y="3372527"/>
              <a:ext cx="31750" cy="44450"/>
            </a:xfrm>
            <a:custGeom>
              <a:avLst/>
              <a:gdLst/>
              <a:ahLst/>
              <a:cxnLst/>
              <a:rect l="l" t="t" r="r" b="b"/>
              <a:pathLst>
                <a:path w="31750" h="44450">
                  <a:moveTo>
                    <a:pt x="13701" y="43911"/>
                  </a:moveTo>
                  <a:lnTo>
                    <a:pt x="0" y="0"/>
                  </a:lnTo>
                  <a:lnTo>
                    <a:pt x="31431" y="1465"/>
                  </a:lnTo>
                  <a:lnTo>
                    <a:pt x="13701" y="43911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698018" y="3372527"/>
              <a:ext cx="31750" cy="44450"/>
            </a:xfrm>
            <a:custGeom>
              <a:avLst/>
              <a:gdLst/>
              <a:ahLst/>
              <a:cxnLst/>
              <a:rect l="l" t="t" r="r" b="b"/>
              <a:pathLst>
                <a:path w="31750" h="44450">
                  <a:moveTo>
                    <a:pt x="0" y="0"/>
                  </a:moveTo>
                  <a:lnTo>
                    <a:pt x="13701" y="43911"/>
                  </a:lnTo>
                  <a:lnTo>
                    <a:pt x="31431" y="1465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599215" y="2613240"/>
              <a:ext cx="8890" cy="201295"/>
            </a:xfrm>
            <a:custGeom>
              <a:avLst/>
              <a:gdLst/>
              <a:ahLst/>
              <a:cxnLst/>
              <a:rect l="l" t="t" r="r" b="b"/>
              <a:pathLst>
                <a:path w="8890" h="201294">
                  <a:moveTo>
                    <a:pt x="0" y="0"/>
                  </a:moveTo>
                  <a:lnTo>
                    <a:pt x="8328" y="201129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6583496" y="2570051"/>
              <a:ext cx="31750" cy="44450"/>
            </a:xfrm>
            <a:custGeom>
              <a:avLst/>
              <a:gdLst/>
              <a:ahLst/>
              <a:cxnLst/>
              <a:rect l="l" t="t" r="r" b="b"/>
              <a:pathLst>
                <a:path w="31750" h="44450">
                  <a:moveTo>
                    <a:pt x="0" y="43839"/>
                  </a:moveTo>
                  <a:lnTo>
                    <a:pt x="13930" y="0"/>
                  </a:lnTo>
                  <a:lnTo>
                    <a:pt x="31438" y="42537"/>
                  </a:lnTo>
                  <a:lnTo>
                    <a:pt x="0" y="43839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6583496" y="2570051"/>
              <a:ext cx="31750" cy="44450"/>
            </a:xfrm>
            <a:custGeom>
              <a:avLst/>
              <a:gdLst/>
              <a:ahLst/>
              <a:cxnLst/>
              <a:rect l="l" t="t" r="r" b="b"/>
              <a:pathLst>
                <a:path w="31750" h="44450">
                  <a:moveTo>
                    <a:pt x="31438" y="42537"/>
                  </a:moveTo>
                  <a:lnTo>
                    <a:pt x="13930" y="0"/>
                  </a:lnTo>
                  <a:lnTo>
                    <a:pt x="0" y="43839"/>
                  </a:lnTo>
                  <a:lnTo>
                    <a:pt x="31438" y="42537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6591824" y="2813718"/>
              <a:ext cx="31750" cy="44450"/>
            </a:xfrm>
            <a:custGeom>
              <a:avLst/>
              <a:gdLst/>
              <a:ahLst/>
              <a:cxnLst/>
              <a:rect l="l" t="t" r="r" b="b"/>
              <a:pathLst>
                <a:path w="31750" h="44450">
                  <a:moveTo>
                    <a:pt x="17507" y="43839"/>
                  </a:moveTo>
                  <a:lnTo>
                    <a:pt x="0" y="1301"/>
                  </a:lnTo>
                  <a:lnTo>
                    <a:pt x="31438" y="0"/>
                  </a:lnTo>
                  <a:lnTo>
                    <a:pt x="17507" y="43839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6591824" y="2813718"/>
              <a:ext cx="31750" cy="44450"/>
            </a:xfrm>
            <a:custGeom>
              <a:avLst/>
              <a:gdLst/>
              <a:ahLst/>
              <a:cxnLst/>
              <a:rect l="l" t="t" r="r" b="b"/>
              <a:pathLst>
                <a:path w="31750" h="44450">
                  <a:moveTo>
                    <a:pt x="0" y="1301"/>
                  </a:moveTo>
                  <a:lnTo>
                    <a:pt x="17507" y="43839"/>
                  </a:lnTo>
                  <a:lnTo>
                    <a:pt x="31438" y="0"/>
                  </a:lnTo>
                  <a:lnTo>
                    <a:pt x="0" y="1301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6572490" y="1883982"/>
              <a:ext cx="0" cy="147320"/>
            </a:xfrm>
            <a:custGeom>
              <a:avLst/>
              <a:gdLst/>
              <a:ahLst/>
              <a:cxnLst/>
              <a:rect l="l" t="t" r="r" b="b"/>
              <a:pathLst>
                <a:path h="147319">
                  <a:moveTo>
                    <a:pt x="0" y="0"/>
                  </a:moveTo>
                  <a:lnTo>
                    <a:pt x="0" y="146765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6556757" y="1840756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6556757" y="1840756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6556757" y="2030748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15732" y="43225"/>
                  </a:moveTo>
                  <a:lnTo>
                    <a:pt x="0" y="0"/>
                  </a:lnTo>
                  <a:lnTo>
                    <a:pt x="31465" y="0"/>
                  </a:lnTo>
                  <a:lnTo>
                    <a:pt x="15732" y="4322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6556757" y="2030748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0"/>
                  </a:moveTo>
                  <a:lnTo>
                    <a:pt x="15732" y="43225"/>
                  </a:lnTo>
                  <a:lnTo>
                    <a:pt x="31465" y="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6553198" y="1327150"/>
              <a:ext cx="0" cy="238760"/>
            </a:xfrm>
            <a:custGeom>
              <a:avLst/>
              <a:gdLst/>
              <a:ahLst/>
              <a:cxnLst/>
              <a:rect l="l" t="t" r="r" b="b"/>
              <a:pathLst>
                <a:path h="238759">
                  <a:moveTo>
                    <a:pt x="0" y="0"/>
                  </a:moveTo>
                  <a:lnTo>
                    <a:pt x="0" y="238295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6537466" y="1283924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6537466" y="1283924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6537466" y="1565446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15732" y="43225"/>
                  </a:moveTo>
                  <a:lnTo>
                    <a:pt x="0" y="0"/>
                  </a:lnTo>
                  <a:lnTo>
                    <a:pt x="31465" y="0"/>
                  </a:lnTo>
                  <a:lnTo>
                    <a:pt x="15732" y="4322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6537466" y="1565446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0" y="0"/>
                  </a:moveTo>
                  <a:lnTo>
                    <a:pt x="15732" y="43225"/>
                  </a:lnTo>
                  <a:lnTo>
                    <a:pt x="31465" y="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4" name="object 64"/>
          <p:cNvSpPr txBox="1"/>
          <p:nvPr/>
        </p:nvSpPr>
        <p:spPr>
          <a:xfrm>
            <a:off x="8249211" y="2189546"/>
            <a:ext cx="635635" cy="38925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 marR="5080">
              <a:lnSpc>
                <a:spcPts val="1430"/>
              </a:lnSpc>
              <a:spcBef>
                <a:spcPts val="155"/>
              </a:spcBef>
            </a:pPr>
            <a:r>
              <a:rPr sz="1200" spc="-10" dirty="0">
                <a:latin typeface="Arial"/>
                <a:cs typeface="Arial"/>
              </a:rPr>
              <a:t>Frontend </a:t>
            </a:r>
            <a:r>
              <a:rPr sz="1200" spc="-25" dirty="0">
                <a:latin typeface="Arial"/>
                <a:cs typeface="Arial"/>
              </a:rPr>
              <a:t>Pod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65" name="object 65"/>
          <p:cNvGrpSpPr/>
          <p:nvPr/>
        </p:nvGrpSpPr>
        <p:grpSpPr>
          <a:xfrm>
            <a:off x="5895186" y="520292"/>
            <a:ext cx="2040889" cy="484505"/>
            <a:chOff x="5895186" y="520292"/>
            <a:chExt cx="2040889" cy="484505"/>
          </a:xfrm>
        </p:grpSpPr>
        <p:sp>
          <p:nvSpPr>
            <p:cNvPr id="66" name="object 66"/>
            <p:cNvSpPr/>
            <p:nvPr/>
          </p:nvSpPr>
          <p:spPr>
            <a:xfrm>
              <a:off x="5899948" y="644526"/>
              <a:ext cx="1549400" cy="355600"/>
            </a:xfrm>
            <a:custGeom>
              <a:avLst/>
              <a:gdLst/>
              <a:ahLst/>
              <a:cxnLst/>
              <a:rect l="l" t="t" r="r" b="b"/>
              <a:pathLst>
                <a:path w="1549400" h="355600">
                  <a:moveTo>
                    <a:pt x="0" y="355499"/>
                  </a:moveTo>
                  <a:lnTo>
                    <a:pt x="803249" y="355499"/>
                  </a:lnTo>
                  <a:lnTo>
                    <a:pt x="803249" y="0"/>
                  </a:lnTo>
                  <a:lnTo>
                    <a:pt x="1549349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7449298" y="62879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65"/>
                  </a:moveTo>
                  <a:lnTo>
                    <a:pt x="0" y="0"/>
                  </a:lnTo>
                  <a:lnTo>
                    <a:pt x="43224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7449298" y="62879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65"/>
                  </a:moveTo>
                  <a:lnTo>
                    <a:pt x="43224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7526442" y="526642"/>
              <a:ext cx="403860" cy="236854"/>
            </a:xfrm>
            <a:custGeom>
              <a:avLst/>
              <a:gdLst/>
              <a:ahLst/>
              <a:cxnLst/>
              <a:rect l="l" t="t" r="r" b="b"/>
              <a:pathLst>
                <a:path w="403859" h="236854">
                  <a:moveTo>
                    <a:pt x="36537" y="78079"/>
                  </a:moveTo>
                  <a:lnTo>
                    <a:pt x="36639" y="63888"/>
                  </a:lnTo>
                  <a:lnTo>
                    <a:pt x="41540" y="50524"/>
                  </a:lnTo>
                  <a:lnTo>
                    <a:pt x="50817" y="38739"/>
                  </a:lnTo>
                  <a:lnTo>
                    <a:pt x="64043" y="29286"/>
                  </a:lnTo>
                  <a:lnTo>
                    <a:pt x="80032" y="23151"/>
                  </a:lnTo>
                  <a:lnTo>
                    <a:pt x="97194" y="20832"/>
                  </a:lnTo>
                  <a:lnTo>
                    <a:pt x="114494" y="22351"/>
                  </a:lnTo>
                  <a:lnTo>
                    <a:pt x="130901" y="27734"/>
                  </a:lnTo>
                  <a:lnTo>
                    <a:pt x="167317" y="7011"/>
                  </a:lnTo>
                  <a:lnTo>
                    <a:pt x="178938" y="6680"/>
                  </a:lnTo>
                  <a:lnTo>
                    <a:pt x="190193" y="8480"/>
                  </a:lnTo>
                  <a:lnTo>
                    <a:pt x="200636" y="12297"/>
                  </a:lnTo>
                  <a:lnTo>
                    <a:pt x="209818" y="18014"/>
                  </a:lnTo>
                  <a:lnTo>
                    <a:pt x="215597" y="11106"/>
                  </a:lnTo>
                  <a:lnTo>
                    <a:pt x="223236" y="5665"/>
                  </a:lnTo>
                  <a:lnTo>
                    <a:pt x="232325" y="1916"/>
                  </a:lnTo>
                  <a:lnTo>
                    <a:pt x="242452" y="85"/>
                  </a:lnTo>
                  <a:lnTo>
                    <a:pt x="252828" y="362"/>
                  </a:lnTo>
                  <a:lnTo>
                    <a:pt x="262633" y="2678"/>
                  </a:lnTo>
                  <a:lnTo>
                    <a:pt x="271411" y="6874"/>
                  </a:lnTo>
                  <a:lnTo>
                    <a:pt x="278706" y="12790"/>
                  </a:lnTo>
                  <a:lnTo>
                    <a:pt x="288355" y="5962"/>
                  </a:lnTo>
                  <a:lnTo>
                    <a:pt x="299788" y="1637"/>
                  </a:lnTo>
                  <a:lnTo>
                    <a:pt x="312271" y="0"/>
                  </a:lnTo>
                  <a:lnTo>
                    <a:pt x="325072" y="1231"/>
                  </a:lnTo>
                  <a:lnTo>
                    <a:pt x="336923" y="5288"/>
                  </a:lnTo>
                  <a:lnTo>
                    <a:pt x="346699" y="11700"/>
                  </a:lnTo>
                  <a:lnTo>
                    <a:pt x="353878" y="20017"/>
                  </a:lnTo>
                  <a:lnTo>
                    <a:pt x="357943" y="29787"/>
                  </a:lnTo>
                  <a:lnTo>
                    <a:pt x="389704" y="50953"/>
                  </a:lnTo>
                  <a:lnTo>
                    <a:pt x="394647" y="67428"/>
                  </a:lnTo>
                  <a:lnTo>
                    <a:pt x="393763" y="75872"/>
                  </a:lnTo>
                  <a:lnTo>
                    <a:pt x="390629" y="84063"/>
                  </a:lnTo>
                  <a:lnTo>
                    <a:pt x="398915" y="95544"/>
                  </a:lnTo>
                  <a:lnTo>
                    <a:pt x="403154" y="108138"/>
                  </a:lnTo>
                  <a:lnTo>
                    <a:pt x="403235" y="121182"/>
                  </a:lnTo>
                  <a:lnTo>
                    <a:pt x="399045" y="134008"/>
                  </a:lnTo>
                  <a:lnTo>
                    <a:pt x="390840" y="145526"/>
                  </a:lnTo>
                  <a:lnTo>
                    <a:pt x="379392" y="154810"/>
                  </a:lnTo>
                  <a:lnTo>
                    <a:pt x="365362" y="161448"/>
                  </a:lnTo>
                  <a:lnTo>
                    <a:pt x="349410" y="165026"/>
                  </a:lnTo>
                  <a:lnTo>
                    <a:pt x="347378" y="176426"/>
                  </a:lnTo>
                  <a:lnTo>
                    <a:pt x="307968" y="206694"/>
                  </a:lnTo>
                  <a:lnTo>
                    <a:pt x="293885" y="207863"/>
                  </a:lnTo>
                  <a:lnTo>
                    <a:pt x="279904" y="206068"/>
                  </a:lnTo>
                  <a:lnTo>
                    <a:pt x="266782" y="201325"/>
                  </a:lnTo>
                  <a:lnTo>
                    <a:pt x="232871" y="232604"/>
                  </a:lnTo>
                  <a:lnTo>
                    <a:pt x="197801" y="236790"/>
                  </a:lnTo>
                  <a:lnTo>
                    <a:pt x="180901" y="232930"/>
                  </a:lnTo>
                  <a:lnTo>
                    <a:pt x="165982" y="225479"/>
                  </a:lnTo>
                  <a:lnTo>
                    <a:pt x="154017" y="214784"/>
                  </a:lnTo>
                  <a:lnTo>
                    <a:pt x="141006" y="219720"/>
                  </a:lnTo>
                  <a:lnTo>
                    <a:pt x="127172" y="222466"/>
                  </a:lnTo>
                  <a:lnTo>
                    <a:pt x="112936" y="222973"/>
                  </a:lnTo>
                  <a:lnTo>
                    <a:pt x="98718" y="221193"/>
                  </a:lnTo>
                  <a:lnTo>
                    <a:pt x="85225" y="217182"/>
                  </a:lnTo>
                  <a:lnTo>
                    <a:pt x="73102" y="211165"/>
                  </a:lnTo>
                  <a:lnTo>
                    <a:pt x="62690" y="203352"/>
                  </a:lnTo>
                  <a:lnTo>
                    <a:pt x="54325" y="193949"/>
                  </a:lnTo>
                  <a:lnTo>
                    <a:pt x="13237" y="176322"/>
                  </a:lnTo>
                  <a:lnTo>
                    <a:pt x="9277" y="157061"/>
                  </a:lnTo>
                  <a:lnTo>
                    <a:pt x="12810" y="147712"/>
                  </a:lnTo>
                  <a:lnTo>
                    <a:pt x="19854" y="139464"/>
                  </a:lnTo>
                  <a:lnTo>
                    <a:pt x="9952" y="132912"/>
                  </a:lnTo>
                  <a:lnTo>
                    <a:pt x="3208" y="124418"/>
                  </a:lnTo>
                  <a:lnTo>
                    <a:pt x="0" y="114675"/>
                  </a:lnTo>
                  <a:lnTo>
                    <a:pt x="705" y="104375"/>
                  </a:lnTo>
                  <a:lnTo>
                    <a:pt x="5365" y="94764"/>
                  </a:lnTo>
                  <a:lnTo>
                    <a:pt x="13300" y="86965"/>
                  </a:lnTo>
                  <a:lnTo>
                    <a:pt x="23811" y="81482"/>
                  </a:lnTo>
                  <a:lnTo>
                    <a:pt x="36197" y="78818"/>
                  </a:lnTo>
                  <a:lnTo>
                    <a:pt x="36537" y="78079"/>
                  </a:lnTo>
                  <a:close/>
                </a:path>
                <a:path w="403859" h="236854">
                  <a:moveTo>
                    <a:pt x="19859" y="139462"/>
                  </a:moveTo>
                  <a:lnTo>
                    <a:pt x="27004" y="142829"/>
                  </a:lnTo>
                  <a:lnTo>
                    <a:pt x="35258" y="144357"/>
                  </a:lnTo>
                  <a:lnTo>
                    <a:pt x="43514" y="143839"/>
                  </a:lnTo>
                </a:path>
                <a:path w="403859" h="236854">
                  <a:moveTo>
                    <a:pt x="54326" y="193949"/>
                  </a:moveTo>
                  <a:lnTo>
                    <a:pt x="57876" y="193616"/>
                  </a:lnTo>
                  <a:lnTo>
                    <a:pt x="61356" y="192912"/>
                  </a:lnTo>
                  <a:lnTo>
                    <a:pt x="64676" y="191854"/>
                  </a:lnTo>
                </a:path>
                <a:path w="403859" h="236854">
                  <a:moveTo>
                    <a:pt x="154013" y="214783"/>
                  </a:moveTo>
                  <a:lnTo>
                    <a:pt x="151516" y="211786"/>
                  </a:lnTo>
                  <a:lnTo>
                    <a:pt x="149425" y="208582"/>
                  </a:lnTo>
                  <a:lnTo>
                    <a:pt x="147777" y="205228"/>
                  </a:lnTo>
                </a:path>
                <a:path w="403859" h="236854">
                  <a:moveTo>
                    <a:pt x="266782" y="201324"/>
                  </a:moveTo>
                  <a:lnTo>
                    <a:pt x="268070" y="197909"/>
                  </a:lnTo>
                  <a:lnTo>
                    <a:pt x="268904" y="194395"/>
                  </a:lnTo>
                  <a:lnTo>
                    <a:pt x="269272" y="190839"/>
                  </a:lnTo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0" name="object 7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39137" y="604357"/>
              <a:ext cx="84281" cy="88977"/>
            </a:xfrm>
            <a:prstGeom prst="rect">
              <a:avLst/>
            </a:prstGeom>
          </p:spPr>
        </p:pic>
        <p:sp>
          <p:nvSpPr>
            <p:cNvPr id="71" name="object 71"/>
            <p:cNvSpPr/>
            <p:nvPr/>
          </p:nvSpPr>
          <p:spPr>
            <a:xfrm>
              <a:off x="7562980" y="539434"/>
              <a:ext cx="322580" cy="73660"/>
            </a:xfrm>
            <a:custGeom>
              <a:avLst/>
              <a:gdLst/>
              <a:ahLst/>
              <a:cxnLst/>
              <a:rect l="l" t="t" r="r" b="b"/>
              <a:pathLst>
                <a:path w="322579" h="73659">
                  <a:moveTo>
                    <a:pt x="321404" y="16996"/>
                  </a:moveTo>
                  <a:lnTo>
                    <a:pt x="321920" y="19285"/>
                  </a:lnTo>
                  <a:lnTo>
                    <a:pt x="322159" y="21609"/>
                  </a:lnTo>
                  <a:lnTo>
                    <a:pt x="322118" y="23935"/>
                  </a:lnTo>
                </a:path>
                <a:path w="322579" h="73659">
                  <a:moveTo>
                    <a:pt x="242169" y="0"/>
                  </a:moveTo>
                  <a:lnTo>
                    <a:pt x="239338" y="2667"/>
                  </a:lnTo>
                  <a:lnTo>
                    <a:pt x="237005" y="5648"/>
                  </a:lnTo>
                  <a:lnTo>
                    <a:pt x="235243" y="8849"/>
                  </a:lnTo>
                </a:path>
                <a:path w="322579" h="73659">
                  <a:moveTo>
                    <a:pt x="173281" y="5222"/>
                  </a:moveTo>
                  <a:lnTo>
                    <a:pt x="171771" y="7645"/>
                  </a:lnTo>
                  <a:lnTo>
                    <a:pt x="170645" y="10208"/>
                  </a:lnTo>
                  <a:lnTo>
                    <a:pt x="169926" y="12854"/>
                  </a:lnTo>
                </a:path>
                <a:path w="322579" h="73659">
                  <a:moveTo>
                    <a:pt x="94363" y="14942"/>
                  </a:moveTo>
                  <a:lnTo>
                    <a:pt x="98768" y="17008"/>
                  </a:lnTo>
                  <a:lnTo>
                    <a:pt x="102845" y="19494"/>
                  </a:lnTo>
                  <a:lnTo>
                    <a:pt x="106501" y="22346"/>
                  </a:lnTo>
                </a:path>
                <a:path w="322579" h="73659">
                  <a:moveTo>
                    <a:pt x="0" y="65287"/>
                  </a:moveTo>
                  <a:lnTo>
                    <a:pt x="448" y="67925"/>
                  </a:lnTo>
                  <a:lnTo>
                    <a:pt x="1156" y="70530"/>
                  </a:lnTo>
                  <a:lnTo>
                    <a:pt x="2117" y="73078"/>
                  </a:lnTo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2" name="object 72"/>
          <p:cNvGrpSpPr/>
          <p:nvPr/>
        </p:nvGrpSpPr>
        <p:grpSpPr>
          <a:xfrm>
            <a:off x="8031626" y="623930"/>
            <a:ext cx="472440" cy="41275"/>
            <a:chOff x="8031626" y="623930"/>
            <a:chExt cx="472440" cy="41275"/>
          </a:xfrm>
        </p:grpSpPr>
        <p:sp>
          <p:nvSpPr>
            <p:cNvPr id="73" name="object 73"/>
            <p:cNvSpPr/>
            <p:nvPr/>
          </p:nvSpPr>
          <p:spPr>
            <a:xfrm>
              <a:off x="8031626" y="644425"/>
              <a:ext cx="424180" cy="0"/>
            </a:xfrm>
            <a:custGeom>
              <a:avLst/>
              <a:gdLst/>
              <a:ahLst/>
              <a:cxnLst/>
              <a:rect l="l" t="t" r="r" b="b"/>
              <a:pathLst>
                <a:path w="424179">
                  <a:moveTo>
                    <a:pt x="0" y="0"/>
                  </a:moveTo>
                  <a:lnTo>
                    <a:pt x="423853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8455479" y="62869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65"/>
                  </a:moveTo>
                  <a:lnTo>
                    <a:pt x="0" y="0"/>
                  </a:lnTo>
                  <a:lnTo>
                    <a:pt x="43224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8455479" y="62869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65"/>
                  </a:moveTo>
                  <a:lnTo>
                    <a:pt x="43224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6" name="object 76"/>
          <p:cNvSpPr txBox="1"/>
          <p:nvPr/>
        </p:nvSpPr>
        <p:spPr>
          <a:xfrm>
            <a:off x="8555318" y="514687"/>
            <a:ext cx="3473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latin typeface="Arial"/>
                <a:cs typeface="Arial"/>
              </a:rPr>
              <a:t>User</a:t>
            </a:r>
            <a:endParaRPr sz="1200">
              <a:latin typeface="Arial"/>
              <a:cs typeface="Arial"/>
            </a:endParaRPr>
          </a:p>
        </p:txBody>
      </p:sp>
      <p:sp>
        <p:nvSpPr>
          <p:cNvPr id="81" name="object 8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90</a:t>
            </a:fld>
            <a:endParaRPr spc="-25" dirty="0"/>
          </a:p>
        </p:txBody>
      </p:sp>
      <p:sp>
        <p:nvSpPr>
          <p:cNvPr id="77" name="object 77"/>
          <p:cNvSpPr txBox="1"/>
          <p:nvPr/>
        </p:nvSpPr>
        <p:spPr>
          <a:xfrm>
            <a:off x="520064" y="1286255"/>
            <a:ext cx="182816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Frontend</a:t>
            </a:r>
            <a:r>
              <a:rPr sz="1800" u="heavy" spc="-4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u="heavy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Service:</a:t>
            </a:r>
            <a:endParaRPr sz="1800">
              <a:latin typeface="Arial"/>
              <a:cs typeface="Arial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520064" y="1838705"/>
            <a:ext cx="4115435" cy="57594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85"/>
              </a:spcBef>
            </a:pPr>
            <a:r>
              <a:rPr sz="1800" dirty="0">
                <a:latin typeface="Arial"/>
                <a:cs typeface="Arial"/>
              </a:rPr>
              <a:t>A</a:t>
            </a:r>
            <a:r>
              <a:rPr sz="1800" spc="-1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Service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which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stays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between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user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and </a:t>
            </a:r>
            <a:r>
              <a:rPr sz="1800" dirty="0">
                <a:latin typeface="Arial"/>
                <a:cs typeface="Arial"/>
              </a:rPr>
              <a:t>frontend</a:t>
            </a:r>
            <a:r>
              <a:rPr sz="1800" spc="-40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pod</a:t>
            </a:r>
            <a:endParaRPr sz="1800">
              <a:latin typeface="Arial"/>
              <a:cs typeface="Arial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520064" y="2667380"/>
            <a:ext cx="180276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Backend</a:t>
            </a:r>
            <a:r>
              <a:rPr sz="1800" u="heavy" spc="-4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u="heavy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Service:</a:t>
            </a:r>
            <a:endParaRPr sz="1800">
              <a:latin typeface="Arial"/>
              <a:cs typeface="Arial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520064" y="3219830"/>
            <a:ext cx="3987800" cy="57594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85"/>
              </a:spcBef>
            </a:pPr>
            <a:r>
              <a:rPr sz="1800" dirty="0">
                <a:latin typeface="Arial"/>
                <a:cs typeface="Arial"/>
              </a:rPr>
              <a:t>A</a:t>
            </a:r>
            <a:r>
              <a:rPr sz="1800" spc="-1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Service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which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communicate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between </a:t>
            </a:r>
            <a:r>
              <a:rPr sz="1800" dirty="0">
                <a:latin typeface="Arial"/>
                <a:cs typeface="Arial"/>
              </a:rPr>
              <a:t>frontend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Pod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and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backend</a:t>
            </a:r>
            <a:r>
              <a:rPr sz="1800" spc="-25" dirty="0">
                <a:latin typeface="Arial"/>
                <a:cs typeface="Arial"/>
              </a:rPr>
              <a:t> end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131573" y="930742"/>
            <a:ext cx="2360295" cy="609600"/>
          </a:xfrm>
          <a:custGeom>
            <a:avLst/>
            <a:gdLst/>
            <a:ahLst/>
            <a:cxnLst/>
            <a:rect l="l" t="t" r="r" b="b"/>
            <a:pathLst>
              <a:path w="2360295" h="609600">
                <a:moveTo>
                  <a:pt x="0" y="101601"/>
                </a:moveTo>
                <a:lnTo>
                  <a:pt x="7984" y="62053"/>
                </a:lnTo>
                <a:lnTo>
                  <a:pt x="29758" y="29758"/>
                </a:lnTo>
                <a:lnTo>
                  <a:pt x="62053" y="7984"/>
                </a:lnTo>
                <a:lnTo>
                  <a:pt x="101601" y="0"/>
                </a:lnTo>
                <a:lnTo>
                  <a:pt x="2258139" y="0"/>
                </a:lnTo>
                <a:lnTo>
                  <a:pt x="2297021" y="7734"/>
                </a:lnTo>
                <a:lnTo>
                  <a:pt x="2329983" y="29758"/>
                </a:lnTo>
                <a:lnTo>
                  <a:pt x="2352008" y="62720"/>
                </a:lnTo>
                <a:lnTo>
                  <a:pt x="2359741" y="101601"/>
                </a:lnTo>
                <a:lnTo>
                  <a:pt x="2359741" y="507997"/>
                </a:lnTo>
                <a:lnTo>
                  <a:pt x="2351757" y="547546"/>
                </a:lnTo>
                <a:lnTo>
                  <a:pt x="2329983" y="579841"/>
                </a:lnTo>
                <a:lnTo>
                  <a:pt x="2297688" y="601615"/>
                </a:lnTo>
                <a:lnTo>
                  <a:pt x="2258139" y="609599"/>
                </a:lnTo>
                <a:lnTo>
                  <a:pt x="101601" y="609599"/>
                </a:lnTo>
                <a:lnTo>
                  <a:pt x="62053" y="601615"/>
                </a:lnTo>
                <a:lnTo>
                  <a:pt x="29758" y="579841"/>
                </a:lnTo>
                <a:lnTo>
                  <a:pt x="7984" y="547546"/>
                </a:lnTo>
                <a:lnTo>
                  <a:pt x="0" y="507997"/>
                </a:lnTo>
                <a:lnTo>
                  <a:pt x="0" y="101601"/>
                </a:lnTo>
                <a:close/>
              </a:path>
            </a:pathLst>
          </a:custGeom>
          <a:ln w="12699">
            <a:solidFill>
              <a:srgbClr val="127BB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396679" y="1075586"/>
            <a:ext cx="18288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0000"/>
                </a:solidFill>
              </a:rPr>
              <a:t>Types</a:t>
            </a:r>
            <a:r>
              <a:rPr sz="1800" spc="-70" dirty="0">
                <a:solidFill>
                  <a:srgbClr val="000000"/>
                </a:solidFill>
              </a:rPr>
              <a:t> </a:t>
            </a:r>
            <a:r>
              <a:rPr sz="1800" dirty="0">
                <a:solidFill>
                  <a:srgbClr val="000000"/>
                </a:solidFill>
              </a:rPr>
              <a:t>of</a:t>
            </a:r>
            <a:r>
              <a:rPr sz="1800" spc="-65" dirty="0">
                <a:solidFill>
                  <a:srgbClr val="000000"/>
                </a:solidFill>
              </a:rPr>
              <a:t> </a:t>
            </a:r>
            <a:r>
              <a:rPr sz="1800" spc="-10" dirty="0">
                <a:solidFill>
                  <a:srgbClr val="000000"/>
                </a:solidFill>
              </a:rPr>
              <a:t>Services</a:t>
            </a:r>
            <a:endParaRPr sz="1800"/>
          </a:p>
        </p:txBody>
      </p:sp>
      <p:grpSp>
        <p:nvGrpSpPr>
          <p:cNvPr id="4" name="object 4"/>
          <p:cNvGrpSpPr/>
          <p:nvPr/>
        </p:nvGrpSpPr>
        <p:grpSpPr>
          <a:xfrm>
            <a:off x="1514321" y="1597895"/>
            <a:ext cx="5594350" cy="2073910"/>
            <a:chOff x="1514321" y="1597895"/>
            <a:chExt cx="5594350" cy="2073910"/>
          </a:xfrm>
        </p:grpSpPr>
        <p:sp>
          <p:nvSpPr>
            <p:cNvPr id="5" name="object 5"/>
            <p:cNvSpPr/>
            <p:nvPr/>
          </p:nvSpPr>
          <p:spPr>
            <a:xfrm>
              <a:off x="1519084" y="1602657"/>
              <a:ext cx="5584825" cy="1258570"/>
            </a:xfrm>
            <a:custGeom>
              <a:avLst/>
              <a:gdLst/>
              <a:ahLst/>
              <a:cxnLst/>
              <a:rect l="l" t="t" r="r" b="b"/>
              <a:pathLst>
                <a:path w="5584825" h="1258570">
                  <a:moveTo>
                    <a:pt x="2649792" y="0"/>
                  </a:moveTo>
                  <a:lnTo>
                    <a:pt x="2649792" y="481780"/>
                  </a:lnTo>
                </a:path>
                <a:path w="5584825" h="1258570">
                  <a:moveTo>
                    <a:pt x="0" y="481780"/>
                  </a:moveTo>
                  <a:lnTo>
                    <a:pt x="5584722" y="481780"/>
                  </a:lnTo>
                </a:path>
                <a:path w="5584825" h="1258570">
                  <a:moveTo>
                    <a:pt x="0" y="481780"/>
                  </a:moveTo>
                  <a:lnTo>
                    <a:pt x="0" y="1258529"/>
                  </a:lnTo>
                </a:path>
                <a:path w="5584825" h="1258570">
                  <a:moveTo>
                    <a:pt x="2649792" y="481780"/>
                  </a:moveTo>
                  <a:lnTo>
                    <a:pt x="2649792" y="1258529"/>
                  </a:lnTo>
                </a:path>
                <a:path w="5584825" h="1258570">
                  <a:moveTo>
                    <a:pt x="5584722" y="481780"/>
                  </a:moveTo>
                  <a:lnTo>
                    <a:pt x="5584722" y="1258529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323771" y="2858657"/>
              <a:ext cx="1497965" cy="660400"/>
            </a:xfrm>
            <a:custGeom>
              <a:avLst/>
              <a:gdLst/>
              <a:ahLst/>
              <a:cxnLst/>
              <a:rect l="l" t="t" r="r" b="b"/>
              <a:pathLst>
                <a:path w="1497964" h="660400">
                  <a:moveTo>
                    <a:pt x="1387662" y="660400"/>
                  </a:moveTo>
                  <a:lnTo>
                    <a:pt x="110068" y="660400"/>
                  </a:lnTo>
                  <a:lnTo>
                    <a:pt x="67224" y="651750"/>
                  </a:lnTo>
                  <a:lnTo>
                    <a:pt x="32238" y="628161"/>
                  </a:lnTo>
                  <a:lnTo>
                    <a:pt x="8649" y="593174"/>
                  </a:lnTo>
                  <a:lnTo>
                    <a:pt x="0" y="550330"/>
                  </a:lnTo>
                  <a:lnTo>
                    <a:pt x="0" y="110068"/>
                  </a:lnTo>
                  <a:lnTo>
                    <a:pt x="8649" y="67225"/>
                  </a:lnTo>
                  <a:lnTo>
                    <a:pt x="32238" y="32238"/>
                  </a:lnTo>
                  <a:lnTo>
                    <a:pt x="67224" y="8649"/>
                  </a:lnTo>
                  <a:lnTo>
                    <a:pt x="110068" y="0"/>
                  </a:lnTo>
                  <a:lnTo>
                    <a:pt x="1387662" y="0"/>
                  </a:lnTo>
                  <a:lnTo>
                    <a:pt x="1429784" y="8378"/>
                  </a:lnTo>
                  <a:lnTo>
                    <a:pt x="1465493" y="32238"/>
                  </a:lnTo>
                  <a:lnTo>
                    <a:pt x="1489353" y="67947"/>
                  </a:lnTo>
                  <a:lnTo>
                    <a:pt x="1497731" y="110068"/>
                  </a:lnTo>
                  <a:lnTo>
                    <a:pt x="1497731" y="550330"/>
                  </a:lnTo>
                  <a:lnTo>
                    <a:pt x="1489082" y="593174"/>
                  </a:lnTo>
                  <a:lnTo>
                    <a:pt x="1465493" y="628161"/>
                  </a:lnTo>
                  <a:lnTo>
                    <a:pt x="1430506" y="651750"/>
                  </a:lnTo>
                  <a:lnTo>
                    <a:pt x="1387662" y="660400"/>
                  </a:lnTo>
                  <a:close/>
                </a:path>
              </a:pathLst>
            </a:custGeom>
            <a:solidFill>
              <a:srgbClr val="0097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323771" y="2858657"/>
              <a:ext cx="1497965" cy="660400"/>
            </a:xfrm>
            <a:custGeom>
              <a:avLst/>
              <a:gdLst/>
              <a:ahLst/>
              <a:cxnLst/>
              <a:rect l="l" t="t" r="r" b="b"/>
              <a:pathLst>
                <a:path w="1497964" h="660400">
                  <a:moveTo>
                    <a:pt x="0" y="110068"/>
                  </a:moveTo>
                  <a:lnTo>
                    <a:pt x="8649" y="67225"/>
                  </a:lnTo>
                  <a:lnTo>
                    <a:pt x="32238" y="32238"/>
                  </a:lnTo>
                  <a:lnTo>
                    <a:pt x="67224" y="8649"/>
                  </a:lnTo>
                  <a:lnTo>
                    <a:pt x="110068" y="0"/>
                  </a:lnTo>
                  <a:lnTo>
                    <a:pt x="1387662" y="0"/>
                  </a:lnTo>
                  <a:lnTo>
                    <a:pt x="1429784" y="8378"/>
                  </a:lnTo>
                  <a:lnTo>
                    <a:pt x="1465493" y="32238"/>
                  </a:lnTo>
                  <a:lnTo>
                    <a:pt x="1489353" y="67947"/>
                  </a:lnTo>
                  <a:lnTo>
                    <a:pt x="1497731" y="110068"/>
                  </a:lnTo>
                  <a:lnTo>
                    <a:pt x="1497731" y="550330"/>
                  </a:lnTo>
                  <a:lnTo>
                    <a:pt x="1489082" y="593174"/>
                  </a:lnTo>
                  <a:lnTo>
                    <a:pt x="1465493" y="628161"/>
                  </a:lnTo>
                  <a:lnTo>
                    <a:pt x="1430506" y="651750"/>
                  </a:lnTo>
                  <a:lnTo>
                    <a:pt x="1387662" y="660400"/>
                  </a:lnTo>
                  <a:lnTo>
                    <a:pt x="110068" y="660400"/>
                  </a:lnTo>
                  <a:lnTo>
                    <a:pt x="67224" y="651750"/>
                  </a:lnTo>
                  <a:lnTo>
                    <a:pt x="32238" y="628161"/>
                  </a:lnTo>
                  <a:lnTo>
                    <a:pt x="8649" y="593174"/>
                  </a:lnTo>
                  <a:lnTo>
                    <a:pt x="0" y="550330"/>
                  </a:lnTo>
                  <a:lnTo>
                    <a:pt x="0" y="110068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701994" y="3415115"/>
              <a:ext cx="929005" cy="250190"/>
            </a:xfrm>
            <a:custGeom>
              <a:avLst/>
              <a:gdLst/>
              <a:ahLst/>
              <a:cxnLst/>
              <a:rect l="l" t="t" r="r" b="b"/>
              <a:pathLst>
                <a:path w="929004" h="250189">
                  <a:moveTo>
                    <a:pt x="887290" y="249739"/>
                  </a:moveTo>
                  <a:lnTo>
                    <a:pt x="41623" y="249739"/>
                  </a:lnTo>
                  <a:lnTo>
                    <a:pt x="25422" y="246468"/>
                  </a:lnTo>
                  <a:lnTo>
                    <a:pt x="12191" y="237548"/>
                  </a:lnTo>
                  <a:lnTo>
                    <a:pt x="3271" y="224317"/>
                  </a:lnTo>
                  <a:lnTo>
                    <a:pt x="0" y="208115"/>
                  </a:lnTo>
                  <a:lnTo>
                    <a:pt x="0" y="41624"/>
                  </a:lnTo>
                  <a:lnTo>
                    <a:pt x="3271" y="25422"/>
                  </a:lnTo>
                  <a:lnTo>
                    <a:pt x="12191" y="12191"/>
                  </a:lnTo>
                  <a:lnTo>
                    <a:pt x="25422" y="3271"/>
                  </a:lnTo>
                  <a:lnTo>
                    <a:pt x="41623" y="0"/>
                  </a:lnTo>
                  <a:lnTo>
                    <a:pt x="887290" y="0"/>
                  </a:lnTo>
                  <a:lnTo>
                    <a:pt x="921921" y="18531"/>
                  </a:lnTo>
                  <a:lnTo>
                    <a:pt x="928914" y="41624"/>
                  </a:lnTo>
                  <a:lnTo>
                    <a:pt x="928914" y="208115"/>
                  </a:lnTo>
                  <a:lnTo>
                    <a:pt x="925643" y="224317"/>
                  </a:lnTo>
                  <a:lnTo>
                    <a:pt x="916723" y="237548"/>
                  </a:lnTo>
                  <a:lnTo>
                    <a:pt x="903492" y="246468"/>
                  </a:lnTo>
                  <a:lnTo>
                    <a:pt x="887290" y="249739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701994" y="3415115"/>
              <a:ext cx="929005" cy="250190"/>
            </a:xfrm>
            <a:custGeom>
              <a:avLst/>
              <a:gdLst/>
              <a:ahLst/>
              <a:cxnLst/>
              <a:rect l="l" t="t" r="r" b="b"/>
              <a:pathLst>
                <a:path w="929004" h="250189">
                  <a:moveTo>
                    <a:pt x="0" y="41624"/>
                  </a:moveTo>
                  <a:lnTo>
                    <a:pt x="3271" y="25422"/>
                  </a:lnTo>
                  <a:lnTo>
                    <a:pt x="12191" y="12191"/>
                  </a:lnTo>
                  <a:lnTo>
                    <a:pt x="25422" y="3271"/>
                  </a:lnTo>
                  <a:lnTo>
                    <a:pt x="41623" y="0"/>
                  </a:lnTo>
                  <a:lnTo>
                    <a:pt x="887290" y="0"/>
                  </a:lnTo>
                  <a:lnTo>
                    <a:pt x="921921" y="18531"/>
                  </a:lnTo>
                  <a:lnTo>
                    <a:pt x="928914" y="41624"/>
                  </a:lnTo>
                  <a:lnTo>
                    <a:pt x="928914" y="208115"/>
                  </a:lnTo>
                  <a:lnTo>
                    <a:pt x="925643" y="224317"/>
                  </a:lnTo>
                  <a:lnTo>
                    <a:pt x="916723" y="237548"/>
                  </a:lnTo>
                  <a:lnTo>
                    <a:pt x="903492" y="246468"/>
                  </a:lnTo>
                  <a:lnTo>
                    <a:pt x="887290" y="249739"/>
                  </a:lnTo>
                  <a:lnTo>
                    <a:pt x="41623" y="249739"/>
                  </a:lnTo>
                  <a:lnTo>
                    <a:pt x="25422" y="246468"/>
                  </a:lnTo>
                  <a:lnTo>
                    <a:pt x="12191" y="237548"/>
                  </a:lnTo>
                  <a:lnTo>
                    <a:pt x="3271" y="224317"/>
                  </a:lnTo>
                  <a:lnTo>
                    <a:pt x="0" y="208115"/>
                  </a:lnTo>
                  <a:lnTo>
                    <a:pt x="0" y="41624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886279" y="2918279"/>
            <a:ext cx="1510665" cy="789940"/>
            <a:chOff x="886279" y="2918279"/>
            <a:chExt cx="1510665" cy="789940"/>
          </a:xfrm>
        </p:grpSpPr>
        <p:sp>
          <p:nvSpPr>
            <p:cNvPr id="11" name="object 11"/>
            <p:cNvSpPr/>
            <p:nvPr/>
          </p:nvSpPr>
          <p:spPr>
            <a:xfrm>
              <a:off x="892629" y="2924629"/>
              <a:ext cx="1497965" cy="660400"/>
            </a:xfrm>
            <a:custGeom>
              <a:avLst/>
              <a:gdLst/>
              <a:ahLst/>
              <a:cxnLst/>
              <a:rect l="l" t="t" r="r" b="b"/>
              <a:pathLst>
                <a:path w="1497964" h="660400">
                  <a:moveTo>
                    <a:pt x="1387663" y="660399"/>
                  </a:moveTo>
                  <a:lnTo>
                    <a:pt x="110068" y="660399"/>
                  </a:lnTo>
                  <a:lnTo>
                    <a:pt x="67225" y="651750"/>
                  </a:lnTo>
                  <a:lnTo>
                    <a:pt x="32238" y="628161"/>
                  </a:lnTo>
                  <a:lnTo>
                    <a:pt x="8649" y="593174"/>
                  </a:lnTo>
                  <a:lnTo>
                    <a:pt x="0" y="550330"/>
                  </a:lnTo>
                  <a:lnTo>
                    <a:pt x="0" y="110068"/>
                  </a:lnTo>
                  <a:lnTo>
                    <a:pt x="8649" y="67225"/>
                  </a:lnTo>
                  <a:lnTo>
                    <a:pt x="32238" y="32238"/>
                  </a:lnTo>
                  <a:lnTo>
                    <a:pt x="67225" y="8649"/>
                  </a:lnTo>
                  <a:lnTo>
                    <a:pt x="110068" y="0"/>
                  </a:lnTo>
                  <a:lnTo>
                    <a:pt x="1387663" y="0"/>
                  </a:lnTo>
                  <a:lnTo>
                    <a:pt x="1429784" y="8378"/>
                  </a:lnTo>
                  <a:lnTo>
                    <a:pt x="1465493" y="32238"/>
                  </a:lnTo>
                  <a:lnTo>
                    <a:pt x="1489353" y="67947"/>
                  </a:lnTo>
                  <a:lnTo>
                    <a:pt x="1497731" y="110068"/>
                  </a:lnTo>
                  <a:lnTo>
                    <a:pt x="1497731" y="550330"/>
                  </a:lnTo>
                  <a:lnTo>
                    <a:pt x="1489082" y="593174"/>
                  </a:lnTo>
                  <a:lnTo>
                    <a:pt x="1465493" y="628161"/>
                  </a:lnTo>
                  <a:lnTo>
                    <a:pt x="1430506" y="651750"/>
                  </a:lnTo>
                  <a:lnTo>
                    <a:pt x="1387663" y="660399"/>
                  </a:lnTo>
                  <a:close/>
                </a:path>
              </a:pathLst>
            </a:custGeom>
            <a:solidFill>
              <a:srgbClr val="00B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92629" y="2924629"/>
              <a:ext cx="1497965" cy="660400"/>
            </a:xfrm>
            <a:custGeom>
              <a:avLst/>
              <a:gdLst/>
              <a:ahLst/>
              <a:cxnLst/>
              <a:rect l="l" t="t" r="r" b="b"/>
              <a:pathLst>
                <a:path w="1497964" h="660400">
                  <a:moveTo>
                    <a:pt x="0" y="110068"/>
                  </a:moveTo>
                  <a:lnTo>
                    <a:pt x="8649" y="67225"/>
                  </a:lnTo>
                  <a:lnTo>
                    <a:pt x="32238" y="32238"/>
                  </a:lnTo>
                  <a:lnTo>
                    <a:pt x="67225" y="8649"/>
                  </a:lnTo>
                  <a:lnTo>
                    <a:pt x="110068" y="0"/>
                  </a:lnTo>
                  <a:lnTo>
                    <a:pt x="1387663" y="0"/>
                  </a:lnTo>
                  <a:lnTo>
                    <a:pt x="1429784" y="8378"/>
                  </a:lnTo>
                  <a:lnTo>
                    <a:pt x="1465493" y="32238"/>
                  </a:lnTo>
                  <a:lnTo>
                    <a:pt x="1489353" y="67947"/>
                  </a:lnTo>
                  <a:lnTo>
                    <a:pt x="1497731" y="110068"/>
                  </a:lnTo>
                  <a:lnTo>
                    <a:pt x="1497731" y="550330"/>
                  </a:lnTo>
                  <a:lnTo>
                    <a:pt x="1489082" y="593174"/>
                  </a:lnTo>
                  <a:lnTo>
                    <a:pt x="1465493" y="628161"/>
                  </a:lnTo>
                  <a:lnTo>
                    <a:pt x="1430506" y="651750"/>
                  </a:lnTo>
                  <a:lnTo>
                    <a:pt x="1387663" y="660399"/>
                  </a:lnTo>
                  <a:lnTo>
                    <a:pt x="110068" y="660399"/>
                  </a:lnTo>
                  <a:lnTo>
                    <a:pt x="67225" y="651750"/>
                  </a:lnTo>
                  <a:lnTo>
                    <a:pt x="32238" y="628161"/>
                  </a:lnTo>
                  <a:lnTo>
                    <a:pt x="8649" y="593174"/>
                  </a:lnTo>
                  <a:lnTo>
                    <a:pt x="0" y="550330"/>
                  </a:lnTo>
                  <a:lnTo>
                    <a:pt x="0" y="110068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178851" y="3451636"/>
              <a:ext cx="929005" cy="250190"/>
            </a:xfrm>
            <a:custGeom>
              <a:avLst/>
              <a:gdLst/>
              <a:ahLst/>
              <a:cxnLst/>
              <a:rect l="l" t="t" r="r" b="b"/>
              <a:pathLst>
                <a:path w="929005" h="250189">
                  <a:moveTo>
                    <a:pt x="887290" y="249739"/>
                  </a:moveTo>
                  <a:lnTo>
                    <a:pt x="41624" y="249739"/>
                  </a:lnTo>
                  <a:lnTo>
                    <a:pt x="25422" y="246468"/>
                  </a:lnTo>
                  <a:lnTo>
                    <a:pt x="12191" y="237548"/>
                  </a:lnTo>
                  <a:lnTo>
                    <a:pt x="3271" y="224317"/>
                  </a:lnTo>
                  <a:lnTo>
                    <a:pt x="0" y="208115"/>
                  </a:lnTo>
                  <a:lnTo>
                    <a:pt x="0" y="41623"/>
                  </a:lnTo>
                  <a:lnTo>
                    <a:pt x="3271" y="25422"/>
                  </a:lnTo>
                  <a:lnTo>
                    <a:pt x="12191" y="12191"/>
                  </a:lnTo>
                  <a:lnTo>
                    <a:pt x="25422" y="3271"/>
                  </a:lnTo>
                  <a:lnTo>
                    <a:pt x="41624" y="0"/>
                  </a:lnTo>
                  <a:lnTo>
                    <a:pt x="887290" y="0"/>
                  </a:lnTo>
                  <a:lnTo>
                    <a:pt x="921921" y="18531"/>
                  </a:lnTo>
                  <a:lnTo>
                    <a:pt x="928914" y="41623"/>
                  </a:lnTo>
                  <a:lnTo>
                    <a:pt x="928914" y="208115"/>
                  </a:lnTo>
                  <a:lnTo>
                    <a:pt x="925643" y="224317"/>
                  </a:lnTo>
                  <a:lnTo>
                    <a:pt x="916723" y="237548"/>
                  </a:lnTo>
                  <a:lnTo>
                    <a:pt x="903492" y="246468"/>
                  </a:lnTo>
                  <a:lnTo>
                    <a:pt x="887290" y="249739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178851" y="3451636"/>
              <a:ext cx="929005" cy="250190"/>
            </a:xfrm>
            <a:custGeom>
              <a:avLst/>
              <a:gdLst/>
              <a:ahLst/>
              <a:cxnLst/>
              <a:rect l="l" t="t" r="r" b="b"/>
              <a:pathLst>
                <a:path w="929005" h="250189">
                  <a:moveTo>
                    <a:pt x="0" y="41623"/>
                  </a:moveTo>
                  <a:lnTo>
                    <a:pt x="3271" y="25422"/>
                  </a:lnTo>
                  <a:lnTo>
                    <a:pt x="12191" y="12191"/>
                  </a:lnTo>
                  <a:lnTo>
                    <a:pt x="25422" y="3271"/>
                  </a:lnTo>
                  <a:lnTo>
                    <a:pt x="41624" y="0"/>
                  </a:lnTo>
                  <a:lnTo>
                    <a:pt x="887290" y="0"/>
                  </a:lnTo>
                  <a:lnTo>
                    <a:pt x="921921" y="18531"/>
                  </a:lnTo>
                  <a:lnTo>
                    <a:pt x="928914" y="41623"/>
                  </a:lnTo>
                  <a:lnTo>
                    <a:pt x="928914" y="208115"/>
                  </a:lnTo>
                  <a:lnTo>
                    <a:pt x="925643" y="224317"/>
                  </a:lnTo>
                  <a:lnTo>
                    <a:pt x="916723" y="237548"/>
                  </a:lnTo>
                  <a:lnTo>
                    <a:pt x="903492" y="246468"/>
                  </a:lnTo>
                  <a:lnTo>
                    <a:pt x="887290" y="249739"/>
                  </a:lnTo>
                  <a:lnTo>
                    <a:pt x="41624" y="249739"/>
                  </a:lnTo>
                  <a:lnTo>
                    <a:pt x="25422" y="246468"/>
                  </a:lnTo>
                  <a:lnTo>
                    <a:pt x="12191" y="237548"/>
                  </a:lnTo>
                  <a:lnTo>
                    <a:pt x="3271" y="224317"/>
                  </a:lnTo>
                  <a:lnTo>
                    <a:pt x="0" y="208115"/>
                  </a:lnTo>
                  <a:lnTo>
                    <a:pt x="0" y="41623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157533" y="3063057"/>
            <a:ext cx="859790" cy="602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solidFill>
                  <a:srgbClr val="FFFFFF"/>
                </a:solidFill>
                <a:latin typeface="Arial"/>
                <a:cs typeface="Arial"/>
              </a:rPr>
              <a:t>ClusterIP</a:t>
            </a:r>
            <a:endParaRPr sz="1600">
              <a:latin typeface="Arial"/>
              <a:cs typeface="Arial"/>
            </a:endParaRPr>
          </a:p>
          <a:p>
            <a:pPr marL="256540">
              <a:lnSpc>
                <a:spcPct val="100000"/>
              </a:lnSpc>
              <a:spcBef>
                <a:spcPts val="1300"/>
              </a:spcBef>
            </a:pPr>
            <a:r>
              <a:rPr sz="1100" spc="-20" dirty="0">
                <a:solidFill>
                  <a:srgbClr val="FFFFFF"/>
                </a:solidFill>
                <a:latin typeface="Arial"/>
                <a:cs typeface="Arial"/>
              </a:rPr>
              <a:t>Node-</a:t>
            </a:r>
            <a:r>
              <a:rPr sz="1100" spc="-5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1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630822" y="3044205"/>
            <a:ext cx="882650" cy="584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solidFill>
                  <a:srgbClr val="FFFFFF"/>
                </a:solidFill>
                <a:latin typeface="Arial"/>
                <a:cs typeface="Arial"/>
              </a:rPr>
              <a:t>NodePort</a:t>
            </a:r>
            <a:endParaRPr sz="1600">
              <a:latin typeface="Arial"/>
              <a:cs typeface="Arial"/>
            </a:endParaRPr>
          </a:p>
          <a:p>
            <a:pPr marL="306070">
              <a:lnSpc>
                <a:spcPct val="100000"/>
              </a:lnSpc>
              <a:spcBef>
                <a:spcPts val="1165"/>
              </a:spcBef>
            </a:pPr>
            <a:r>
              <a:rPr sz="1100" spc="-20" dirty="0">
                <a:solidFill>
                  <a:srgbClr val="FFFFFF"/>
                </a:solidFill>
                <a:latin typeface="Arial"/>
                <a:cs typeface="Arial"/>
              </a:rPr>
              <a:t>Node-</a:t>
            </a:r>
            <a:r>
              <a:rPr sz="1100" spc="-5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6205763" y="2808469"/>
            <a:ext cx="2226310" cy="243840"/>
            <a:chOff x="6205763" y="2808469"/>
            <a:chExt cx="2226310" cy="243840"/>
          </a:xfrm>
        </p:grpSpPr>
        <p:sp>
          <p:nvSpPr>
            <p:cNvPr id="18" name="object 18"/>
            <p:cNvSpPr/>
            <p:nvPr/>
          </p:nvSpPr>
          <p:spPr>
            <a:xfrm>
              <a:off x="6212113" y="2814819"/>
              <a:ext cx="2213610" cy="231140"/>
            </a:xfrm>
            <a:custGeom>
              <a:avLst/>
              <a:gdLst/>
              <a:ahLst/>
              <a:cxnLst/>
              <a:rect l="l" t="t" r="r" b="b"/>
              <a:pathLst>
                <a:path w="2213609" h="231139">
                  <a:moveTo>
                    <a:pt x="2174934" y="230965"/>
                  </a:moveTo>
                  <a:lnTo>
                    <a:pt x="38494" y="230965"/>
                  </a:lnTo>
                  <a:lnTo>
                    <a:pt x="23510" y="227940"/>
                  </a:lnTo>
                  <a:lnTo>
                    <a:pt x="11274" y="219691"/>
                  </a:lnTo>
                  <a:lnTo>
                    <a:pt x="3025" y="207454"/>
                  </a:lnTo>
                  <a:lnTo>
                    <a:pt x="0" y="192470"/>
                  </a:lnTo>
                  <a:lnTo>
                    <a:pt x="0" y="38494"/>
                  </a:lnTo>
                  <a:lnTo>
                    <a:pt x="3025" y="23510"/>
                  </a:lnTo>
                  <a:lnTo>
                    <a:pt x="11274" y="11274"/>
                  </a:lnTo>
                  <a:lnTo>
                    <a:pt x="23510" y="3025"/>
                  </a:lnTo>
                  <a:lnTo>
                    <a:pt x="38494" y="0"/>
                  </a:lnTo>
                  <a:lnTo>
                    <a:pt x="2174934" y="0"/>
                  </a:lnTo>
                  <a:lnTo>
                    <a:pt x="2210499" y="23763"/>
                  </a:lnTo>
                  <a:lnTo>
                    <a:pt x="2213429" y="38494"/>
                  </a:lnTo>
                  <a:lnTo>
                    <a:pt x="2213429" y="192470"/>
                  </a:lnTo>
                  <a:lnTo>
                    <a:pt x="2210404" y="207454"/>
                  </a:lnTo>
                  <a:lnTo>
                    <a:pt x="2202154" y="219691"/>
                  </a:lnTo>
                  <a:lnTo>
                    <a:pt x="2189918" y="227940"/>
                  </a:lnTo>
                  <a:lnTo>
                    <a:pt x="2174934" y="23096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212113" y="2814819"/>
              <a:ext cx="2213610" cy="231140"/>
            </a:xfrm>
            <a:custGeom>
              <a:avLst/>
              <a:gdLst/>
              <a:ahLst/>
              <a:cxnLst/>
              <a:rect l="l" t="t" r="r" b="b"/>
              <a:pathLst>
                <a:path w="2213609" h="231139">
                  <a:moveTo>
                    <a:pt x="0" y="38494"/>
                  </a:moveTo>
                  <a:lnTo>
                    <a:pt x="3025" y="23510"/>
                  </a:lnTo>
                  <a:lnTo>
                    <a:pt x="11274" y="11274"/>
                  </a:lnTo>
                  <a:lnTo>
                    <a:pt x="23510" y="3025"/>
                  </a:lnTo>
                  <a:lnTo>
                    <a:pt x="38494" y="0"/>
                  </a:lnTo>
                  <a:lnTo>
                    <a:pt x="2174934" y="0"/>
                  </a:lnTo>
                  <a:lnTo>
                    <a:pt x="2210499" y="23763"/>
                  </a:lnTo>
                  <a:lnTo>
                    <a:pt x="2213429" y="38494"/>
                  </a:lnTo>
                  <a:lnTo>
                    <a:pt x="2213429" y="192470"/>
                  </a:lnTo>
                  <a:lnTo>
                    <a:pt x="2210404" y="207454"/>
                  </a:lnTo>
                  <a:lnTo>
                    <a:pt x="2202154" y="219691"/>
                  </a:lnTo>
                  <a:lnTo>
                    <a:pt x="2189918" y="227940"/>
                  </a:lnTo>
                  <a:lnTo>
                    <a:pt x="2174934" y="230965"/>
                  </a:lnTo>
                  <a:lnTo>
                    <a:pt x="38494" y="230965"/>
                  </a:lnTo>
                  <a:lnTo>
                    <a:pt x="23510" y="227940"/>
                  </a:lnTo>
                  <a:lnTo>
                    <a:pt x="11274" y="219691"/>
                  </a:lnTo>
                  <a:lnTo>
                    <a:pt x="3025" y="207454"/>
                  </a:lnTo>
                  <a:lnTo>
                    <a:pt x="0" y="192470"/>
                  </a:lnTo>
                  <a:lnTo>
                    <a:pt x="0" y="38494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6679267" y="2785648"/>
            <a:ext cx="127952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solidFill>
                  <a:srgbClr val="FFFFFF"/>
                </a:solidFill>
                <a:latin typeface="Arial"/>
                <a:cs typeface="Arial"/>
              </a:rPr>
              <a:t>LoadBalancer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6138959" y="3658505"/>
            <a:ext cx="753745" cy="551815"/>
            <a:chOff x="6138959" y="3658505"/>
            <a:chExt cx="753745" cy="551815"/>
          </a:xfrm>
        </p:grpSpPr>
        <p:sp>
          <p:nvSpPr>
            <p:cNvPr id="22" name="object 22"/>
            <p:cNvSpPr/>
            <p:nvPr/>
          </p:nvSpPr>
          <p:spPr>
            <a:xfrm>
              <a:off x="6145309" y="3664855"/>
              <a:ext cx="741045" cy="447675"/>
            </a:xfrm>
            <a:custGeom>
              <a:avLst/>
              <a:gdLst/>
              <a:ahLst/>
              <a:cxnLst/>
              <a:rect l="l" t="t" r="r" b="b"/>
              <a:pathLst>
                <a:path w="741045" h="447675">
                  <a:moveTo>
                    <a:pt x="666221" y="447351"/>
                  </a:moveTo>
                  <a:lnTo>
                    <a:pt x="74560" y="447351"/>
                  </a:lnTo>
                  <a:lnTo>
                    <a:pt x="45537" y="441492"/>
                  </a:lnTo>
                  <a:lnTo>
                    <a:pt x="21838" y="425513"/>
                  </a:lnTo>
                  <a:lnTo>
                    <a:pt x="5859" y="401814"/>
                  </a:lnTo>
                  <a:lnTo>
                    <a:pt x="0" y="372791"/>
                  </a:lnTo>
                  <a:lnTo>
                    <a:pt x="0" y="74560"/>
                  </a:lnTo>
                  <a:lnTo>
                    <a:pt x="5859" y="45538"/>
                  </a:lnTo>
                  <a:lnTo>
                    <a:pt x="21838" y="21838"/>
                  </a:lnTo>
                  <a:lnTo>
                    <a:pt x="45537" y="5859"/>
                  </a:lnTo>
                  <a:lnTo>
                    <a:pt x="74560" y="0"/>
                  </a:lnTo>
                  <a:lnTo>
                    <a:pt x="666221" y="0"/>
                  </a:lnTo>
                  <a:lnTo>
                    <a:pt x="707587" y="12527"/>
                  </a:lnTo>
                  <a:lnTo>
                    <a:pt x="735106" y="46027"/>
                  </a:lnTo>
                  <a:lnTo>
                    <a:pt x="740781" y="74560"/>
                  </a:lnTo>
                  <a:lnTo>
                    <a:pt x="740781" y="372791"/>
                  </a:lnTo>
                  <a:lnTo>
                    <a:pt x="734922" y="401814"/>
                  </a:lnTo>
                  <a:lnTo>
                    <a:pt x="718943" y="425513"/>
                  </a:lnTo>
                  <a:lnTo>
                    <a:pt x="695243" y="441492"/>
                  </a:lnTo>
                  <a:lnTo>
                    <a:pt x="666221" y="447351"/>
                  </a:lnTo>
                  <a:close/>
                </a:path>
              </a:pathLst>
            </a:custGeom>
            <a:solidFill>
              <a:srgbClr val="CDBE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145309" y="3664855"/>
              <a:ext cx="741045" cy="447675"/>
            </a:xfrm>
            <a:custGeom>
              <a:avLst/>
              <a:gdLst/>
              <a:ahLst/>
              <a:cxnLst/>
              <a:rect l="l" t="t" r="r" b="b"/>
              <a:pathLst>
                <a:path w="741045" h="447675">
                  <a:moveTo>
                    <a:pt x="0" y="74560"/>
                  </a:moveTo>
                  <a:lnTo>
                    <a:pt x="5859" y="45538"/>
                  </a:lnTo>
                  <a:lnTo>
                    <a:pt x="21838" y="21838"/>
                  </a:lnTo>
                  <a:lnTo>
                    <a:pt x="45537" y="5859"/>
                  </a:lnTo>
                  <a:lnTo>
                    <a:pt x="74560" y="0"/>
                  </a:lnTo>
                  <a:lnTo>
                    <a:pt x="666221" y="0"/>
                  </a:lnTo>
                  <a:lnTo>
                    <a:pt x="707587" y="12527"/>
                  </a:lnTo>
                  <a:lnTo>
                    <a:pt x="735106" y="46027"/>
                  </a:lnTo>
                  <a:lnTo>
                    <a:pt x="740781" y="74560"/>
                  </a:lnTo>
                  <a:lnTo>
                    <a:pt x="740781" y="372791"/>
                  </a:lnTo>
                  <a:lnTo>
                    <a:pt x="734922" y="401814"/>
                  </a:lnTo>
                  <a:lnTo>
                    <a:pt x="718943" y="425513"/>
                  </a:lnTo>
                  <a:lnTo>
                    <a:pt x="695243" y="441492"/>
                  </a:lnTo>
                  <a:lnTo>
                    <a:pt x="666221" y="447351"/>
                  </a:lnTo>
                  <a:lnTo>
                    <a:pt x="74560" y="447351"/>
                  </a:lnTo>
                  <a:lnTo>
                    <a:pt x="45537" y="441492"/>
                  </a:lnTo>
                  <a:lnTo>
                    <a:pt x="21838" y="425513"/>
                  </a:lnTo>
                  <a:lnTo>
                    <a:pt x="5859" y="401814"/>
                  </a:lnTo>
                  <a:lnTo>
                    <a:pt x="0" y="372791"/>
                  </a:lnTo>
                  <a:lnTo>
                    <a:pt x="0" y="7456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218390" y="4020555"/>
              <a:ext cx="594995" cy="183515"/>
            </a:xfrm>
            <a:custGeom>
              <a:avLst/>
              <a:gdLst/>
              <a:ahLst/>
              <a:cxnLst/>
              <a:rect l="l" t="t" r="r" b="b"/>
              <a:pathLst>
                <a:path w="594995" h="183514">
                  <a:moveTo>
                    <a:pt x="502966" y="183303"/>
                  </a:moveTo>
                  <a:lnTo>
                    <a:pt x="91651" y="183303"/>
                  </a:lnTo>
                  <a:lnTo>
                    <a:pt x="55976" y="176100"/>
                  </a:lnTo>
                  <a:lnTo>
                    <a:pt x="26843" y="156459"/>
                  </a:lnTo>
                  <a:lnTo>
                    <a:pt x="7202" y="127326"/>
                  </a:lnTo>
                  <a:lnTo>
                    <a:pt x="0" y="91651"/>
                  </a:lnTo>
                  <a:lnTo>
                    <a:pt x="7080" y="56578"/>
                  </a:lnTo>
                  <a:lnTo>
                    <a:pt x="7202" y="55976"/>
                  </a:lnTo>
                  <a:lnTo>
                    <a:pt x="26843" y="26844"/>
                  </a:lnTo>
                  <a:lnTo>
                    <a:pt x="55976" y="7202"/>
                  </a:lnTo>
                  <a:lnTo>
                    <a:pt x="91651" y="0"/>
                  </a:lnTo>
                  <a:lnTo>
                    <a:pt x="502966" y="0"/>
                  </a:lnTo>
                  <a:lnTo>
                    <a:pt x="553814" y="15398"/>
                  </a:lnTo>
                  <a:lnTo>
                    <a:pt x="587641" y="56578"/>
                  </a:lnTo>
                  <a:lnTo>
                    <a:pt x="594618" y="91651"/>
                  </a:lnTo>
                  <a:lnTo>
                    <a:pt x="587415" y="127326"/>
                  </a:lnTo>
                  <a:lnTo>
                    <a:pt x="567774" y="156459"/>
                  </a:lnTo>
                  <a:lnTo>
                    <a:pt x="538641" y="176100"/>
                  </a:lnTo>
                  <a:lnTo>
                    <a:pt x="502966" y="183303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218391" y="4020555"/>
              <a:ext cx="594995" cy="183515"/>
            </a:xfrm>
            <a:custGeom>
              <a:avLst/>
              <a:gdLst/>
              <a:ahLst/>
              <a:cxnLst/>
              <a:rect l="l" t="t" r="r" b="b"/>
              <a:pathLst>
                <a:path w="594995" h="183514">
                  <a:moveTo>
                    <a:pt x="0" y="91651"/>
                  </a:moveTo>
                  <a:lnTo>
                    <a:pt x="7202" y="55976"/>
                  </a:lnTo>
                  <a:lnTo>
                    <a:pt x="26843" y="26844"/>
                  </a:lnTo>
                  <a:lnTo>
                    <a:pt x="55976" y="7202"/>
                  </a:lnTo>
                  <a:lnTo>
                    <a:pt x="91651" y="0"/>
                  </a:lnTo>
                  <a:lnTo>
                    <a:pt x="502966" y="0"/>
                  </a:lnTo>
                  <a:lnTo>
                    <a:pt x="553814" y="15398"/>
                  </a:lnTo>
                  <a:lnTo>
                    <a:pt x="587641" y="56578"/>
                  </a:lnTo>
                  <a:lnTo>
                    <a:pt x="594618" y="91651"/>
                  </a:lnTo>
                  <a:lnTo>
                    <a:pt x="587415" y="127326"/>
                  </a:lnTo>
                  <a:lnTo>
                    <a:pt x="567774" y="156459"/>
                  </a:lnTo>
                  <a:lnTo>
                    <a:pt x="538641" y="176100"/>
                  </a:lnTo>
                  <a:lnTo>
                    <a:pt x="502966" y="183303"/>
                  </a:lnTo>
                  <a:lnTo>
                    <a:pt x="91651" y="183303"/>
                  </a:lnTo>
                  <a:lnTo>
                    <a:pt x="55976" y="176100"/>
                  </a:lnTo>
                  <a:lnTo>
                    <a:pt x="26843" y="156459"/>
                  </a:lnTo>
                  <a:lnTo>
                    <a:pt x="7202" y="127326"/>
                  </a:lnTo>
                  <a:lnTo>
                    <a:pt x="0" y="9165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6336549" y="4033530"/>
            <a:ext cx="35877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10" dirty="0">
                <a:solidFill>
                  <a:srgbClr val="FFFFFF"/>
                </a:solidFill>
                <a:latin typeface="Arial"/>
                <a:cs typeface="Arial"/>
              </a:rPr>
              <a:t>Node-</a:t>
            </a:r>
            <a:r>
              <a:rPr sz="800" spc="-5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7003495" y="3658505"/>
            <a:ext cx="753745" cy="551815"/>
            <a:chOff x="7003495" y="3658505"/>
            <a:chExt cx="753745" cy="551815"/>
          </a:xfrm>
        </p:grpSpPr>
        <p:sp>
          <p:nvSpPr>
            <p:cNvPr id="28" name="object 28"/>
            <p:cNvSpPr/>
            <p:nvPr/>
          </p:nvSpPr>
          <p:spPr>
            <a:xfrm>
              <a:off x="7009845" y="3664855"/>
              <a:ext cx="741045" cy="447675"/>
            </a:xfrm>
            <a:custGeom>
              <a:avLst/>
              <a:gdLst/>
              <a:ahLst/>
              <a:cxnLst/>
              <a:rect l="l" t="t" r="r" b="b"/>
              <a:pathLst>
                <a:path w="741045" h="447675">
                  <a:moveTo>
                    <a:pt x="666221" y="447351"/>
                  </a:moveTo>
                  <a:lnTo>
                    <a:pt x="74560" y="447351"/>
                  </a:lnTo>
                  <a:lnTo>
                    <a:pt x="45538" y="441492"/>
                  </a:lnTo>
                  <a:lnTo>
                    <a:pt x="21838" y="425513"/>
                  </a:lnTo>
                  <a:lnTo>
                    <a:pt x="5859" y="401814"/>
                  </a:lnTo>
                  <a:lnTo>
                    <a:pt x="0" y="372791"/>
                  </a:lnTo>
                  <a:lnTo>
                    <a:pt x="0" y="74560"/>
                  </a:lnTo>
                  <a:lnTo>
                    <a:pt x="5859" y="45538"/>
                  </a:lnTo>
                  <a:lnTo>
                    <a:pt x="21838" y="21838"/>
                  </a:lnTo>
                  <a:lnTo>
                    <a:pt x="45538" y="5859"/>
                  </a:lnTo>
                  <a:lnTo>
                    <a:pt x="74560" y="0"/>
                  </a:lnTo>
                  <a:lnTo>
                    <a:pt x="666221" y="0"/>
                  </a:lnTo>
                  <a:lnTo>
                    <a:pt x="707587" y="12527"/>
                  </a:lnTo>
                  <a:lnTo>
                    <a:pt x="735106" y="46027"/>
                  </a:lnTo>
                  <a:lnTo>
                    <a:pt x="740781" y="74560"/>
                  </a:lnTo>
                  <a:lnTo>
                    <a:pt x="740781" y="372791"/>
                  </a:lnTo>
                  <a:lnTo>
                    <a:pt x="734922" y="401814"/>
                  </a:lnTo>
                  <a:lnTo>
                    <a:pt x="718943" y="425513"/>
                  </a:lnTo>
                  <a:lnTo>
                    <a:pt x="695243" y="441492"/>
                  </a:lnTo>
                  <a:lnTo>
                    <a:pt x="666221" y="447351"/>
                  </a:lnTo>
                  <a:close/>
                </a:path>
              </a:pathLst>
            </a:custGeom>
            <a:solidFill>
              <a:srgbClr val="CDBE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009845" y="3664855"/>
              <a:ext cx="741045" cy="447675"/>
            </a:xfrm>
            <a:custGeom>
              <a:avLst/>
              <a:gdLst/>
              <a:ahLst/>
              <a:cxnLst/>
              <a:rect l="l" t="t" r="r" b="b"/>
              <a:pathLst>
                <a:path w="741045" h="447675">
                  <a:moveTo>
                    <a:pt x="0" y="74560"/>
                  </a:moveTo>
                  <a:lnTo>
                    <a:pt x="5859" y="45538"/>
                  </a:lnTo>
                  <a:lnTo>
                    <a:pt x="21838" y="21838"/>
                  </a:lnTo>
                  <a:lnTo>
                    <a:pt x="45538" y="5859"/>
                  </a:lnTo>
                  <a:lnTo>
                    <a:pt x="74560" y="0"/>
                  </a:lnTo>
                  <a:lnTo>
                    <a:pt x="666221" y="0"/>
                  </a:lnTo>
                  <a:lnTo>
                    <a:pt x="707587" y="12527"/>
                  </a:lnTo>
                  <a:lnTo>
                    <a:pt x="735106" y="46027"/>
                  </a:lnTo>
                  <a:lnTo>
                    <a:pt x="740781" y="74560"/>
                  </a:lnTo>
                  <a:lnTo>
                    <a:pt x="740781" y="372791"/>
                  </a:lnTo>
                  <a:lnTo>
                    <a:pt x="734922" y="401814"/>
                  </a:lnTo>
                  <a:lnTo>
                    <a:pt x="718943" y="425513"/>
                  </a:lnTo>
                  <a:lnTo>
                    <a:pt x="695243" y="441492"/>
                  </a:lnTo>
                  <a:lnTo>
                    <a:pt x="666221" y="447351"/>
                  </a:lnTo>
                  <a:lnTo>
                    <a:pt x="74560" y="447351"/>
                  </a:lnTo>
                  <a:lnTo>
                    <a:pt x="45538" y="441492"/>
                  </a:lnTo>
                  <a:lnTo>
                    <a:pt x="21838" y="425513"/>
                  </a:lnTo>
                  <a:lnTo>
                    <a:pt x="5859" y="401814"/>
                  </a:lnTo>
                  <a:lnTo>
                    <a:pt x="0" y="372791"/>
                  </a:lnTo>
                  <a:lnTo>
                    <a:pt x="0" y="7456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082927" y="4020555"/>
              <a:ext cx="594995" cy="183515"/>
            </a:xfrm>
            <a:custGeom>
              <a:avLst/>
              <a:gdLst/>
              <a:ahLst/>
              <a:cxnLst/>
              <a:rect l="l" t="t" r="r" b="b"/>
              <a:pathLst>
                <a:path w="594995" h="183514">
                  <a:moveTo>
                    <a:pt x="502966" y="183303"/>
                  </a:moveTo>
                  <a:lnTo>
                    <a:pt x="91651" y="183303"/>
                  </a:lnTo>
                  <a:lnTo>
                    <a:pt x="55976" y="176100"/>
                  </a:lnTo>
                  <a:lnTo>
                    <a:pt x="26844" y="156459"/>
                  </a:lnTo>
                  <a:lnTo>
                    <a:pt x="7202" y="127326"/>
                  </a:lnTo>
                  <a:lnTo>
                    <a:pt x="0" y="91651"/>
                  </a:lnTo>
                  <a:lnTo>
                    <a:pt x="7080" y="56578"/>
                  </a:lnTo>
                  <a:lnTo>
                    <a:pt x="7202" y="55976"/>
                  </a:lnTo>
                  <a:lnTo>
                    <a:pt x="26844" y="26844"/>
                  </a:lnTo>
                  <a:lnTo>
                    <a:pt x="55976" y="7202"/>
                  </a:lnTo>
                  <a:lnTo>
                    <a:pt x="91651" y="0"/>
                  </a:lnTo>
                  <a:lnTo>
                    <a:pt x="502966" y="0"/>
                  </a:lnTo>
                  <a:lnTo>
                    <a:pt x="553815" y="15398"/>
                  </a:lnTo>
                  <a:lnTo>
                    <a:pt x="587641" y="56578"/>
                  </a:lnTo>
                  <a:lnTo>
                    <a:pt x="594617" y="91651"/>
                  </a:lnTo>
                  <a:lnTo>
                    <a:pt x="587415" y="127326"/>
                  </a:lnTo>
                  <a:lnTo>
                    <a:pt x="567773" y="156459"/>
                  </a:lnTo>
                  <a:lnTo>
                    <a:pt x="538641" y="176100"/>
                  </a:lnTo>
                  <a:lnTo>
                    <a:pt x="502966" y="183303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082927" y="4020555"/>
              <a:ext cx="594995" cy="183515"/>
            </a:xfrm>
            <a:custGeom>
              <a:avLst/>
              <a:gdLst/>
              <a:ahLst/>
              <a:cxnLst/>
              <a:rect l="l" t="t" r="r" b="b"/>
              <a:pathLst>
                <a:path w="594995" h="183514">
                  <a:moveTo>
                    <a:pt x="0" y="91651"/>
                  </a:moveTo>
                  <a:lnTo>
                    <a:pt x="7202" y="55976"/>
                  </a:lnTo>
                  <a:lnTo>
                    <a:pt x="26844" y="26844"/>
                  </a:lnTo>
                  <a:lnTo>
                    <a:pt x="55976" y="7202"/>
                  </a:lnTo>
                  <a:lnTo>
                    <a:pt x="91651" y="0"/>
                  </a:lnTo>
                  <a:lnTo>
                    <a:pt x="502966" y="0"/>
                  </a:lnTo>
                  <a:lnTo>
                    <a:pt x="553815" y="15398"/>
                  </a:lnTo>
                  <a:lnTo>
                    <a:pt x="587641" y="56578"/>
                  </a:lnTo>
                  <a:lnTo>
                    <a:pt x="594617" y="91651"/>
                  </a:lnTo>
                  <a:lnTo>
                    <a:pt x="587415" y="127326"/>
                  </a:lnTo>
                  <a:lnTo>
                    <a:pt x="567773" y="156459"/>
                  </a:lnTo>
                  <a:lnTo>
                    <a:pt x="538641" y="176100"/>
                  </a:lnTo>
                  <a:lnTo>
                    <a:pt x="502966" y="183303"/>
                  </a:lnTo>
                  <a:lnTo>
                    <a:pt x="91651" y="183303"/>
                  </a:lnTo>
                  <a:lnTo>
                    <a:pt x="55976" y="176100"/>
                  </a:lnTo>
                  <a:lnTo>
                    <a:pt x="26844" y="156459"/>
                  </a:lnTo>
                  <a:lnTo>
                    <a:pt x="7202" y="127326"/>
                  </a:lnTo>
                  <a:lnTo>
                    <a:pt x="0" y="9165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7201086" y="4033530"/>
            <a:ext cx="35877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10" dirty="0">
                <a:solidFill>
                  <a:srgbClr val="FFFFFF"/>
                </a:solidFill>
                <a:latin typeface="Arial"/>
                <a:cs typeface="Arial"/>
              </a:rPr>
              <a:t>Node-</a:t>
            </a:r>
            <a:r>
              <a:rPr sz="800" spc="-5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7877640" y="3657208"/>
            <a:ext cx="753745" cy="551815"/>
            <a:chOff x="7877640" y="3657208"/>
            <a:chExt cx="753745" cy="551815"/>
          </a:xfrm>
        </p:grpSpPr>
        <p:sp>
          <p:nvSpPr>
            <p:cNvPr id="34" name="object 34"/>
            <p:cNvSpPr/>
            <p:nvPr/>
          </p:nvSpPr>
          <p:spPr>
            <a:xfrm>
              <a:off x="7883990" y="3663558"/>
              <a:ext cx="741045" cy="447675"/>
            </a:xfrm>
            <a:custGeom>
              <a:avLst/>
              <a:gdLst/>
              <a:ahLst/>
              <a:cxnLst/>
              <a:rect l="l" t="t" r="r" b="b"/>
              <a:pathLst>
                <a:path w="741045" h="447675">
                  <a:moveTo>
                    <a:pt x="666221" y="447351"/>
                  </a:moveTo>
                  <a:lnTo>
                    <a:pt x="74560" y="447351"/>
                  </a:lnTo>
                  <a:lnTo>
                    <a:pt x="45538" y="441492"/>
                  </a:lnTo>
                  <a:lnTo>
                    <a:pt x="21838" y="425513"/>
                  </a:lnTo>
                  <a:lnTo>
                    <a:pt x="5859" y="401813"/>
                  </a:lnTo>
                  <a:lnTo>
                    <a:pt x="0" y="372791"/>
                  </a:lnTo>
                  <a:lnTo>
                    <a:pt x="0" y="74560"/>
                  </a:lnTo>
                  <a:lnTo>
                    <a:pt x="5859" y="45537"/>
                  </a:lnTo>
                  <a:lnTo>
                    <a:pt x="21838" y="21838"/>
                  </a:lnTo>
                  <a:lnTo>
                    <a:pt x="45538" y="5859"/>
                  </a:lnTo>
                  <a:lnTo>
                    <a:pt x="74560" y="0"/>
                  </a:lnTo>
                  <a:lnTo>
                    <a:pt x="666221" y="0"/>
                  </a:lnTo>
                  <a:lnTo>
                    <a:pt x="707587" y="12527"/>
                  </a:lnTo>
                  <a:lnTo>
                    <a:pt x="735106" y="46027"/>
                  </a:lnTo>
                  <a:lnTo>
                    <a:pt x="740781" y="74560"/>
                  </a:lnTo>
                  <a:lnTo>
                    <a:pt x="740781" y="372791"/>
                  </a:lnTo>
                  <a:lnTo>
                    <a:pt x="734922" y="401813"/>
                  </a:lnTo>
                  <a:lnTo>
                    <a:pt x="718943" y="425513"/>
                  </a:lnTo>
                  <a:lnTo>
                    <a:pt x="695243" y="441492"/>
                  </a:lnTo>
                  <a:lnTo>
                    <a:pt x="666221" y="447351"/>
                  </a:lnTo>
                  <a:close/>
                </a:path>
              </a:pathLst>
            </a:custGeom>
            <a:solidFill>
              <a:srgbClr val="CDBE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7883990" y="3663558"/>
              <a:ext cx="741045" cy="447675"/>
            </a:xfrm>
            <a:custGeom>
              <a:avLst/>
              <a:gdLst/>
              <a:ahLst/>
              <a:cxnLst/>
              <a:rect l="l" t="t" r="r" b="b"/>
              <a:pathLst>
                <a:path w="741045" h="447675">
                  <a:moveTo>
                    <a:pt x="0" y="74560"/>
                  </a:moveTo>
                  <a:lnTo>
                    <a:pt x="5859" y="45537"/>
                  </a:lnTo>
                  <a:lnTo>
                    <a:pt x="21838" y="21838"/>
                  </a:lnTo>
                  <a:lnTo>
                    <a:pt x="45538" y="5859"/>
                  </a:lnTo>
                  <a:lnTo>
                    <a:pt x="74560" y="0"/>
                  </a:lnTo>
                  <a:lnTo>
                    <a:pt x="666221" y="0"/>
                  </a:lnTo>
                  <a:lnTo>
                    <a:pt x="707587" y="12527"/>
                  </a:lnTo>
                  <a:lnTo>
                    <a:pt x="735106" y="46027"/>
                  </a:lnTo>
                  <a:lnTo>
                    <a:pt x="740781" y="74560"/>
                  </a:lnTo>
                  <a:lnTo>
                    <a:pt x="740781" y="372791"/>
                  </a:lnTo>
                  <a:lnTo>
                    <a:pt x="734922" y="401813"/>
                  </a:lnTo>
                  <a:lnTo>
                    <a:pt x="718943" y="425513"/>
                  </a:lnTo>
                  <a:lnTo>
                    <a:pt x="695243" y="441492"/>
                  </a:lnTo>
                  <a:lnTo>
                    <a:pt x="666221" y="447351"/>
                  </a:lnTo>
                  <a:lnTo>
                    <a:pt x="74560" y="447351"/>
                  </a:lnTo>
                  <a:lnTo>
                    <a:pt x="45538" y="441492"/>
                  </a:lnTo>
                  <a:lnTo>
                    <a:pt x="21838" y="425513"/>
                  </a:lnTo>
                  <a:lnTo>
                    <a:pt x="5859" y="401813"/>
                  </a:lnTo>
                  <a:lnTo>
                    <a:pt x="0" y="372791"/>
                  </a:lnTo>
                  <a:lnTo>
                    <a:pt x="0" y="74560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7957072" y="4019258"/>
              <a:ext cx="594995" cy="183515"/>
            </a:xfrm>
            <a:custGeom>
              <a:avLst/>
              <a:gdLst/>
              <a:ahLst/>
              <a:cxnLst/>
              <a:rect l="l" t="t" r="r" b="b"/>
              <a:pathLst>
                <a:path w="594995" h="183514">
                  <a:moveTo>
                    <a:pt x="502966" y="183302"/>
                  </a:moveTo>
                  <a:lnTo>
                    <a:pt x="91651" y="183302"/>
                  </a:lnTo>
                  <a:lnTo>
                    <a:pt x="55976" y="176100"/>
                  </a:lnTo>
                  <a:lnTo>
                    <a:pt x="26844" y="156458"/>
                  </a:lnTo>
                  <a:lnTo>
                    <a:pt x="7202" y="127326"/>
                  </a:lnTo>
                  <a:lnTo>
                    <a:pt x="0" y="91651"/>
                  </a:lnTo>
                  <a:lnTo>
                    <a:pt x="7081" y="56577"/>
                  </a:lnTo>
                  <a:lnTo>
                    <a:pt x="7202" y="55976"/>
                  </a:lnTo>
                  <a:lnTo>
                    <a:pt x="26844" y="26843"/>
                  </a:lnTo>
                  <a:lnTo>
                    <a:pt x="55976" y="7202"/>
                  </a:lnTo>
                  <a:lnTo>
                    <a:pt x="91651" y="0"/>
                  </a:lnTo>
                  <a:lnTo>
                    <a:pt x="502966" y="0"/>
                  </a:lnTo>
                  <a:lnTo>
                    <a:pt x="553815" y="15398"/>
                  </a:lnTo>
                  <a:lnTo>
                    <a:pt x="587641" y="56577"/>
                  </a:lnTo>
                  <a:lnTo>
                    <a:pt x="594617" y="91651"/>
                  </a:lnTo>
                  <a:lnTo>
                    <a:pt x="587415" y="127326"/>
                  </a:lnTo>
                  <a:lnTo>
                    <a:pt x="567773" y="156458"/>
                  </a:lnTo>
                  <a:lnTo>
                    <a:pt x="538641" y="176100"/>
                  </a:lnTo>
                  <a:lnTo>
                    <a:pt x="502966" y="183302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7957072" y="4019258"/>
              <a:ext cx="594995" cy="183515"/>
            </a:xfrm>
            <a:custGeom>
              <a:avLst/>
              <a:gdLst/>
              <a:ahLst/>
              <a:cxnLst/>
              <a:rect l="l" t="t" r="r" b="b"/>
              <a:pathLst>
                <a:path w="594995" h="183514">
                  <a:moveTo>
                    <a:pt x="0" y="91651"/>
                  </a:moveTo>
                  <a:lnTo>
                    <a:pt x="7202" y="55976"/>
                  </a:lnTo>
                  <a:lnTo>
                    <a:pt x="26844" y="26843"/>
                  </a:lnTo>
                  <a:lnTo>
                    <a:pt x="55976" y="7202"/>
                  </a:lnTo>
                  <a:lnTo>
                    <a:pt x="91651" y="0"/>
                  </a:lnTo>
                  <a:lnTo>
                    <a:pt x="502966" y="0"/>
                  </a:lnTo>
                  <a:lnTo>
                    <a:pt x="553815" y="15398"/>
                  </a:lnTo>
                  <a:lnTo>
                    <a:pt x="587641" y="56577"/>
                  </a:lnTo>
                  <a:lnTo>
                    <a:pt x="594617" y="91651"/>
                  </a:lnTo>
                  <a:lnTo>
                    <a:pt x="587415" y="127326"/>
                  </a:lnTo>
                  <a:lnTo>
                    <a:pt x="567773" y="156458"/>
                  </a:lnTo>
                  <a:lnTo>
                    <a:pt x="538641" y="176100"/>
                  </a:lnTo>
                  <a:lnTo>
                    <a:pt x="502966" y="183302"/>
                  </a:lnTo>
                  <a:lnTo>
                    <a:pt x="91651" y="183302"/>
                  </a:lnTo>
                  <a:lnTo>
                    <a:pt x="55976" y="176100"/>
                  </a:lnTo>
                  <a:lnTo>
                    <a:pt x="26844" y="156458"/>
                  </a:lnTo>
                  <a:lnTo>
                    <a:pt x="7202" y="127326"/>
                  </a:lnTo>
                  <a:lnTo>
                    <a:pt x="0" y="9165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8075231" y="4032234"/>
            <a:ext cx="35877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10" dirty="0">
                <a:solidFill>
                  <a:srgbClr val="FFFFFF"/>
                </a:solidFill>
                <a:latin typeface="Arial"/>
                <a:cs typeface="Arial"/>
              </a:rPr>
              <a:t>Node-</a:t>
            </a:r>
            <a:r>
              <a:rPr sz="800" spc="-5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6395236" y="3045785"/>
            <a:ext cx="1981835" cy="544195"/>
            <a:chOff x="6395236" y="3045785"/>
            <a:chExt cx="1981835" cy="544195"/>
          </a:xfrm>
        </p:grpSpPr>
        <p:sp>
          <p:nvSpPr>
            <p:cNvPr id="40" name="object 40"/>
            <p:cNvSpPr/>
            <p:nvPr/>
          </p:nvSpPr>
          <p:spPr>
            <a:xfrm>
              <a:off x="6415732" y="3384339"/>
              <a:ext cx="1941195" cy="144145"/>
            </a:xfrm>
            <a:custGeom>
              <a:avLst/>
              <a:gdLst/>
              <a:ahLst/>
              <a:cxnLst/>
              <a:rect l="l" t="t" r="r" b="b"/>
              <a:pathLst>
                <a:path w="1941195" h="144145">
                  <a:moveTo>
                    <a:pt x="0" y="0"/>
                  </a:moveTo>
                  <a:lnTo>
                    <a:pt x="1940667" y="0"/>
                  </a:lnTo>
                </a:path>
                <a:path w="1941195" h="144145">
                  <a:moveTo>
                    <a:pt x="0" y="10608"/>
                  </a:moveTo>
                  <a:lnTo>
                    <a:pt x="0" y="143539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6399999" y="3527878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15732" y="43225"/>
                  </a:moveTo>
                  <a:lnTo>
                    <a:pt x="0" y="0"/>
                  </a:lnTo>
                  <a:lnTo>
                    <a:pt x="31465" y="0"/>
                  </a:lnTo>
                  <a:lnTo>
                    <a:pt x="15732" y="4322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6399999" y="3527878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0"/>
                  </a:moveTo>
                  <a:lnTo>
                    <a:pt x="15732" y="43225"/>
                  </a:lnTo>
                  <a:lnTo>
                    <a:pt x="31465" y="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7311989" y="3394948"/>
              <a:ext cx="0" cy="133350"/>
            </a:xfrm>
            <a:custGeom>
              <a:avLst/>
              <a:gdLst/>
              <a:ahLst/>
              <a:cxnLst/>
              <a:rect l="l" t="t" r="r" b="b"/>
              <a:pathLst>
                <a:path h="133350">
                  <a:moveTo>
                    <a:pt x="0" y="0"/>
                  </a:moveTo>
                  <a:lnTo>
                    <a:pt x="0" y="13293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7296256" y="3527878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15732" y="43225"/>
                  </a:moveTo>
                  <a:lnTo>
                    <a:pt x="0" y="0"/>
                  </a:lnTo>
                  <a:lnTo>
                    <a:pt x="31465" y="0"/>
                  </a:lnTo>
                  <a:lnTo>
                    <a:pt x="15732" y="4322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7296256" y="3527878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0"/>
                  </a:moveTo>
                  <a:lnTo>
                    <a:pt x="15732" y="43225"/>
                  </a:lnTo>
                  <a:lnTo>
                    <a:pt x="31465" y="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8356400" y="3415116"/>
              <a:ext cx="0" cy="127000"/>
            </a:xfrm>
            <a:custGeom>
              <a:avLst/>
              <a:gdLst/>
              <a:ahLst/>
              <a:cxnLst/>
              <a:rect l="l" t="t" r="r" b="b"/>
              <a:pathLst>
                <a:path h="127000">
                  <a:moveTo>
                    <a:pt x="0" y="0"/>
                  </a:moveTo>
                  <a:lnTo>
                    <a:pt x="0" y="12662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8340667" y="354173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15732" y="43225"/>
                  </a:moveTo>
                  <a:lnTo>
                    <a:pt x="0" y="0"/>
                  </a:lnTo>
                  <a:lnTo>
                    <a:pt x="31464" y="0"/>
                  </a:lnTo>
                  <a:lnTo>
                    <a:pt x="15732" y="4322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8340667" y="354173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0"/>
                  </a:moveTo>
                  <a:lnTo>
                    <a:pt x="15732" y="43225"/>
                  </a:lnTo>
                  <a:lnTo>
                    <a:pt x="31464" y="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7318827" y="3045785"/>
              <a:ext cx="0" cy="269875"/>
            </a:xfrm>
            <a:custGeom>
              <a:avLst/>
              <a:gdLst/>
              <a:ahLst/>
              <a:cxnLst/>
              <a:rect l="l" t="t" r="r" b="b"/>
              <a:pathLst>
                <a:path h="269875">
                  <a:moveTo>
                    <a:pt x="0" y="0"/>
                  </a:moveTo>
                  <a:lnTo>
                    <a:pt x="0" y="269399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555033" y="4037547"/>
            <a:ext cx="2080260" cy="86741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268605" marR="153035" indent="-256540">
              <a:lnSpc>
                <a:spcPts val="1650"/>
              </a:lnSpc>
              <a:spcBef>
                <a:spcPts val="180"/>
              </a:spcBef>
              <a:buChar char="-"/>
              <a:tabLst>
                <a:tab pos="268605" algn="l"/>
              </a:tabLst>
            </a:pPr>
            <a:r>
              <a:rPr sz="1400" dirty="0">
                <a:latin typeface="Arial"/>
                <a:cs typeface="Arial"/>
              </a:rPr>
              <a:t>Reachable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within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the </a:t>
            </a:r>
            <a:r>
              <a:rPr sz="1400" spc="-10" dirty="0">
                <a:latin typeface="Arial"/>
                <a:cs typeface="Arial"/>
              </a:rPr>
              <a:t>cluster.</a:t>
            </a:r>
            <a:endParaRPr sz="1400">
              <a:latin typeface="Arial"/>
              <a:cs typeface="Arial"/>
            </a:endParaRPr>
          </a:p>
          <a:p>
            <a:pPr marL="268605" marR="5080" indent="-256540">
              <a:lnSpc>
                <a:spcPts val="1650"/>
              </a:lnSpc>
              <a:buChar char="-"/>
              <a:tabLst>
                <a:tab pos="268605" algn="l"/>
              </a:tabLst>
            </a:pPr>
            <a:r>
              <a:rPr sz="1400" dirty="0">
                <a:latin typeface="Arial"/>
                <a:cs typeface="Arial"/>
              </a:rPr>
              <a:t>Connects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Frontend </a:t>
            </a:r>
            <a:r>
              <a:rPr sz="1400" dirty="0">
                <a:latin typeface="Arial"/>
                <a:cs typeface="Arial"/>
              </a:rPr>
              <a:t>Pods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to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Backend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Pods</a:t>
            </a:r>
            <a:endParaRPr sz="1400">
              <a:latin typeface="Arial"/>
              <a:cs typeface="Arial"/>
            </a:endParaRPr>
          </a:p>
        </p:txBody>
      </p:sp>
      <p:sp>
        <p:nvSpPr>
          <p:cNvPr id="53" name="object 5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91</a:t>
            </a:fld>
            <a:endParaRPr spc="-25" dirty="0"/>
          </a:p>
        </p:txBody>
      </p:sp>
      <p:sp>
        <p:nvSpPr>
          <p:cNvPr id="51" name="object 51"/>
          <p:cNvSpPr txBox="1"/>
          <p:nvPr/>
        </p:nvSpPr>
        <p:spPr>
          <a:xfrm>
            <a:off x="3140401" y="3969606"/>
            <a:ext cx="2119630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268605" marR="5080" indent="-256540">
              <a:lnSpc>
                <a:spcPts val="1650"/>
              </a:lnSpc>
              <a:spcBef>
                <a:spcPts val="180"/>
              </a:spcBef>
              <a:tabLst>
                <a:tab pos="268605" algn="l"/>
              </a:tabLst>
            </a:pPr>
            <a:r>
              <a:rPr sz="1400" spc="-50" dirty="0">
                <a:latin typeface="Arial"/>
                <a:cs typeface="Arial"/>
              </a:rPr>
              <a:t>-</a:t>
            </a:r>
            <a:r>
              <a:rPr sz="1400" dirty="0">
                <a:latin typeface="Arial"/>
                <a:cs typeface="Arial"/>
              </a:rPr>
              <a:t>	Exposing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Frontend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app </a:t>
            </a:r>
            <a:r>
              <a:rPr sz="1400" dirty="0">
                <a:latin typeface="Arial"/>
                <a:cs typeface="Arial"/>
              </a:rPr>
              <a:t>to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external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world</a:t>
            </a:r>
            <a:endParaRPr sz="140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6109557" y="4408418"/>
            <a:ext cx="240601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68605" algn="l"/>
              </a:tabLst>
            </a:pPr>
            <a:r>
              <a:rPr sz="1400" spc="-50" dirty="0">
                <a:latin typeface="Arial"/>
                <a:cs typeface="Arial"/>
              </a:rPr>
              <a:t>-</a:t>
            </a:r>
            <a:r>
              <a:rPr sz="1400" dirty="0">
                <a:latin typeface="Arial"/>
                <a:cs typeface="Arial"/>
              </a:rPr>
              <a:t>	Equally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distribute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loads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2730" cy="5143500"/>
            <a:chOff x="0" y="0"/>
            <a:chExt cx="9142730" cy="5143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54" y="0"/>
              <a:ext cx="9141290" cy="410870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4175999" cy="514349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193024" y="4326076"/>
              <a:ext cx="722375" cy="604028"/>
            </a:xfrm>
            <a:prstGeom prst="rect">
              <a:avLst/>
            </a:prstGeom>
          </p:spPr>
        </p:pic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758825" y="1328441"/>
            <a:ext cx="433641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dirty="0">
                <a:solidFill>
                  <a:srgbClr val="FFFFFF"/>
                </a:solidFill>
              </a:rPr>
              <a:t>Services:</a:t>
            </a:r>
            <a:r>
              <a:rPr sz="4000" spc="-229" dirty="0">
                <a:solidFill>
                  <a:srgbClr val="FFFFFF"/>
                </a:solidFill>
              </a:rPr>
              <a:t> </a:t>
            </a:r>
            <a:r>
              <a:rPr sz="4000" spc="-10" dirty="0">
                <a:solidFill>
                  <a:srgbClr val="FFFFFF"/>
                </a:solidFill>
              </a:rPr>
              <a:t>ClusterIP</a:t>
            </a:r>
            <a:endParaRPr sz="4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707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Services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93</a:t>
            </a:fld>
            <a:endParaRPr spc="-25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144145" marR="213995" indent="-132080">
              <a:lnSpc>
                <a:spcPts val="2180"/>
              </a:lnSpc>
              <a:spcBef>
                <a:spcPts val="355"/>
              </a:spcBef>
              <a:buClr>
                <a:srgbClr val="FFAB40"/>
              </a:buClr>
              <a:buChar char="•"/>
              <a:tabLst>
                <a:tab pos="145415" algn="l"/>
                <a:tab pos="1711960" algn="l"/>
              </a:tabLst>
            </a:pPr>
            <a:r>
              <a:rPr dirty="0"/>
              <a:t>Imagine</a:t>
            </a:r>
            <a:r>
              <a:rPr spc="-50" dirty="0"/>
              <a:t> </a:t>
            </a:r>
            <a:r>
              <a:rPr dirty="0"/>
              <a:t>you</a:t>
            </a:r>
            <a:r>
              <a:rPr spc="-50" dirty="0"/>
              <a:t> </a:t>
            </a:r>
            <a:r>
              <a:rPr dirty="0"/>
              <a:t>need</a:t>
            </a:r>
            <a:r>
              <a:rPr spc="-45" dirty="0"/>
              <a:t> </a:t>
            </a:r>
            <a:r>
              <a:rPr dirty="0"/>
              <a:t>to</a:t>
            </a:r>
            <a:r>
              <a:rPr spc="-50" dirty="0"/>
              <a:t> </a:t>
            </a:r>
            <a:r>
              <a:rPr dirty="0"/>
              <a:t>deploy</a:t>
            </a:r>
            <a:r>
              <a:rPr spc="-50" dirty="0"/>
              <a:t> </a:t>
            </a:r>
            <a:r>
              <a:rPr dirty="0"/>
              <a:t>one</a:t>
            </a:r>
            <a:r>
              <a:rPr spc="-45" dirty="0"/>
              <a:t> </a:t>
            </a:r>
            <a:r>
              <a:rPr dirty="0"/>
              <a:t>full</a:t>
            </a:r>
            <a:r>
              <a:rPr spc="-50" dirty="0"/>
              <a:t> </a:t>
            </a:r>
            <a:r>
              <a:rPr dirty="0"/>
              <a:t>fledge</a:t>
            </a:r>
            <a:r>
              <a:rPr spc="-45" dirty="0"/>
              <a:t> </a:t>
            </a:r>
            <a:r>
              <a:rPr dirty="0"/>
              <a:t>app</a:t>
            </a:r>
            <a:r>
              <a:rPr spc="-50" dirty="0"/>
              <a:t> </a:t>
            </a:r>
            <a:r>
              <a:rPr dirty="0"/>
              <a:t>which</a:t>
            </a:r>
            <a:r>
              <a:rPr spc="-50" dirty="0"/>
              <a:t> </a:t>
            </a:r>
            <a:r>
              <a:rPr dirty="0"/>
              <a:t>consists</a:t>
            </a:r>
            <a:r>
              <a:rPr spc="-45" dirty="0"/>
              <a:t> </a:t>
            </a:r>
            <a:r>
              <a:rPr spc="-25" dirty="0"/>
              <a:t>of 	</a:t>
            </a:r>
            <a:r>
              <a:rPr dirty="0"/>
              <a:t>frontend</a:t>
            </a:r>
            <a:r>
              <a:rPr spc="-40" dirty="0"/>
              <a:t> </a:t>
            </a:r>
            <a:r>
              <a:rPr spc="-25" dirty="0"/>
              <a:t>app</a:t>
            </a:r>
            <a:r>
              <a:rPr dirty="0"/>
              <a:t>	&amp;</a:t>
            </a:r>
            <a:r>
              <a:rPr spc="-65" dirty="0"/>
              <a:t> </a:t>
            </a:r>
            <a:r>
              <a:rPr dirty="0"/>
              <a:t>backend</a:t>
            </a:r>
            <a:r>
              <a:rPr spc="-65" dirty="0"/>
              <a:t> </a:t>
            </a:r>
            <a:r>
              <a:rPr spc="-25" dirty="0"/>
              <a:t>app</a:t>
            </a:r>
          </a:p>
          <a:p>
            <a:pPr>
              <a:lnSpc>
                <a:spcPct val="100000"/>
              </a:lnSpc>
              <a:spcBef>
                <a:spcPts val="1365"/>
              </a:spcBef>
              <a:buClr>
                <a:srgbClr val="FFAB40"/>
              </a:buClr>
              <a:buFont typeface="Arial"/>
              <a:buChar char="•"/>
            </a:pPr>
            <a:endParaRPr spc="-25" dirty="0"/>
          </a:p>
          <a:p>
            <a:pPr marL="144145" marR="5080" indent="-132080">
              <a:lnSpc>
                <a:spcPts val="2180"/>
              </a:lnSpc>
              <a:buClr>
                <a:srgbClr val="FFAB40"/>
              </a:buClr>
              <a:buChar char="•"/>
              <a:tabLst>
                <a:tab pos="145415" algn="l"/>
              </a:tabLst>
            </a:pPr>
            <a:r>
              <a:rPr dirty="0"/>
              <a:t>How</a:t>
            </a:r>
            <a:r>
              <a:rPr spc="-45" dirty="0"/>
              <a:t> </a:t>
            </a:r>
            <a:r>
              <a:rPr dirty="0"/>
              <a:t>can</a:t>
            </a:r>
            <a:r>
              <a:rPr spc="-45" dirty="0"/>
              <a:t> </a:t>
            </a:r>
            <a:r>
              <a:rPr dirty="0"/>
              <a:t>we</a:t>
            </a:r>
            <a:r>
              <a:rPr spc="-40" dirty="0"/>
              <a:t> </a:t>
            </a:r>
            <a:r>
              <a:rPr dirty="0"/>
              <a:t>restrict</a:t>
            </a:r>
            <a:r>
              <a:rPr spc="-45" dirty="0"/>
              <a:t> </a:t>
            </a:r>
            <a:r>
              <a:rPr dirty="0"/>
              <a:t>access</a:t>
            </a:r>
            <a:r>
              <a:rPr spc="-45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dirty="0"/>
              <a:t>backend</a:t>
            </a:r>
            <a:r>
              <a:rPr spc="-45" dirty="0"/>
              <a:t> </a:t>
            </a:r>
            <a:r>
              <a:rPr dirty="0"/>
              <a:t>database</a:t>
            </a:r>
            <a:r>
              <a:rPr spc="-45" dirty="0"/>
              <a:t> </a:t>
            </a:r>
            <a:r>
              <a:rPr dirty="0"/>
              <a:t>to</a:t>
            </a:r>
            <a:r>
              <a:rPr spc="-40" dirty="0"/>
              <a:t> </a:t>
            </a:r>
            <a:r>
              <a:rPr dirty="0"/>
              <a:t>only</a:t>
            </a:r>
            <a:r>
              <a:rPr spc="-45" dirty="0"/>
              <a:t> </a:t>
            </a:r>
            <a:r>
              <a:rPr dirty="0"/>
              <a:t>within</a:t>
            </a:r>
            <a:r>
              <a:rPr spc="-45" dirty="0"/>
              <a:t> </a:t>
            </a:r>
            <a:r>
              <a:rPr spc="-25" dirty="0"/>
              <a:t>the 	</a:t>
            </a:r>
            <a:r>
              <a:rPr dirty="0"/>
              <a:t>kubernetes</a:t>
            </a:r>
            <a:r>
              <a:rPr spc="-5" dirty="0"/>
              <a:t> </a:t>
            </a:r>
            <a:r>
              <a:rPr spc="-10" dirty="0"/>
              <a:t>cluster?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95621" y="288617"/>
            <a:ext cx="7790180" cy="4355465"/>
            <a:chOff x="795621" y="288617"/>
            <a:chExt cx="7790180" cy="4355465"/>
          </a:xfrm>
        </p:grpSpPr>
        <p:sp>
          <p:nvSpPr>
            <p:cNvPr id="3" name="object 3"/>
            <p:cNvSpPr/>
            <p:nvPr/>
          </p:nvSpPr>
          <p:spPr>
            <a:xfrm>
              <a:off x="801971" y="439032"/>
              <a:ext cx="7777480" cy="4198620"/>
            </a:xfrm>
            <a:custGeom>
              <a:avLst/>
              <a:gdLst/>
              <a:ahLst/>
              <a:cxnLst/>
              <a:rect l="l" t="t" r="r" b="b"/>
              <a:pathLst>
                <a:path w="7777480" h="4198620">
                  <a:moveTo>
                    <a:pt x="0" y="699743"/>
                  </a:moveTo>
                  <a:lnTo>
                    <a:pt x="1614" y="651834"/>
                  </a:lnTo>
                  <a:lnTo>
                    <a:pt x="6387" y="604792"/>
                  </a:lnTo>
                  <a:lnTo>
                    <a:pt x="14216" y="558720"/>
                  </a:lnTo>
                  <a:lnTo>
                    <a:pt x="24995" y="513723"/>
                  </a:lnTo>
                  <a:lnTo>
                    <a:pt x="38621" y="469905"/>
                  </a:lnTo>
                  <a:lnTo>
                    <a:pt x="54989" y="427371"/>
                  </a:lnTo>
                  <a:lnTo>
                    <a:pt x="73995" y="386224"/>
                  </a:lnTo>
                  <a:lnTo>
                    <a:pt x="95535" y="346569"/>
                  </a:lnTo>
                  <a:lnTo>
                    <a:pt x="119505" y="308510"/>
                  </a:lnTo>
                  <a:lnTo>
                    <a:pt x="145800" y="272150"/>
                  </a:lnTo>
                  <a:lnTo>
                    <a:pt x="174316" y="237596"/>
                  </a:lnTo>
                  <a:lnTo>
                    <a:pt x="204950" y="204950"/>
                  </a:lnTo>
                  <a:lnTo>
                    <a:pt x="237596" y="174316"/>
                  </a:lnTo>
                  <a:lnTo>
                    <a:pt x="272150" y="145800"/>
                  </a:lnTo>
                  <a:lnTo>
                    <a:pt x="308510" y="119505"/>
                  </a:lnTo>
                  <a:lnTo>
                    <a:pt x="346569" y="95535"/>
                  </a:lnTo>
                  <a:lnTo>
                    <a:pt x="386224" y="73995"/>
                  </a:lnTo>
                  <a:lnTo>
                    <a:pt x="427371" y="54989"/>
                  </a:lnTo>
                  <a:lnTo>
                    <a:pt x="469905" y="38621"/>
                  </a:lnTo>
                  <a:lnTo>
                    <a:pt x="513723" y="24995"/>
                  </a:lnTo>
                  <a:lnTo>
                    <a:pt x="558720" y="14216"/>
                  </a:lnTo>
                  <a:lnTo>
                    <a:pt x="604792" y="6387"/>
                  </a:lnTo>
                  <a:lnTo>
                    <a:pt x="651834" y="1614"/>
                  </a:lnTo>
                  <a:lnTo>
                    <a:pt x="699743" y="0"/>
                  </a:lnTo>
                  <a:lnTo>
                    <a:pt x="7077572" y="0"/>
                  </a:lnTo>
                  <a:lnTo>
                    <a:pt x="7127968" y="1815"/>
                  </a:lnTo>
                  <a:lnTo>
                    <a:pt x="7177810" y="7213"/>
                  </a:lnTo>
                  <a:lnTo>
                    <a:pt x="7226923" y="16121"/>
                  </a:lnTo>
                  <a:lnTo>
                    <a:pt x="7275129" y="28465"/>
                  </a:lnTo>
                  <a:lnTo>
                    <a:pt x="7322252" y="44172"/>
                  </a:lnTo>
                  <a:lnTo>
                    <a:pt x="7368116" y="63170"/>
                  </a:lnTo>
                  <a:lnTo>
                    <a:pt x="7412544" y="85384"/>
                  </a:lnTo>
                  <a:lnTo>
                    <a:pt x="7455359" y="110742"/>
                  </a:lnTo>
                  <a:lnTo>
                    <a:pt x="7496386" y="139171"/>
                  </a:lnTo>
                  <a:lnTo>
                    <a:pt x="7535447" y="170598"/>
                  </a:lnTo>
                  <a:lnTo>
                    <a:pt x="7572366" y="204949"/>
                  </a:lnTo>
                  <a:lnTo>
                    <a:pt x="7606717" y="241869"/>
                  </a:lnTo>
                  <a:lnTo>
                    <a:pt x="7638144" y="280930"/>
                  </a:lnTo>
                  <a:lnTo>
                    <a:pt x="7666573" y="321956"/>
                  </a:lnTo>
                  <a:lnTo>
                    <a:pt x="7691931" y="364771"/>
                  </a:lnTo>
                  <a:lnTo>
                    <a:pt x="7714146" y="409199"/>
                  </a:lnTo>
                  <a:lnTo>
                    <a:pt x="7733143" y="455063"/>
                  </a:lnTo>
                  <a:lnTo>
                    <a:pt x="7748850" y="502186"/>
                  </a:lnTo>
                  <a:lnTo>
                    <a:pt x="7761194" y="550392"/>
                  </a:lnTo>
                  <a:lnTo>
                    <a:pt x="7770102" y="599505"/>
                  </a:lnTo>
                  <a:lnTo>
                    <a:pt x="7775500" y="649347"/>
                  </a:lnTo>
                  <a:lnTo>
                    <a:pt x="7777316" y="699743"/>
                  </a:lnTo>
                  <a:lnTo>
                    <a:pt x="7777316" y="3498631"/>
                  </a:lnTo>
                  <a:lnTo>
                    <a:pt x="7775701" y="3546540"/>
                  </a:lnTo>
                  <a:lnTo>
                    <a:pt x="7770928" y="3593582"/>
                  </a:lnTo>
                  <a:lnTo>
                    <a:pt x="7763099" y="3639654"/>
                  </a:lnTo>
                  <a:lnTo>
                    <a:pt x="7752320" y="3684651"/>
                  </a:lnTo>
                  <a:lnTo>
                    <a:pt x="7738694" y="3728469"/>
                  </a:lnTo>
                  <a:lnTo>
                    <a:pt x="7722326" y="3771003"/>
                  </a:lnTo>
                  <a:lnTo>
                    <a:pt x="7703320" y="3812150"/>
                  </a:lnTo>
                  <a:lnTo>
                    <a:pt x="7681780" y="3851805"/>
                  </a:lnTo>
                  <a:lnTo>
                    <a:pt x="7657811" y="3889864"/>
                  </a:lnTo>
                  <a:lnTo>
                    <a:pt x="7631515" y="3926223"/>
                  </a:lnTo>
                  <a:lnTo>
                    <a:pt x="7602999" y="3960778"/>
                  </a:lnTo>
                  <a:lnTo>
                    <a:pt x="7572366" y="3993424"/>
                  </a:lnTo>
                  <a:lnTo>
                    <a:pt x="7539719" y="4024058"/>
                  </a:lnTo>
                  <a:lnTo>
                    <a:pt x="7505165" y="4052574"/>
                  </a:lnTo>
                  <a:lnTo>
                    <a:pt x="7468806" y="4078869"/>
                  </a:lnTo>
                  <a:lnTo>
                    <a:pt x="7430746" y="4102839"/>
                  </a:lnTo>
                  <a:lnTo>
                    <a:pt x="7391091" y="4124379"/>
                  </a:lnTo>
                  <a:lnTo>
                    <a:pt x="7349944" y="4143385"/>
                  </a:lnTo>
                  <a:lnTo>
                    <a:pt x="7307410" y="4159753"/>
                  </a:lnTo>
                  <a:lnTo>
                    <a:pt x="7263592" y="4173379"/>
                  </a:lnTo>
                  <a:lnTo>
                    <a:pt x="7218595" y="4184158"/>
                  </a:lnTo>
                  <a:lnTo>
                    <a:pt x="7172523" y="4191986"/>
                  </a:lnTo>
                  <a:lnTo>
                    <a:pt x="7125481" y="4196760"/>
                  </a:lnTo>
                  <a:lnTo>
                    <a:pt x="7077572" y="4198374"/>
                  </a:lnTo>
                  <a:lnTo>
                    <a:pt x="699743" y="4198374"/>
                  </a:lnTo>
                  <a:lnTo>
                    <a:pt x="651834" y="4196760"/>
                  </a:lnTo>
                  <a:lnTo>
                    <a:pt x="604792" y="4191986"/>
                  </a:lnTo>
                  <a:lnTo>
                    <a:pt x="558720" y="4184158"/>
                  </a:lnTo>
                  <a:lnTo>
                    <a:pt x="513723" y="4173379"/>
                  </a:lnTo>
                  <a:lnTo>
                    <a:pt x="469905" y="4159753"/>
                  </a:lnTo>
                  <a:lnTo>
                    <a:pt x="427371" y="4143385"/>
                  </a:lnTo>
                  <a:lnTo>
                    <a:pt x="386224" y="4124379"/>
                  </a:lnTo>
                  <a:lnTo>
                    <a:pt x="346569" y="4102839"/>
                  </a:lnTo>
                  <a:lnTo>
                    <a:pt x="308510" y="4078869"/>
                  </a:lnTo>
                  <a:lnTo>
                    <a:pt x="272150" y="4052574"/>
                  </a:lnTo>
                  <a:lnTo>
                    <a:pt x="237596" y="4024058"/>
                  </a:lnTo>
                  <a:lnTo>
                    <a:pt x="204950" y="3993424"/>
                  </a:lnTo>
                  <a:lnTo>
                    <a:pt x="174316" y="3960778"/>
                  </a:lnTo>
                  <a:lnTo>
                    <a:pt x="145800" y="3926223"/>
                  </a:lnTo>
                  <a:lnTo>
                    <a:pt x="119505" y="3889864"/>
                  </a:lnTo>
                  <a:lnTo>
                    <a:pt x="95535" y="3851805"/>
                  </a:lnTo>
                  <a:lnTo>
                    <a:pt x="73995" y="3812150"/>
                  </a:lnTo>
                  <a:lnTo>
                    <a:pt x="54989" y="3771003"/>
                  </a:lnTo>
                  <a:lnTo>
                    <a:pt x="38621" y="3728469"/>
                  </a:lnTo>
                  <a:lnTo>
                    <a:pt x="24995" y="3684651"/>
                  </a:lnTo>
                  <a:lnTo>
                    <a:pt x="14216" y="3639654"/>
                  </a:lnTo>
                  <a:lnTo>
                    <a:pt x="6387" y="3593582"/>
                  </a:lnTo>
                  <a:lnTo>
                    <a:pt x="1614" y="3546540"/>
                  </a:lnTo>
                  <a:lnTo>
                    <a:pt x="0" y="3498631"/>
                  </a:lnTo>
                  <a:lnTo>
                    <a:pt x="0" y="699743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460955" y="294967"/>
              <a:ext cx="2773045" cy="304800"/>
            </a:xfrm>
            <a:custGeom>
              <a:avLst/>
              <a:gdLst/>
              <a:ahLst/>
              <a:cxnLst/>
              <a:rect l="l" t="t" r="r" b="b"/>
              <a:pathLst>
                <a:path w="2773045" h="304800">
                  <a:moveTo>
                    <a:pt x="2721895" y="304799"/>
                  </a:moveTo>
                  <a:lnTo>
                    <a:pt x="50801" y="304799"/>
                  </a:lnTo>
                  <a:lnTo>
                    <a:pt x="31027" y="300807"/>
                  </a:lnTo>
                  <a:lnTo>
                    <a:pt x="14879" y="289920"/>
                  </a:lnTo>
                  <a:lnTo>
                    <a:pt x="3992" y="273773"/>
                  </a:lnTo>
                  <a:lnTo>
                    <a:pt x="0" y="253998"/>
                  </a:lnTo>
                  <a:lnTo>
                    <a:pt x="0" y="50801"/>
                  </a:lnTo>
                  <a:lnTo>
                    <a:pt x="3992" y="31026"/>
                  </a:lnTo>
                  <a:lnTo>
                    <a:pt x="14879" y="14879"/>
                  </a:lnTo>
                  <a:lnTo>
                    <a:pt x="31027" y="3992"/>
                  </a:lnTo>
                  <a:lnTo>
                    <a:pt x="50801" y="0"/>
                  </a:lnTo>
                  <a:lnTo>
                    <a:pt x="2721895" y="0"/>
                  </a:lnTo>
                  <a:lnTo>
                    <a:pt x="2757817" y="14879"/>
                  </a:lnTo>
                  <a:lnTo>
                    <a:pt x="2772696" y="50801"/>
                  </a:lnTo>
                  <a:lnTo>
                    <a:pt x="2772696" y="253998"/>
                  </a:lnTo>
                  <a:lnTo>
                    <a:pt x="2768704" y="273773"/>
                  </a:lnTo>
                  <a:lnTo>
                    <a:pt x="2757817" y="289920"/>
                  </a:lnTo>
                  <a:lnTo>
                    <a:pt x="2741669" y="300807"/>
                  </a:lnTo>
                  <a:lnTo>
                    <a:pt x="2721895" y="304799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460955" y="294967"/>
              <a:ext cx="2773045" cy="304800"/>
            </a:xfrm>
            <a:custGeom>
              <a:avLst/>
              <a:gdLst/>
              <a:ahLst/>
              <a:cxnLst/>
              <a:rect l="l" t="t" r="r" b="b"/>
              <a:pathLst>
                <a:path w="2773045" h="304800">
                  <a:moveTo>
                    <a:pt x="0" y="50801"/>
                  </a:moveTo>
                  <a:lnTo>
                    <a:pt x="3992" y="31026"/>
                  </a:lnTo>
                  <a:lnTo>
                    <a:pt x="14879" y="14879"/>
                  </a:lnTo>
                  <a:lnTo>
                    <a:pt x="31027" y="3992"/>
                  </a:lnTo>
                  <a:lnTo>
                    <a:pt x="50801" y="0"/>
                  </a:lnTo>
                  <a:lnTo>
                    <a:pt x="2721895" y="0"/>
                  </a:lnTo>
                  <a:lnTo>
                    <a:pt x="2757817" y="14879"/>
                  </a:lnTo>
                  <a:lnTo>
                    <a:pt x="2772696" y="50801"/>
                  </a:lnTo>
                  <a:lnTo>
                    <a:pt x="2772696" y="253998"/>
                  </a:lnTo>
                  <a:lnTo>
                    <a:pt x="2768704" y="273773"/>
                  </a:lnTo>
                  <a:lnTo>
                    <a:pt x="2757817" y="289920"/>
                  </a:lnTo>
                  <a:lnTo>
                    <a:pt x="2741669" y="300807"/>
                  </a:lnTo>
                  <a:lnTo>
                    <a:pt x="2721895" y="304799"/>
                  </a:lnTo>
                  <a:lnTo>
                    <a:pt x="50801" y="304799"/>
                  </a:lnTo>
                  <a:lnTo>
                    <a:pt x="31027" y="300807"/>
                  </a:lnTo>
                  <a:lnTo>
                    <a:pt x="14879" y="289920"/>
                  </a:lnTo>
                  <a:lnTo>
                    <a:pt x="3992" y="273773"/>
                  </a:lnTo>
                  <a:lnTo>
                    <a:pt x="0" y="253998"/>
                  </a:lnTo>
                  <a:lnTo>
                    <a:pt x="0" y="5080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198995" y="338084"/>
            <a:ext cx="12966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"/>
                <a:cs typeface="Arial"/>
              </a:rPr>
              <a:t>192.168.1.1:31000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324026" y="929390"/>
            <a:ext cx="4825365" cy="3158490"/>
            <a:chOff x="2324026" y="929390"/>
            <a:chExt cx="4825365" cy="315849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33038" y="929390"/>
              <a:ext cx="4601742" cy="132592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24026" y="3431868"/>
              <a:ext cx="4825290" cy="65566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020269" y="2771332"/>
              <a:ext cx="1391285" cy="394335"/>
            </a:xfrm>
            <a:custGeom>
              <a:avLst/>
              <a:gdLst/>
              <a:ahLst/>
              <a:cxnLst/>
              <a:rect l="l" t="t" r="r" b="b"/>
              <a:pathLst>
                <a:path w="1391285" h="394335">
                  <a:moveTo>
                    <a:pt x="1325518" y="393963"/>
                  </a:moveTo>
                  <a:lnTo>
                    <a:pt x="65661" y="393963"/>
                  </a:lnTo>
                  <a:lnTo>
                    <a:pt x="40103" y="388803"/>
                  </a:lnTo>
                  <a:lnTo>
                    <a:pt x="19231" y="374731"/>
                  </a:lnTo>
                  <a:lnTo>
                    <a:pt x="5159" y="353859"/>
                  </a:lnTo>
                  <a:lnTo>
                    <a:pt x="0" y="328301"/>
                  </a:lnTo>
                  <a:lnTo>
                    <a:pt x="0" y="65661"/>
                  </a:lnTo>
                  <a:lnTo>
                    <a:pt x="5159" y="40103"/>
                  </a:lnTo>
                  <a:lnTo>
                    <a:pt x="19231" y="19231"/>
                  </a:lnTo>
                  <a:lnTo>
                    <a:pt x="40103" y="5160"/>
                  </a:lnTo>
                  <a:lnTo>
                    <a:pt x="65661" y="0"/>
                  </a:lnTo>
                  <a:lnTo>
                    <a:pt x="1325518" y="0"/>
                  </a:lnTo>
                  <a:lnTo>
                    <a:pt x="1371947" y="19231"/>
                  </a:lnTo>
                  <a:lnTo>
                    <a:pt x="1391179" y="65661"/>
                  </a:lnTo>
                  <a:lnTo>
                    <a:pt x="1391179" y="328301"/>
                  </a:lnTo>
                  <a:lnTo>
                    <a:pt x="1386019" y="353859"/>
                  </a:lnTo>
                  <a:lnTo>
                    <a:pt x="1371948" y="374731"/>
                  </a:lnTo>
                  <a:lnTo>
                    <a:pt x="1351076" y="388803"/>
                  </a:lnTo>
                  <a:lnTo>
                    <a:pt x="1325518" y="393963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020269" y="2771332"/>
              <a:ext cx="1391285" cy="394335"/>
            </a:xfrm>
            <a:custGeom>
              <a:avLst/>
              <a:gdLst/>
              <a:ahLst/>
              <a:cxnLst/>
              <a:rect l="l" t="t" r="r" b="b"/>
              <a:pathLst>
                <a:path w="1391285" h="394335">
                  <a:moveTo>
                    <a:pt x="0" y="65661"/>
                  </a:moveTo>
                  <a:lnTo>
                    <a:pt x="5159" y="40103"/>
                  </a:lnTo>
                  <a:lnTo>
                    <a:pt x="19231" y="19231"/>
                  </a:lnTo>
                  <a:lnTo>
                    <a:pt x="40103" y="5160"/>
                  </a:lnTo>
                  <a:lnTo>
                    <a:pt x="65661" y="0"/>
                  </a:lnTo>
                  <a:lnTo>
                    <a:pt x="1325518" y="0"/>
                  </a:lnTo>
                  <a:lnTo>
                    <a:pt x="1371947" y="19231"/>
                  </a:lnTo>
                  <a:lnTo>
                    <a:pt x="1391179" y="65661"/>
                  </a:lnTo>
                  <a:lnTo>
                    <a:pt x="1391179" y="328301"/>
                  </a:lnTo>
                  <a:lnTo>
                    <a:pt x="1386019" y="353859"/>
                  </a:lnTo>
                  <a:lnTo>
                    <a:pt x="1371948" y="374731"/>
                  </a:lnTo>
                  <a:lnTo>
                    <a:pt x="1351076" y="388803"/>
                  </a:lnTo>
                  <a:lnTo>
                    <a:pt x="1325518" y="393963"/>
                  </a:lnTo>
                  <a:lnTo>
                    <a:pt x="65661" y="393963"/>
                  </a:lnTo>
                  <a:lnTo>
                    <a:pt x="40103" y="388803"/>
                  </a:lnTo>
                  <a:lnTo>
                    <a:pt x="19231" y="374731"/>
                  </a:lnTo>
                  <a:lnTo>
                    <a:pt x="5159" y="353859"/>
                  </a:lnTo>
                  <a:lnTo>
                    <a:pt x="0" y="328301"/>
                  </a:lnTo>
                  <a:lnTo>
                    <a:pt x="0" y="65661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140190" y="2573422"/>
              <a:ext cx="1151890" cy="286385"/>
            </a:xfrm>
            <a:custGeom>
              <a:avLst/>
              <a:gdLst/>
              <a:ahLst/>
              <a:cxnLst/>
              <a:rect l="l" t="t" r="r" b="b"/>
              <a:pathLst>
                <a:path w="1151889" h="286385">
                  <a:moveTo>
                    <a:pt x="1008401" y="285872"/>
                  </a:moveTo>
                  <a:lnTo>
                    <a:pt x="142935" y="285872"/>
                  </a:lnTo>
                  <a:lnTo>
                    <a:pt x="97756" y="278585"/>
                  </a:lnTo>
                  <a:lnTo>
                    <a:pt x="58519" y="258293"/>
                  </a:lnTo>
                  <a:lnTo>
                    <a:pt x="27578" y="227352"/>
                  </a:lnTo>
                  <a:lnTo>
                    <a:pt x="7286" y="188114"/>
                  </a:lnTo>
                  <a:lnTo>
                    <a:pt x="0" y="142935"/>
                  </a:lnTo>
                  <a:lnTo>
                    <a:pt x="7286" y="97757"/>
                  </a:lnTo>
                  <a:lnTo>
                    <a:pt x="27578" y="58519"/>
                  </a:lnTo>
                  <a:lnTo>
                    <a:pt x="58519" y="27578"/>
                  </a:lnTo>
                  <a:lnTo>
                    <a:pt x="97756" y="7286"/>
                  </a:lnTo>
                  <a:lnTo>
                    <a:pt x="142935" y="0"/>
                  </a:lnTo>
                  <a:lnTo>
                    <a:pt x="1008401" y="0"/>
                  </a:lnTo>
                  <a:lnTo>
                    <a:pt x="1063100" y="10880"/>
                  </a:lnTo>
                  <a:lnTo>
                    <a:pt x="1109472" y="41864"/>
                  </a:lnTo>
                  <a:lnTo>
                    <a:pt x="1140457" y="88236"/>
                  </a:lnTo>
                  <a:lnTo>
                    <a:pt x="1151337" y="142935"/>
                  </a:lnTo>
                  <a:lnTo>
                    <a:pt x="1144050" y="188114"/>
                  </a:lnTo>
                  <a:lnTo>
                    <a:pt x="1123759" y="227352"/>
                  </a:lnTo>
                  <a:lnTo>
                    <a:pt x="1092817" y="258293"/>
                  </a:lnTo>
                  <a:lnTo>
                    <a:pt x="1053580" y="278585"/>
                  </a:lnTo>
                  <a:lnTo>
                    <a:pt x="1008401" y="28587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140190" y="2573422"/>
              <a:ext cx="1151890" cy="286385"/>
            </a:xfrm>
            <a:custGeom>
              <a:avLst/>
              <a:gdLst/>
              <a:ahLst/>
              <a:cxnLst/>
              <a:rect l="l" t="t" r="r" b="b"/>
              <a:pathLst>
                <a:path w="1151889" h="286385">
                  <a:moveTo>
                    <a:pt x="0" y="142935"/>
                  </a:moveTo>
                  <a:lnTo>
                    <a:pt x="7286" y="97757"/>
                  </a:lnTo>
                  <a:lnTo>
                    <a:pt x="27578" y="58519"/>
                  </a:lnTo>
                  <a:lnTo>
                    <a:pt x="58519" y="27578"/>
                  </a:lnTo>
                  <a:lnTo>
                    <a:pt x="97756" y="7286"/>
                  </a:lnTo>
                  <a:lnTo>
                    <a:pt x="142935" y="0"/>
                  </a:lnTo>
                  <a:lnTo>
                    <a:pt x="1008401" y="0"/>
                  </a:lnTo>
                  <a:lnTo>
                    <a:pt x="1063100" y="10880"/>
                  </a:lnTo>
                  <a:lnTo>
                    <a:pt x="1109472" y="41864"/>
                  </a:lnTo>
                  <a:lnTo>
                    <a:pt x="1140457" y="88236"/>
                  </a:lnTo>
                  <a:lnTo>
                    <a:pt x="1151337" y="142935"/>
                  </a:lnTo>
                  <a:lnTo>
                    <a:pt x="1144050" y="188114"/>
                  </a:lnTo>
                  <a:lnTo>
                    <a:pt x="1123759" y="227352"/>
                  </a:lnTo>
                  <a:lnTo>
                    <a:pt x="1092817" y="258293"/>
                  </a:lnTo>
                  <a:lnTo>
                    <a:pt x="1053580" y="278585"/>
                  </a:lnTo>
                  <a:lnTo>
                    <a:pt x="1008401" y="285872"/>
                  </a:lnTo>
                  <a:lnTo>
                    <a:pt x="142935" y="285872"/>
                  </a:lnTo>
                  <a:lnTo>
                    <a:pt x="97756" y="278585"/>
                  </a:lnTo>
                  <a:lnTo>
                    <a:pt x="58519" y="258293"/>
                  </a:lnTo>
                  <a:lnTo>
                    <a:pt x="27578" y="227352"/>
                  </a:lnTo>
                  <a:lnTo>
                    <a:pt x="7286" y="188114"/>
                  </a:lnTo>
                  <a:lnTo>
                    <a:pt x="0" y="142935"/>
                  </a:lnTo>
                  <a:close/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4290021" y="2584741"/>
            <a:ext cx="851535" cy="49784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75"/>
              </a:spcBef>
            </a:pPr>
            <a:r>
              <a:rPr sz="900" spc="-10" dirty="0">
                <a:latin typeface="Arial"/>
                <a:cs typeface="Arial"/>
              </a:rPr>
              <a:t>10.210.1.1:8080</a:t>
            </a:r>
            <a:endParaRPr sz="900">
              <a:latin typeface="Arial"/>
              <a:cs typeface="Arial"/>
            </a:endParaRPr>
          </a:p>
          <a:p>
            <a:pPr marL="635" algn="ctr">
              <a:lnSpc>
                <a:spcPct val="100000"/>
              </a:lnSpc>
              <a:spcBef>
                <a:spcPts val="585"/>
              </a:spcBef>
            </a:pPr>
            <a:r>
              <a:rPr sz="1400" spc="-10" dirty="0">
                <a:latin typeface="Arial"/>
                <a:cs typeface="Arial"/>
              </a:rPr>
              <a:t>Services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153404" y="6548"/>
            <a:ext cx="4542790" cy="3495675"/>
            <a:chOff x="3153404" y="6548"/>
            <a:chExt cx="4542790" cy="3495675"/>
          </a:xfrm>
        </p:grpSpPr>
        <p:sp>
          <p:nvSpPr>
            <p:cNvPr id="16" name="object 16"/>
            <p:cNvSpPr/>
            <p:nvPr/>
          </p:nvSpPr>
          <p:spPr>
            <a:xfrm>
              <a:off x="4694862" y="2288718"/>
              <a:ext cx="17145" cy="227965"/>
            </a:xfrm>
            <a:custGeom>
              <a:avLst/>
              <a:gdLst/>
              <a:ahLst/>
              <a:cxnLst/>
              <a:rect l="l" t="t" r="r" b="b"/>
              <a:pathLst>
                <a:path w="17145" h="227964">
                  <a:moveTo>
                    <a:pt x="0" y="0"/>
                  </a:moveTo>
                  <a:lnTo>
                    <a:pt x="16792" y="227709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679172" y="2245610"/>
              <a:ext cx="31750" cy="44450"/>
            </a:xfrm>
            <a:custGeom>
              <a:avLst/>
              <a:gdLst/>
              <a:ahLst/>
              <a:cxnLst/>
              <a:rect l="l" t="t" r="r" b="b"/>
              <a:pathLst>
                <a:path w="31750" h="44450">
                  <a:moveTo>
                    <a:pt x="0" y="44265"/>
                  </a:moveTo>
                  <a:lnTo>
                    <a:pt x="12510" y="0"/>
                  </a:lnTo>
                  <a:lnTo>
                    <a:pt x="31380" y="41951"/>
                  </a:lnTo>
                  <a:lnTo>
                    <a:pt x="0" y="4426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679172" y="2245610"/>
              <a:ext cx="31750" cy="44450"/>
            </a:xfrm>
            <a:custGeom>
              <a:avLst/>
              <a:gdLst/>
              <a:ahLst/>
              <a:cxnLst/>
              <a:rect l="l" t="t" r="r" b="b"/>
              <a:pathLst>
                <a:path w="31750" h="44450">
                  <a:moveTo>
                    <a:pt x="31380" y="41951"/>
                  </a:moveTo>
                  <a:lnTo>
                    <a:pt x="12510" y="0"/>
                  </a:lnTo>
                  <a:lnTo>
                    <a:pt x="0" y="44265"/>
                  </a:lnTo>
                  <a:lnTo>
                    <a:pt x="31380" y="41951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695965" y="2515270"/>
              <a:ext cx="31750" cy="44450"/>
            </a:xfrm>
            <a:custGeom>
              <a:avLst/>
              <a:gdLst/>
              <a:ahLst/>
              <a:cxnLst/>
              <a:rect l="l" t="t" r="r" b="b"/>
              <a:pathLst>
                <a:path w="31750" h="44450">
                  <a:moveTo>
                    <a:pt x="18869" y="44265"/>
                  </a:moveTo>
                  <a:lnTo>
                    <a:pt x="0" y="2314"/>
                  </a:lnTo>
                  <a:lnTo>
                    <a:pt x="31380" y="0"/>
                  </a:lnTo>
                  <a:lnTo>
                    <a:pt x="18869" y="4426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695965" y="2515270"/>
              <a:ext cx="31750" cy="44450"/>
            </a:xfrm>
            <a:custGeom>
              <a:avLst/>
              <a:gdLst/>
              <a:ahLst/>
              <a:cxnLst/>
              <a:rect l="l" t="t" r="r" b="b"/>
              <a:pathLst>
                <a:path w="31750" h="44450">
                  <a:moveTo>
                    <a:pt x="0" y="2314"/>
                  </a:moveTo>
                  <a:lnTo>
                    <a:pt x="18869" y="44265"/>
                  </a:lnTo>
                  <a:lnTo>
                    <a:pt x="31380" y="0"/>
                  </a:lnTo>
                  <a:lnTo>
                    <a:pt x="0" y="2314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867904" y="2311979"/>
              <a:ext cx="1087120" cy="215265"/>
            </a:xfrm>
            <a:custGeom>
              <a:avLst/>
              <a:gdLst/>
              <a:ahLst/>
              <a:cxnLst/>
              <a:rect l="l" t="t" r="r" b="b"/>
              <a:pathLst>
                <a:path w="1087120" h="215264">
                  <a:moveTo>
                    <a:pt x="0" y="215145"/>
                  </a:moveTo>
                  <a:lnTo>
                    <a:pt x="1087087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825501" y="2511691"/>
              <a:ext cx="45720" cy="31115"/>
            </a:xfrm>
            <a:custGeom>
              <a:avLst/>
              <a:gdLst/>
              <a:ahLst/>
              <a:cxnLst/>
              <a:rect l="l" t="t" r="r" b="b"/>
              <a:pathLst>
                <a:path w="45720" h="31114">
                  <a:moveTo>
                    <a:pt x="45457" y="30866"/>
                  </a:moveTo>
                  <a:lnTo>
                    <a:pt x="0" y="23825"/>
                  </a:lnTo>
                  <a:lnTo>
                    <a:pt x="39348" y="0"/>
                  </a:lnTo>
                  <a:lnTo>
                    <a:pt x="45457" y="30866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825501" y="2511691"/>
              <a:ext cx="45720" cy="31115"/>
            </a:xfrm>
            <a:custGeom>
              <a:avLst/>
              <a:gdLst/>
              <a:ahLst/>
              <a:cxnLst/>
              <a:rect l="l" t="t" r="r" b="b"/>
              <a:pathLst>
                <a:path w="45720" h="31114">
                  <a:moveTo>
                    <a:pt x="39348" y="0"/>
                  </a:moveTo>
                  <a:lnTo>
                    <a:pt x="0" y="23825"/>
                  </a:lnTo>
                  <a:lnTo>
                    <a:pt x="45457" y="30866"/>
                  </a:lnTo>
                  <a:lnTo>
                    <a:pt x="39348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951938" y="2296545"/>
              <a:ext cx="45720" cy="31115"/>
            </a:xfrm>
            <a:custGeom>
              <a:avLst/>
              <a:gdLst/>
              <a:ahLst/>
              <a:cxnLst/>
              <a:rect l="l" t="t" r="r" b="b"/>
              <a:pathLst>
                <a:path w="45720" h="31114">
                  <a:moveTo>
                    <a:pt x="6108" y="30866"/>
                  </a:moveTo>
                  <a:lnTo>
                    <a:pt x="0" y="0"/>
                  </a:lnTo>
                  <a:lnTo>
                    <a:pt x="45457" y="7041"/>
                  </a:lnTo>
                  <a:lnTo>
                    <a:pt x="6108" y="30866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951938" y="2296545"/>
              <a:ext cx="45720" cy="31115"/>
            </a:xfrm>
            <a:custGeom>
              <a:avLst/>
              <a:gdLst/>
              <a:ahLst/>
              <a:cxnLst/>
              <a:rect l="l" t="t" r="r" b="b"/>
              <a:pathLst>
                <a:path w="45720" h="31114">
                  <a:moveTo>
                    <a:pt x="6108" y="30866"/>
                  </a:moveTo>
                  <a:lnTo>
                    <a:pt x="45457" y="7041"/>
                  </a:lnTo>
                  <a:lnTo>
                    <a:pt x="0" y="0"/>
                  </a:lnTo>
                  <a:lnTo>
                    <a:pt x="6108" y="30866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286663" y="2316766"/>
              <a:ext cx="1289050" cy="227329"/>
            </a:xfrm>
            <a:custGeom>
              <a:avLst/>
              <a:gdLst/>
              <a:ahLst/>
              <a:cxnLst/>
              <a:rect l="l" t="t" r="r" b="b"/>
              <a:pathLst>
                <a:path w="1289050" h="227330">
                  <a:moveTo>
                    <a:pt x="0" y="0"/>
                  </a:moveTo>
                  <a:lnTo>
                    <a:pt x="1288525" y="227026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244093" y="2301272"/>
              <a:ext cx="45720" cy="31115"/>
            </a:xfrm>
            <a:custGeom>
              <a:avLst/>
              <a:gdLst/>
              <a:ahLst/>
              <a:cxnLst/>
              <a:rect l="l" t="t" r="r" b="b"/>
              <a:pathLst>
                <a:path w="45720" h="31114">
                  <a:moveTo>
                    <a:pt x="39839" y="30988"/>
                  </a:moveTo>
                  <a:lnTo>
                    <a:pt x="0" y="7993"/>
                  </a:lnTo>
                  <a:lnTo>
                    <a:pt x="45299" y="0"/>
                  </a:lnTo>
                  <a:lnTo>
                    <a:pt x="39839" y="30988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244093" y="2301272"/>
              <a:ext cx="45720" cy="31115"/>
            </a:xfrm>
            <a:custGeom>
              <a:avLst/>
              <a:gdLst/>
              <a:ahLst/>
              <a:cxnLst/>
              <a:rect l="l" t="t" r="r" b="b"/>
              <a:pathLst>
                <a:path w="45720" h="31114">
                  <a:moveTo>
                    <a:pt x="45299" y="0"/>
                  </a:moveTo>
                  <a:lnTo>
                    <a:pt x="0" y="7993"/>
                  </a:lnTo>
                  <a:lnTo>
                    <a:pt x="39839" y="30988"/>
                  </a:lnTo>
                  <a:lnTo>
                    <a:pt x="45299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572459" y="2528299"/>
              <a:ext cx="45720" cy="31115"/>
            </a:xfrm>
            <a:custGeom>
              <a:avLst/>
              <a:gdLst/>
              <a:ahLst/>
              <a:cxnLst/>
              <a:rect l="l" t="t" r="r" b="b"/>
              <a:pathLst>
                <a:path w="45720" h="31114">
                  <a:moveTo>
                    <a:pt x="0" y="30988"/>
                  </a:moveTo>
                  <a:lnTo>
                    <a:pt x="5459" y="0"/>
                  </a:lnTo>
                  <a:lnTo>
                    <a:pt x="45299" y="22994"/>
                  </a:lnTo>
                  <a:lnTo>
                    <a:pt x="0" y="30988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572459" y="2528299"/>
              <a:ext cx="45720" cy="31115"/>
            </a:xfrm>
            <a:custGeom>
              <a:avLst/>
              <a:gdLst/>
              <a:ahLst/>
              <a:cxnLst/>
              <a:rect l="l" t="t" r="r" b="b"/>
              <a:pathLst>
                <a:path w="45720" h="31114">
                  <a:moveTo>
                    <a:pt x="0" y="30988"/>
                  </a:moveTo>
                  <a:lnTo>
                    <a:pt x="45299" y="22994"/>
                  </a:lnTo>
                  <a:lnTo>
                    <a:pt x="5459" y="0"/>
                  </a:lnTo>
                  <a:lnTo>
                    <a:pt x="0" y="30988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200675" y="3185515"/>
              <a:ext cx="1280160" cy="236220"/>
            </a:xfrm>
            <a:custGeom>
              <a:avLst/>
              <a:gdLst/>
              <a:ahLst/>
              <a:cxnLst/>
              <a:rect l="l" t="t" r="r" b="b"/>
              <a:pathLst>
                <a:path w="1280160" h="236220">
                  <a:moveTo>
                    <a:pt x="0" y="235987"/>
                  </a:moveTo>
                  <a:lnTo>
                    <a:pt x="1279621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158166" y="3406031"/>
              <a:ext cx="45720" cy="31115"/>
            </a:xfrm>
            <a:custGeom>
              <a:avLst/>
              <a:gdLst/>
              <a:ahLst/>
              <a:cxnLst/>
              <a:rect l="l" t="t" r="r" b="b"/>
              <a:pathLst>
                <a:path w="45719" h="31114">
                  <a:moveTo>
                    <a:pt x="45361" y="30943"/>
                  </a:moveTo>
                  <a:lnTo>
                    <a:pt x="0" y="23311"/>
                  </a:lnTo>
                  <a:lnTo>
                    <a:pt x="39655" y="0"/>
                  </a:lnTo>
                  <a:lnTo>
                    <a:pt x="45361" y="30943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158166" y="3406031"/>
              <a:ext cx="45720" cy="31115"/>
            </a:xfrm>
            <a:custGeom>
              <a:avLst/>
              <a:gdLst/>
              <a:ahLst/>
              <a:cxnLst/>
              <a:rect l="l" t="t" r="r" b="b"/>
              <a:pathLst>
                <a:path w="45719" h="31114">
                  <a:moveTo>
                    <a:pt x="39655" y="0"/>
                  </a:moveTo>
                  <a:lnTo>
                    <a:pt x="0" y="23311"/>
                  </a:lnTo>
                  <a:lnTo>
                    <a:pt x="45361" y="30943"/>
                  </a:lnTo>
                  <a:lnTo>
                    <a:pt x="39655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477443" y="3170043"/>
              <a:ext cx="45720" cy="31115"/>
            </a:xfrm>
            <a:custGeom>
              <a:avLst/>
              <a:gdLst/>
              <a:ahLst/>
              <a:cxnLst/>
              <a:rect l="l" t="t" r="r" b="b"/>
              <a:pathLst>
                <a:path w="45720" h="31114">
                  <a:moveTo>
                    <a:pt x="5706" y="30943"/>
                  </a:moveTo>
                  <a:lnTo>
                    <a:pt x="0" y="0"/>
                  </a:lnTo>
                  <a:lnTo>
                    <a:pt x="45361" y="7632"/>
                  </a:lnTo>
                  <a:lnTo>
                    <a:pt x="5706" y="30943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477443" y="3170043"/>
              <a:ext cx="45720" cy="31115"/>
            </a:xfrm>
            <a:custGeom>
              <a:avLst/>
              <a:gdLst/>
              <a:ahLst/>
              <a:cxnLst/>
              <a:rect l="l" t="t" r="r" b="b"/>
              <a:pathLst>
                <a:path w="45720" h="31114">
                  <a:moveTo>
                    <a:pt x="5706" y="30943"/>
                  </a:moveTo>
                  <a:lnTo>
                    <a:pt x="45361" y="7632"/>
                  </a:lnTo>
                  <a:lnTo>
                    <a:pt x="0" y="0"/>
                  </a:lnTo>
                  <a:lnTo>
                    <a:pt x="5706" y="30943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771941" y="3176290"/>
              <a:ext cx="1558290" cy="305435"/>
            </a:xfrm>
            <a:custGeom>
              <a:avLst/>
              <a:gdLst/>
              <a:ahLst/>
              <a:cxnLst/>
              <a:rect l="l" t="t" r="r" b="b"/>
              <a:pathLst>
                <a:path w="1558289" h="305435">
                  <a:moveTo>
                    <a:pt x="0" y="0"/>
                  </a:moveTo>
                  <a:lnTo>
                    <a:pt x="1557786" y="305421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729523" y="3160851"/>
              <a:ext cx="45720" cy="31115"/>
            </a:xfrm>
            <a:custGeom>
              <a:avLst/>
              <a:gdLst/>
              <a:ahLst/>
              <a:cxnLst/>
              <a:rect l="l" t="t" r="r" b="b"/>
              <a:pathLst>
                <a:path w="45720" h="31114">
                  <a:moveTo>
                    <a:pt x="39390" y="30877"/>
                  </a:moveTo>
                  <a:lnTo>
                    <a:pt x="0" y="7122"/>
                  </a:lnTo>
                  <a:lnTo>
                    <a:pt x="45444" y="0"/>
                  </a:lnTo>
                  <a:lnTo>
                    <a:pt x="39390" y="30877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729523" y="3160851"/>
              <a:ext cx="45720" cy="31115"/>
            </a:xfrm>
            <a:custGeom>
              <a:avLst/>
              <a:gdLst/>
              <a:ahLst/>
              <a:cxnLst/>
              <a:rect l="l" t="t" r="r" b="b"/>
              <a:pathLst>
                <a:path w="45720" h="31114">
                  <a:moveTo>
                    <a:pt x="45444" y="0"/>
                  </a:moveTo>
                  <a:lnTo>
                    <a:pt x="0" y="7122"/>
                  </a:lnTo>
                  <a:lnTo>
                    <a:pt x="39390" y="30877"/>
                  </a:lnTo>
                  <a:lnTo>
                    <a:pt x="45444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6326700" y="3466273"/>
              <a:ext cx="45720" cy="31115"/>
            </a:xfrm>
            <a:custGeom>
              <a:avLst/>
              <a:gdLst/>
              <a:ahLst/>
              <a:cxnLst/>
              <a:rect l="l" t="t" r="r" b="b"/>
              <a:pathLst>
                <a:path w="45720" h="31114">
                  <a:moveTo>
                    <a:pt x="0" y="30877"/>
                  </a:moveTo>
                  <a:lnTo>
                    <a:pt x="6053" y="0"/>
                  </a:lnTo>
                  <a:lnTo>
                    <a:pt x="45444" y="23755"/>
                  </a:lnTo>
                  <a:lnTo>
                    <a:pt x="0" y="30877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6326700" y="3466273"/>
              <a:ext cx="45720" cy="31115"/>
            </a:xfrm>
            <a:custGeom>
              <a:avLst/>
              <a:gdLst/>
              <a:ahLst/>
              <a:cxnLst/>
              <a:rect l="l" t="t" r="r" b="b"/>
              <a:pathLst>
                <a:path w="45720" h="31114">
                  <a:moveTo>
                    <a:pt x="0" y="30877"/>
                  </a:moveTo>
                  <a:lnTo>
                    <a:pt x="45444" y="23755"/>
                  </a:lnTo>
                  <a:lnTo>
                    <a:pt x="6053" y="0"/>
                  </a:lnTo>
                  <a:lnTo>
                    <a:pt x="0" y="30877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4645973" y="3222445"/>
              <a:ext cx="0" cy="182880"/>
            </a:xfrm>
            <a:custGeom>
              <a:avLst/>
              <a:gdLst/>
              <a:ahLst/>
              <a:cxnLst/>
              <a:rect l="l" t="t" r="r" b="b"/>
              <a:pathLst>
                <a:path h="182879">
                  <a:moveTo>
                    <a:pt x="0" y="0"/>
                  </a:moveTo>
                  <a:lnTo>
                    <a:pt x="0" y="182278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630240" y="317921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630240" y="317921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4630240" y="3404723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15732" y="43225"/>
                  </a:moveTo>
                  <a:lnTo>
                    <a:pt x="0" y="0"/>
                  </a:lnTo>
                  <a:lnTo>
                    <a:pt x="31465" y="0"/>
                  </a:lnTo>
                  <a:lnTo>
                    <a:pt x="15732" y="4322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4630240" y="3404723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0"/>
                  </a:moveTo>
                  <a:lnTo>
                    <a:pt x="15732" y="43225"/>
                  </a:lnTo>
                  <a:lnTo>
                    <a:pt x="31465" y="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4631471" y="1511196"/>
              <a:ext cx="0" cy="200660"/>
            </a:xfrm>
            <a:custGeom>
              <a:avLst/>
              <a:gdLst/>
              <a:ahLst/>
              <a:cxnLst/>
              <a:rect l="l" t="t" r="r" b="b"/>
              <a:pathLst>
                <a:path h="200660">
                  <a:moveTo>
                    <a:pt x="0" y="0"/>
                  </a:moveTo>
                  <a:lnTo>
                    <a:pt x="0" y="200492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4615738" y="1467970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4615738" y="1467970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4615738" y="1711688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15732" y="43225"/>
                  </a:moveTo>
                  <a:lnTo>
                    <a:pt x="0" y="0"/>
                  </a:lnTo>
                  <a:lnTo>
                    <a:pt x="31465" y="0"/>
                  </a:lnTo>
                  <a:lnTo>
                    <a:pt x="15732" y="4322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4615738" y="1711688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0"/>
                  </a:moveTo>
                  <a:lnTo>
                    <a:pt x="15732" y="43225"/>
                  </a:lnTo>
                  <a:lnTo>
                    <a:pt x="31465" y="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4631471" y="656918"/>
              <a:ext cx="0" cy="275590"/>
            </a:xfrm>
            <a:custGeom>
              <a:avLst/>
              <a:gdLst/>
              <a:ahLst/>
              <a:cxnLst/>
              <a:rect l="l" t="t" r="r" b="b"/>
              <a:pathLst>
                <a:path h="275590">
                  <a:moveTo>
                    <a:pt x="0" y="0"/>
                  </a:moveTo>
                  <a:lnTo>
                    <a:pt x="0" y="275282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4615738" y="613692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4615738" y="613692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4615738" y="932201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15732" y="43225"/>
                  </a:moveTo>
                  <a:lnTo>
                    <a:pt x="0" y="0"/>
                  </a:lnTo>
                  <a:lnTo>
                    <a:pt x="31465" y="0"/>
                  </a:lnTo>
                  <a:lnTo>
                    <a:pt x="15732" y="4322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4615738" y="932201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5">
                  <a:moveTo>
                    <a:pt x="0" y="0"/>
                  </a:moveTo>
                  <a:lnTo>
                    <a:pt x="15732" y="43225"/>
                  </a:lnTo>
                  <a:lnTo>
                    <a:pt x="31465" y="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631471" y="67209"/>
              <a:ext cx="1704339" cy="8890"/>
            </a:xfrm>
            <a:custGeom>
              <a:avLst/>
              <a:gdLst/>
              <a:ahLst/>
              <a:cxnLst/>
              <a:rect l="l" t="t" r="r" b="b"/>
              <a:pathLst>
                <a:path w="1704339" h="8890">
                  <a:moveTo>
                    <a:pt x="0" y="0"/>
                  </a:moveTo>
                  <a:lnTo>
                    <a:pt x="1703878" y="8343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6335273" y="59819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153" y="0"/>
                  </a:lnTo>
                  <a:lnTo>
                    <a:pt x="43301" y="15944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6335273" y="59819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301" y="15944"/>
                  </a:lnTo>
                  <a:lnTo>
                    <a:pt x="153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6460600" y="12898"/>
              <a:ext cx="547370" cy="302260"/>
            </a:xfrm>
            <a:custGeom>
              <a:avLst/>
              <a:gdLst/>
              <a:ahLst/>
              <a:cxnLst/>
              <a:rect l="l" t="t" r="r" b="b"/>
              <a:pathLst>
                <a:path w="547370" h="302260">
                  <a:moveTo>
                    <a:pt x="49554" y="99466"/>
                  </a:moveTo>
                  <a:lnTo>
                    <a:pt x="49693" y="81388"/>
                  </a:lnTo>
                  <a:lnTo>
                    <a:pt x="56340" y="64363"/>
                  </a:lnTo>
                  <a:lnTo>
                    <a:pt x="68921" y="49350"/>
                  </a:lnTo>
                  <a:lnTo>
                    <a:pt x="86860" y="37308"/>
                  </a:lnTo>
                  <a:lnTo>
                    <a:pt x="108546" y="29493"/>
                  </a:lnTo>
                  <a:lnTo>
                    <a:pt x="131822" y="26538"/>
                  </a:lnTo>
                  <a:lnTo>
                    <a:pt x="155286" y="28473"/>
                  </a:lnTo>
                  <a:lnTo>
                    <a:pt x="177539" y="35330"/>
                  </a:lnTo>
                  <a:lnTo>
                    <a:pt x="211727" y="12091"/>
                  </a:lnTo>
                  <a:lnTo>
                    <a:pt x="242690" y="8509"/>
                  </a:lnTo>
                  <a:lnTo>
                    <a:pt x="257955" y="10803"/>
                  </a:lnTo>
                  <a:lnTo>
                    <a:pt x="272117" y="15665"/>
                  </a:lnTo>
                  <a:lnTo>
                    <a:pt x="284571" y="22948"/>
                  </a:lnTo>
                  <a:lnTo>
                    <a:pt x="292410" y="14148"/>
                  </a:lnTo>
                  <a:lnTo>
                    <a:pt x="302770" y="7217"/>
                  </a:lnTo>
                  <a:lnTo>
                    <a:pt x="315096" y="2441"/>
                  </a:lnTo>
                  <a:lnTo>
                    <a:pt x="328831" y="109"/>
                  </a:lnTo>
                  <a:lnTo>
                    <a:pt x="342905" y="461"/>
                  </a:lnTo>
                  <a:lnTo>
                    <a:pt x="356203" y="3411"/>
                  </a:lnTo>
                  <a:lnTo>
                    <a:pt x="368109" y="8757"/>
                  </a:lnTo>
                  <a:lnTo>
                    <a:pt x="378003" y="16294"/>
                  </a:lnTo>
                  <a:lnTo>
                    <a:pt x="391090" y="7595"/>
                  </a:lnTo>
                  <a:lnTo>
                    <a:pt x="406596" y="2086"/>
                  </a:lnTo>
                  <a:lnTo>
                    <a:pt x="423527" y="0"/>
                  </a:lnTo>
                  <a:lnTo>
                    <a:pt x="440889" y="1569"/>
                  </a:lnTo>
                  <a:lnTo>
                    <a:pt x="456962" y="6736"/>
                  </a:lnTo>
                  <a:lnTo>
                    <a:pt x="470220" y="14904"/>
                  </a:lnTo>
                  <a:lnTo>
                    <a:pt x="479957" y="25499"/>
                  </a:lnTo>
                  <a:lnTo>
                    <a:pt x="485470" y="37946"/>
                  </a:lnTo>
                  <a:lnTo>
                    <a:pt x="520881" y="55647"/>
                  </a:lnTo>
                  <a:lnTo>
                    <a:pt x="535251" y="85897"/>
                  </a:lnTo>
                  <a:lnTo>
                    <a:pt x="534052" y="96654"/>
                  </a:lnTo>
                  <a:lnTo>
                    <a:pt x="529802" y="107089"/>
                  </a:lnTo>
                  <a:lnTo>
                    <a:pt x="541039" y="121714"/>
                  </a:lnTo>
                  <a:lnTo>
                    <a:pt x="546789" y="137759"/>
                  </a:lnTo>
                  <a:lnTo>
                    <a:pt x="546898" y="154375"/>
                  </a:lnTo>
                  <a:lnTo>
                    <a:pt x="541215" y="170715"/>
                  </a:lnTo>
                  <a:lnTo>
                    <a:pt x="530088" y="185387"/>
                  </a:lnTo>
                  <a:lnTo>
                    <a:pt x="514561" y="197215"/>
                  </a:lnTo>
                  <a:lnTo>
                    <a:pt x="495532" y="205670"/>
                  </a:lnTo>
                  <a:lnTo>
                    <a:pt x="473897" y="210228"/>
                  </a:lnTo>
                  <a:lnTo>
                    <a:pt x="471140" y="224751"/>
                  </a:lnTo>
                  <a:lnTo>
                    <a:pt x="435908" y="258022"/>
                  </a:lnTo>
                  <a:lnTo>
                    <a:pt x="398589" y="264800"/>
                  </a:lnTo>
                  <a:lnTo>
                    <a:pt x="379628" y="262513"/>
                  </a:lnTo>
                  <a:lnTo>
                    <a:pt x="361830" y="256471"/>
                  </a:lnTo>
                  <a:lnTo>
                    <a:pt x="335869" y="286584"/>
                  </a:lnTo>
                  <a:lnTo>
                    <a:pt x="292563" y="301553"/>
                  </a:lnTo>
                  <a:lnTo>
                    <a:pt x="268273" y="301649"/>
                  </a:lnTo>
                  <a:lnTo>
                    <a:pt x="245352" y="296732"/>
                  </a:lnTo>
                  <a:lnTo>
                    <a:pt x="225118" y="287240"/>
                  </a:lnTo>
                  <a:lnTo>
                    <a:pt x="208890" y="273616"/>
                  </a:lnTo>
                  <a:lnTo>
                    <a:pt x="191244" y="279904"/>
                  </a:lnTo>
                  <a:lnTo>
                    <a:pt x="172481" y="283402"/>
                  </a:lnTo>
                  <a:lnTo>
                    <a:pt x="153173" y="284048"/>
                  </a:lnTo>
                  <a:lnTo>
                    <a:pt x="133890" y="281781"/>
                  </a:lnTo>
                  <a:lnTo>
                    <a:pt x="115589" y="276670"/>
                  </a:lnTo>
                  <a:lnTo>
                    <a:pt x="99147" y="269006"/>
                  </a:lnTo>
                  <a:lnTo>
                    <a:pt x="85025" y="259052"/>
                  </a:lnTo>
                  <a:lnTo>
                    <a:pt x="73681" y="247074"/>
                  </a:lnTo>
                  <a:lnTo>
                    <a:pt x="27830" y="234956"/>
                  </a:lnTo>
                  <a:lnTo>
                    <a:pt x="12582" y="200082"/>
                  </a:lnTo>
                  <a:lnTo>
                    <a:pt x="17374" y="188172"/>
                  </a:lnTo>
                  <a:lnTo>
                    <a:pt x="26929" y="177665"/>
                  </a:lnTo>
                  <a:lnTo>
                    <a:pt x="13498" y="169318"/>
                  </a:lnTo>
                  <a:lnTo>
                    <a:pt x="4351" y="158497"/>
                  </a:lnTo>
                  <a:lnTo>
                    <a:pt x="0" y="146086"/>
                  </a:lnTo>
                  <a:lnTo>
                    <a:pt x="957" y="132964"/>
                  </a:lnTo>
                  <a:lnTo>
                    <a:pt x="7277" y="120721"/>
                  </a:lnTo>
                  <a:lnTo>
                    <a:pt x="18039" y="110786"/>
                  </a:lnTo>
                  <a:lnTo>
                    <a:pt x="32295" y="103801"/>
                  </a:lnTo>
                  <a:lnTo>
                    <a:pt x="49094" y="100407"/>
                  </a:lnTo>
                  <a:lnTo>
                    <a:pt x="49554" y="99466"/>
                  </a:lnTo>
                  <a:close/>
                </a:path>
                <a:path w="547370" h="302260">
                  <a:moveTo>
                    <a:pt x="26934" y="177663"/>
                  </a:moveTo>
                  <a:lnTo>
                    <a:pt x="34461" y="180436"/>
                  </a:lnTo>
                  <a:lnTo>
                    <a:pt x="42411" y="182306"/>
                  </a:lnTo>
                  <a:lnTo>
                    <a:pt x="50643" y="183248"/>
                  </a:lnTo>
                  <a:lnTo>
                    <a:pt x="59017" y="183238"/>
                  </a:lnTo>
                </a:path>
                <a:path w="547370" h="302260">
                  <a:moveTo>
                    <a:pt x="73682" y="247073"/>
                  </a:moveTo>
                  <a:lnTo>
                    <a:pt x="78497" y="246650"/>
                  </a:lnTo>
                  <a:lnTo>
                    <a:pt x="83216" y="245753"/>
                  </a:lnTo>
                  <a:lnTo>
                    <a:pt x="87719" y="244405"/>
                  </a:lnTo>
                </a:path>
                <a:path w="547370" h="302260">
                  <a:moveTo>
                    <a:pt x="208884" y="273615"/>
                  </a:moveTo>
                  <a:lnTo>
                    <a:pt x="205497" y="269796"/>
                  </a:lnTo>
                  <a:lnTo>
                    <a:pt x="202662" y="265715"/>
                  </a:lnTo>
                  <a:lnTo>
                    <a:pt x="200426" y="261442"/>
                  </a:lnTo>
                </a:path>
                <a:path w="547370" h="302260">
                  <a:moveTo>
                    <a:pt x="361830" y="256469"/>
                  </a:moveTo>
                  <a:lnTo>
                    <a:pt x="363577" y="252119"/>
                  </a:lnTo>
                  <a:lnTo>
                    <a:pt x="364709" y="247642"/>
                  </a:lnTo>
                  <a:lnTo>
                    <a:pt x="365207" y="243112"/>
                  </a:lnTo>
                </a:path>
                <a:path w="547370" h="302260">
                  <a:moveTo>
                    <a:pt x="473893" y="210227"/>
                  </a:moveTo>
                  <a:lnTo>
                    <a:pt x="471124" y="194786"/>
                  </a:lnTo>
                  <a:lnTo>
                    <a:pt x="462907" y="180798"/>
                  </a:lnTo>
                  <a:lnTo>
                    <a:pt x="449889" y="169045"/>
                  </a:lnTo>
                  <a:lnTo>
                    <a:pt x="432713" y="160309"/>
                  </a:lnTo>
                </a:path>
                <a:path w="547370" h="302260">
                  <a:moveTo>
                    <a:pt x="529797" y="107091"/>
                  </a:moveTo>
                  <a:lnTo>
                    <a:pt x="526316" y="112347"/>
                  </a:lnTo>
                  <a:lnTo>
                    <a:pt x="522068" y="117250"/>
                  </a:lnTo>
                  <a:lnTo>
                    <a:pt x="517101" y="121753"/>
                  </a:lnTo>
                  <a:lnTo>
                    <a:pt x="511461" y="125809"/>
                  </a:lnTo>
                </a:path>
                <a:path w="547370" h="302260">
                  <a:moveTo>
                    <a:pt x="485469" y="37946"/>
                  </a:moveTo>
                  <a:lnTo>
                    <a:pt x="486169" y="40863"/>
                  </a:lnTo>
                  <a:lnTo>
                    <a:pt x="486493" y="43823"/>
                  </a:lnTo>
                  <a:lnTo>
                    <a:pt x="486437" y="46786"/>
                  </a:lnTo>
                </a:path>
                <a:path w="547370" h="302260">
                  <a:moveTo>
                    <a:pt x="378004" y="16295"/>
                  </a:moveTo>
                  <a:lnTo>
                    <a:pt x="374163" y="19693"/>
                  </a:lnTo>
                  <a:lnTo>
                    <a:pt x="371000" y="23490"/>
                  </a:lnTo>
                  <a:lnTo>
                    <a:pt x="368610" y="27569"/>
                  </a:lnTo>
                </a:path>
                <a:path w="547370" h="302260">
                  <a:moveTo>
                    <a:pt x="284571" y="22948"/>
                  </a:moveTo>
                  <a:lnTo>
                    <a:pt x="282525" y="26034"/>
                  </a:lnTo>
                  <a:lnTo>
                    <a:pt x="280996" y="29300"/>
                  </a:lnTo>
                  <a:lnTo>
                    <a:pt x="280022" y="32670"/>
                  </a:lnTo>
                </a:path>
                <a:path w="547370" h="302260">
                  <a:moveTo>
                    <a:pt x="177537" y="35330"/>
                  </a:moveTo>
                  <a:lnTo>
                    <a:pt x="183513" y="37961"/>
                  </a:lnTo>
                  <a:lnTo>
                    <a:pt x="189041" y="41129"/>
                  </a:lnTo>
                  <a:lnTo>
                    <a:pt x="194000" y="44763"/>
                  </a:lnTo>
                </a:path>
                <a:path w="547370" h="302260">
                  <a:moveTo>
                    <a:pt x="49554" y="99466"/>
                  </a:moveTo>
                  <a:lnTo>
                    <a:pt x="50163" y="102826"/>
                  </a:lnTo>
                  <a:lnTo>
                    <a:pt x="51123" y="106144"/>
                  </a:lnTo>
                  <a:lnTo>
                    <a:pt x="52427" y="109390"/>
                  </a:lnTo>
                </a:path>
              </a:pathLst>
            </a:custGeom>
            <a:ln w="12699">
              <a:solidFill>
                <a:srgbClr val="127B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7157802" y="162943"/>
              <a:ext cx="490220" cy="0"/>
            </a:xfrm>
            <a:custGeom>
              <a:avLst/>
              <a:gdLst/>
              <a:ahLst/>
              <a:cxnLst/>
              <a:rect l="l" t="t" r="r" b="b"/>
              <a:pathLst>
                <a:path w="490220">
                  <a:moveTo>
                    <a:pt x="0" y="0"/>
                  </a:moveTo>
                  <a:lnTo>
                    <a:pt x="489990" y="0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7647793" y="147211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65"/>
                  </a:moveTo>
                  <a:lnTo>
                    <a:pt x="0" y="0"/>
                  </a:lnTo>
                  <a:lnTo>
                    <a:pt x="43224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7647793" y="147211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65"/>
                  </a:moveTo>
                  <a:lnTo>
                    <a:pt x="43224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4615190" y="75832"/>
              <a:ext cx="2280285" cy="1186180"/>
            </a:xfrm>
            <a:custGeom>
              <a:avLst/>
              <a:gdLst/>
              <a:ahLst/>
              <a:cxnLst/>
              <a:rect l="l" t="t" r="r" b="b"/>
              <a:pathLst>
                <a:path w="2280284" h="1186180">
                  <a:moveTo>
                    <a:pt x="16280" y="219135"/>
                  </a:moveTo>
                  <a:lnTo>
                    <a:pt x="0" y="0"/>
                  </a:lnTo>
                </a:path>
                <a:path w="2280284" h="1186180">
                  <a:moveTo>
                    <a:pt x="2280283" y="1185669"/>
                  </a:moveTo>
                  <a:lnTo>
                    <a:pt x="899621" y="1174873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5471588" y="123497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101" y="31464"/>
                  </a:moveTo>
                  <a:lnTo>
                    <a:pt x="0" y="15394"/>
                  </a:lnTo>
                  <a:lnTo>
                    <a:pt x="43346" y="0"/>
                  </a:lnTo>
                  <a:lnTo>
                    <a:pt x="43101" y="31464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5471588" y="123497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346" y="0"/>
                  </a:moveTo>
                  <a:lnTo>
                    <a:pt x="0" y="15394"/>
                  </a:lnTo>
                  <a:lnTo>
                    <a:pt x="43101" y="31464"/>
                  </a:lnTo>
                  <a:lnTo>
                    <a:pt x="43346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5514812" y="2990648"/>
              <a:ext cx="1635125" cy="15875"/>
            </a:xfrm>
            <a:custGeom>
              <a:avLst/>
              <a:gdLst/>
              <a:ahLst/>
              <a:cxnLst/>
              <a:rect l="l" t="t" r="r" b="b"/>
              <a:pathLst>
                <a:path w="1635125" h="15875">
                  <a:moveTo>
                    <a:pt x="1634504" y="0"/>
                  </a:moveTo>
                  <a:lnTo>
                    <a:pt x="0" y="15483"/>
                  </a:lnTo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5471588" y="2990400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372" y="31464"/>
                  </a:moveTo>
                  <a:lnTo>
                    <a:pt x="0" y="16141"/>
                  </a:lnTo>
                  <a:lnTo>
                    <a:pt x="43074" y="0"/>
                  </a:lnTo>
                  <a:lnTo>
                    <a:pt x="43372" y="31464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5471588" y="2990400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074" y="0"/>
                  </a:moveTo>
                  <a:lnTo>
                    <a:pt x="0" y="16141"/>
                  </a:lnTo>
                  <a:lnTo>
                    <a:pt x="43372" y="31464"/>
                  </a:lnTo>
                  <a:lnTo>
                    <a:pt x="43074" y="0"/>
                  </a:lnTo>
                  <a:close/>
                </a:path>
              </a:pathLst>
            </a:custGeom>
            <a:ln w="9524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69"/>
          <p:cNvSpPr txBox="1"/>
          <p:nvPr/>
        </p:nvSpPr>
        <p:spPr>
          <a:xfrm>
            <a:off x="7777968" y="-5465"/>
            <a:ext cx="50863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Arial"/>
                <a:cs typeface="Arial"/>
              </a:rPr>
              <a:t>User</a:t>
            </a:r>
            <a:endParaRPr sz="1800">
              <a:latin typeface="Arial"/>
              <a:cs typeface="Arial"/>
            </a:endParaRPr>
          </a:p>
        </p:txBody>
      </p:sp>
      <p:sp>
        <p:nvSpPr>
          <p:cNvPr id="72" name="object 7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94</a:t>
            </a:fld>
            <a:endParaRPr spc="-25" dirty="0"/>
          </a:p>
        </p:txBody>
      </p:sp>
      <p:sp>
        <p:nvSpPr>
          <p:cNvPr id="70" name="object 70"/>
          <p:cNvSpPr txBox="1"/>
          <p:nvPr/>
        </p:nvSpPr>
        <p:spPr>
          <a:xfrm>
            <a:off x="6968500" y="1114659"/>
            <a:ext cx="77597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0683C7"/>
                </a:solidFill>
                <a:latin typeface="Arial"/>
                <a:cs typeface="Arial"/>
              </a:rPr>
              <a:t>NodePort</a:t>
            </a:r>
            <a:endParaRPr sz="1400">
              <a:latin typeface="Arial"/>
              <a:cs typeface="Arial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7222342" y="2849027"/>
            <a:ext cx="75501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0683C7"/>
                </a:solidFill>
                <a:latin typeface="Arial"/>
                <a:cs typeface="Arial"/>
              </a:rPr>
              <a:t>ClusterIP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707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Guestbook</a:t>
            </a:r>
            <a:r>
              <a:rPr spc="135" dirty="0"/>
              <a:t> </a:t>
            </a:r>
            <a:r>
              <a:rPr spc="-20" dirty="0"/>
              <a:t>Demo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95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339734" y="1293400"/>
            <a:ext cx="2444750" cy="768350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144780" indent="-132080">
              <a:lnSpc>
                <a:spcPct val="100000"/>
              </a:lnSpc>
              <a:spcBef>
                <a:spcPts val="625"/>
              </a:spcBef>
              <a:buClr>
                <a:srgbClr val="FFAB40"/>
              </a:buClr>
              <a:buChar char="•"/>
              <a:tabLst>
                <a:tab pos="144780" algn="l"/>
              </a:tabLst>
            </a:pP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Frontend</a:t>
            </a:r>
            <a:r>
              <a:rPr sz="2000" spc="-6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Web</a:t>
            </a:r>
            <a:r>
              <a:rPr sz="2000" spc="-5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595959"/>
                </a:solidFill>
                <a:latin typeface="Arial"/>
                <a:cs typeface="Arial"/>
              </a:rPr>
              <a:t>app</a:t>
            </a:r>
            <a:endParaRPr sz="2000">
              <a:latin typeface="Arial"/>
              <a:cs typeface="Arial"/>
            </a:endParaRPr>
          </a:p>
          <a:p>
            <a:pPr marL="144780" indent="-132080">
              <a:lnSpc>
                <a:spcPct val="100000"/>
              </a:lnSpc>
              <a:spcBef>
                <a:spcPts val="525"/>
              </a:spcBef>
              <a:buClr>
                <a:srgbClr val="FFAB40"/>
              </a:buClr>
              <a:buChar char="•"/>
              <a:tabLst>
                <a:tab pos="144780" algn="l"/>
              </a:tabLst>
            </a:pP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Backend</a:t>
            </a:r>
            <a:r>
              <a:rPr sz="2000" spc="-5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DB</a:t>
            </a:r>
            <a:r>
              <a:rPr sz="2000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-</a:t>
            </a:r>
            <a:r>
              <a:rPr sz="2000" spc="-5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Arial"/>
                <a:cs typeface="Arial"/>
              </a:rPr>
              <a:t>Redis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625" y="118931"/>
            <a:ext cx="8540750" cy="438582"/>
          </a:xfrm>
        </p:spPr>
        <p:txBody>
          <a:bodyPr/>
          <a:lstStyle/>
          <a:p>
            <a:r>
              <a:rPr lang="en-US" dirty="0" smtClean="0"/>
              <a:t>Demo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666750"/>
            <a:ext cx="7807960" cy="403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348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https://camo.githubusercontent.com/22f457bb22d41b56d03a09c3c7d538232b830a82648a62f005d695d825aed6e4/68747470733a2f2f6d69726f2e6d656469756d2e636f6d2f312a7a786a58694445584b676272754c6c766c474b6b36672e706e67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352550"/>
            <a:ext cx="7410450" cy="3395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92877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2730" cy="5143500"/>
            <a:chOff x="0" y="0"/>
            <a:chExt cx="9142730" cy="5143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54" y="0"/>
              <a:ext cx="9141290" cy="410870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4175999" cy="514349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193024" y="4326076"/>
              <a:ext cx="722375" cy="604028"/>
            </a:xfrm>
            <a:prstGeom prst="rect">
              <a:avLst/>
            </a:prstGeom>
          </p:spPr>
        </p:pic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758825" y="1328441"/>
            <a:ext cx="242633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dirty="0">
                <a:solidFill>
                  <a:srgbClr val="FFFFFF"/>
                </a:solidFill>
              </a:rPr>
              <a:t>Thank</a:t>
            </a:r>
            <a:r>
              <a:rPr sz="4000" spc="-80" dirty="0">
                <a:solidFill>
                  <a:srgbClr val="FFFFFF"/>
                </a:solidFill>
              </a:rPr>
              <a:t> </a:t>
            </a:r>
            <a:r>
              <a:rPr sz="4000" spc="-110" dirty="0">
                <a:solidFill>
                  <a:srgbClr val="FFFFFF"/>
                </a:solidFill>
              </a:rPr>
              <a:t>You</a:t>
            </a:r>
            <a:endParaRPr sz="4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</TotalTime>
  <Words>2010</Words>
  <Application>Microsoft Office PowerPoint</Application>
  <PresentationFormat>On-screen Show (16:9)</PresentationFormat>
  <Paragraphs>617</Paragraphs>
  <Slides>98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98</vt:i4>
      </vt:variant>
    </vt:vector>
  </HeadingPairs>
  <TitlesOfParts>
    <vt:vector size="102" baseType="lpstr">
      <vt:lpstr>Malgun Gothic</vt:lpstr>
      <vt:lpstr>Arial</vt:lpstr>
      <vt:lpstr>Calibri</vt:lpstr>
      <vt:lpstr>Office Theme</vt:lpstr>
      <vt:lpstr>Demystifying Kubernetes</vt:lpstr>
      <vt:lpstr>Let’s start with an analogy..</vt:lpstr>
      <vt:lpstr>A Cargo Ship… Carries containers across the sea</vt:lpstr>
      <vt:lpstr>A Cargo Ship… Host Application as Containers ~ Worker Nodes</vt:lpstr>
      <vt:lpstr>Overview</vt:lpstr>
      <vt:lpstr>Control Ships.. Managing &amp; Monitoring of the cargo ships</vt:lpstr>
      <vt:lpstr>Control Ships.. Manage, Plan, Schedule, Monitor ~ Master</vt:lpstr>
      <vt:lpstr>Overview</vt:lpstr>
      <vt:lpstr>Let’s talk about Master Components..</vt:lpstr>
      <vt:lpstr>Ship Cranes Identifies the placement of containers</vt:lpstr>
      <vt:lpstr>Ship Cranes Identifies the right node to place a containers ~ Kube-Scheduler</vt:lpstr>
      <vt:lpstr>PowerPoint Presentation</vt:lpstr>
      <vt:lpstr>Overview</vt:lpstr>
      <vt:lpstr>Cargo Ship Profiles HA database ~ Which containers on which ships? When was it loaded?</vt:lpstr>
      <vt:lpstr>Cargo Ship Profiles HA database ~ Which containers on which ships? When was it loaded? ~ The ETCD Cluster</vt:lpstr>
      <vt:lpstr>Overview</vt:lpstr>
      <vt:lpstr>Offices in Dock</vt:lpstr>
      <vt:lpstr>Controllers</vt:lpstr>
      <vt:lpstr>Overview</vt:lpstr>
      <vt:lpstr>PowerPoint Presentation</vt:lpstr>
      <vt:lpstr>Kube API Server</vt:lpstr>
      <vt:lpstr>Overview</vt:lpstr>
      <vt:lpstr>In nutshell…</vt:lpstr>
      <vt:lpstr>Let’s talk about Worker Components..</vt:lpstr>
      <vt:lpstr>Overview</vt:lpstr>
      <vt:lpstr>Captain of the Ship</vt:lpstr>
      <vt:lpstr>Captain of the Ship ~ Kubelet Agent which runs on each nodes of the container</vt:lpstr>
      <vt:lpstr>Overview</vt:lpstr>
      <vt:lpstr>Communication between Cargo Ships How does two cargo ships communicate with each other?</vt:lpstr>
      <vt:lpstr>Kube-proxy Service</vt:lpstr>
      <vt:lpstr>Overview</vt:lpstr>
      <vt:lpstr>Let’s talk about Pods..</vt:lpstr>
      <vt:lpstr>Overview</vt:lpstr>
      <vt:lpstr>Overview</vt:lpstr>
      <vt:lpstr>Docker Containers A popular Container Runtime</vt:lpstr>
      <vt:lpstr>Overall Kubernetes Architecture</vt:lpstr>
      <vt:lpstr>Demo</vt:lpstr>
      <vt:lpstr>Let’s Deep Dive into Pods…</vt:lpstr>
      <vt:lpstr>Pod - Concepts</vt:lpstr>
      <vt:lpstr>Atomic Unit of Scheduling</vt:lpstr>
      <vt:lpstr>How Pods are deployed?</vt:lpstr>
      <vt:lpstr>Scaling the Pods to accommodate increasing traffic</vt:lpstr>
      <vt:lpstr>What if node resources is getting insufficient?</vt:lpstr>
      <vt:lpstr>What if node resources is getting insufficient?</vt:lpstr>
      <vt:lpstr>What if node resources is getting insufficient?</vt:lpstr>
      <vt:lpstr>2 Containers in a same Pod</vt:lpstr>
      <vt:lpstr>Pod Networking</vt:lpstr>
      <vt:lpstr>How does these containers inside Pods communicate with External World?</vt:lpstr>
      <vt:lpstr>Network Namespace</vt:lpstr>
      <vt:lpstr>PowerPoint Presentation</vt:lpstr>
      <vt:lpstr>Pod Networking</vt:lpstr>
      <vt:lpstr>How does Intra-Pod communication take place?</vt:lpstr>
      <vt:lpstr>Intra-Pod Communication</vt:lpstr>
      <vt:lpstr>A Look at Pod Manifest</vt:lpstr>
      <vt:lpstr>Get a shell to a running Container</vt:lpstr>
      <vt:lpstr>Get a shell to a running Container</vt:lpstr>
      <vt:lpstr>Stages of Life Cycle of Pod</vt:lpstr>
      <vt:lpstr>Lifecycle of a Pod</vt:lpstr>
      <vt:lpstr>PowerPoint Presentation</vt:lpstr>
      <vt:lpstr>What is ReplicaSet all about? Maintain a stable set of replica Pods running at any given time</vt:lpstr>
      <vt:lpstr>Replication Controller Vs ReplicaSets</vt:lpstr>
      <vt:lpstr>Labels &amp; Selectors When Pods are scaled, how are these Pods Managed at such large scale?</vt:lpstr>
      <vt:lpstr>Equality-based Selectors</vt:lpstr>
      <vt:lpstr>PowerPoint Presentation</vt:lpstr>
      <vt:lpstr>Demo - ReplicaSet</vt:lpstr>
      <vt:lpstr>ReplicaSet Manifest File</vt:lpstr>
      <vt:lpstr>PowerPoint Presentation</vt:lpstr>
      <vt:lpstr>PowerPoint Presentation</vt:lpstr>
      <vt:lpstr>Scaling the Nginx Service</vt:lpstr>
      <vt:lpstr>Deployment</vt:lpstr>
      <vt:lpstr>Deployment</vt:lpstr>
      <vt:lpstr>A Single Deployment Manifest File</vt:lpstr>
      <vt:lpstr>Features of Deployment</vt:lpstr>
      <vt:lpstr>Deployment Types - Recreate</vt:lpstr>
      <vt:lpstr>Deployment Type – Rolling Updates</vt:lpstr>
      <vt:lpstr>Deployment Type - Canary</vt:lpstr>
      <vt:lpstr>Deployment Type – Blue Green</vt:lpstr>
      <vt:lpstr>Demo - Deployment</vt:lpstr>
      <vt:lpstr>Deployment Manifest File</vt:lpstr>
      <vt:lpstr>Deployment</vt:lpstr>
      <vt:lpstr>Deployment =&gt; Pods + ReplicaSet</vt:lpstr>
      <vt:lpstr>3 Instances of same Nginx Apps running in the form of Pods</vt:lpstr>
      <vt:lpstr>PowerPoint Presentation</vt:lpstr>
      <vt:lpstr>3 Instances of same Nginx Apps running in the form of Pods</vt:lpstr>
      <vt:lpstr>Scaling up</vt:lpstr>
      <vt:lpstr>Listing Pods by Labels</vt:lpstr>
      <vt:lpstr>Services</vt:lpstr>
      <vt:lpstr>Services</vt:lpstr>
      <vt:lpstr>Agenda</vt:lpstr>
      <vt:lpstr>Services</vt:lpstr>
      <vt:lpstr>Types of Services</vt:lpstr>
      <vt:lpstr>Services: ClusterIP</vt:lpstr>
      <vt:lpstr>Services</vt:lpstr>
      <vt:lpstr>PowerPoint Presentation</vt:lpstr>
      <vt:lpstr>Guestbook Demo</vt:lpstr>
      <vt:lpstr>Demo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Understand Kubernetes</dc:title>
  <dc:creator>pds</dc:creator>
  <cp:lastModifiedBy>PDS</cp:lastModifiedBy>
  <cp:revision>7</cp:revision>
  <dcterms:created xsi:type="dcterms:W3CDTF">2026-09-18T07:05:07Z</dcterms:created>
  <dcterms:modified xsi:type="dcterms:W3CDTF">2026-09-18T07:52:37Z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2026-09-18T00:00:00Z</vt:filetime>
  </property>
  <property fmtid="{D5CDD505-2E9C-101B-9397-08002B2CF9AE}" pid="3" name="Creator">
    <vt:lpwstr>Google</vt:lpwstr>
  </property>
  <property fmtid="{D5CDD505-2E9C-101B-9397-08002B2CF9AE}" pid="4" name="LastSaved">
    <vt:filetime>2026-09-18T00:00:00Z</vt:filetime>
  </property>
</Properties>
</file>